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3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开场说明选题题目、研究方向和汇报结构。</a:t>
            </a:r>
          </a:p>
          <a:p>
            <a:r>
              <a:t>强调本研究围绕真实传播数据、推荐参数校准和在线仿真验证形成完整闭环。</a:t>
            </a:r>
          </a:p>
          <a:p>
            <a:r>
              <a:t>本次汇报约15分钟，重点放在选题依据、研究现状、技术路线和可行性。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这一页快速交代汇报路线。</a:t>
            </a:r>
          </a:p>
          <a:p>
            <a:r>
              <a:t>核心问题是把推荐参数从主观设定变成可校准、可验证的机制变量。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背景部分从传播学和平台治理的共同问题讲起。</a:t>
            </a:r>
          </a:p>
          <a:p>
            <a:r>
              <a:t>仿真平台提供受控实验场，可以把用户、网络和推荐机制拆开观察。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理论、方法和工程三层意义都围绕推荐机制校准展开。</a:t>
            </a:r>
          </a:p>
          <a:p>
            <a:r>
              <a:t>重点强调校准参数要进入在线系统，而不是停留在离线实验。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研究现状可以压缩成三条脉络。</a:t>
            </a:r>
          </a:p>
          <a:p>
            <a:r>
              <a:t>本课题将三条线连接起来，补上推荐参数实证校准这一环。</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这一页回答选题缺口在哪里。</a:t>
            </a:r>
          </a:p>
          <a:p>
            <a:r>
              <a:t>推荐参数常常来自人工设定，缺乏从真实传播结果反推并迁移到在线平台的路径。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总体目标是平台设计与实现，但研究重点是校准参数如何驱动在线仿真实验。</a:t>
            </a:r>
          </a:p>
          <a:p>
            <a:r>
              <a:t>四块内容分别对应数据基础、核心校准、在线系统和效果验证。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技术路线用一个闭环说明。</a:t>
            </a:r>
          </a:p>
          <a:p>
            <a:r>
              <a:t>关键是 calibration_profile.yaml 作为离线与在线的参数接口。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画像生成是后续 ABM 校准和 Agent 决策的基础。</a:t>
            </a:r>
          </a:p>
          <a:p>
            <a:r>
              <a:t>完整 LLM 流水线用于高影响力用户，普通用户使用简化画像和预设行为库。</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推荐评分拆成兴趣匹配、内容热度、时间衰减和随机探索四个可解释维度。</a:t>
            </a:r>
          </a:p>
          <a:p>
            <a:r>
              <a:t>校准流程最终形成可以在线使用的 YAML 配置。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Backend 与 Agent 分离，Backend 负责平台和推荐服务，Agent 负责决策和动作执行。</a:t>
            </a:r>
          </a:p>
          <a:p>
            <a:r>
              <a:t>验证方案分为功能、参数一致性和仿真效果三类。</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这一页回答选题能不能做。</a:t>
            </a:r>
          </a:p>
          <a:p>
            <a:r>
              <a:t>每一环都有已有研究和成熟工具作为支撑，MOSS 项目已有基础代码与模块设计。</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进度安排按照开题报告中的六个阶段展开。</a:t>
            </a:r>
          </a:p>
          <a:p>
            <a:r>
              <a:t>强调计划围绕系统闭环推进，而不是先写论文后补实验。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最后用一句话收束：本课题不是泛泛做社交仿真，而是用推荐机制校准增强仿真的现实参照和解释力。</a:t>
            </a:r>
          </a:p>
          <a:p>
            <a:r>
              <a:t>结束时感谢各位老师，并准备回答关于数据来源、参数可辨识性、实验指标和工程实现范围的问题。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6424B04E-4D09-44AD-B735-B888B449F50F}"/>
              </a:ext>
            </a:extLst>
          </p:cNvPr>
          <p:cNvSpPr>
            <a:spLocks noGrp="1"/>
          </p:cNvSpPr>
          <p:nvPr/>
        </p:nvSpPr>
        <p:spPr>
          <a:xfrm>
            <a:off x="0" y="287079"/>
            <a:ext cx="12192000" cy="6858000"/>
          </a:xfrm>
          <a:prstGeom prst="roundRect">
            <a:avLst>
              <a:gd name="adj" fmla="val 1667"/>
            </a:avLst>
          </a:prstGeom>
          <a:gradFill>
            <a:gsLst>
              <a:gs pos="0">
                <a:srgbClr val="020814">
                  <a:alpha val="96000"/>
                </a:srgbClr>
              </a:gs>
              <a:gs pos="45000">
                <a:srgbClr val="020814">
                  <a:alpha val="84000"/>
                </a:srgbClr>
              </a:gs>
              <a:gs pos="100000">
                <a:srgbClr val="020814">
                  <a:alpha val="30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F3EF9E12-5C9B-42C2-B0D9-C1F7BFBBC3C8}"/>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pic>
        <p:nvPicPr>
          <p:cNvPr id="18" name="图片 17"/>
          <p:cNvPicPr>
            <a:picLocks noChangeAspect="1"/>
          </p:cNvPicPr>
          <p:nvPr/>
        </p:nvPicPr>
        <p:blipFill>
          <a:blip r:embed="rId4"/>
          <a:stretch/>
        </p:blipFill>
        <p:spPr>
          <a:xfrm>
            <a:off x="369160" y="0"/>
            <a:ext cx="1151739" cy="1470107"/>
          </a:xfrm>
          <a:prstGeom prst="rect">
            <a:avLst/>
          </a:prstGeom>
        </p:spPr>
      </p:pic>
      <p:sp>
        <p:nvSpPr>
          <p:cNvPr id="7" name="矩形 6">
            <a:extLst>
              <a:ext uri="{FF2B5EF4-FFF2-40B4-BE49-F238E27FC236}">
                <a16:creationId xmlns:a16="http://schemas.microsoft.com/office/drawing/2014/main" id="{BC37BD84-27AC-4669-9F7F-7689F65399C7}"/>
              </a:ext>
            </a:extLst>
          </p:cNvPr>
          <p:cNvSpPr>
            <a:spLocks noGrp="1"/>
          </p:cNvSpPr>
          <p:nvPr/>
        </p:nvSpPr>
        <p:spPr>
          <a:xfrm>
            <a:off x="838200" y="1790700"/>
            <a:ext cx="6858000" cy="1466850"/>
          </a:xfrm>
          <a:prstGeom prst="rect">
            <a:avLst/>
          </a:prstGeom>
          <a:noFill/>
          <a:ln w="0">
            <a:noFill/>
            <a:prstDash val="solid"/>
          </a:ln>
        </p:spPr>
        <p:txBody>
          <a:bodyPr lIns="0" tIns="0" rIns="0" bIns="0"/>
          <a:lstStyle/>
          <a:p>
            <a:pPr>
              <a:lnSpc>
                <a:spcPct val="98000"/>
              </a:lnSpc>
              <a:buNone/>
              <a:defRPr sz="4050" b="1">
                <a:solidFill>
                  <a:srgbClr val="F6FBFF"/>
                </a:solidFill>
                <a:latin typeface="Microsoft YaHei"/>
                <a:ea typeface="Microsoft YaHei"/>
                <a:cs typeface="Microsoft YaHei"/>
              </a:defRPr>
            </a:pPr>
            <a:r>
              <a:rPr sz="4050" b="1">
                <a:solidFill>
                  <a:srgbClr val="F6FBFF"/>
                </a:solidFill>
                <a:latin typeface="Microsoft YaHei"/>
                <a:ea typeface="Microsoft YaHei"/>
                <a:cs typeface="Microsoft YaHei"/>
              </a:rPr>
              <a:t>融合推荐机制校准的</a:t>
            </a:r>
          </a:p>
          <a:p>
            <a:pPr>
              <a:lnSpc>
                <a:spcPct val="98000"/>
              </a:lnSpc>
              <a:buNone/>
              <a:defRPr sz="4050" b="1">
                <a:solidFill>
                  <a:srgbClr val="F6FBFF"/>
                </a:solidFill>
                <a:latin typeface="Microsoft YaHei"/>
                <a:ea typeface="Microsoft YaHei"/>
                <a:cs typeface="Microsoft YaHei"/>
              </a:defRPr>
            </a:pPr>
            <a:r>
              <a:rPr sz="4050" b="1">
                <a:solidFill>
                  <a:srgbClr val="F6FBFF"/>
                </a:solidFill>
                <a:latin typeface="Microsoft YaHei"/>
                <a:ea typeface="Microsoft YaHei"/>
                <a:cs typeface="Microsoft YaHei"/>
              </a:rPr>
              <a:t>社交仿真平台设计与实现</a:t>
            </a:r>
          </a:p>
        </p:txBody>
      </p:sp>
      <p:sp>
        <p:nvSpPr>
          <p:cNvPr id="8" name="圆角矩形 7">
            <a:extLst>
              <a:ext uri="{FF2B5EF4-FFF2-40B4-BE49-F238E27FC236}">
                <a16:creationId xmlns:a16="http://schemas.microsoft.com/office/drawing/2014/main" id="{E55DC178-FBE6-4FC9-B6D4-0EA3E8F191D1}"/>
              </a:ext>
            </a:extLst>
          </p:cNvPr>
          <p:cNvSpPr>
            <a:spLocks noGrp="1"/>
          </p:cNvSpPr>
          <p:nvPr/>
        </p:nvSpPr>
        <p:spPr>
          <a:xfrm flipV="1">
            <a:off x="857250" y="3478531"/>
            <a:ext cx="5692406" cy="45719"/>
          </a:xfrm>
          <a:prstGeom prst="roundRect">
            <a:avLst>
              <a:gd name="adj" fmla="val 50000"/>
            </a:avLst>
          </a:prstGeom>
          <a:gradFill>
            <a:gsLst>
              <a:gs pos="0">
                <a:srgbClr val="19D9FF"/>
              </a:gs>
              <a:gs pos="70000">
                <a:srgbClr val="37E6C4"/>
              </a:gs>
              <a:gs pos="100000">
                <a:srgbClr val="E2B84B"/>
              </a:gs>
            </a:gsLst>
            <a:lin ang="5400000"/>
          </a:gradFill>
          <a:ln w="0">
            <a:noFill/>
            <a:prstDash val="solid"/>
          </a:ln>
        </p:spPr>
        <p:txBody>
          <a:bodyPr/>
          <a:lstStyle/>
          <a:p>
            <a:endParaRPr lang="zh-CN" altLang="en-US"/>
          </a:p>
        </p:txBody>
      </p:sp>
      <p:sp>
        <p:nvSpPr>
          <p:cNvPr id="10" name="圆角矩形 9">
            <a:extLst>
              <a:ext uri="{FF2B5EF4-FFF2-40B4-BE49-F238E27FC236}">
                <a16:creationId xmlns:a16="http://schemas.microsoft.com/office/drawing/2014/main" id="{897D8321-7C89-464D-96DE-9A7F3BE963F8}"/>
              </a:ext>
            </a:extLst>
          </p:cNvPr>
          <p:cNvSpPr>
            <a:spLocks noGrp="1"/>
          </p:cNvSpPr>
          <p:nvPr/>
        </p:nvSpPr>
        <p:spPr>
          <a:xfrm>
            <a:off x="838200" y="4686300"/>
            <a:ext cx="6381750" cy="933450"/>
          </a:xfrm>
          <a:prstGeom prst="roundRect">
            <a:avLst>
              <a:gd name="adj" fmla="val 12245"/>
            </a:avLst>
          </a:prstGeom>
          <a:solidFill>
            <a:srgbClr val="07172B">
              <a:alpha val="72000"/>
            </a:srgbClr>
          </a:solidFill>
          <a:ln w="13335">
            <a:solidFill>
              <a:srgbClr val="26D9FF">
                <a:alpha val="42000"/>
              </a:srgbClr>
            </a:solidFill>
            <a:prstDash val="solid"/>
          </a:ln>
        </p:spPr>
        <p:txBody>
          <a:bodyPr/>
          <a:lstStyle/>
          <a:p>
            <a:endParaRPr lang="zh-CN" altLang="en-US"/>
          </a:p>
        </p:txBody>
      </p:sp>
      <p:sp>
        <p:nvSpPr>
          <p:cNvPr id="11" name="圆角矩形 10">
            <a:extLst>
              <a:ext uri="{FF2B5EF4-FFF2-40B4-BE49-F238E27FC236}">
                <a16:creationId xmlns:a16="http://schemas.microsoft.com/office/drawing/2014/main" id="{9348F14D-8C36-4066-859A-1768FFE85FBC}"/>
              </a:ext>
            </a:extLst>
          </p:cNvPr>
          <p:cNvSpPr>
            <a:spLocks noGrp="1"/>
          </p:cNvSpPr>
          <p:nvPr/>
        </p:nvSpPr>
        <p:spPr>
          <a:xfrm>
            <a:off x="838200" y="4686300"/>
            <a:ext cx="47625" cy="933450"/>
          </a:xfrm>
          <a:prstGeom prst="roundRect">
            <a:avLst>
              <a:gd name="adj" fmla="val 50000"/>
            </a:avLst>
          </a:prstGeom>
          <a:solidFill>
            <a:srgbClr val="E2B84B"/>
          </a:solidFill>
          <a:ln w="0">
            <a:noFill/>
            <a:prstDash val="solid"/>
          </a:ln>
        </p:spPr>
        <p:txBody>
          <a:bodyPr/>
          <a:lstStyle/>
          <a:p>
            <a:endParaRPr lang="zh-CN" altLang="en-US"/>
          </a:p>
        </p:txBody>
      </p:sp>
      <p:sp>
        <p:nvSpPr>
          <p:cNvPr id="12" name="矩形 11">
            <a:extLst>
              <a:ext uri="{FF2B5EF4-FFF2-40B4-BE49-F238E27FC236}">
                <a16:creationId xmlns:a16="http://schemas.microsoft.com/office/drawing/2014/main" id="{8AF1AAB2-6EFF-4266-ADE6-F506410DD8CB}"/>
              </a:ext>
            </a:extLst>
          </p:cNvPr>
          <p:cNvSpPr>
            <a:spLocks noGrp="1"/>
          </p:cNvSpPr>
          <p:nvPr/>
        </p:nvSpPr>
        <p:spPr>
          <a:xfrm>
            <a:off x="1162050" y="4914900"/>
            <a:ext cx="5695950" cy="457200"/>
          </a:xfrm>
          <a:prstGeom prst="rect">
            <a:avLst/>
          </a:prstGeom>
          <a:noFill/>
          <a:ln w="0">
            <a:noFill/>
            <a:prstDash val="solid"/>
          </a:ln>
        </p:spPr>
        <p:txBody>
          <a:bodyPr lIns="0" tIns="0" rIns="0" bIns="0"/>
          <a:lstStyle/>
          <a:p>
            <a:pPr>
              <a:lnSpc>
                <a:spcPct val="118000"/>
              </a:lnSpc>
              <a:buNone/>
              <a:defRPr sz="1500">
                <a:solidFill>
                  <a:srgbClr val="F6FBFF"/>
                </a:solidFill>
                <a:latin typeface="Microsoft YaHei"/>
                <a:ea typeface="Microsoft YaHei"/>
                <a:cs typeface="Microsoft YaHei"/>
              </a:defRPr>
            </a:pPr>
            <a:r>
              <a:rPr sz="1500">
                <a:solidFill>
                  <a:srgbClr val="F6FBFF"/>
                </a:solidFill>
                <a:latin typeface="Microsoft YaHei"/>
                <a:ea typeface="Microsoft YaHei"/>
                <a:cs typeface="Microsoft YaHei"/>
              </a:rPr>
              <a:t>汇报人：张艺鹏    学号：202520085411016</a:t>
            </a:r>
          </a:p>
          <a:p>
            <a:pPr>
              <a:lnSpc>
                <a:spcPct val="118000"/>
              </a:lnSpc>
              <a:buNone/>
              <a:defRPr sz="1500">
                <a:solidFill>
                  <a:srgbClr val="F6FBFF"/>
                </a:solidFill>
                <a:latin typeface="Microsoft YaHei"/>
                <a:ea typeface="Microsoft YaHei"/>
                <a:cs typeface="Microsoft YaHei"/>
              </a:defRPr>
            </a:pPr>
            <a:r>
              <a:rPr sz="1500">
                <a:solidFill>
                  <a:srgbClr val="F6FBFF"/>
                </a:solidFill>
                <a:latin typeface="Microsoft YaHei"/>
                <a:ea typeface="Microsoft YaHei"/>
                <a:cs typeface="Microsoft YaHei"/>
              </a:rPr>
              <a:t>责任导师：黄浩程    培养单位：媒体融合与传播国家重点实验室</a:t>
            </a:r>
          </a:p>
        </p:txBody>
      </p:sp>
      <p:sp>
        <p:nvSpPr>
          <p:cNvPr id="13" name="矩形 12">
            <a:extLst>
              <a:ext uri="{FF2B5EF4-FFF2-40B4-BE49-F238E27FC236}">
                <a16:creationId xmlns:a16="http://schemas.microsoft.com/office/drawing/2014/main" id="{5AAEBC9B-70AE-45BD-B845-963E2E5ADE4C}"/>
              </a:ext>
            </a:extLst>
          </p:cNvPr>
          <p:cNvSpPr>
            <a:spLocks noGrp="1"/>
          </p:cNvSpPr>
          <p:nvPr/>
        </p:nvSpPr>
        <p:spPr>
          <a:xfrm>
            <a:off x="857250" y="5981700"/>
            <a:ext cx="5905500" cy="228600"/>
          </a:xfrm>
          <a:prstGeom prst="rect">
            <a:avLst/>
          </a:prstGeom>
          <a:noFill/>
          <a:ln w="0">
            <a:noFill/>
            <a:prstDash val="solid"/>
          </a:ln>
        </p:spPr>
        <p:txBody>
          <a:bodyPr lIns="0" tIns="0" rIns="0" bIns="0"/>
          <a:lstStyle/>
          <a:p>
            <a:pPr>
              <a:lnSpc>
                <a:spcPct val="108000"/>
              </a:lnSpc>
              <a:buNone/>
              <a:defRPr sz="1275">
                <a:solidFill>
                  <a:srgbClr val="B5C8D8"/>
                </a:solidFill>
                <a:latin typeface="Microsoft YaHei"/>
                <a:ea typeface="Microsoft YaHei"/>
                <a:cs typeface="Microsoft YaHei"/>
              </a:defRPr>
            </a:pPr>
            <a:r>
              <a:rPr sz="1275">
                <a:solidFill>
                  <a:srgbClr val="B5C8D8"/>
                </a:solidFill>
                <a:latin typeface="Microsoft YaHei"/>
                <a:ea typeface="Microsoft YaHei"/>
                <a:cs typeface="Microsoft YaHei"/>
              </a:rPr>
              <a:t>研究方向：数据智能技术与应用        2026年6月</a:t>
            </a:r>
          </a:p>
        </p:txBody>
      </p:sp>
    </p:spTree>
    <p:extLst>
      <p:ext uri="{BB962C8B-B14F-4D97-AF65-F5344CB8AC3E}">
        <p14:creationId xmlns:p14="http://schemas.microsoft.com/office/powerpoint/2010/main" val="1802700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205F65ED-DE69-4DE2-A58B-9F20101E252C}"/>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BFFAD4BD-0050-4A24-9001-7308304F457F}"/>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6939B814-F8AD-40F0-822D-DFFF8AF9D60A}"/>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41" name="图片 40"/>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4D8C4CFE-6459-4178-8B30-992EB4E19BCE}"/>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CONTENTS</a:t>
            </a:r>
          </a:p>
        </p:txBody>
      </p:sp>
      <p:sp>
        <p:nvSpPr>
          <p:cNvPr id="7" name="矩形 6">
            <a:extLst>
              <a:ext uri="{FF2B5EF4-FFF2-40B4-BE49-F238E27FC236}">
                <a16:creationId xmlns:a16="http://schemas.microsoft.com/office/drawing/2014/main" id="{114B1CC5-41B0-4B52-B4C4-4B4A7B6DBF63}"/>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汇报结构</a:t>
            </a:r>
          </a:p>
        </p:txBody>
      </p:sp>
      <p:sp>
        <p:nvSpPr>
          <p:cNvPr id="8" name="圆角矩形 7">
            <a:extLst>
              <a:ext uri="{FF2B5EF4-FFF2-40B4-BE49-F238E27FC236}">
                <a16:creationId xmlns:a16="http://schemas.microsoft.com/office/drawing/2014/main" id="{86A41513-4002-4BD4-BE74-10B851A9A313}"/>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71287D20-C97A-4C3C-8327-7FA1BEBB8A64}"/>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02</a:t>
            </a:r>
          </a:p>
        </p:txBody>
      </p:sp>
      <p:sp>
        <p:nvSpPr>
          <p:cNvPr id="10" name="圆角矩形 9">
            <a:extLst>
              <a:ext uri="{FF2B5EF4-FFF2-40B4-BE49-F238E27FC236}">
                <a16:creationId xmlns:a16="http://schemas.microsoft.com/office/drawing/2014/main" id="{678FFBAD-38D2-4321-9012-D594ECA7CD56}"/>
              </a:ext>
            </a:extLst>
          </p:cNvPr>
          <p:cNvSpPr>
            <a:spLocks noGrp="1"/>
          </p:cNvSpPr>
          <p:nvPr/>
        </p:nvSpPr>
        <p:spPr>
          <a:xfrm>
            <a:off x="1143000" y="1809750"/>
            <a:ext cx="4095750" cy="666750"/>
          </a:xfrm>
          <a:prstGeom prst="roundRect">
            <a:avLst>
              <a:gd name="adj" fmla="val 17143"/>
            </a:avLst>
          </a:prstGeom>
          <a:solidFill>
            <a:srgbClr val="07172B">
              <a:alpha val="68000"/>
            </a:srgbClr>
          </a:solidFill>
          <a:ln w="13335">
            <a:solidFill>
              <a:srgbClr val="26D9FF">
                <a:alpha val="42000"/>
              </a:srgbClr>
            </a:solidFill>
            <a:prstDash val="solid"/>
          </a:ln>
        </p:spPr>
        <p:txBody>
          <a:bodyPr/>
          <a:lstStyle/>
          <a:p>
            <a:endParaRPr lang="zh-CN" altLang="en-US"/>
          </a:p>
        </p:txBody>
      </p:sp>
      <p:sp>
        <p:nvSpPr>
          <p:cNvPr id="11" name="圆角矩形 10">
            <a:extLst>
              <a:ext uri="{FF2B5EF4-FFF2-40B4-BE49-F238E27FC236}">
                <a16:creationId xmlns:a16="http://schemas.microsoft.com/office/drawing/2014/main" id="{55C28B9E-0AA4-4E15-9D37-803445AD6EA1}"/>
              </a:ext>
            </a:extLst>
          </p:cNvPr>
          <p:cNvSpPr>
            <a:spLocks noGrp="1"/>
          </p:cNvSpPr>
          <p:nvPr/>
        </p:nvSpPr>
        <p:spPr>
          <a:xfrm>
            <a:off x="1143000" y="1809750"/>
            <a:ext cx="47625" cy="666750"/>
          </a:xfrm>
          <a:prstGeom prst="roundRect">
            <a:avLst>
              <a:gd name="adj" fmla="val 50000"/>
            </a:avLst>
          </a:prstGeom>
          <a:solidFill>
            <a:srgbClr val="E2B84B"/>
          </a:solidFill>
          <a:ln w="0">
            <a:noFill/>
            <a:prstDash val="solid"/>
          </a:ln>
        </p:spPr>
        <p:txBody>
          <a:bodyPr/>
          <a:lstStyle/>
          <a:p>
            <a:endParaRPr lang="zh-CN" altLang="en-US"/>
          </a:p>
        </p:txBody>
      </p:sp>
      <p:sp>
        <p:nvSpPr>
          <p:cNvPr id="12" name="矩形 11">
            <a:extLst>
              <a:ext uri="{FF2B5EF4-FFF2-40B4-BE49-F238E27FC236}">
                <a16:creationId xmlns:a16="http://schemas.microsoft.com/office/drawing/2014/main" id="{D77489B5-9A37-4FA5-A47E-AD5425A70F31}"/>
              </a:ext>
            </a:extLst>
          </p:cNvPr>
          <p:cNvSpPr>
            <a:spLocks noGrp="1"/>
          </p:cNvSpPr>
          <p:nvPr/>
        </p:nvSpPr>
        <p:spPr>
          <a:xfrm>
            <a:off x="1409700" y="1981200"/>
            <a:ext cx="609600" cy="247650"/>
          </a:xfrm>
          <a:prstGeom prst="rect">
            <a:avLst/>
          </a:prstGeom>
          <a:noFill/>
          <a:ln w="0">
            <a:noFill/>
            <a:prstDash val="solid"/>
          </a:ln>
        </p:spPr>
        <p:txBody>
          <a:bodyPr lIns="0" tIns="0" rIns="0" bIns="0"/>
          <a:lstStyle/>
          <a:p>
            <a:pPr>
              <a:lnSpc>
                <a:spcPct val="108000"/>
              </a:lnSpc>
              <a:buNone/>
              <a:defRPr sz="1800" b="1">
                <a:solidFill>
                  <a:srgbClr val="E2B84B"/>
                </a:solidFill>
                <a:latin typeface="Microsoft YaHei"/>
                <a:ea typeface="Microsoft YaHei"/>
                <a:cs typeface="Microsoft YaHei"/>
              </a:defRPr>
            </a:pPr>
            <a:r>
              <a:rPr sz="1800" b="1">
                <a:solidFill>
                  <a:srgbClr val="E2B84B"/>
                </a:solidFill>
                <a:latin typeface="Microsoft YaHei"/>
                <a:ea typeface="Microsoft YaHei"/>
                <a:cs typeface="Microsoft YaHei"/>
              </a:rPr>
              <a:t>01</a:t>
            </a:r>
          </a:p>
        </p:txBody>
      </p:sp>
      <p:sp>
        <p:nvSpPr>
          <p:cNvPr id="13" name="矩形 12">
            <a:extLst>
              <a:ext uri="{FF2B5EF4-FFF2-40B4-BE49-F238E27FC236}">
                <a16:creationId xmlns:a16="http://schemas.microsoft.com/office/drawing/2014/main" id="{1C13F5EF-21CF-4425-9FC9-E341CDE8329B}"/>
              </a:ext>
            </a:extLst>
          </p:cNvPr>
          <p:cNvSpPr>
            <a:spLocks noGrp="1"/>
          </p:cNvSpPr>
          <p:nvPr/>
        </p:nvSpPr>
        <p:spPr>
          <a:xfrm>
            <a:off x="2095500" y="2000250"/>
            <a:ext cx="2667000" cy="266700"/>
          </a:xfrm>
          <a:prstGeom prst="rect">
            <a:avLst/>
          </a:prstGeom>
          <a:noFill/>
          <a:ln w="0">
            <a:noFill/>
            <a:prstDash val="solid"/>
          </a:ln>
        </p:spPr>
        <p:txBody>
          <a:bodyPr lIns="0" tIns="0" rIns="0" bIns="0"/>
          <a:lstStyle/>
          <a:p>
            <a:pPr>
              <a:lnSpc>
                <a:spcPct val="108000"/>
              </a:lnSpc>
              <a:buNone/>
              <a:defRPr sz="1650" b="1">
                <a:solidFill>
                  <a:srgbClr val="F6FBFF"/>
                </a:solidFill>
                <a:latin typeface="Microsoft YaHei"/>
                <a:ea typeface="Microsoft YaHei"/>
                <a:cs typeface="Microsoft YaHei"/>
              </a:defRPr>
            </a:pPr>
            <a:r>
              <a:rPr sz="1650" b="1">
                <a:solidFill>
                  <a:srgbClr val="F6FBFF"/>
                </a:solidFill>
                <a:latin typeface="Microsoft YaHei"/>
                <a:ea typeface="Microsoft YaHei"/>
                <a:cs typeface="Microsoft YaHei"/>
              </a:rPr>
              <a:t>选题背景与研究意义</a:t>
            </a:r>
          </a:p>
        </p:txBody>
      </p:sp>
      <p:sp>
        <p:nvSpPr>
          <p:cNvPr id="14" name="圆角矩形 13">
            <a:extLst>
              <a:ext uri="{FF2B5EF4-FFF2-40B4-BE49-F238E27FC236}">
                <a16:creationId xmlns:a16="http://schemas.microsoft.com/office/drawing/2014/main" id="{B676E954-F91B-49CB-8831-EA8E3D984EA4}"/>
              </a:ext>
            </a:extLst>
          </p:cNvPr>
          <p:cNvSpPr>
            <a:spLocks noGrp="1"/>
          </p:cNvSpPr>
          <p:nvPr/>
        </p:nvSpPr>
        <p:spPr>
          <a:xfrm>
            <a:off x="6191250" y="1809750"/>
            <a:ext cx="4095750" cy="666750"/>
          </a:xfrm>
          <a:prstGeom prst="roundRect">
            <a:avLst>
              <a:gd name="adj" fmla="val 17143"/>
            </a:avLst>
          </a:prstGeom>
          <a:solidFill>
            <a:srgbClr val="07172B">
              <a:alpha val="68000"/>
            </a:srgbClr>
          </a:solidFill>
          <a:ln w="13335">
            <a:solidFill>
              <a:srgbClr val="26D9FF">
                <a:alpha val="42000"/>
              </a:srgbClr>
            </a:solidFill>
            <a:prstDash val="solid"/>
          </a:ln>
        </p:spPr>
        <p:txBody>
          <a:bodyPr/>
          <a:lstStyle/>
          <a:p>
            <a:endParaRPr lang="zh-CN" altLang="en-US"/>
          </a:p>
        </p:txBody>
      </p:sp>
      <p:sp>
        <p:nvSpPr>
          <p:cNvPr id="15" name="圆角矩形 14">
            <a:extLst>
              <a:ext uri="{FF2B5EF4-FFF2-40B4-BE49-F238E27FC236}">
                <a16:creationId xmlns:a16="http://schemas.microsoft.com/office/drawing/2014/main" id="{23968E55-BE28-4789-9CFB-62481F467A33}"/>
              </a:ext>
            </a:extLst>
          </p:cNvPr>
          <p:cNvSpPr>
            <a:spLocks noGrp="1"/>
          </p:cNvSpPr>
          <p:nvPr/>
        </p:nvSpPr>
        <p:spPr>
          <a:xfrm>
            <a:off x="6191250" y="1809750"/>
            <a:ext cx="47625" cy="666750"/>
          </a:xfrm>
          <a:prstGeom prst="roundRect">
            <a:avLst>
              <a:gd name="adj" fmla="val 50000"/>
            </a:avLst>
          </a:prstGeom>
          <a:solidFill>
            <a:srgbClr val="19D9FF"/>
          </a:solidFill>
          <a:ln w="0">
            <a:noFill/>
            <a:prstDash val="solid"/>
          </a:ln>
        </p:spPr>
        <p:txBody>
          <a:bodyPr/>
          <a:lstStyle/>
          <a:p>
            <a:endParaRPr lang="zh-CN" altLang="en-US"/>
          </a:p>
        </p:txBody>
      </p:sp>
      <p:sp>
        <p:nvSpPr>
          <p:cNvPr id="16" name="矩形 15">
            <a:extLst>
              <a:ext uri="{FF2B5EF4-FFF2-40B4-BE49-F238E27FC236}">
                <a16:creationId xmlns:a16="http://schemas.microsoft.com/office/drawing/2014/main" id="{7FA27130-31DD-4C55-B4CB-D8BD9BF328C1}"/>
              </a:ext>
            </a:extLst>
          </p:cNvPr>
          <p:cNvSpPr>
            <a:spLocks noGrp="1"/>
          </p:cNvSpPr>
          <p:nvPr/>
        </p:nvSpPr>
        <p:spPr>
          <a:xfrm>
            <a:off x="6457950" y="1981200"/>
            <a:ext cx="609600" cy="247650"/>
          </a:xfrm>
          <a:prstGeom prst="rect">
            <a:avLst/>
          </a:prstGeom>
          <a:noFill/>
          <a:ln w="0">
            <a:noFill/>
            <a:prstDash val="solid"/>
          </a:ln>
        </p:spPr>
        <p:txBody>
          <a:bodyPr lIns="0" tIns="0" rIns="0" bIns="0"/>
          <a:lstStyle/>
          <a:p>
            <a:pPr>
              <a:lnSpc>
                <a:spcPct val="108000"/>
              </a:lnSpc>
              <a:buNone/>
              <a:defRPr sz="1800" b="1">
                <a:solidFill>
                  <a:srgbClr val="19D9FF"/>
                </a:solidFill>
                <a:latin typeface="Microsoft YaHei"/>
                <a:ea typeface="Microsoft YaHei"/>
                <a:cs typeface="Microsoft YaHei"/>
              </a:defRPr>
            </a:pPr>
            <a:r>
              <a:rPr sz="1800" b="1">
                <a:solidFill>
                  <a:srgbClr val="19D9FF"/>
                </a:solidFill>
                <a:latin typeface="Microsoft YaHei"/>
                <a:ea typeface="Microsoft YaHei"/>
                <a:cs typeface="Microsoft YaHei"/>
              </a:rPr>
              <a:t>02</a:t>
            </a:r>
          </a:p>
        </p:txBody>
      </p:sp>
      <p:sp>
        <p:nvSpPr>
          <p:cNvPr id="17" name="矩形 16">
            <a:extLst>
              <a:ext uri="{FF2B5EF4-FFF2-40B4-BE49-F238E27FC236}">
                <a16:creationId xmlns:a16="http://schemas.microsoft.com/office/drawing/2014/main" id="{BBD4305E-48B9-4651-9299-FB1A8B11BA8F}"/>
              </a:ext>
            </a:extLst>
          </p:cNvPr>
          <p:cNvSpPr>
            <a:spLocks noGrp="1"/>
          </p:cNvSpPr>
          <p:nvPr/>
        </p:nvSpPr>
        <p:spPr>
          <a:xfrm>
            <a:off x="7143750" y="2000250"/>
            <a:ext cx="2667000" cy="266700"/>
          </a:xfrm>
          <a:prstGeom prst="rect">
            <a:avLst/>
          </a:prstGeom>
          <a:noFill/>
          <a:ln w="0">
            <a:noFill/>
            <a:prstDash val="solid"/>
          </a:ln>
        </p:spPr>
        <p:txBody>
          <a:bodyPr lIns="0" tIns="0" rIns="0" bIns="0"/>
          <a:lstStyle/>
          <a:p>
            <a:pPr>
              <a:lnSpc>
                <a:spcPct val="108000"/>
              </a:lnSpc>
              <a:buNone/>
              <a:defRPr sz="1650" b="1">
                <a:solidFill>
                  <a:srgbClr val="F6FBFF"/>
                </a:solidFill>
                <a:latin typeface="Microsoft YaHei"/>
                <a:ea typeface="Microsoft YaHei"/>
                <a:cs typeface="Microsoft YaHei"/>
              </a:defRPr>
            </a:pPr>
            <a:r>
              <a:rPr sz="1650" b="1">
                <a:solidFill>
                  <a:srgbClr val="F6FBFF"/>
                </a:solidFill>
                <a:latin typeface="Microsoft YaHei"/>
                <a:ea typeface="Microsoft YaHei"/>
                <a:cs typeface="Microsoft YaHei"/>
              </a:rPr>
              <a:t>国内外研究现状</a:t>
            </a:r>
          </a:p>
        </p:txBody>
      </p:sp>
      <p:sp>
        <p:nvSpPr>
          <p:cNvPr id="18" name="圆角矩形 17">
            <a:extLst>
              <a:ext uri="{FF2B5EF4-FFF2-40B4-BE49-F238E27FC236}">
                <a16:creationId xmlns:a16="http://schemas.microsoft.com/office/drawing/2014/main" id="{347BE57C-36F9-4776-BE7D-1C43359981EB}"/>
              </a:ext>
            </a:extLst>
          </p:cNvPr>
          <p:cNvSpPr>
            <a:spLocks noGrp="1"/>
          </p:cNvSpPr>
          <p:nvPr/>
        </p:nvSpPr>
        <p:spPr>
          <a:xfrm>
            <a:off x="1143000" y="2800350"/>
            <a:ext cx="4095750" cy="666750"/>
          </a:xfrm>
          <a:prstGeom prst="roundRect">
            <a:avLst>
              <a:gd name="adj" fmla="val 17143"/>
            </a:avLst>
          </a:prstGeom>
          <a:solidFill>
            <a:srgbClr val="07172B">
              <a:alpha val="68000"/>
            </a:srgbClr>
          </a:solidFill>
          <a:ln w="13335">
            <a:solidFill>
              <a:srgbClr val="26D9FF">
                <a:alpha val="42000"/>
              </a:srgbClr>
            </a:solidFill>
            <a:prstDash val="solid"/>
          </a:ln>
        </p:spPr>
        <p:txBody>
          <a:bodyPr/>
          <a:lstStyle/>
          <a:p>
            <a:endParaRPr lang="zh-CN" altLang="en-US"/>
          </a:p>
        </p:txBody>
      </p:sp>
      <p:sp>
        <p:nvSpPr>
          <p:cNvPr id="19" name="圆角矩形 18">
            <a:extLst>
              <a:ext uri="{FF2B5EF4-FFF2-40B4-BE49-F238E27FC236}">
                <a16:creationId xmlns:a16="http://schemas.microsoft.com/office/drawing/2014/main" id="{65C8BD67-51C5-42F1-8CDE-782715D517E2}"/>
              </a:ext>
            </a:extLst>
          </p:cNvPr>
          <p:cNvSpPr>
            <a:spLocks noGrp="1"/>
          </p:cNvSpPr>
          <p:nvPr/>
        </p:nvSpPr>
        <p:spPr>
          <a:xfrm>
            <a:off x="1143000" y="2800350"/>
            <a:ext cx="47625" cy="666750"/>
          </a:xfrm>
          <a:prstGeom prst="roundRect">
            <a:avLst>
              <a:gd name="adj" fmla="val 50000"/>
            </a:avLst>
          </a:prstGeom>
          <a:solidFill>
            <a:srgbClr val="19D9FF"/>
          </a:solidFill>
          <a:ln w="0">
            <a:noFill/>
            <a:prstDash val="solid"/>
          </a:ln>
        </p:spPr>
        <p:txBody>
          <a:bodyPr/>
          <a:lstStyle/>
          <a:p>
            <a:endParaRPr lang="zh-CN" altLang="en-US"/>
          </a:p>
        </p:txBody>
      </p:sp>
      <p:sp>
        <p:nvSpPr>
          <p:cNvPr id="20" name="矩形 19">
            <a:extLst>
              <a:ext uri="{FF2B5EF4-FFF2-40B4-BE49-F238E27FC236}">
                <a16:creationId xmlns:a16="http://schemas.microsoft.com/office/drawing/2014/main" id="{8F87B420-3CCF-4AC4-B11D-FC5B8167B6DB}"/>
              </a:ext>
            </a:extLst>
          </p:cNvPr>
          <p:cNvSpPr>
            <a:spLocks noGrp="1"/>
          </p:cNvSpPr>
          <p:nvPr/>
        </p:nvSpPr>
        <p:spPr>
          <a:xfrm>
            <a:off x="1409700" y="2971800"/>
            <a:ext cx="609600" cy="247650"/>
          </a:xfrm>
          <a:prstGeom prst="rect">
            <a:avLst/>
          </a:prstGeom>
          <a:noFill/>
          <a:ln w="0">
            <a:noFill/>
            <a:prstDash val="solid"/>
          </a:ln>
        </p:spPr>
        <p:txBody>
          <a:bodyPr lIns="0" tIns="0" rIns="0" bIns="0"/>
          <a:lstStyle/>
          <a:p>
            <a:pPr>
              <a:lnSpc>
                <a:spcPct val="108000"/>
              </a:lnSpc>
              <a:buNone/>
              <a:defRPr sz="1800" b="1">
                <a:solidFill>
                  <a:srgbClr val="19D9FF"/>
                </a:solidFill>
                <a:latin typeface="Microsoft YaHei"/>
                <a:ea typeface="Microsoft YaHei"/>
                <a:cs typeface="Microsoft YaHei"/>
              </a:defRPr>
            </a:pPr>
            <a:r>
              <a:rPr sz="1800" b="1">
                <a:solidFill>
                  <a:srgbClr val="19D9FF"/>
                </a:solidFill>
                <a:latin typeface="Microsoft YaHei"/>
                <a:ea typeface="Microsoft YaHei"/>
                <a:cs typeface="Microsoft YaHei"/>
              </a:rPr>
              <a:t>03</a:t>
            </a:r>
          </a:p>
        </p:txBody>
      </p:sp>
      <p:sp>
        <p:nvSpPr>
          <p:cNvPr id="21" name="矩形 20">
            <a:extLst>
              <a:ext uri="{FF2B5EF4-FFF2-40B4-BE49-F238E27FC236}">
                <a16:creationId xmlns:a16="http://schemas.microsoft.com/office/drawing/2014/main" id="{98416509-6DB6-45EF-948C-BFC541F01CF5}"/>
              </a:ext>
            </a:extLst>
          </p:cNvPr>
          <p:cNvSpPr>
            <a:spLocks noGrp="1"/>
          </p:cNvSpPr>
          <p:nvPr/>
        </p:nvSpPr>
        <p:spPr>
          <a:xfrm>
            <a:off x="2095500" y="2990850"/>
            <a:ext cx="2667000" cy="266700"/>
          </a:xfrm>
          <a:prstGeom prst="rect">
            <a:avLst/>
          </a:prstGeom>
          <a:noFill/>
          <a:ln w="0">
            <a:noFill/>
            <a:prstDash val="solid"/>
          </a:ln>
        </p:spPr>
        <p:txBody>
          <a:bodyPr lIns="0" tIns="0" rIns="0" bIns="0"/>
          <a:lstStyle/>
          <a:p>
            <a:pPr>
              <a:lnSpc>
                <a:spcPct val="108000"/>
              </a:lnSpc>
              <a:buNone/>
              <a:defRPr sz="1650" b="1">
                <a:solidFill>
                  <a:srgbClr val="F6FBFF"/>
                </a:solidFill>
                <a:latin typeface="Microsoft YaHei"/>
                <a:ea typeface="Microsoft YaHei"/>
                <a:cs typeface="Microsoft YaHei"/>
              </a:defRPr>
            </a:pPr>
            <a:r>
              <a:rPr sz="1650" b="1">
                <a:solidFill>
                  <a:srgbClr val="F6FBFF"/>
                </a:solidFill>
                <a:latin typeface="Microsoft YaHei"/>
                <a:ea typeface="Microsoft YaHei"/>
                <a:cs typeface="Microsoft YaHei"/>
              </a:rPr>
              <a:t>研究目标与内容</a:t>
            </a:r>
          </a:p>
        </p:txBody>
      </p:sp>
      <p:sp>
        <p:nvSpPr>
          <p:cNvPr id="22" name="圆角矩形 21">
            <a:extLst>
              <a:ext uri="{FF2B5EF4-FFF2-40B4-BE49-F238E27FC236}">
                <a16:creationId xmlns:a16="http://schemas.microsoft.com/office/drawing/2014/main" id="{AE8052D8-CDB6-4DCC-809C-DC146606F6CE}"/>
              </a:ext>
            </a:extLst>
          </p:cNvPr>
          <p:cNvSpPr>
            <a:spLocks noGrp="1"/>
          </p:cNvSpPr>
          <p:nvPr/>
        </p:nvSpPr>
        <p:spPr>
          <a:xfrm>
            <a:off x="6191250" y="2800350"/>
            <a:ext cx="4095750" cy="666750"/>
          </a:xfrm>
          <a:prstGeom prst="roundRect">
            <a:avLst>
              <a:gd name="adj" fmla="val 17143"/>
            </a:avLst>
          </a:prstGeom>
          <a:solidFill>
            <a:srgbClr val="07172B">
              <a:alpha val="68000"/>
            </a:srgbClr>
          </a:solidFill>
          <a:ln w="13335">
            <a:solidFill>
              <a:srgbClr val="26D9FF">
                <a:alpha val="42000"/>
              </a:srgbClr>
            </a:solidFill>
            <a:prstDash val="solid"/>
          </a:ln>
        </p:spPr>
        <p:txBody>
          <a:bodyPr/>
          <a:lstStyle/>
          <a:p>
            <a:endParaRPr lang="zh-CN" altLang="en-US"/>
          </a:p>
        </p:txBody>
      </p:sp>
      <p:sp>
        <p:nvSpPr>
          <p:cNvPr id="23" name="圆角矩形 22">
            <a:extLst>
              <a:ext uri="{FF2B5EF4-FFF2-40B4-BE49-F238E27FC236}">
                <a16:creationId xmlns:a16="http://schemas.microsoft.com/office/drawing/2014/main" id="{1E3A2D47-5825-4740-9436-F6F466AD90AD}"/>
              </a:ext>
            </a:extLst>
          </p:cNvPr>
          <p:cNvSpPr>
            <a:spLocks noGrp="1"/>
          </p:cNvSpPr>
          <p:nvPr/>
        </p:nvSpPr>
        <p:spPr>
          <a:xfrm>
            <a:off x="6191250" y="2800350"/>
            <a:ext cx="47625" cy="666750"/>
          </a:xfrm>
          <a:prstGeom prst="roundRect">
            <a:avLst>
              <a:gd name="adj" fmla="val 50000"/>
            </a:avLst>
          </a:prstGeom>
          <a:solidFill>
            <a:srgbClr val="19D9FF"/>
          </a:solidFill>
          <a:ln w="0">
            <a:noFill/>
            <a:prstDash val="solid"/>
          </a:ln>
        </p:spPr>
        <p:txBody>
          <a:bodyPr/>
          <a:lstStyle/>
          <a:p>
            <a:endParaRPr lang="zh-CN" altLang="en-US"/>
          </a:p>
        </p:txBody>
      </p:sp>
      <p:sp>
        <p:nvSpPr>
          <p:cNvPr id="24" name="矩形 23">
            <a:extLst>
              <a:ext uri="{FF2B5EF4-FFF2-40B4-BE49-F238E27FC236}">
                <a16:creationId xmlns:a16="http://schemas.microsoft.com/office/drawing/2014/main" id="{4DAEC349-D966-458A-92C0-45B69424379F}"/>
              </a:ext>
            </a:extLst>
          </p:cNvPr>
          <p:cNvSpPr>
            <a:spLocks noGrp="1"/>
          </p:cNvSpPr>
          <p:nvPr/>
        </p:nvSpPr>
        <p:spPr>
          <a:xfrm>
            <a:off x="6457950" y="2971800"/>
            <a:ext cx="609600" cy="247650"/>
          </a:xfrm>
          <a:prstGeom prst="rect">
            <a:avLst/>
          </a:prstGeom>
          <a:noFill/>
          <a:ln w="0">
            <a:noFill/>
            <a:prstDash val="solid"/>
          </a:ln>
        </p:spPr>
        <p:txBody>
          <a:bodyPr lIns="0" tIns="0" rIns="0" bIns="0"/>
          <a:lstStyle/>
          <a:p>
            <a:pPr>
              <a:lnSpc>
                <a:spcPct val="108000"/>
              </a:lnSpc>
              <a:buNone/>
              <a:defRPr sz="1800" b="1">
                <a:solidFill>
                  <a:srgbClr val="19D9FF"/>
                </a:solidFill>
                <a:latin typeface="Microsoft YaHei"/>
                <a:ea typeface="Microsoft YaHei"/>
                <a:cs typeface="Microsoft YaHei"/>
              </a:defRPr>
            </a:pPr>
            <a:r>
              <a:rPr sz="1800" b="1">
                <a:solidFill>
                  <a:srgbClr val="19D9FF"/>
                </a:solidFill>
                <a:latin typeface="Microsoft YaHei"/>
                <a:ea typeface="Microsoft YaHei"/>
                <a:cs typeface="Microsoft YaHei"/>
              </a:rPr>
              <a:t>04</a:t>
            </a:r>
          </a:p>
        </p:txBody>
      </p:sp>
      <p:sp>
        <p:nvSpPr>
          <p:cNvPr id="25" name="矩形 24">
            <a:extLst>
              <a:ext uri="{FF2B5EF4-FFF2-40B4-BE49-F238E27FC236}">
                <a16:creationId xmlns:a16="http://schemas.microsoft.com/office/drawing/2014/main" id="{E969C772-6495-4D1A-B6DB-6B76067E0C19}"/>
              </a:ext>
            </a:extLst>
          </p:cNvPr>
          <p:cNvSpPr>
            <a:spLocks noGrp="1"/>
          </p:cNvSpPr>
          <p:nvPr/>
        </p:nvSpPr>
        <p:spPr>
          <a:xfrm>
            <a:off x="7143750" y="2990850"/>
            <a:ext cx="2667000" cy="266700"/>
          </a:xfrm>
          <a:prstGeom prst="rect">
            <a:avLst/>
          </a:prstGeom>
          <a:noFill/>
          <a:ln w="0">
            <a:noFill/>
            <a:prstDash val="solid"/>
          </a:ln>
        </p:spPr>
        <p:txBody>
          <a:bodyPr lIns="0" tIns="0" rIns="0" bIns="0"/>
          <a:lstStyle/>
          <a:p>
            <a:pPr>
              <a:lnSpc>
                <a:spcPct val="108000"/>
              </a:lnSpc>
              <a:buNone/>
              <a:defRPr sz="1650" b="1">
                <a:solidFill>
                  <a:srgbClr val="F6FBFF"/>
                </a:solidFill>
                <a:latin typeface="Microsoft YaHei"/>
                <a:ea typeface="Microsoft YaHei"/>
                <a:cs typeface="Microsoft YaHei"/>
              </a:defRPr>
            </a:pPr>
            <a:r>
              <a:rPr sz="1650" b="1">
                <a:solidFill>
                  <a:srgbClr val="F6FBFF"/>
                </a:solidFill>
                <a:latin typeface="Microsoft YaHei"/>
                <a:ea typeface="Microsoft YaHei"/>
                <a:cs typeface="Microsoft YaHei"/>
              </a:rPr>
              <a:t>技术路线与方案</a:t>
            </a:r>
          </a:p>
        </p:txBody>
      </p:sp>
      <p:sp>
        <p:nvSpPr>
          <p:cNvPr id="26" name="圆角矩形 25">
            <a:extLst>
              <a:ext uri="{FF2B5EF4-FFF2-40B4-BE49-F238E27FC236}">
                <a16:creationId xmlns:a16="http://schemas.microsoft.com/office/drawing/2014/main" id="{E6A10370-31D3-43A7-A919-DFB572781771}"/>
              </a:ext>
            </a:extLst>
          </p:cNvPr>
          <p:cNvSpPr>
            <a:spLocks noGrp="1"/>
          </p:cNvSpPr>
          <p:nvPr/>
        </p:nvSpPr>
        <p:spPr>
          <a:xfrm>
            <a:off x="1143000" y="3790950"/>
            <a:ext cx="4095750" cy="666750"/>
          </a:xfrm>
          <a:prstGeom prst="roundRect">
            <a:avLst>
              <a:gd name="adj" fmla="val 17143"/>
            </a:avLst>
          </a:prstGeom>
          <a:solidFill>
            <a:srgbClr val="07172B">
              <a:alpha val="68000"/>
            </a:srgbClr>
          </a:solidFill>
          <a:ln w="13335">
            <a:solidFill>
              <a:srgbClr val="26D9FF">
                <a:alpha val="42000"/>
              </a:srgbClr>
            </a:solidFill>
            <a:prstDash val="solid"/>
          </a:ln>
        </p:spPr>
        <p:txBody>
          <a:bodyPr/>
          <a:lstStyle/>
          <a:p>
            <a:endParaRPr lang="zh-CN" altLang="en-US"/>
          </a:p>
        </p:txBody>
      </p:sp>
      <p:sp>
        <p:nvSpPr>
          <p:cNvPr id="27" name="圆角矩形 26">
            <a:extLst>
              <a:ext uri="{FF2B5EF4-FFF2-40B4-BE49-F238E27FC236}">
                <a16:creationId xmlns:a16="http://schemas.microsoft.com/office/drawing/2014/main" id="{4F8BD3E4-3170-4E06-9CF1-D484CBDA9D76}"/>
              </a:ext>
            </a:extLst>
          </p:cNvPr>
          <p:cNvSpPr>
            <a:spLocks noGrp="1"/>
          </p:cNvSpPr>
          <p:nvPr/>
        </p:nvSpPr>
        <p:spPr>
          <a:xfrm>
            <a:off x="1143000" y="3790950"/>
            <a:ext cx="47625" cy="666750"/>
          </a:xfrm>
          <a:prstGeom prst="roundRect">
            <a:avLst>
              <a:gd name="adj" fmla="val 50000"/>
            </a:avLst>
          </a:prstGeom>
          <a:solidFill>
            <a:srgbClr val="19D9FF"/>
          </a:solidFill>
          <a:ln w="0">
            <a:noFill/>
            <a:prstDash val="solid"/>
          </a:ln>
        </p:spPr>
        <p:txBody>
          <a:bodyPr/>
          <a:lstStyle/>
          <a:p>
            <a:endParaRPr lang="zh-CN" altLang="en-US"/>
          </a:p>
        </p:txBody>
      </p:sp>
      <p:sp>
        <p:nvSpPr>
          <p:cNvPr id="28" name="矩形 27">
            <a:extLst>
              <a:ext uri="{FF2B5EF4-FFF2-40B4-BE49-F238E27FC236}">
                <a16:creationId xmlns:a16="http://schemas.microsoft.com/office/drawing/2014/main" id="{4B402081-F93D-4E77-A6E1-6A2076BD7037}"/>
              </a:ext>
            </a:extLst>
          </p:cNvPr>
          <p:cNvSpPr>
            <a:spLocks noGrp="1"/>
          </p:cNvSpPr>
          <p:nvPr/>
        </p:nvSpPr>
        <p:spPr>
          <a:xfrm>
            <a:off x="1409700" y="3962400"/>
            <a:ext cx="609600" cy="247650"/>
          </a:xfrm>
          <a:prstGeom prst="rect">
            <a:avLst/>
          </a:prstGeom>
          <a:noFill/>
          <a:ln w="0">
            <a:noFill/>
            <a:prstDash val="solid"/>
          </a:ln>
        </p:spPr>
        <p:txBody>
          <a:bodyPr lIns="0" tIns="0" rIns="0" bIns="0"/>
          <a:lstStyle/>
          <a:p>
            <a:pPr>
              <a:lnSpc>
                <a:spcPct val="108000"/>
              </a:lnSpc>
              <a:buNone/>
              <a:defRPr sz="1800" b="1">
                <a:solidFill>
                  <a:srgbClr val="19D9FF"/>
                </a:solidFill>
                <a:latin typeface="Microsoft YaHei"/>
                <a:ea typeface="Microsoft YaHei"/>
                <a:cs typeface="Microsoft YaHei"/>
              </a:defRPr>
            </a:pPr>
            <a:r>
              <a:rPr sz="1800" b="1">
                <a:solidFill>
                  <a:srgbClr val="19D9FF"/>
                </a:solidFill>
                <a:latin typeface="Microsoft YaHei"/>
                <a:ea typeface="Microsoft YaHei"/>
                <a:cs typeface="Microsoft YaHei"/>
              </a:rPr>
              <a:t>05</a:t>
            </a:r>
          </a:p>
        </p:txBody>
      </p:sp>
      <p:sp>
        <p:nvSpPr>
          <p:cNvPr id="29" name="矩形 28">
            <a:extLst>
              <a:ext uri="{FF2B5EF4-FFF2-40B4-BE49-F238E27FC236}">
                <a16:creationId xmlns:a16="http://schemas.microsoft.com/office/drawing/2014/main" id="{8DAC27BC-DCE5-40A2-A379-D2140F754D70}"/>
              </a:ext>
            </a:extLst>
          </p:cNvPr>
          <p:cNvSpPr>
            <a:spLocks noGrp="1"/>
          </p:cNvSpPr>
          <p:nvPr/>
        </p:nvSpPr>
        <p:spPr>
          <a:xfrm>
            <a:off x="2095500" y="3981450"/>
            <a:ext cx="2667000" cy="266700"/>
          </a:xfrm>
          <a:prstGeom prst="rect">
            <a:avLst/>
          </a:prstGeom>
          <a:noFill/>
          <a:ln w="0">
            <a:noFill/>
            <a:prstDash val="solid"/>
          </a:ln>
        </p:spPr>
        <p:txBody>
          <a:bodyPr lIns="0" tIns="0" rIns="0" bIns="0"/>
          <a:lstStyle/>
          <a:p>
            <a:pPr>
              <a:lnSpc>
                <a:spcPct val="108000"/>
              </a:lnSpc>
              <a:buNone/>
              <a:defRPr sz="1650" b="1">
                <a:solidFill>
                  <a:srgbClr val="F6FBFF"/>
                </a:solidFill>
                <a:latin typeface="Microsoft YaHei"/>
                <a:ea typeface="Microsoft YaHei"/>
                <a:cs typeface="Microsoft YaHei"/>
              </a:defRPr>
            </a:pPr>
            <a:r>
              <a:rPr sz="1650" b="1">
                <a:solidFill>
                  <a:srgbClr val="F6FBFF"/>
                </a:solidFill>
                <a:latin typeface="Microsoft YaHei"/>
                <a:ea typeface="Microsoft YaHei"/>
                <a:cs typeface="Microsoft YaHei"/>
              </a:rPr>
              <a:t>可行性分析</a:t>
            </a:r>
          </a:p>
        </p:txBody>
      </p:sp>
      <p:sp>
        <p:nvSpPr>
          <p:cNvPr id="30" name="圆角矩形 29">
            <a:extLst>
              <a:ext uri="{FF2B5EF4-FFF2-40B4-BE49-F238E27FC236}">
                <a16:creationId xmlns:a16="http://schemas.microsoft.com/office/drawing/2014/main" id="{096DEEB9-C54D-4398-AD86-67AD708611B8}"/>
              </a:ext>
            </a:extLst>
          </p:cNvPr>
          <p:cNvSpPr>
            <a:spLocks noGrp="1"/>
          </p:cNvSpPr>
          <p:nvPr/>
        </p:nvSpPr>
        <p:spPr>
          <a:xfrm>
            <a:off x="6191250" y="3790950"/>
            <a:ext cx="4095750" cy="666750"/>
          </a:xfrm>
          <a:prstGeom prst="roundRect">
            <a:avLst>
              <a:gd name="adj" fmla="val 17143"/>
            </a:avLst>
          </a:prstGeom>
          <a:solidFill>
            <a:srgbClr val="07172B">
              <a:alpha val="68000"/>
            </a:srgbClr>
          </a:solidFill>
          <a:ln w="13335">
            <a:solidFill>
              <a:srgbClr val="26D9FF">
                <a:alpha val="42000"/>
              </a:srgbClr>
            </a:solidFill>
            <a:prstDash val="solid"/>
          </a:ln>
        </p:spPr>
        <p:txBody>
          <a:bodyPr/>
          <a:lstStyle/>
          <a:p>
            <a:endParaRPr lang="zh-CN" altLang="en-US"/>
          </a:p>
        </p:txBody>
      </p:sp>
      <p:sp>
        <p:nvSpPr>
          <p:cNvPr id="31" name="圆角矩形 30">
            <a:extLst>
              <a:ext uri="{FF2B5EF4-FFF2-40B4-BE49-F238E27FC236}">
                <a16:creationId xmlns:a16="http://schemas.microsoft.com/office/drawing/2014/main" id="{31350E54-7ADB-40CC-9EAC-9F0E0FF583CB}"/>
              </a:ext>
            </a:extLst>
          </p:cNvPr>
          <p:cNvSpPr>
            <a:spLocks noGrp="1"/>
          </p:cNvSpPr>
          <p:nvPr/>
        </p:nvSpPr>
        <p:spPr>
          <a:xfrm>
            <a:off x="6191250" y="3790950"/>
            <a:ext cx="47625" cy="666750"/>
          </a:xfrm>
          <a:prstGeom prst="roundRect">
            <a:avLst>
              <a:gd name="adj" fmla="val 50000"/>
            </a:avLst>
          </a:prstGeom>
          <a:solidFill>
            <a:srgbClr val="19D9FF"/>
          </a:solidFill>
          <a:ln w="0">
            <a:noFill/>
            <a:prstDash val="solid"/>
          </a:ln>
        </p:spPr>
        <p:txBody>
          <a:bodyPr/>
          <a:lstStyle/>
          <a:p>
            <a:endParaRPr lang="zh-CN" altLang="en-US"/>
          </a:p>
        </p:txBody>
      </p:sp>
      <p:sp>
        <p:nvSpPr>
          <p:cNvPr id="32" name="矩形 31">
            <a:extLst>
              <a:ext uri="{FF2B5EF4-FFF2-40B4-BE49-F238E27FC236}">
                <a16:creationId xmlns:a16="http://schemas.microsoft.com/office/drawing/2014/main" id="{7E51B4CF-3BCD-4F07-9428-9EDE7A4BDF93}"/>
              </a:ext>
            </a:extLst>
          </p:cNvPr>
          <p:cNvSpPr>
            <a:spLocks noGrp="1"/>
          </p:cNvSpPr>
          <p:nvPr/>
        </p:nvSpPr>
        <p:spPr>
          <a:xfrm>
            <a:off x="6457950" y="3962400"/>
            <a:ext cx="609600" cy="247650"/>
          </a:xfrm>
          <a:prstGeom prst="rect">
            <a:avLst/>
          </a:prstGeom>
          <a:noFill/>
          <a:ln w="0">
            <a:noFill/>
            <a:prstDash val="solid"/>
          </a:ln>
        </p:spPr>
        <p:txBody>
          <a:bodyPr lIns="0" tIns="0" rIns="0" bIns="0"/>
          <a:lstStyle/>
          <a:p>
            <a:pPr>
              <a:lnSpc>
                <a:spcPct val="108000"/>
              </a:lnSpc>
              <a:buNone/>
              <a:defRPr sz="1800" b="1">
                <a:solidFill>
                  <a:srgbClr val="19D9FF"/>
                </a:solidFill>
                <a:latin typeface="Microsoft YaHei"/>
                <a:ea typeface="Microsoft YaHei"/>
                <a:cs typeface="Microsoft YaHei"/>
              </a:defRPr>
            </a:pPr>
            <a:r>
              <a:rPr sz="1800" b="1">
                <a:solidFill>
                  <a:srgbClr val="19D9FF"/>
                </a:solidFill>
                <a:latin typeface="Microsoft YaHei"/>
                <a:ea typeface="Microsoft YaHei"/>
                <a:cs typeface="Microsoft YaHei"/>
              </a:rPr>
              <a:t>06</a:t>
            </a:r>
          </a:p>
        </p:txBody>
      </p:sp>
      <p:sp>
        <p:nvSpPr>
          <p:cNvPr id="33" name="矩形 32">
            <a:extLst>
              <a:ext uri="{FF2B5EF4-FFF2-40B4-BE49-F238E27FC236}">
                <a16:creationId xmlns:a16="http://schemas.microsoft.com/office/drawing/2014/main" id="{5E40F677-7F6A-4EB4-BC7F-1559AD947226}"/>
              </a:ext>
            </a:extLst>
          </p:cNvPr>
          <p:cNvSpPr>
            <a:spLocks noGrp="1"/>
          </p:cNvSpPr>
          <p:nvPr/>
        </p:nvSpPr>
        <p:spPr>
          <a:xfrm>
            <a:off x="7143750" y="3981450"/>
            <a:ext cx="2667000" cy="266700"/>
          </a:xfrm>
          <a:prstGeom prst="rect">
            <a:avLst/>
          </a:prstGeom>
          <a:noFill/>
          <a:ln w="0">
            <a:noFill/>
            <a:prstDash val="solid"/>
          </a:ln>
        </p:spPr>
        <p:txBody>
          <a:bodyPr lIns="0" tIns="0" rIns="0" bIns="0"/>
          <a:lstStyle/>
          <a:p>
            <a:pPr>
              <a:lnSpc>
                <a:spcPct val="108000"/>
              </a:lnSpc>
              <a:buNone/>
              <a:defRPr sz="1650" b="1">
                <a:solidFill>
                  <a:srgbClr val="F6FBFF"/>
                </a:solidFill>
                <a:latin typeface="Microsoft YaHei"/>
                <a:ea typeface="Microsoft YaHei"/>
                <a:cs typeface="Microsoft YaHei"/>
              </a:defRPr>
            </a:pPr>
            <a:r>
              <a:rPr sz="1650" b="1">
                <a:solidFill>
                  <a:srgbClr val="F6FBFF"/>
                </a:solidFill>
                <a:latin typeface="Microsoft YaHei"/>
                <a:ea typeface="Microsoft YaHei"/>
                <a:cs typeface="Microsoft YaHei"/>
              </a:rPr>
              <a:t>进度安排</a:t>
            </a:r>
          </a:p>
        </p:txBody>
      </p:sp>
      <p:sp>
        <p:nvSpPr>
          <p:cNvPr id="34" name="圆角矩形 33">
            <a:extLst>
              <a:ext uri="{FF2B5EF4-FFF2-40B4-BE49-F238E27FC236}">
                <a16:creationId xmlns:a16="http://schemas.microsoft.com/office/drawing/2014/main" id="{E4E0AB6B-3C62-4F2C-AA34-62C40821C60F}"/>
              </a:ext>
            </a:extLst>
          </p:cNvPr>
          <p:cNvSpPr>
            <a:spLocks noGrp="1"/>
          </p:cNvSpPr>
          <p:nvPr/>
        </p:nvSpPr>
        <p:spPr>
          <a:xfrm>
            <a:off x="1143000" y="5391150"/>
            <a:ext cx="9144000" cy="666750"/>
          </a:xfrm>
          <a:prstGeom prst="roundRect">
            <a:avLst>
              <a:gd name="adj" fmla="val 17143"/>
            </a:avLst>
          </a:prstGeom>
          <a:solidFill>
            <a:srgbClr val="0B2038">
              <a:alpha val="82000"/>
            </a:srgbClr>
          </a:solidFill>
          <a:ln w="13335">
            <a:solidFill>
              <a:srgbClr val="26D9FF">
                <a:alpha val="42000"/>
              </a:srgbClr>
            </a:solidFill>
            <a:prstDash val="solid"/>
          </a:ln>
        </p:spPr>
        <p:txBody>
          <a:bodyPr/>
          <a:lstStyle/>
          <a:p>
            <a:endParaRPr lang="zh-CN" altLang="en-US"/>
          </a:p>
        </p:txBody>
      </p:sp>
      <p:sp>
        <p:nvSpPr>
          <p:cNvPr id="35" name="圆角矩形 34">
            <a:extLst>
              <a:ext uri="{FF2B5EF4-FFF2-40B4-BE49-F238E27FC236}">
                <a16:creationId xmlns:a16="http://schemas.microsoft.com/office/drawing/2014/main" id="{7020C910-E75D-4161-9906-C28D43DB7835}"/>
              </a:ext>
            </a:extLst>
          </p:cNvPr>
          <p:cNvSpPr>
            <a:spLocks noGrp="1"/>
          </p:cNvSpPr>
          <p:nvPr/>
        </p:nvSpPr>
        <p:spPr>
          <a:xfrm>
            <a:off x="1143000" y="5391150"/>
            <a:ext cx="47625" cy="666750"/>
          </a:xfrm>
          <a:prstGeom prst="roundRect">
            <a:avLst>
              <a:gd name="adj" fmla="val 50000"/>
            </a:avLst>
          </a:prstGeom>
          <a:solidFill>
            <a:srgbClr val="37E6C4"/>
          </a:solidFill>
          <a:ln w="0">
            <a:noFill/>
            <a:prstDash val="solid"/>
          </a:ln>
        </p:spPr>
        <p:txBody>
          <a:bodyPr/>
          <a:lstStyle/>
          <a:p>
            <a:endParaRPr lang="zh-CN" altLang="en-US"/>
          </a:p>
        </p:txBody>
      </p:sp>
      <p:sp>
        <p:nvSpPr>
          <p:cNvPr id="36" name="矩形 35">
            <a:extLst>
              <a:ext uri="{FF2B5EF4-FFF2-40B4-BE49-F238E27FC236}">
                <a16:creationId xmlns:a16="http://schemas.microsoft.com/office/drawing/2014/main" id="{EB9A772A-FD8A-4426-862C-436AA172EAA4}"/>
              </a:ext>
            </a:extLst>
          </p:cNvPr>
          <p:cNvSpPr>
            <a:spLocks noGrp="1"/>
          </p:cNvSpPr>
          <p:nvPr/>
        </p:nvSpPr>
        <p:spPr>
          <a:xfrm>
            <a:off x="1504950" y="5600700"/>
            <a:ext cx="8420100" cy="247650"/>
          </a:xfrm>
          <a:prstGeom prst="rect">
            <a:avLst/>
          </a:prstGeom>
          <a:noFill/>
          <a:ln w="0">
            <a:noFill/>
            <a:prstDash val="solid"/>
          </a:ln>
        </p:spPr>
        <p:txBody>
          <a:bodyPr lIns="0" tIns="0" rIns="0" bIns="0"/>
          <a:lstStyle/>
          <a:p>
            <a:pPr algn="ctr">
              <a:lnSpc>
                <a:spcPct val="108000"/>
              </a:lnSpc>
              <a:buNone/>
              <a:defRPr sz="1425" b="1">
                <a:solidFill>
                  <a:srgbClr val="74F0FF"/>
                </a:solidFill>
                <a:latin typeface="Microsoft YaHei"/>
                <a:ea typeface="Microsoft YaHei"/>
                <a:cs typeface="Microsoft YaHei"/>
              </a:defRPr>
            </a:pPr>
            <a:r>
              <a:rPr sz="1425" b="1">
                <a:solidFill>
                  <a:srgbClr val="74F0FF"/>
                </a:solidFill>
                <a:latin typeface="Microsoft YaHei"/>
                <a:ea typeface="Microsoft YaHei"/>
                <a:cs typeface="Microsoft YaHei"/>
              </a:rPr>
              <a:t>核心问题：如何从真实传播数据反推推荐机制参数，并注入 LLM Agent 与规则 Agent 协同运行的社交仿真平台？</a:t>
            </a:r>
          </a:p>
        </p:txBody>
      </p:sp>
    </p:spTree>
    <p:extLst>
      <p:ext uri="{BB962C8B-B14F-4D97-AF65-F5344CB8AC3E}">
        <p14:creationId xmlns:p14="http://schemas.microsoft.com/office/powerpoint/2010/main" val="36499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E8D61B0E-9320-4A40-8026-E4E275B8057D}"/>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3C5BF3E6-A007-47F5-8C5C-D0C7924C603C}"/>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9CE283AD-77A6-42CD-9567-C69DE332D557}"/>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31" name="图片 30"/>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2A101571-87F1-423E-A104-2DDE0440C588}"/>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01  选题背景与研究意义</a:t>
            </a:r>
          </a:p>
        </p:txBody>
      </p:sp>
      <p:sp>
        <p:nvSpPr>
          <p:cNvPr id="7" name="矩形 6">
            <a:extLst>
              <a:ext uri="{FF2B5EF4-FFF2-40B4-BE49-F238E27FC236}">
                <a16:creationId xmlns:a16="http://schemas.microsoft.com/office/drawing/2014/main" id="{585EC33B-BEE3-4F67-97A2-5B04E8D7C6FD}"/>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为什么要做可校准的社交仿真</a:t>
            </a:r>
          </a:p>
        </p:txBody>
      </p:sp>
      <p:sp>
        <p:nvSpPr>
          <p:cNvPr id="8" name="圆角矩形 7">
            <a:extLst>
              <a:ext uri="{FF2B5EF4-FFF2-40B4-BE49-F238E27FC236}">
                <a16:creationId xmlns:a16="http://schemas.microsoft.com/office/drawing/2014/main" id="{2E84BD68-F4BC-4F66-9F85-EBE84420D9C4}"/>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625FE077-CC45-462A-A30A-4E13256249A3}"/>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03</a:t>
            </a:r>
          </a:p>
        </p:txBody>
      </p:sp>
      <p:sp>
        <p:nvSpPr>
          <p:cNvPr id="10" name="椭圆 9">
            <a:extLst>
              <a:ext uri="{FF2B5EF4-FFF2-40B4-BE49-F238E27FC236}">
                <a16:creationId xmlns:a16="http://schemas.microsoft.com/office/drawing/2014/main" id="{4CDD79A2-1599-4AF1-8BB0-6FCFE4D78976}"/>
              </a:ext>
            </a:extLst>
          </p:cNvPr>
          <p:cNvSpPr>
            <a:spLocks noGrp="1"/>
          </p:cNvSpPr>
          <p:nvPr/>
        </p:nvSpPr>
        <p:spPr>
          <a:xfrm>
            <a:off x="1028700" y="1943100"/>
            <a:ext cx="114300" cy="114300"/>
          </a:xfrm>
          <a:prstGeom prst="ellipse">
            <a:avLst/>
          </a:prstGeom>
          <a:solidFill>
            <a:srgbClr val="19D9FF"/>
          </a:solidFill>
          <a:ln w="0">
            <a:noFill/>
            <a:prstDash val="solid"/>
          </a:ln>
        </p:spPr>
        <p:txBody>
          <a:bodyPr/>
          <a:lstStyle/>
          <a:p>
            <a:endParaRPr lang="zh-CN" altLang="en-US"/>
          </a:p>
        </p:txBody>
      </p:sp>
      <p:sp>
        <p:nvSpPr>
          <p:cNvPr id="11" name="矩形 10">
            <a:extLst>
              <a:ext uri="{FF2B5EF4-FFF2-40B4-BE49-F238E27FC236}">
                <a16:creationId xmlns:a16="http://schemas.microsoft.com/office/drawing/2014/main" id="{ED4CDF04-EF8E-4694-906E-17BB43932323}"/>
              </a:ext>
            </a:extLst>
          </p:cNvPr>
          <p:cNvSpPr>
            <a:spLocks noGrp="1"/>
          </p:cNvSpPr>
          <p:nvPr/>
        </p:nvSpPr>
        <p:spPr>
          <a:xfrm>
            <a:off x="1276350" y="1885950"/>
            <a:ext cx="6267450" cy="762000"/>
          </a:xfrm>
          <a:prstGeom prst="rect">
            <a:avLst/>
          </a:prstGeom>
          <a:noFill/>
          <a:ln w="0">
            <a:noFill/>
            <a:prstDash val="solid"/>
          </a:ln>
        </p:spPr>
        <p:txBody>
          <a:bodyPr lIns="0" tIns="0" rIns="0" bIns="0"/>
          <a:lstStyle/>
          <a:p>
            <a:pPr>
              <a:lnSpc>
                <a:spcPct val="112000"/>
              </a:lnSpc>
              <a:buNone/>
              <a:defRPr sz="1575">
                <a:solidFill>
                  <a:srgbClr val="F6FBFF"/>
                </a:solidFill>
                <a:latin typeface="Microsoft YaHei"/>
                <a:ea typeface="Microsoft YaHei"/>
                <a:cs typeface="Microsoft YaHei"/>
              </a:defRPr>
            </a:pPr>
            <a:r>
              <a:rPr sz="1575">
                <a:solidFill>
                  <a:srgbClr val="F6FBFF"/>
                </a:solidFill>
                <a:latin typeface="Microsoft YaHei"/>
                <a:ea typeface="Microsoft YaHei"/>
                <a:cs typeface="Microsoft YaHei"/>
              </a:rPr>
              <a:t>社交媒体已成为公共议题扩散、舆论形成与平台治理的重要空间。</a:t>
            </a:r>
          </a:p>
        </p:txBody>
      </p:sp>
      <p:sp>
        <p:nvSpPr>
          <p:cNvPr id="12" name="椭圆 11">
            <a:extLst>
              <a:ext uri="{FF2B5EF4-FFF2-40B4-BE49-F238E27FC236}">
                <a16:creationId xmlns:a16="http://schemas.microsoft.com/office/drawing/2014/main" id="{FDBD9352-3654-430A-B25F-643F780445F8}"/>
              </a:ext>
            </a:extLst>
          </p:cNvPr>
          <p:cNvSpPr>
            <a:spLocks noGrp="1"/>
          </p:cNvSpPr>
          <p:nvPr/>
        </p:nvSpPr>
        <p:spPr>
          <a:xfrm>
            <a:off x="1028700" y="2724150"/>
            <a:ext cx="114300" cy="114300"/>
          </a:xfrm>
          <a:prstGeom prst="ellipse">
            <a:avLst/>
          </a:prstGeom>
          <a:solidFill>
            <a:srgbClr val="19D9FF"/>
          </a:solidFill>
          <a:ln w="0">
            <a:noFill/>
            <a:prstDash val="solid"/>
          </a:ln>
        </p:spPr>
        <p:txBody>
          <a:bodyPr/>
          <a:lstStyle/>
          <a:p>
            <a:endParaRPr lang="zh-CN" altLang="en-US"/>
          </a:p>
        </p:txBody>
      </p:sp>
      <p:sp>
        <p:nvSpPr>
          <p:cNvPr id="13" name="矩形 12">
            <a:extLst>
              <a:ext uri="{FF2B5EF4-FFF2-40B4-BE49-F238E27FC236}">
                <a16:creationId xmlns:a16="http://schemas.microsoft.com/office/drawing/2014/main" id="{B83A98B9-181F-480E-81E5-791D4C14042D}"/>
              </a:ext>
            </a:extLst>
          </p:cNvPr>
          <p:cNvSpPr>
            <a:spLocks noGrp="1"/>
          </p:cNvSpPr>
          <p:nvPr/>
        </p:nvSpPr>
        <p:spPr>
          <a:xfrm>
            <a:off x="1276350" y="2667000"/>
            <a:ext cx="6267450" cy="762000"/>
          </a:xfrm>
          <a:prstGeom prst="rect">
            <a:avLst/>
          </a:prstGeom>
          <a:noFill/>
          <a:ln w="0">
            <a:noFill/>
            <a:prstDash val="solid"/>
          </a:ln>
        </p:spPr>
        <p:txBody>
          <a:bodyPr lIns="0" tIns="0" rIns="0" bIns="0"/>
          <a:lstStyle/>
          <a:p>
            <a:pPr>
              <a:lnSpc>
                <a:spcPct val="112000"/>
              </a:lnSpc>
              <a:buNone/>
              <a:defRPr sz="1575">
                <a:solidFill>
                  <a:srgbClr val="F6FBFF"/>
                </a:solidFill>
                <a:latin typeface="Microsoft YaHei"/>
                <a:ea typeface="Microsoft YaHei"/>
                <a:cs typeface="Microsoft YaHei"/>
              </a:defRPr>
            </a:pPr>
            <a:r>
              <a:rPr sz="1575">
                <a:solidFill>
                  <a:srgbClr val="F6FBFF"/>
                </a:solidFill>
                <a:latin typeface="Microsoft YaHei"/>
                <a:ea typeface="Microsoft YaHei"/>
                <a:cs typeface="Microsoft YaHei"/>
              </a:rPr>
              <a:t>真实平台存在算法黑箱、曝光日志难获取、对照实验受伦理与监管限制等问题。</a:t>
            </a:r>
          </a:p>
        </p:txBody>
      </p:sp>
      <p:sp>
        <p:nvSpPr>
          <p:cNvPr id="14" name="椭圆 13">
            <a:extLst>
              <a:ext uri="{FF2B5EF4-FFF2-40B4-BE49-F238E27FC236}">
                <a16:creationId xmlns:a16="http://schemas.microsoft.com/office/drawing/2014/main" id="{59E342CC-FFDD-4C82-9274-EF7FEE7BE0C9}"/>
              </a:ext>
            </a:extLst>
          </p:cNvPr>
          <p:cNvSpPr>
            <a:spLocks noGrp="1"/>
          </p:cNvSpPr>
          <p:nvPr/>
        </p:nvSpPr>
        <p:spPr>
          <a:xfrm>
            <a:off x="1028700" y="3505200"/>
            <a:ext cx="114300" cy="114300"/>
          </a:xfrm>
          <a:prstGeom prst="ellipse">
            <a:avLst/>
          </a:prstGeom>
          <a:solidFill>
            <a:srgbClr val="19D9FF"/>
          </a:solidFill>
          <a:ln w="0">
            <a:noFill/>
            <a:prstDash val="solid"/>
          </a:ln>
        </p:spPr>
        <p:txBody>
          <a:bodyPr/>
          <a:lstStyle/>
          <a:p>
            <a:endParaRPr lang="zh-CN" altLang="en-US"/>
          </a:p>
        </p:txBody>
      </p:sp>
      <p:sp>
        <p:nvSpPr>
          <p:cNvPr id="15" name="矩形 14">
            <a:extLst>
              <a:ext uri="{FF2B5EF4-FFF2-40B4-BE49-F238E27FC236}">
                <a16:creationId xmlns:a16="http://schemas.microsoft.com/office/drawing/2014/main" id="{DD9F7C0D-98BE-4CFA-99A7-8B46EED08DC2}"/>
              </a:ext>
            </a:extLst>
          </p:cNvPr>
          <p:cNvSpPr>
            <a:spLocks noGrp="1"/>
          </p:cNvSpPr>
          <p:nvPr/>
        </p:nvSpPr>
        <p:spPr>
          <a:xfrm>
            <a:off x="1276350" y="3448050"/>
            <a:ext cx="6267450" cy="762000"/>
          </a:xfrm>
          <a:prstGeom prst="rect">
            <a:avLst/>
          </a:prstGeom>
          <a:noFill/>
          <a:ln w="0">
            <a:noFill/>
            <a:prstDash val="solid"/>
          </a:ln>
        </p:spPr>
        <p:txBody>
          <a:bodyPr lIns="0" tIns="0" rIns="0" bIns="0"/>
          <a:lstStyle/>
          <a:p>
            <a:pPr>
              <a:lnSpc>
                <a:spcPct val="112000"/>
              </a:lnSpc>
              <a:buNone/>
              <a:defRPr sz="1575">
                <a:solidFill>
                  <a:srgbClr val="F6FBFF"/>
                </a:solidFill>
                <a:latin typeface="Microsoft YaHei"/>
                <a:ea typeface="Microsoft YaHei"/>
                <a:cs typeface="Microsoft YaHei"/>
              </a:defRPr>
            </a:pPr>
            <a:r>
              <a:rPr sz="1575">
                <a:solidFill>
                  <a:srgbClr val="F6FBFF"/>
                </a:solidFill>
                <a:latin typeface="Microsoft YaHei"/>
                <a:ea typeface="Microsoft YaHei"/>
                <a:cs typeface="Microsoft YaHei"/>
              </a:rPr>
              <a:t>仿真平台的价值不只是复现宏观现象，而是解释用户行为、网络结构与平台机制如何共同生成传播结果。</a:t>
            </a:r>
          </a:p>
        </p:txBody>
      </p:sp>
      <p:sp>
        <p:nvSpPr>
          <p:cNvPr id="16" name="圆角矩形 15">
            <a:extLst>
              <a:ext uri="{FF2B5EF4-FFF2-40B4-BE49-F238E27FC236}">
                <a16:creationId xmlns:a16="http://schemas.microsoft.com/office/drawing/2014/main" id="{3F9C5825-DB80-4F2C-969A-4FCD2D8E95F1}"/>
              </a:ext>
            </a:extLst>
          </p:cNvPr>
          <p:cNvSpPr>
            <a:spLocks noGrp="1"/>
          </p:cNvSpPr>
          <p:nvPr/>
        </p:nvSpPr>
        <p:spPr>
          <a:xfrm>
            <a:off x="7810500" y="1771650"/>
            <a:ext cx="2971800" cy="3143250"/>
          </a:xfrm>
          <a:prstGeom prst="roundRect">
            <a:avLst>
              <a:gd name="adj" fmla="val 3846"/>
            </a:avLst>
          </a:prstGeom>
          <a:solidFill>
            <a:srgbClr val="07172B">
              <a:alpha val="70000"/>
            </a:srgbClr>
          </a:solidFill>
          <a:ln w="13335">
            <a:solidFill>
              <a:srgbClr val="26D9FF">
                <a:alpha val="42000"/>
              </a:srgbClr>
            </a:solidFill>
            <a:prstDash val="solid"/>
          </a:ln>
        </p:spPr>
        <p:txBody>
          <a:bodyPr/>
          <a:lstStyle/>
          <a:p>
            <a:endParaRPr lang="zh-CN" altLang="en-US"/>
          </a:p>
        </p:txBody>
      </p:sp>
      <p:sp>
        <p:nvSpPr>
          <p:cNvPr id="17" name="矩形 16">
            <a:extLst>
              <a:ext uri="{FF2B5EF4-FFF2-40B4-BE49-F238E27FC236}">
                <a16:creationId xmlns:a16="http://schemas.microsoft.com/office/drawing/2014/main" id="{F3F36B6A-7610-4E1C-ADE1-89A2A27DFF37}"/>
              </a:ext>
            </a:extLst>
          </p:cNvPr>
          <p:cNvSpPr>
            <a:spLocks noGrp="1"/>
          </p:cNvSpPr>
          <p:nvPr/>
        </p:nvSpPr>
        <p:spPr>
          <a:xfrm>
            <a:off x="8172450" y="2095500"/>
            <a:ext cx="2095500" cy="304800"/>
          </a:xfrm>
          <a:prstGeom prst="rect">
            <a:avLst/>
          </a:prstGeom>
          <a:noFill/>
          <a:ln w="0">
            <a:noFill/>
            <a:prstDash val="solid"/>
          </a:ln>
        </p:spPr>
        <p:txBody>
          <a:bodyPr lIns="0" tIns="0" rIns="0" bIns="0"/>
          <a:lstStyle/>
          <a:p>
            <a:pPr algn="ctr">
              <a:lnSpc>
                <a:spcPct val="108000"/>
              </a:lnSpc>
              <a:buNone/>
              <a:defRPr sz="2100" b="1">
                <a:solidFill>
                  <a:srgbClr val="74F0FF"/>
                </a:solidFill>
                <a:latin typeface="Microsoft YaHei"/>
                <a:ea typeface="Microsoft YaHei"/>
                <a:cs typeface="Microsoft YaHei"/>
              </a:defRPr>
            </a:pPr>
            <a:r>
              <a:rPr sz="2100" b="1">
                <a:solidFill>
                  <a:srgbClr val="74F0FF"/>
                </a:solidFill>
                <a:latin typeface="Microsoft YaHei"/>
                <a:ea typeface="Microsoft YaHei"/>
                <a:cs typeface="Microsoft YaHei"/>
              </a:rPr>
              <a:t>研究动因</a:t>
            </a:r>
          </a:p>
        </p:txBody>
      </p:sp>
      <p:sp>
        <p:nvSpPr>
          <p:cNvPr id="18" name="椭圆 17">
            <a:extLst>
              <a:ext uri="{FF2B5EF4-FFF2-40B4-BE49-F238E27FC236}">
                <a16:creationId xmlns:a16="http://schemas.microsoft.com/office/drawing/2014/main" id="{8FC92CE8-1C44-4DB0-B518-81A9613CE616}"/>
              </a:ext>
            </a:extLst>
          </p:cNvPr>
          <p:cNvSpPr>
            <a:spLocks noGrp="1"/>
          </p:cNvSpPr>
          <p:nvPr/>
        </p:nvSpPr>
        <p:spPr>
          <a:xfrm>
            <a:off x="8172450" y="2800350"/>
            <a:ext cx="819150" cy="819150"/>
          </a:xfrm>
          <a:prstGeom prst="ellipse">
            <a:avLst/>
          </a:prstGeom>
          <a:gradFill>
            <a:gsLst>
              <a:gs pos="0">
                <a:srgbClr val="19D9FF">
                  <a:alpha val="42000"/>
                </a:srgbClr>
              </a:gs>
              <a:gs pos="65000">
                <a:srgbClr val="07172B">
                  <a:alpha val="72000"/>
                </a:srgbClr>
              </a:gs>
              <a:gs pos="100000">
                <a:srgbClr val="07172B">
                  <a:alpha val="0"/>
                </a:srgbClr>
              </a:gs>
            </a:gsLst>
            <a:path path="shape"/>
          </a:gradFill>
          <a:ln w="11430">
            <a:solidFill>
              <a:srgbClr val="19D9FF">
                <a:alpha val="7000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2F8766C3-AE75-44CB-A26C-3DABD6E01D91}"/>
              </a:ext>
            </a:extLst>
          </p:cNvPr>
          <p:cNvSpPr>
            <a:spLocks noGrp="1"/>
          </p:cNvSpPr>
          <p:nvPr/>
        </p:nvSpPr>
        <p:spPr>
          <a:xfrm>
            <a:off x="8267700" y="3067050"/>
            <a:ext cx="628650" cy="266700"/>
          </a:xfrm>
          <a:prstGeom prst="rect">
            <a:avLst/>
          </a:prstGeom>
          <a:noFill/>
          <a:ln w="0">
            <a:noFill/>
            <a:prstDash val="solid"/>
          </a:ln>
        </p:spPr>
        <p:txBody>
          <a:bodyPr lIns="0" tIns="0" rIns="0" bIns="0"/>
          <a:lstStyle/>
          <a:p>
            <a:pPr algn="ctr">
              <a:lnSpc>
                <a:spcPct val="108000"/>
              </a:lnSpc>
              <a:buNone/>
              <a:defRPr sz="1350" b="1">
                <a:solidFill>
                  <a:srgbClr val="F6FBFF"/>
                </a:solidFill>
                <a:latin typeface="Microsoft YaHei"/>
                <a:ea typeface="Microsoft YaHei"/>
                <a:cs typeface="Microsoft YaHei"/>
              </a:defRPr>
            </a:pPr>
            <a:r>
              <a:rPr sz="1350" b="1">
                <a:solidFill>
                  <a:srgbClr val="F6FBFF"/>
                </a:solidFill>
                <a:latin typeface="Microsoft YaHei"/>
                <a:ea typeface="Microsoft YaHei"/>
                <a:cs typeface="Microsoft YaHei"/>
              </a:rPr>
              <a:t>信息接触</a:t>
            </a:r>
          </a:p>
        </p:txBody>
      </p:sp>
      <p:sp>
        <p:nvSpPr>
          <p:cNvPr id="20" name="椭圆 19">
            <a:extLst>
              <a:ext uri="{FF2B5EF4-FFF2-40B4-BE49-F238E27FC236}">
                <a16:creationId xmlns:a16="http://schemas.microsoft.com/office/drawing/2014/main" id="{DB73CF0D-3EDB-43CF-968A-258665376D31}"/>
              </a:ext>
            </a:extLst>
          </p:cNvPr>
          <p:cNvSpPr>
            <a:spLocks noGrp="1"/>
          </p:cNvSpPr>
          <p:nvPr/>
        </p:nvSpPr>
        <p:spPr>
          <a:xfrm>
            <a:off x="9296400" y="2800350"/>
            <a:ext cx="819150" cy="819150"/>
          </a:xfrm>
          <a:prstGeom prst="ellipse">
            <a:avLst/>
          </a:prstGeom>
          <a:gradFill>
            <a:gsLst>
              <a:gs pos="0">
                <a:srgbClr val="E2B84B">
                  <a:alpha val="42000"/>
                </a:srgbClr>
              </a:gs>
              <a:gs pos="65000">
                <a:srgbClr val="07172B">
                  <a:alpha val="72000"/>
                </a:srgbClr>
              </a:gs>
              <a:gs pos="100000">
                <a:srgbClr val="07172B">
                  <a:alpha val="0"/>
                </a:srgbClr>
              </a:gs>
            </a:gsLst>
            <a:path path="shape"/>
          </a:gradFill>
          <a:ln w="11430">
            <a:solidFill>
              <a:srgbClr val="E2B84B">
                <a:alpha val="70000"/>
              </a:srgbClr>
            </a:solidFill>
            <a:prstDash val="solid"/>
          </a:ln>
        </p:spPr>
        <p:txBody>
          <a:bodyPr/>
          <a:lstStyle/>
          <a:p>
            <a:endParaRPr lang="zh-CN" altLang="en-US"/>
          </a:p>
        </p:txBody>
      </p:sp>
      <p:sp>
        <p:nvSpPr>
          <p:cNvPr id="21" name="矩形 20">
            <a:extLst>
              <a:ext uri="{FF2B5EF4-FFF2-40B4-BE49-F238E27FC236}">
                <a16:creationId xmlns:a16="http://schemas.microsoft.com/office/drawing/2014/main" id="{A433FF81-59B4-4332-AFFD-174EC7278097}"/>
              </a:ext>
            </a:extLst>
          </p:cNvPr>
          <p:cNvSpPr>
            <a:spLocks noGrp="1"/>
          </p:cNvSpPr>
          <p:nvPr/>
        </p:nvSpPr>
        <p:spPr>
          <a:xfrm>
            <a:off x="9391650" y="3067050"/>
            <a:ext cx="628650" cy="266700"/>
          </a:xfrm>
          <a:prstGeom prst="rect">
            <a:avLst/>
          </a:prstGeom>
          <a:noFill/>
          <a:ln w="0">
            <a:noFill/>
            <a:prstDash val="solid"/>
          </a:ln>
        </p:spPr>
        <p:txBody>
          <a:bodyPr lIns="0" tIns="0" rIns="0" bIns="0"/>
          <a:lstStyle/>
          <a:p>
            <a:pPr algn="ctr">
              <a:lnSpc>
                <a:spcPct val="108000"/>
              </a:lnSpc>
              <a:buNone/>
              <a:defRPr sz="1350" b="1">
                <a:solidFill>
                  <a:srgbClr val="F6FBFF"/>
                </a:solidFill>
                <a:latin typeface="Microsoft YaHei"/>
                <a:ea typeface="Microsoft YaHei"/>
                <a:cs typeface="Microsoft YaHei"/>
              </a:defRPr>
            </a:pPr>
            <a:r>
              <a:rPr sz="1350" b="1">
                <a:solidFill>
                  <a:srgbClr val="F6FBFF"/>
                </a:solidFill>
                <a:latin typeface="Microsoft YaHei"/>
                <a:ea typeface="Microsoft YaHei"/>
                <a:cs typeface="Microsoft YaHei"/>
              </a:rPr>
              <a:t>互动行为</a:t>
            </a:r>
          </a:p>
        </p:txBody>
      </p:sp>
      <p:sp>
        <p:nvSpPr>
          <p:cNvPr id="22" name="椭圆 21">
            <a:extLst>
              <a:ext uri="{FF2B5EF4-FFF2-40B4-BE49-F238E27FC236}">
                <a16:creationId xmlns:a16="http://schemas.microsoft.com/office/drawing/2014/main" id="{B4B9C60D-974F-4221-AACF-B254BFC15E3C}"/>
              </a:ext>
            </a:extLst>
          </p:cNvPr>
          <p:cNvSpPr>
            <a:spLocks noGrp="1"/>
          </p:cNvSpPr>
          <p:nvPr/>
        </p:nvSpPr>
        <p:spPr>
          <a:xfrm>
            <a:off x="8172450" y="3790950"/>
            <a:ext cx="819150" cy="819150"/>
          </a:xfrm>
          <a:prstGeom prst="ellipse">
            <a:avLst/>
          </a:prstGeom>
          <a:gradFill>
            <a:gsLst>
              <a:gs pos="0">
                <a:srgbClr val="37E6C4">
                  <a:alpha val="42000"/>
                </a:srgbClr>
              </a:gs>
              <a:gs pos="65000">
                <a:srgbClr val="07172B">
                  <a:alpha val="72000"/>
                </a:srgbClr>
              </a:gs>
              <a:gs pos="100000">
                <a:srgbClr val="07172B">
                  <a:alpha val="0"/>
                </a:srgbClr>
              </a:gs>
            </a:gsLst>
            <a:path path="shape"/>
          </a:gradFill>
          <a:ln w="11430">
            <a:solidFill>
              <a:srgbClr val="37E6C4">
                <a:alpha val="7000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CA0D7450-0C16-4744-926B-CE3CFAFE9BBC}"/>
              </a:ext>
            </a:extLst>
          </p:cNvPr>
          <p:cNvSpPr>
            <a:spLocks noGrp="1"/>
          </p:cNvSpPr>
          <p:nvPr/>
        </p:nvSpPr>
        <p:spPr>
          <a:xfrm>
            <a:off x="8267700" y="4057650"/>
            <a:ext cx="628650" cy="266700"/>
          </a:xfrm>
          <a:prstGeom prst="rect">
            <a:avLst/>
          </a:prstGeom>
          <a:noFill/>
          <a:ln w="0">
            <a:noFill/>
            <a:prstDash val="solid"/>
          </a:ln>
        </p:spPr>
        <p:txBody>
          <a:bodyPr lIns="0" tIns="0" rIns="0" bIns="0"/>
          <a:lstStyle/>
          <a:p>
            <a:pPr algn="ctr">
              <a:lnSpc>
                <a:spcPct val="108000"/>
              </a:lnSpc>
              <a:buNone/>
              <a:defRPr sz="1350" b="1">
                <a:solidFill>
                  <a:srgbClr val="F6FBFF"/>
                </a:solidFill>
                <a:latin typeface="Microsoft YaHei"/>
                <a:ea typeface="Microsoft YaHei"/>
                <a:cs typeface="Microsoft YaHei"/>
              </a:defRPr>
            </a:pPr>
            <a:r>
              <a:rPr sz="1350" b="1">
                <a:solidFill>
                  <a:srgbClr val="F6FBFF"/>
                </a:solidFill>
                <a:latin typeface="Microsoft YaHei"/>
                <a:ea typeface="Microsoft YaHei"/>
                <a:cs typeface="Microsoft YaHei"/>
              </a:rPr>
              <a:t>立场变化</a:t>
            </a:r>
          </a:p>
        </p:txBody>
      </p:sp>
      <p:sp>
        <p:nvSpPr>
          <p:cNvPr id="24" name="椭圆 23">
            <a:extLst>
              <a:ext uri="{FF2B5EF4-FFF2-40B4-BE49-F238E27FC236}">
                <a16:creationId xmlns:a16="http://schemas.microsoft.com/office/drawing/2014/main" id="{EE6F788E-F168-4BD0-A459-0E2BAA19D542}"/>
              </a:ext>
            </a:extLst>
          </p:cNvPr>
          <p:cNvSpPr>
            <a:spLocks noGrp="1"/>
          </p:cNvSpPr>
          <p:nvPr/>
        </p:nvSpPr>
        <p:spPr>
          <a:xfrm>
            <a:off x="9296400" y="3790950"/>
            <a:ext cx="819150" cy="819150"/>
          </a:xfrm>
          <a:prstGeom prst="ellipse">
            <a:avLst/>
          </a:prstGeom>
          <a:gradFill>
            <a:gsLst>
              <a:gs pos="0">
                <a:srgbClr val="D54A5C">
                  <a:alpha val="42000"/>
                </a:srgbClr>
              </a:gs>
              <a:gs pos="65000">
                <a:srgbClr val="07172B">
                  <a:alpha val="72000"/>
                </a:srgbClr>
              </a:gs>
              <a:gs pos="100000">
                <a:srgbClr val="07172B">
                  <a:alpha val="0"/>
                </a:srgbClr>
              </a:gs>
            </a:gsLst>
            <a:path path="shape"/>
          </a:gradFill>
          <a:ln w="11430">
            <a:solidFill>
              <a:srgbClr val="D54A5C">
                <a:alpha val="70000"/>
              </a:srgbClr>
            </a:solidFill>
            <a:prstDash val="solid"/>
          </a:ln>
        </p:spPr>
        <p:txBody>
          <a:bodyPr/>
          <a:lstStyle/>
          <a:p>
            <a:endParaRPr lang="zh-CN" altLang="en-US"/>
          </a:p>
        </p:txBody>
      </p:sp>
      <p:sp>
        <p:nvSpPr>
          <p:cNvPr id="25" name="矩形 24">
            <a:extLst>
              <a:ext uri="{FF2B5EF4-FFF2-40B4-BE49-F238E27FC236}">
                <a16:creationId xmlns:a16="http://schemas.microsoft.com/office/drawing/2014/main" id="{E2D9AEFE-5381-4287-9590-326184DAF482}"/>
              </a:ext>
            </a:extLst>
          </p:cNvPr>
          <p:cNvSpPr>
            <a:spLocks noGrp="1"/>
          </p:cNvSpPr>
          <p:nvPr/>
        </p:nvSpPr>
        <p:spPr>
          <a:xfrm>
            <a:off x="9391650" y="4057650"/>
            <a:ext cx="628650" cy="266700"/>
          </a:xfrm>
          <a:prstGeom prst="rect">
            <a:avLst/>
          </a:prstGeom>
          <a:noFill/>
          <a:ln w="0">
            <a:noFill/>
            <a:prstDash val="solid"/>
          </a:ln>
        </p:spPr>
        <p:txBody>
          <a:bodyPr lIns="0" tIns="0" rIns="0" bIns="0"/>
          <a:lstStyle/>
          <a:p>
            <a:pPr algn="ctr">
              <a:lnSpc>
                <a:spcPct val="108000"/>
              </a:lnSpc>
              <a:buNone/>
              <a:defRPr sz="1350" b="1">
                <a:solidFill>
                  <a:srgbClr val="F6FBFF"/>
                </a:solidFill>
                <a:latin typeface="Microsoft YaHei"/>
                <a:ea typeface="Microsoft YaHei"/>
                <a:cs typeface="Microsoft YaHei"/>
              </a:defRPr>
            </a:pPr>
            <a:r>
              <a:rPr sz="1350" b="1">
                <a:solidFill>
                  <a:srgbClr val="F6FBFF"/>
                </a:solidFill>
                <a:latin typeface="Microsoft YaHei"/>
                <a:ea typeface="Microsoft YaHei"/>
                <a:cs typeface="Microsoft YaHei"/>
              </a:rPr>
              <a:t>推荐曝光</a:t>
            </a:r>
          </a:p>
        </p:txBody>
      </p:sp>
      <p:sp>
        <p:nvSpPr>
          <p:cNvPr id="26" name="矩形 25">
            <a:extLst>
              <a:ext uri="{FF2B5EF4-FFF2-40B4-BE49-F238E27FC236}">
                <a16:creationId xmlns:a16="http://schemas.microsoft.com/office/drawing/2014/main" id="{DAFFFAB6-1F08-4C74-817F-676DF82CC90F}"/>
              </a:ext>
            </a:extLst>
          </p:cNvPr>
          <p:cNvSpPr>
            <a:spLocks noGrp="1"/>
          </p:cNvSpPr>
          <p:nvPr/>
        </p:nvSpPr>
        <p:spPr>
          <a:xfrm>
            <a:off x="1028700" y="5543550"/>
            <a:ext cx="5905500" cy="323850"/>
          </a:xfrm>
          <a:prstGeom prst="rect">
            <a:avLst/>
          </a:prstGeom>
          <a:noFill/>
          <a:ln w="0">
            <a:noFill/>
            <a:prstDash val="solid"/>
          </a:ln>
        </p:spPr>
        <p:txBody>
          <a:bodyPr lIns="0" tIns="0" rIns="0" bIns="0"/>
          <a:lstStyle/>
          <a:p>
            <a:pPr>
              <a:lnSpc>
                <a:spcPct val="108000"/>
              </a:lnSpc>
              <a:buNone/>
              <a:defRPr sz="2250" b="1">
                <a:solidFill>
                  <a:srgbClr val="37E6C4"/>
                </a:solidFill>
                <a:latin typeface="Microsoft YaHei"/>
                <a:ea typeface="Microsoft YaHei"/>
                <a:cs typeface="Microsoft YaHei"/>
              </a:defRPr>
            </a:pPr>
            <a:r>
              <a:rPr sz="2250" b="1">
                <a:solidFill>
                  <a:srgbClr val="37E6C4"/>
                </a:solidFill>
                <a:latin typeface="Microsoft YaHei"/>
                <a:ea typeface="Microsoft YaHei"/>
                <a:cs typeface="Microsoft YaHei"/>
              </a:rPr>
              <a:t>从“结果描述”走向“机制解释”</a:t>
            </a:r>
          </a:p>
        </p:txBody>
      </p:sp>
    </p:spTree>
    <p:extLst>
      <p:ext uri="{BB962C8B-B14F-4D97-AF65-F5344CB8AC3E}">
        <p14:creationId xmlns:p14="http://schemas.microsoft.com/office/powerpoint/2010/main" val="71235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4520FA9D-BF47-4C23-AD26-011326748160}"/>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D0C8521C-5362-4A26-A578-4ADFA3457331}"/>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AF9C57B2-8E23-43BA-A50B-2B845B98D296}"/>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29" name="图片 28"/>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95179644-49FA-46BB-B10B-6FD4BDAE020E}"/>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01  选题背景与研究意义</a:t>
            </a:r>
          </a:p>
        </p:txBody>
      </p:sp>
      <p:sp>
        <p:nvSpPr>
          <p:cNvPr id="7" name="矩形 6">
            <a:extLst>
              <a:ext uri="{FF2B5EF4-FFF2-40B4-BE49-F238E27FC236}">
                <a16:creationId xmlns:a16="http://schemas.microsoft.com/office/drawing/2014/main" id="{04BA95D0-8DF8-4E5E-960D-67BB5AA0227F}"/>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研究意义：推荐机制成为内生变量</a:t>
            </a:r>
          </a:p>
        </p:txBody>
      </p:sp>
      <p:sp>
        <p:nvSpPr>
          <p:cNvPr id="8" name="圆角矩形 7">
            <a:extLst>
              <a:ext uri="{FF2B5EF4-FFF2-40B4-BE49-F238E27FC236}">
                <a16:creationId xmlns:a16="http://schemas.microsoft.com/office/drawing/2014/main" id="{1F370DA2-35C7-42AA-8CDE-9089DDD80D2C}"/>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07F54464-C943-42D9-8225-E16306042CFD}"/>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04</a:t>
            </a:r>
          </a:p>
        </p:txBody>
      </p:sp>
      <p:sp>
        <p:nvSpPr>
          <p:cNvPr id="10" name="圆角矩形 9">
            <a:extLst>
              <a:ext uri="{FF2B5EF4-FFF2-40B4-BE49-F238E27FC236}">
                <a16:creationId xmlns:a16="http://schemas.microsoft.com/office/drawing/2014/main" id="{2F6561E9-5A2F-43E0-B4D3-CE7C5CE77541}"/>
              </a:ext>
            </a:extLst>
          </p:cNvPr>
          <p:cNvSpPr>
            <a:spLocks noGrp="1"/>
          </p:cNvSpPr>
          <p:nvPr/>
        </p:nvSpPr>
        <p:spPr>
          <a:xfrm>
            <a:off x="990600" y="1962150"/>
            <a:ext cx="3028950" cy="2495550"/>
          </a:xfrm>
          <a:prstGeom prst="roundRect">
            <a:avLst>
              <a:gd name="adj" fmla="val 4580"/>
            </a:avLst>
          </a:prstGeom>
          <a:solidFill>
            <a:srgbClr val="07172B">
              <a:alpha val="72000"/>
            </a:srgbClr>
          </a:solidFill>
          <a:ln w="13335">
            <a:solidFill>
              <a:srgbClr val="26D9FF">
                <a:alpha val="42000"/>
              </a:srgbClr>
            </a:solidFill>
            <a:prstDash val="solid"/>
          </a:ln>
        </p:spPr>
        <p:txBody>
          <a:bodyPr/>
          <a:lstStyle/>
          <a:p>
            <a:endParaRPr lang="zh-CN" altLang="en-US"/>
          </a:p>
        </p:txBody>
      </p:sp>
      <p:sp>
        <p:nvSpPr>
          <p:cNvPr id="11" name="圆角矩形 10">
            <a:extLst>
              <a:ext uri="{FF2B5EF4-FFF2-40B4-BE49-F238E27FC236}">
                <a16:creationId xmlns:a16="http://schemas.microsoft.com/office/drawing/2014/main" id="{AD039967-50B3-4D39-B6C4-64752B3A3F2B}"/>
              </a:ext>
            </a:extLst>
          </p:cNvPr>
          <p:cNvSpPr>
            <a:spLocks noGrp="1"/>
          </p:cNvSpPr>
          <p:nvPr/>
        </p:nvSpPr>
        <p:spPr>
          <a:xfrm>
            <a:off x="990600" y="1962150"/>
            <a:ext cx="47625" cy="2495550"/>
          </a:xfrm>
          <a:prstGeom prst="roundRect">
            <a:avLst>
              <a:gd name="adj" fmla="val 50000"/>
            </a:avLst>
          </a:prstGeom>
          <a:solidFill>
            <a:srgbClr val="19D9FF"/>
          </a:solidFill>
          <a:ln w="0">
            <a:noFill/>
            <a:prstDash val="solid"/>
          </a:ln>
        </p:spPr>
        <p:txBody>
          <a:bodyPr/>
          <a:lstStyle/>
          <a:p>
            <a:endParaRPr lang="zh-CN" altLang="en-US"/>
          </a:p>
        </p:txBody>
      </p:sp>
      <p:sp>
        <p:nvSpPr>
          <p:cNvPr id="12" name="矩形 11">
            <a:extLst>
              <a:ext uri="{FF2B5EF4-FFF2-40B4-BE49-F238E27FC236}">
                <a16:creationId xmlns:a16="http://schemas.microsoft.com/office/drawing/2014/main" id="{5375EDC4-096C-4506-9DFA-937EFD8E68B8}"/>
              </a:ext>
            </a:extLst>
          </p:cNvPr>
          <p:cNvSpPr>
            <a:spLocks noGrp="1"/>
          </p:cNvSpPr>
          <p:nvPr/>
        </p:nvSpPr>
        <p:spPr>
          <a:xfrm>
            <a:off x="1314450" y="2324100"/>
            <a:ext cx="2190750" cy="323850"/>
          </a:xfrm>
          <a:prstGeom prst="rect">
            <a:avLst/>
          </a:prstGeom>
          <a:noFill/>
          <a:ln w="0">
            <a:noFill/>
            <a:prstDash val="solid"/>
          </a:ln>
        </p:spPr>
        <p:txBody>
          <a:bodyPr lIns="0" tIns="0" rIns="0" bIns="0"/>
          <a:lstStyle/>
          <a:p>
            <a:pPr>
              <a:lnSpc>
                <a:spcPct val="108000"/>
              </a:lnSpc>
              <a:buNone/>
              <a:defRPr sz="2025" b="1">
                <a:solidFill>
                  <a:srgbClr val="19D9FF"/>
                </a:solidFill>
                <a:latin typeface="Microsoft YaHei"/>
                <a:ea typeface="Microsoft YaHei"/>
                <a:cs typeface="Microsoft YaHei"/>
              </a:defRPr>
            </a:pPr>
            <a:r>
              <a:rPr sz="2025" b="1">
                <a:solidFill>
                  <a:srgbClr val="19D9FF"/>
                </a:solidFill>
                <a:latin typeface="Microsoft YaHei"/>
                <a:ea typeface="Microsoft YaHei"/>
                <a:cs typeface="Microsoft YaHei"/>
              </a:rPr>
              <a:t>理论意义</a:t>
            </a:r>
          </a:p>
        </p:txBody>
      </p:sp>
      <p:sp>
        <p:nvSpPr>
          <p:cNvPr id="13" name="矩形 12">
            <a:extLst>
              <a:ext uri="{FF2B5EF4-FFF2-40B4-BE49-F238E27FC236}">
                <a16:creationId xmlns:a16="http://schemas.microsoft.com/office/drawing/2014/main" id="{676D3E07-F7D8-4580-B9FE-5B4083ACD09A}"/>
              </a:ext>
            </a:extLst>
          </p:cNvPr>
          <p:cNvSpPr>
            <a:spLocks noGrp="1"/>
          </p:cNvSpPr>
          <p:nvPr/>
        </p:nvSpPr>
        <p:spPr>
          <a:xfrm>
            <a:off x="1314450" y="3105150"/>
            <a:ext cx="2343150" cy="819150"/>
          </a:xfrm>
          <a:prstGeom prst="rect">
            <a:avLst/>
          </a:prstGeom>
          <a:noFill/>
          <a:ln w="0">
            <a:noFill/>
            <a:prstDash val="solid"/>
          </a:ln>
        </p:spPr>
        <p:txBody>
          <a:bodyPr lIns="0" tIns="0" rIns="0" bIns="0"/>
          <a:lstStyle/>
          <a:p>
            <a:pPr>
              <a:lnSpc>
                <a:spcPct val="114000"/>
              </a:lnSpc>
              <a:buNone/>
              <a:defRPr sz="1425">
                <a:solidFill>
                  <a:srgbClr val="F6FBFF"/>
                </a:solidFill>
                <a:latin typeface="Microsoft YaHei"/>
                <a:ea typeface="Microsoft YaHei"/>
                <a:cs typeface="Microsoft YaHei"/>
              </a:defRPr>
            </a:pPr>
            <a:r>
              <a:rPr sz="1425">
                <a:solidFill>
                  <a:srgbClr val="F6FBFF"/>
                </a:solidFill>
                <a:latin typeface="Microsoft YaHei"/>
                <a:ea typeface="Microsoft YaHei"/>
                <a:cs typeface="Microsoft YaHei"/>
              </a:rPr>
              <a:t>把推荐曝光从平台背景提升为传播过程中的机制变量，解释信息扩散与态度演化的形成链条。</a:t>
            </a:r>
          </a:p>
        </p:txBody>
      </p:sp>
      <p:sp>
        <p:nvSpPr>
          <p:cNvPr id="14" name="圆角矩形 13">
            <a:extLst>
              <a:ext uri="{FF2B5EF4-FFF2-40B4-BE49-F238E27FC236}">
                <a16:creationId xmlns:a16="http://schemas.microsoft.com/office/drawing/2014/main" id="{1878B3DC-39D5-48DE-88D4-46225215818B}"/>
              </a:ext>
            </a:extLst>
          </p:cNvPr>
          <p:cNvSpPr>
            <a:spLocks noGrp="1"/>
          </p:cNvSpPr>
          <p:nvPr/>
        </p:nvSpPr>
        <p:spPr>
          <a:xfrm>
            <a:off x="4514850" y="1962150"/>
            <a:ext cx="3028950" cy="2495550"/>
          </a:xfrm>
          <a:prstGeom prst="roundRect">
            <a:avLst>
              <a:gd name="adj" fmla="val 4580"/>
            </a:avLst>
          </a:prstGeom>
          <a:solidFill>
            <a:srgbClr val="07172B">
              <a:alpha val="72000"/>
            </a:srgbClr>
          </a:solidFill>
          <a:ln w="13335">
            <a:solidFill>
              <a:srgbClr val="26D9FF">
                <a:alpha val="42000"/>
              </a:srgbClr>
            </a:solidFill>
            <a:prstDash val="solid"/>
          </a:ln>
        </p:spPr>
        <p:txBody>
          <a:bodyPr/>
          <a:lstStyle/>
          <a:p>
            <a:endParaRPr lang="zh-CN" altLang="en-US"/>
          </a:p>
        </p:txBody>
      </p:sp>
      <p:sp>
        <p:nvSpPr>
          <p:cNvPr id="15" name="圆角矩形 14">
            <a:extLst>
              <a:ext uri="{FF2B5EF4-FFF2-40B4-BE49-F238E27FC236}">
                <a16:creationId xmlns:a16="http://schemas.microsoft.com/office/drawing/2014/main" id="{96D27322-7060-4976-836B-025109AC4A1C}"/>
              </a:ext>
            </a:extLst>
          </p:cNvPr>
          <p:cNvSpPr>
            <a:spLocks noGrp="1"/>
          </p:cNvSpPr>
          <p:nvPr/>
        </p:nvSpPr>
        <p:spPr>
          <a:xfrm>
            <a:off x="4514850" y="1962150"/>
            <a:ext cx="47625" cy="2495550"/>
          </a:xfrm>
          <a:prstGeom prst="roundRect">
            <a:avLst>
              <a:gd name="adj" fmla="val 50000"/>
            </a:avLst>
          </a:prstGeom>
          <a:solidFill>
            <a:srgbClr val="E2B84B"/>
          </a:solidFill>
          <a:ln w="0">
            <a:noFill/>
            <a:prstDash val="solid"/>
          </a:ln>
        </p:spPr>
        <p:txBody>
          <a:bodyPr/>
          <a:lstStyle/>
          <a:p>
            <a:endParaRPr lang="zh-CN" altLang="en-US"/>
          </a:p>
        </p:txBody>
      </p:sp>
      <p:sp>
        <p:nvSpPr>
          <p:cNvPr id="16" name="矩形 15">
            <a:extLst>
              <a:ext uri="{FF2B5EF4-FFF2-40B4-BE49-F238E27FC236}">
                <a16:creationId xmlns:a16="http://schemas.microsoft.com/office/drawing/2014/main" id="{D7A3A463-E2F2-4BA0-956F-4B1D34A78703}"/>
              </a:ext>
            </a:extLst>
          </p:cNvPr>
          <p:cNvSpPr>
            <a:spLocks noGrp="1"/>
          </p:cNvSpPr>
          <p:nvPr/>
        </p:nvSpPr>
        <p:spPr>
          <a:xfrm>
            <a:off x="4838700" y="2324100"/>
            <a:ext cx="2190750" cy="323850"/>
          </a:xfrm>
          <a:prstGeom prst="rect">
            <a:avLst/>
          </a:prstGeom>
          <a:noFill/>
          <a:ln w="0">
            <a:noFill/>
            <a:prstDash val="solid"/>
          </a:ln>
        </p:spPr>
        <p:txBody>
          <a:bodyPr lIns="0" tIns="0" rIns="0" bIns="0"/>
          <a:lstStyle/>
          <a:p>
            <a:pPr>
              <a:lnSpc>
                <a:spcPct val="108000"/>
              </a:lnSpc>
              <a:buNone/>
              <a:defRPr sz="2025" b="1">
                <a:solidFill>
                  <a:srgbClr val="E2B84B"/>
                </a:solidFill>
                <a:latin typeface="Microsoft YaHei"/>
                <a:ea typeface="Microsoft YaHei"/>
                <a:cs typeface="Microsoft YaHei"/>
              </a:defRPr>
            </a:pPr>
            <a:r>
              <a:rPr sz="2025" b="1">
                <a:solidFill>
                  <a:srgbClr val="E2B84B"/>
                </a:solidFill>
                <a:latin typeface="Microsoft YaHei"/>
                <a:ea typeface="Microsoft YaHei"/>
                <a:cs typeface="Microsoft YaHei"/>
              </a:rPr>
              <a:t>方法意义</a:t>
            </a:r>
          </a:p>
        </p:txBody>
      </p:sp>
      <p:sp>
        <p:nvSpPr>
          <p:cNvPr id="17" name="矩形 16">
            <a:extLst>
              <a:ext uri="{FF2B5EF4-FFF2-40B4-BE49-F238E27FC236}">
                <a16:creationId xmlns:a16="http://schemas.microsoft.com/office/drawing/2014/main" id="{1BEFAFD1-D682-4413-8EC5-227D49661C62}"/>
              </a:ext>
            </a:extLst>
          </p:cNvPr>
          <p:cNvSpPr>
            <a:spLocks noGrp="1"/>
          </p:cNvSpPr>
          <p:nvPr/>
        </p:nvSpPr>
        <p:spPr>
          <a:xfrm>
            <a:off x="4838700" y="3105150"/>
            <a:ext cx="2343150" cy="819150"/>
          </a:xfrm>
          <a:prstGeom prst="rect">
            <a:avLst/>
          </a:prstGeom>
          <a:noFill/>
          <a:ln w="0">
            <a:noFill/>
            <a:prstDash val="solid"/>
          </a:ln>
        </p:spPr>
        <p:txBody>
          <a:bodyPr lIns="0" tIns="0" rIns="0" bIns="0"/>
          <a:lstStyle/>
          <a:p>
            <a:pPr>
              <a:lnSpc>
                <a:spcPct val="114000"/>
              </a:lnSpc>
              <a:buNone/>
              <a:defRPr sz="1425">
                <a:solidFill>
                  <a:srgbClr val="F6FBFF"/>
                </a:solidFill>
                <a:latin typeface="Microsoft YaHei"/>
                <a:ea typeface="Microsoft YaHei"/>
                <a:cs typeface="Microsoft YaHei"/>
              </a:defRPr>
            </a:pPr>
            <a:r>
              <a:rPr sz="1425">
                <a:solidFill>
                  <a:srgbClr val="F6FBFF"/>
                </a:solidFill>
                <a:latin typeface="Microsoft YaHei"/>
                <a:ea typeface="Microsoft YaHei"/>
                <a:cs typeface="Microsoft YaHei"/>
              </a:rPr>
              <a:t>以真实传播结果反向校准兴趣匹配、内容热度、时间衰减与随机探索等参数。</a:t>
            </a:r>
          </a:p>
        </p:txBody>
      </p:sp>
      <p:sp>
        <p:nvSpPr>
          <p:cNvPr id="18" name="圆角矩形 17">
            <a:extLst>
              <a:ext uri="{FF2B5EF4-FFF2-40B4-BE49-F238E27FC236}">
                <a16:creationId xmlns:a16="http://schemas.microsoft.com/office/drawing/2014/main" id="{71EF4B64-0EFE-4932-80DB-010852377385}"/>
              </a:ext>
            </a:extLst>
          </p:cNvPr>
          <p:cNvSpPr>
            <a:spLocks noGrp="1"/>
          </p:cNvSpPr>
          <p:nvPr/>
        </p:nvSpPr>
        <p:spPr>
          <a:xfrm>
            <a:off x="8039100" y="1962150"/>
            <a:ext cx="3028950" cy="2495550"/>
          </a:xfrm>
          <a:prstGeom prst="roundRect">
            <a:avLst>
              <a:gd name="adj" fmla="val 4580"/>
            </a:avLst>
          </a:prstGeom>
          <a:solidFill>
            <a:srgbClr val="07172B">
              <a:alpha val="72000"/>
            </a:srgbClr>
          </a:solidFill>
          <a:ln w="13335">
            <a:solidFill>
              <a:srgbClr val="26D9FF">
                <a:alpha val="42000"/>
              </a:srgbClr>
            </a:solidFill>
            <a:prstDash val="solid"/>
          </a:ln>
        </p:spPr>
        <p:txBody>
          <a:bodyPr/>
          <a:lstStyle/>
          <a:p>
            <a:endParaRPr lang="zh-CN" altLang="en-US"/>
          </a:p>
        </p:txBody>
      </p:sp>
      <p:sp>
        <p:nvSpPr>
          <p:cNvPr id="19" name="圆角矩形 18">
            <a:extLst>
              <a:ext uri="{FF2B5EF4-FFF2-40B4-BE49-F238E27FC236}">
                <a16:creationId xmlns:a16="http://schemas.microsoft.com/office/drawing/2014/main" id="{1CE47FB8-D806-4781-9515-F5587F8F2217}"/>
              </a:ext>
            </a:extLst>
          </p:cNvPr>
          <p:cNvSpPr>
            <a:spLocks noGrp="1"/>
          </p:cNvSpPr>
          <p:nvPr/>
        </p:nvSpPr>
        <p:spPr>
          <a:xfrm>
            <a:off x="8039100" y="1962150"/>
            <a:ext cx="47625" cy="2495550"/>
          </a:xfrm>
          <a:prstGeom prst="roundRect">
            <a:avLst>
              <a:gd name="adj" fmla="val 50000"/>
            </a:avLst>
          </a:prstGeom>
          <a:solidFill>
            <a:srgbClr val="37E6C4"/>
          </a:solidFill>
          <a:ln w="0">
            <a:noFill/>
            <a:prstDash val="solid"/>
          </a:ln>
        </p:spPr>
        <p:txBody>
          <a:bodyPr/>
          <a:lstStyle/>
          <a:p>
            <a:endParaRPr lang="zh-CN" altLang="en-US"/>
          </a:p>
        </p:txBody>
      </p:sp>
      <p:sp>
        <p:nvSpPr>
          <p:cNvPr id="20" name="矩形 19">
            <a:extLst>
              <a:ext uri="{FF2B5EF4-FFF2-40B4-BE49-F238E27FC236}">
                <a16:creationId xmlns:a16="http://schemas.microsoft.com/office/drawing/2014/main" id="{71873A40-CF69-4187-A20E-EDE51506A6E1}"/>
              </a:ext>
            </a:extLst>
          </p:cNvPr>
          <p:cNvSpPr>
            <a:spLocks noGrp="1"/>
          </p:cNvSpPr>
          <p:nvPr/>
        </p:nvSpPr>
        <p:spPr>
          <a:xfrm>
            <a:off x="8362950" y="2324100"/>
            <a:ext cx="2190750" cy="323850"/>
          </a:xfrm>
          <a:prstGeom prst="rect">
            <a:avLst/>
          </a:prstGeom>
          <a:noFill/>
          <a:ln w="0">
            <a:noFill/>
            <a:prstDash val="solid"/>
          </a:ln>
        </p:spPr>
        <p:txBody>
          <a:bodyPr lIns="0" tIns="0" rIns="0" bIns="0"/>
          <a:lstStyle/>
          <a:p>
            <a:pPr>
              <a:lnSpc>
                <a:spcPct val="108000"/>
              </a:lnSpc>
              <a:buNone/>
              <a:defRPr sz="2025" b="1">
                <a:solidFill>
                  <a:srgbClr val="37E6C4"/>
                </a:solidFill>
                <a:latin typeface="Microsoft YaHei"/>
                <a:ea typeface="Microsoft YaHei"/>
                <a:cs typeface="Microsoft YaHei"/>
              </a:defRPr>
            </a:pPr>
            <a:r>
              <a:rPr sz="2025" b="1">
                <a:solidFill>
                  <a:srgbClr val="37E6C4"/>
                </a:solidFill>
                <a:latin typeface="Microsoft YaHei"/>
                <a:ea typeface="Microsoft YaHei"/>
                <a:cs typeface="Microsoft YaHei"/>
              </a:rPr>
              <a:t>工程意义</a:t>
            </a:r>
          </a:p>
        </p:txBody>
      </p:sp>
      <p:sp>
        <p:nvSpPr>
          <p:cNvPr id="21" name="矩形 20">
            <a:extLst>
              <a:ext uri="{FF2B5EF4-FFF2-40B4-BE49-F238E27FC236}">
                <a16:creationId xmlns:a16="http://schemas.microsoft.com/office/drawing/2014/main" id="{59C865A5-D23C-4B05-B2E7-82FE56B63BCC}"/>
              </a:ext>
            </a:extLst>
          </p:cNvPr>
          <p:cNvSpPr>
            <a:spLocks noGrp="1"/>
          </p:cNvSpPr>
          <p:nvPr/>
        </p:nvSpPr>
        <p:spPr>
          <a:xfrm>
            <a:off x="8362950" y="3105150"/>
            <a:ext cx="2343150" cy="819150"/>
          </a:xfrm>
          <a:prstGeom prst="rect">
            <a:avLst/>
          </a:prstGeom>
          <a:noFill/>
          <a:ln w="0">
            <a:noFill/>
            <a:prstDash val="solid"/>
          </a:ln>
        </p:spPr>
        <p:txBody>
          <a:bodyPr lIns="0" tIns="0" rIns="0" bIns="0"/>
          <a:lstStyle/>
          <a:p>
            <a:pPr>
              <a:lnSpc>
                <a:spcPct val="114000"/>
              </a:lnSpc>
              <a:buNone/>
              <a:defRPr sz="1425">
                <a:solidFill>
                  <a:srgbClr val="F6FBFF"/>
                </a:solidFill>
                <a:latin typeface="Microsoft YaHei"/>
                <a:ea typeface="Microsoft YaHei"/>
                <a:cs typeface="Microsoft YaHei"/>
              </a:defRPr>
            </a:pPr>
            <a:r>
              <a:rPr sz="1425">
                <a:solidFill>
                  <a:srgbClr val="F6FBFF"/>
                </a:solidFill>
                <a:latin typeface="Microsoft YaHei"/>
                <a:ea typeface="Microsoft YaHei"/>
                <a:cs typeface="Microsoft YaHei"/>
              </a:rPr>
              <a:t>形成“数据治理—参数反推—配置注入—在线仿真—结果归档”的平台闭环。</a:t>
            </a:r>
          </a:p>
        </p:txBody>
      </p:sp>
      <p:sp>
        <p:nvSpPr>
          <p:cNvPr id="22" name="圆角矩形 21">
            <a:extLst>
              <a:ext uri="{FF2B5EF4-FFF2-40B4-BE49-F238E27FC236}">
                <a16:creationId xmlns:a16="http://schemas.microsoft.com/office/drawing/2014/main" id="{CBB10DF5-63AF-4E3E-A5CA-202929D8730A}"/>
              </a:ext>
            </a:extLst>
          </p:cNvPr>
          <p:cNvSpPr>
            <a:spLocks noGrp="1"/>
          </p:cNvSpPr>
          <p:nvPr/>
        </p:nvSpPr>
        <p:spPr>
          <a:xfrm>
            <a:off x="1695450" y="5200650"/>
            <a:ext cx="8629650" cy="590550"/>
          </a:xfrm>
          <a:prstGeom prst="roundRect">
            <a:avLst>
              <a:gd name="adj" fmla="val 19355"/>
            </a:avLst>
          </a:prstGeom>
          <a:solidFill>
            <a:srgbClr val="0B2038">
              <a:alpha val="80000"/>
            </a:srgbClr>
          </a:solidFill>
          <a:ln w="13335">
            <a:solidFill>
              <a:srgbClr val="26D9FF">
                <a:alpha val="42000"/>
              </a:srgbClr>
            </a:solidFill>
            <a:prstDash val="solid"/>
          </a:ln>
        </p:spPr>
        <p:txBody>
          <a:bodyPr/>
          <a:lstStyle/>
          <a:p>
            <a:endParaRPr lang="zh-CN" altLang="en-US"/>
          </a:p>
        </p:txBody>
      </p:sp>
      <p:sp>
        <p:nvSpPr>
          <p:cNvPr id="23" name="圆角矩形 22">
            <a:extLst>
              <a:ext uri="{FF2B5EF4-FFF2-40B4-BE49-F238E27FC236}">
                <a16:creationId xmlns:a16="http://schemas.microsoft.com/office/drawing/2014/main" id="{270053CE-9B40-4F2D-987D-F4D7C90683A0}"/>
              </a:ext>
            </a:extLst>
          </p:cNvPr>
          <p:cNvSpPr>
            <a:spLocks noGrp="1"/>
          </p:cNvSpPr>
          <p:nvPr/>
        </p:nvSpPr>
        <p:spPr>
          <a:xfrm>
            <a:off x="1695450" y="5200650"/>
            <a:ext cx="47625" cy="590550"/>
          </a:xfrm>
          <a:prstGeom prst="roundRect">
            <a:avLst>
              <a:gd name="adj" fmla="val 50000"/>
            </a:avLst>
          </a:prstGeom>
          <a:solidFill>
            <a:srgbClr val="E2B84B"/>
          </a:solidFill>
          <a:ln w="0">
            <a:noFill/>
            <a:prstDash val="solid"/>
          </a:ln>
        </p:spPr>
        <p:txBody>
          <a:bodyPr/>
          <a:lstStyle/>
          <a:p>
            <a:endParaRPr lang="zh-CN" altLang="en-US"/>
          </a:p>
        </p:txBody>
      </p:sp>
      <p:sp>
        <p:nvSpPr>
          <p:cNvPr id="24" name="矩形 23">
            <a:extLst>
              <a:ext uri="{FF2B5EF4-FFF2-40B4-BE49-F238E27FC236}">
                <a16:creationId xmlns:a16="http://schemas.microsoft.com/office/drawing/2014/main" id="{62B9AF4C-0C0C-49C5-91EC-AC6ADF627ADE}"/>
              </a:ext>
            </a:extLst>
          </p:cNvPr>
          <p:cNvSpPr>
            <a:spLocks noGrp="1"/>
          </p:cNvSpPr>
          <p:nvPr/>
        </p:nvSpPr>
        <p:spPr>
          <a:xfrm>
            <a:off x="2076450" y="5372100"/>
            <a:ext cx="7848600" cy="247650"/>
          </a:xfrm>
          <a:prstGeom prst="rect">
            <a:avLst/>
          </a:prstGeom>
          <a:noFill/>
          <a:ln w="0">
            <a:noFill/>
            <a:prstDash val="solid"/>
          </a:ln>
        </p:spPr>
        <p:txBody>
          <a:bodyPr lIns="0" tIns="0" rIns="0" bIns="0"/>
          <a:lstStyle/>
          <a:p>
            <a:pPr algn="ctr">
              <a:lnSpc>
                <a:spcPct val="108000"/>
              </a:lnSpc>
              <a:buNone/>
              <a:defRPr sz="1575" b="1">
                <a:solidFill>
                  <a:srgbClr val="74F0FF"/>
                </a:solidFill>
                <a:latin typeface="Microsoft YaHei"/>
                <a:ea typeface="Microsoft YaHei"/>
                <a:cs typeface="Microsoft YaHei"/>
              </a:defRPr>
            </a:pPr>
            <a:r>
              <a:rPr sz="1575" b="1">
                <a:solidFill>
                  <a:srgbClr val="74F0FF"/>
                </a:solidFill>
                <a:latin typeface="Microsoft YaHei"/>
                <a:ea typeface="Microsoft YaHei"/>
                <a:cs typeface="Microsoft YaHei"/>
              </a:rPr>
              <a:t>关键转向：推荐参数不再由研究者主观设定，而由真实传播数据校准后进入在线仿真。</a:t>
            </a:r>
          </a:p>
        </p:txBody>
      </p:sp>
    </p:spTree>
    <p:extLst>
      <p:ext uri="{BB962C8B-B14F-4D97-AF65-F5344CB8AC3E}">
        <p14:creationId xmlns:p14="http://schemas.microsoft.com/office/powerpoint/2010/main" val="1214366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FF474404-7335-4988-BEC3-B65A012A110B}"/>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A2308B8C-2B2F-4E95-9028-6AB3C1BA8054}"/>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7D94F8F4-B1B4-48C8-80AE-B1141CB00FED}"/>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27" name="图片 26"/>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2E4533E1-186A-455E-9D93-0412743E8B14}"/>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02  国内外研究现状</a:t>
            </a:r>
          </a:p>
        </p:txBody>
      </p:sp>
      <p:sp>
        <p:nvSpPr>
          <p:cNvPr id="7" name="矩形 6">
            <a:extLst>
              <a:ext uri="{FF2B5EF4-FFF2-40B4-BE49-F238E27FC236}">
                <a16:creationId xmlns:a16="http://schemas.microsoft.com/office/drawing/2014/main" id="{CCDD8015-DF54-4623-81E9-6AC33D5D7373}"/>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三条相关脉络</a:t>
            </a:r>
          </a:p>
        </p:txBody>
      </p:sp>
      <p:sp>
        <p:nvSpPr>
          <p:cNvPr id="8" name="圆角矩形 7">
            <a:extLst>
              <a:ext uri="{FF2B5EF4-FFF2-40B4-BE49-F238E27FC236}">
                <a16:creationId xmlns:a16="http://schemas.microsoft.com/office/drawing/2014/main" id="{E0012239-C946-4E28-AA7E-6D863F139522}"/>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370AC46B-6237-4062-A712-C25A6F7BF87D}"/>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05</a:t>
            </a:r>
          </a:p>
        </p:txBody>
      </p:sp>
      <p:sp>
        <p:nvSpPr>
          <p:cNvPr id="10" name="椭圆 9">
            <a:extLst>
              <a:ext uri="{FF2B5EF4-FFF2-40B4-BE49-F238E27FC236}">
                <a16:creationId xmlns:a16="http://schemas.microsoft.com/office/drawing/2014/main" id="{D36BF6D4-480A-4B8F-992E-4DD93140ED3D}"/>
              </a:ext>
            </a:extLst>
          </p:cNvPr>
          <p:cNvSpPr>
            <a:spLocks noGrp="1"/>
          </p:cNvSpPr>
          <p:nvPr/>
        </p:nvSpPr>
        <p:spPr>
          <a:xfrm>
            <a:off x="1028700" y="1809750"/>
            <a:ext cx="514350" cy="514350"/>
          </a:xfrm>
          <a:prstGeom prst="ellipse">
            <a:avLst/>
          </a:prstGeom>
          <a:gradFill>
            <a:gsLst>
              <a:gs pos="0">
                <a:srgbClr val="7DEBFF">
                  <a:alpha val="95000"/>
                </a:srgbClr>
              </a:gs>
              <a:gs pos="48000">
                <a:srgbClr val="19D9FF">
                  <a:alpha val="48000"/>
                </a:srgbClr>
              </a:gs>
              <a:gs pos="100000">
                <a:srgbClr val="19D9FF">
                  <a:alpha val="0"/>
                </a:srgbClr>
              </a:gs>
            </a:gsLst>
            <a:path path="shape"/>
          </a:gradFill>
          <a:ln w="11430">
            <a:solidFill>
              <a:srgbClr val="7DEBFF">
                <a:alpha val="62000"/>
              </a:srgbClr>
            </a:solidFill>
            <a:prstDash val="solid"/>
          </a:ln>
        </p:spPr>
        <p:txBody>
          <a:bodyPr/>
          <a:lstStyle/>
          <a:p>
            <a:endParaRPr lang="zh-CN" altLang="en-US"/>
          </a:p>
        </p:txBody>
      </p:sp>
      <p:sp>
        <p:nvSpPr>
          <p:cNvPr id="11" name="矩形 10">
            <a:extLst>
              <a:ext uri="{FF2B5EF4-FFF2-40B4-BE49-F238E27FC236}">
                <a16:creationId xmlns:a16="http://schemas.microsoft.com/office/drawing/2014/main" id="{A87F0128-07E8-4E8B-918F-6B4E7C1C10B4}"/>
              </a:ext>
            </a:extLst>
          </p:cNvPr>
          <p:cNvSpPr>
            <a:spLocks noGrp="1"/>
          </p:cNvSpPr>
          <p:nvPr/>
        </p:nvSpPr>
        <p:spPr>
          <a:xfrm>
            <a:off x="1028700" y="1953768"/>
            <a:ext cx="514350" cy="180023"/>
          </a:xfrm>
          <a:prstGeom prst="rect">
            <a:avLst/>
          </a:prstGeom>
          <a:noFill/>
          <a:ln w="0">
            <a:noFill/>
            <a:prstDash val="solid"/>
          </a:ln>
        </p:spPr>
        <p:txBody>
          <a:bodyPr lIns="0" tIns="0" rIns="0" bIns="0"/>
          <a:lstStyle/>
          <a:p>
            <a:pPr algn="ctr">
              <a:lnSpc>
                <a:spcPct val="108000"/>
              </a:lnSpc>
              <a:buNone/>
              <a:defRPr sz="1350" b="1">
                <a:solidFill>
                  <a:srgbClr val="F6FBFF"/>
                </a:solidFill>
                <a:latin typeface="Microsoft YaHei"/>
                <a:ea typeface="Microsoft YaHei"/>
                <a:cs typeface="Microsoft YaHei"/>
              </a:defRPr>
            </a:pPr>
            <a:r>
              <a:rPr sz="1350" b="1">
                <a:solidFill>
                  <a:srgbClr val="F6FBFF"/>
                </a:solidFill>
                <a:latin typeface="Microsoft YaHei"/>
                <a:ea typeface="Microsoft YaHei"/>
                <a:cs typeface="Microsoft YaHei"/>
              </a:rPr>
              <a:t>1</a:t>
            </a:r>
          </a:p>
        </p:txBody>
      </p:sp>
      <p:sp>
        <p:nvSpPr>
          <p:cNvPr id="12" name="矩形 11">
            <a:extLst>
              <a:ext uri="{FF2B5EF4-FFF2-40B4-BE49-F238E27FC236}">
                <a16:creationId xmlns:a16="http://schemas.microsoft.com/office/drawing/2014/main" id="{588A6C07-0371-4968-872E-9C0BDF6981AE}"/>
              </a:ext>
            </a:extLst>
          </p:cNvPr>
          <p:cNvSpPr>
            <a:spLocks noGrp="1"/>
          </p:cNvSpPr>
          <p:nvPr/>
        </p:nvSpPr>
        <p:spPr>
          <a:xfrm>
            <a:off x="1790700" y="1790700"/>
            <a:ext cx="4000500" cy="285750"/>
          </a:xfrm>
          <a:prstGeom prst="rect">
            <a:avLst/>
          </a:prstGeom>
          <a:noFill/>
          <a:ln w="0">
            <a:noFill/>
            <a:prstDash val="solid"/>
          </a:ln>
        </p:spPr>
        <p:txBody>
          <a:bodyPr lIns="0" tIns="0" rIns="0" bIns="0"/>
          <a:lstStyle/>
          <a:p>
            <a:pPr>
              <a:lnSpc>
                <a:spcPct val="108000"/>
              </a:lnSpc>
              <a:buNone/>
              <a:defRPr sz="1875" b="1">
                <a:solidFill>
                  <a:srgbClr val="F6FBFF"/>
                </a:solidFill>
                <a:latin typeface="Microsoft YaHei"/>
                <a:ea typeface="Microsoft YaHei"/>
                <a:cs typeface="Microsoft YaHei"/>
              </a:defRPr>
            </a:pPr>
            <a:r>
              <a:rPr sz="1875" b="1">
                <a:solidFill>
                  <a:srgbClr val="F6FBFF"/>
                </a:solidFill>
                <a:latin typeface="Microsoft YaHei"/>
                <a:ea typeface="Microsoft YaHei"/>
                <a:cs typeface="Microsoft YaHei"/>
              </a:rPr>
              <a:t>规则 ABM 与传播动力学</a:t>
            </a:r>
          </a:p>
        </p:txBody>
      </p:sp>
      <p:sp>
        <p:nvSpPr>
          <p:cNvPr id="13" name="矩形 12">
            <a:extLst>
              <a:ext uri="{FF2B5EF4-FFF2-40B4-BE49-F238E27FC236}">
                <a16:creationId xmlns:a16="http://schemas.microsoft.com/office/drawing/2014/main" id="{E6D9AC7F-FEEB-48A5-ADD5-8C9E261C3806}"/>
              </a:ext>
            </a:extLst>
          </p:cNvPr>
          <p:cNvSpPr>
            <a:spLocks noGrp="1"/>
          </p:cNvSpPr>
          <p:nvPr/>
        </p:nvSpPr>
        <p:spPr>
          <a:xfrm>
            <a:off x="1790700" y="2209800"/>
            <a:ext cx="8572500" cy="514350"/>
          </a:xfrm>
          <a:prstGeom prst="rect">
            <a:avLst/>
          </a:prstGeom>
          <a:noFill/>
          <a:ln w="0">
            <a:noFill/>
            <a:prstDash val="solid"/>
          </a:ln>
        </p:spPr>
        <p:txBody>
          <a:bodyPr lIns="0" tIns="0" rIns="0" bIns="0"/>
          <a:lstStyle/>
          <a:p>
            <a:pPr>
              <a:lnSpc>
                <a:spcPct val="110000"/>
              </a:lnSpc>
              <a:buNone/>
              <a:defRPr sz="1350">
                <a:solidFill>
                  <a:srgbClr val="B5C8D8"/>
                </a:solidFill>
                <a:latin typeface="Microsoft YaHei"/>
                <a:ea typeface="Microsoft YaHei"/>
                <a:cs typeface="Microsoft YaHei"/>
              </a:defRPr>
            </a:pPr>
            <a:r>
              <a:rPr sz="1350">
                <a:solidFill>
                  <a:srgbClr val="B5C8D8"/>
                </a:solidFill>
                <a:latin typeface="Microsoft YaHei"/>
                <a:ea typeface="Microsoft YaHei"/>
                <a:cs typeface="Microsoft YaHei"/>
              </a:rPr>
              <a:t>Bounded Confidence、SIR、Hawkes、元胞自动机等模型成本低、可解释；但弱在文本生成与个体行为解释。</a:t>
            </a:r>
          </a:p>
        </p:txBody>
      </p:sp>
      <p:sp>
        <p:nvSpPr>
          <p:cNvPr id="14" name="椭圆 13">
            <a:extLst>
              <a:ext uri="{FF2B5EF4-FFF2-40B4-BE49-F238E27FC236}">
                <a16:creationId xmlns:a16="http://schemas.microsoft.com/office/drawing/2014/main" id="{13BE3FC9-B63D-438B-ABF0-4C1AAAB787EF}"/>
              </a:ext>
            </a:extLst>
          </p:cNvPr>
          <p:cNvSpPr>
            <a:spLocks noGrp="1"/>
          </p:cNvSpPr>
          <p:nvPr/>
        </p:nvSpPr>
        <p:spPr>
          <a:xfrm>
            <a:off x="1028700" y="2990850"/>
            <a:ext cx="514350" cy="514350"/>
          </a:xfrm>
          <a:prstGeom prst="ellipse">
            <a:avLst/>
          </a:prstGeom>
          <a:gradFill>
            <a:gsLst>
              <a:gs pos="0">
                <a:srgbClr val="7DEBFF">
                  <a:alpha val="95000"/>
                </a:srgbClr>
              </a:gs>
              <a:gs pos="48000">
                <a:srgbClr val="19D9FF">
                  <a:alpha val="48000"/>
                </a:srgbClr>
              </a:gs>
              <a:gs pos="100000">
                <a:srgbClr val="19D9FF">
                  <a:alpha val="0"/>
                </a:srgbClr>
              </a:gs>
            </a:gsLst>
            <a:path path="shape"/>
          </a:gradFill>
          <a:ln w="11430">
            <a:solidFill>
              <a:srgbClr val="7DEBFF">
                <a:alpha val="62000"/>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9D0DA702-62BC-486D-8EBE-89093BEB3BF3}"/>
              </a:ext>
            </a:extLst>
          </p:cNvPr>
          <p:cNvSpPr>
            <a:spLocks noGrp="1"/>
          </p:cNvSpPr>
          <p:nvPr/>
        </p:nvSpPr>
        <p:spPr>
          <a:xfrm>
            <a:off x="1028700" y="3134868"/>
            <a:ext cx="514350" cy="180023"/>
          </a:xfrm>
          <a:prstGeom prst="rect">
            <a:avLst/>
          </a:prstGeom>
          <a:noFill/>
          <a:ln w="0">
            <a:noFill/>
            <a:prstDash val="solid"/>
          </a:ln>
        </p:spPr>
        <p:txBody>
          <a:bodyPr lIns="0" tIns="0" rIns="0" bIns="0"/>
          <a:lstStyle/>
          <a:p>
            <a:pPr algn="ctr">
              <a:lnSpc>
                <a:spcPct val="108000"/>
              </a:lnSpc>
              <a:buNone/>
              <a:defRPr sz="1350" b="1">
                <a:solidFill>
                  <a:srgbClr val="F6FBFF"/>
                </a:solidFill>
                <a:latin typeface="Microsoft YaHei"/>
                <a:ea typeface="Microsoft YaHei"/>
                <a:cs typeface="Microsoft YaHei"/>
              </a:defRPr>
            </a:pPr>
            <a:r>
              <a:rPr sz="1350" b="1">
                <a:solidFill>
                  <a:srgbClr val="F6FBFF"/>
                </a:solidFill>
                <a:latin typeface="Microsoft YaHei"/>
                <a:ea typeface="Microsoft YaHei"/>
                <a:cs typeface="Microsoft YaHei"/>
              </a:rPr>
              <a:t>2</a:t>
            </a:r>
          </a:p>
        </p:txBody>
      </p:sp>
      <p:sp>
        <p:nvSpPr>
          <p:cNvPr id="16" name="矩形 15">
            <a:extLst>
              <a:ext uri="{FF2B5EF4-FFF2-40B4-BE49-F238E27FC236}">
                <a16:creationId xmlns:a16="http://schemas.microsoft.com/office/drawing/2014/main" id="{5AC79DF0-B6E1-4D17-88D0-7414176A29F5}"/>
              </a:ext>
            </a:extLst>
          </p:cNvPr>
          <p:cNvSpPr>
            <a:spLocks noGrp="1"/>
          </p:cNvSpPr>
          <p:nvPr/>
        </p:nvSpPr>
        <p:spPr>
          <a:xfrm>
            <a:off x="1790700" y="2971800"/>
            <a:ext cx="4000500" cy="285750"/>
          </a:xfrm>
          <a:prstGeom prst="rect">
            <a:avLst/>
          </a:prstGeom>
          <a:noFill/>
          <a:ln w="0">
            <a:noFill/>
            <a:prstDash val="solid"/>
          </a:ln>
        </p:spPr>
        <p:txBody>
          <a:bodyPr lIns="0" tIns="0" rIns="0" bIns="0"/>
          <a:lstStyle/>
          <a:p>
            <a:pPr>
              <a:lnSpc>
                <a:spcPct val="108000"/>
              </a:lnSpc>
              <a:buNone/>
              <a:defRPr sz="1875" b="1">
                <a:solidFill>
                  <a:srgbClr val="F6FBFF"/>
                </a:solidFill>
                <a:latin typeface="Microsoft YaHei"/>
                <a:ea typeface="Microsoft YaHei"/>
                <a:cs typeface="Microsoft YaHei"/>
              </a:defRPr>
            </a:pPr>
            <a:r>
              <a:rPr sz="1875" b="1">
                <a:solidFill>
                  <a:srgbClr val="F6FBFF"/>
                </a:solidFill>
                <a:latin typeface="Microsoft YaHei"/>
                <a:ea typeface="Microsoft YaHei"/>
                <a:cs typeface="Microsoft YaHei"/>
              </a:rPr>
              <a:t>LLM Agent 与混合仿真</a:t>
            </a:r>
          </a:p>
        </p:txBody>
      </p:sp>
      <p:sp>
        <p:nvSpPr>
          <p:cNvPr id="17" name="矩形 16">
            <a:extLst>
              <a:ext uri="{FF2B5EF4-FFF2-40B4-BE49-F238E27FC236}">
                <a16:creationId xmlns:a16="http://schemas.microsoft.com/office/drawing/2014/main" id="{628F464D-B07C-41B5-A4DA-DE780B8836D2}"/>
              </a:ext>
            </a:extLst>
          </p:cNvPr>
          <p:cNvSpPr>
            <a:spLocks noGrp="1"/>
          </p:cNvSpPr>
          <p:nvPr/>
        </p:nvSpPr>
        <p:spPr>
          <a:xfrm>
            <a:off x="1790700" y="3390900"/>
            <a:ext cx="8572500" cy="514350"/>
          </a:xfrm>
          <a:prstGeom prst="rect">
            <a:avLst/>
          </a:prstGeom>
          <a:noFill/>
          <a:ln w="0">
            <a:noFill/>
            <a:prstDash val="solid"/>
          </a:ln>
        </p:spPr>
        <p:txBody>
          <a:bodyPr lIns="0" tIns="0" rIns="0" bIns="0"/>
          <a:lstStyle/>
          <a:p>
            <a:pPr>
              <a:lnSpc>
                <a:spcPct val="110000"/>
              </a:lnSpc>
              <a:buNone/>
              <a:defRPr sz="1350">
                <a:solidFill>
                  <a:srgbClr val="B5C8D8"/>
                </a:solidFill>
                <a:latin typeface="Microsoft YaHei"/>
                <a:ea typeface="Microsoft YaHei"/>
                <a:cs typeface="Microsoft YaHei"/>
              </a:defRPr>
            </a:pPr>
            <a:r>
              <a:rPr sz="1350">
                <a:solidFill>
                  <a:srgbClr val="B5C8D8"/>
                </a:solidFill>
                <a:latin typeface="Microsoft YaHei"/>
                <a:ea typeface="Microsoft YaHei"/>
                <a:cs typeface="Microsoft YaHei"/>
              </a:rPr>
              <a:t>Generative Agents、HiSim、FDE-LLM、GASim、TopoSim、APS 等推动画像、记忆、信念与混合架构。</a:t>
            </a:r>
          </a:p>
        </p:txBody>
      </p:sp>
      <p:sp>
        <p:nvSpPr>
          <p:cNvPr id="18" name="椭圆 17">
            <a:extLst>
              <a:ext uri="{FF2B5EF4-FFF2-40B4-BE49-F238E27FC236}">
                <a16:creationId xmlns:a16="http://schemas.microsoft.com/office/drawing/2014/main" id="{12E7A31A-92E0-4DEB-858C-88CE51412809}"/>
              </a:ext>
            </a:extLst>
          </p:cNvPr>
          <p:cNvSpPr>
            <a:spLocks noGrp="1"/>
          </p:cNvSpPr>
          <p:nvPr/>
        </p:nvSpPr>
        <p:spPr>
          <a:xfrm>
            <a:off x="1028700" y="4171950"/>
            <a:ext cx="514350" cy="514350"/>
          </a:xfrm>
          <a:prstGeom prst="ellipse">
            <a:avLst/>
          </a:prstGeom>
          <a:gradFill>
            <a:gsLst>
              <a:gs pos="0">
                <a:srgbClr val="7DEBFF">
                  <a:alpha val="95000"/>
                </a:srgbClr>
              </a:gs>
              <a:gs pos="48000">
                <a:srgbClr val="19D9FF">
                  <a:alpha val="48000"/>
                </a:srgbClr>
              </a:gs>
              <a:gs pos="100000">
                <a:srgbClr val="19D9FF">
                  <a:alpha val="0"/>
                </a:srgbClr>
              </a:gs>
            </a:gsLst>
            <a:path path="shape"/>
          </a:gradFill>
          <a:ln w="11430">
            <a:solidFill>
              <a:srgbClr val="7DEBFF">
                <a:alpha val="6200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13C03CA3-577A-429B-893B-0C60E4684E5C}"/>
              </a:ext>
            </a:extLst>
          </p:cNvPr>
          <p:cNvSpPr>
            <a:spLocks noGrp="1"/>
          </p:cNvSpPr>
          <p:nvPr/>
        </p:nvSpPr>
        <p:spPr>
          <a:xfrm>
            <a:off x="1028700" y="4315968"/>
            <a:ext cx="514350" cy="180023"/>
          </a:xfrm>
          <a:prstGeom prst="rect">
            <a:avLst/>
          </a:prstGeom>
          <a:noFill/>
          <a:ln w="0">
            <a:noFill/>
            <a:prstDash val="solid"/>
          </a:ln>
        </p:spPr>
        <p:txBody>
          <a:bodyPr lIns="0" tIns="0" rIns="0" bIns="0"/>
          <a:lstStyle/>
          <a:p>
            <a:pPr algn="ctr">
              <a:lnSpc>
                <a:spcPct val="108000"/>
              </a:lnSpc>
              <a:buNone/>
              <a:defRPr sz="1350" b="1">
                <a:solidFill>
                  <a:srgbClr val="F6FBFF"/>
                </a:solidFill>
                <a:latin typeface="Microsoft YaHei"/>
                <a:ea typeface="Microsoft YaHei"/>
                <a:cs typeface="Microsoft YaHei"/>
              </a:defRPr>
            </a:pPr>
            <a:r>
              <a:rPr sz="1350" b="1">
                <a:solidFill>
                  <a:srgbClr val="F6FBFF"/>
                </a:solidFill>
                <a:latin typeface="Microsoft YaHei"/>
                <a:ea typeface="Microsoft YaHei"/>
                <a:cs typeface="Microsoft YaHei"/>
              </a:rPr>
              <a:t>3</a:t>
            </a:r>
          </a:p>
        </p:txBody>
      </p:sp>
      <p:sp>
        <p:nvSpPr>
          <p:cNvPr id="20" name="矩形 19">
            <a:extLst>
              <a:ext uri="{FF2B5EF4-FFF2-40B4-BE49-F238E27FC236}">
                <a16:creationId xmlns:a16="http://schemas.microsoft.com/office/drawing/2014/main" id="{277C1973-2B1E-4D89-B80D-FED806D70299}"/>
              </a:ext>
            </a:extLst>
          </p:cNvPr>
          <p:cNvSpPr>
            <a:spLocks noGrp="1"/>
          </p:cNvSpPr>
          <p:nvPr/>
        </p:nvSpPr>
        <p:spPr>
          <a:xfrm>
            <a:off x="1790700" y="4152900"/>
            <a:ext cx="4000500" cy="285750"/>
          </a:xfrm>
          <a:prstGeom prst="rect">
            <a:avLst/>
          </a:prstGeom>
          <a:noFill/>
          <a:ln w="0">
            <a:noFill/>
            <a:prstDash val="solid"/>
          </a:ln>
        </p:spPr>
        <p:txBody>
          <a:bodyPr lIns="0" tIns="0" rIns="0" bIns="0"/>
          <a:lstStyle/>
          <a:p>
            <a:pPr>
              <a:lnSpc>
                <a:spcPct val="108000"/>
              </a:lnSpc>
              <a:buNone/>
              <a:defRPr sz="1875" b="1">
                <a:solidFill>
                  <a:srgbClr val="F6FBFF"/>
                </a:solidFill>
                <a:latin typeface="Microsoft YaHei"/>
                <a:ea typeface="Microsoft YaHei"/>
                <a:cs typeface="Microsoft YaHei"/>
              </a:defRPr>
            </a:pPr>
            <a:r>
              <a:rPr sz="1875" b="1">
                <a:solidFill>
                  <a:srgbClr val="F6FBFF"/>
                </a:solidFill>
                <a:latin typeface="Microsoft YaHei"/>
                <a:ea typeface="Microsoft YaHei"/>
                <a:cs typeface="Microsoft YaHei"/>
              </a:rPr>
              <a:t>平台化系统与推荐机制</a:t>
            </a:r>
          </a:p>
        </p:txBody>
      </p:sp>
      <p:sp>
        <p:nvSpPr>
          <p:cNvPr id="21" name="矩形 20">
            <a:extLst>
              <a:ext uri="{FF2B5EF4-FFF2-40B4-BE49-F238E27FC236}">
                <a16:creationId xmlns:a16="http://schemas.microsoft.com/office/drawing/2014/main" id="{61BEFFA5-FF6E-4789-B398-4A7F4264819D}"/>
              </a:ext>
            </a:extLst>
          </p:cNvPr>
          <p:cNvSpPr>
            <a:spLocks noGrp="1"/>
          </p:cNvSpPr>
          <p:nvPr/>
        </p:nvSpPr>
        <p:spPr>
          <a:xfrm>
            <a:off x="1790700" y="4572000"/>
            <a:ext cx="8572500" cy="514350"/>
          </a:xfrm>
          <a:prstGeom prst="rect">
            <a:avLst/>
          </a:prstGeom>
          <a:noFill/>
          <a:ln w="0">
            <a:noFill/>
            <a:prstDash val="solid"/>
          </a:ln>
        </p:spPr>
        <p:txBody>
          <a:bodyPr lIns="0" tIns="0" rIns="0" bIns="0"/>
          <a:lstStyle/>
          <a:p>
            <a:pPr>
              <a:lnSpc>
                <a:spcPct val="110000"/>
              </a:lnSpc>
              <a:buNone/>
              <a:defRPr sz="1350">
                <a:solidFill>
                  <a:srgbClr val="B5C8D8"/>
                </a:solidFill>
                <a:latin typeface="Microsoft YaHei"/>
                <a:ea typeface="Microsoft YaHei"/>
                <a:cs typeface="Microsoft YaHei"/>
              </a:defRPr>
            </a:pPr>
            <a:r>
              <a:rPr sz="1350">
                <a:solidFill>
                  <a:srgbClr val="B5C8D8"/>
                </a:solidFill>
                <a:latin typeface="Microsoft YaHei"/>
                <a:ea typeface="Microsoft YaHei"/>
                <a:cs typeface="Microsoft YaHei"/>
              </a:rPr>
              <a:t>OASIS、GGBond、POSIM、PolicySim 等开始纳入平台环境和推荐排序，但参数多依赖预设或离线调参。</a:t>
            </a:r>
          </a:p>
        </p:txBody>
      </p:sp>
      <p:sp>
        <p:nvSpPr>
          <p:cNvPr id="22" name="矩形 21">
            <a:extLst>
              <a:ext uri="{FF2B5EF4-FFF2-40B4-BE49-F238E27FC236}">
                <a16:creationId xmlns:a16="http://schemas.microsoft.com/office/drawing/2014/main" id="{5E330D0C-BEB5-4215-A741-724ACF4BB7E7}"/>
              </a:ext>
            </a:extLst>
          </p:cNvPr>
          <p:cNvSpPr>
            <a:spLocks noGrp="1"/>
          </p:cNvSpPr>
          <p:nvPr/>
        </p:nvSpPr>
        <p:spPr>
          <a:xfrm>
            <a:off x="1809750" y="5676900"/>
            <a:ext cx="8382000" cy="304800"/>
          </a:xfrm>
          <a:prstGeom prst="rect">
            <a:avLst/>
          </a:prstGeom>
          <a:noFill/>
          <a:ln w="0">
            <a:noFill/>
            <a:prstDash val="solid"/>
          </a:ln>
        </p:spPr>
        <p:txBody>
          <a:bodyPr lIns="0" tIns="0" rIns="0" bIns="0"/>
          <a:lstStyle/>
          <a:p>
            <a:pPr algn="ctr">
              <a:lnSpc>
                <a:spcPct val="108000"/>
              </a:lnSpc>
              <a:buNone/>
              <a:defRPr sz="1650" b="1">
                <a:solidFill>
                  <a:srgbClr val="74F0FF"/>
                </a:solidFill>
                <a:latin typeface="Microsoft YaHei"/>
                <a:ea typeface="Microsoft YaHei"/>
                <a:cs typeface="Microsoft YaHei"/>
              </a:defRPr>
            </a:pPr>
            <a:r>
              <a:rPr sz="1650" b="1">
                <a:solidFill>
                  <a:srgbClr val="74F0FF"/>
                </a:solidFill>
                <a:latin typeface="Microsoft YaHei"/>
                <a:ea typeface="Microsoft YaHei"/>
                <a:cs typeface="Microsoft YaHei"/>
              </a:rPr>
              <a:t>研究基础充分，但“真实传播数据 → 推荐参数校准 → 在线仿真注入”的链条仍不完整。</a:t>
            </a:r>
          </a:p>
        </p:txBody>
      </p:sp>
    </p:spTree>
    <p:extLst>
      <p:ext uri="{BB962C8B-B14F-4D97-AF65-F5344CB8AC3E}">
        <p14:creationId xmlns:p14="http://schemas.microsoft.com/office/powerpoint/2010/main" val="112755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EAEA2856-00C7-4AD3-A3A4-1D20F8D1968A}"/>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F65E7C40-E310-42A0-B408-0451C507F9D9}"/>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02A67920-E918-41D9-B97F-E6583ED59604}"/>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34" name="图片 33"/>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0DBAB528-487C-460E-855F-D1DF7B5DE8B2}"/>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02  国内外研究现状</a:t>
            </a:r>
          </a:p>
        </p:txBody>
      </p:sp>
      <p:sp>
        <p:nvSpPr>
          <p:cNvPr id="7" name="矩形 6">
            <a:extLst>
              <a:ext uri="{FF2B5EF4-FFF2-40B4-BE49-F238E27FC236}">
                <a16:creationId xmlns:a16="http://schemas.microsoft.com/office/drawing/2014/main" id="{F09DD4ED-7532-473C-B646-23A3A012DA95}"/>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研究空白：推荐机制缺少实证校准</a:t>
            </a:r>
          </a:p>
        </p:txBody>
      </p:sp>
      <p:sp>
        <p:nvSpPr>
          <p:cNvPr id="8" name="圆角矩形 7">
            <a:extLst>
              <a:ext uri="{FF2B5EF4-FFF2-40B4-BE49-F238E27FC236}">
                <a16:creationId xmlns:a16="http://schemas.microsoft.com/office/drawing/2014/main" id="{FE23F54D-E5BE-4E8F-ACEE-0799740B0B7B}"/>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38ADB786-CDBF-4097-AA4B-8823AD43AA28}"/>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06</a:t>
            </a:r>
          </a:p>
        </p:txBody>
      </p:sp>
      <p:sp>
        <p:nvSpPr>
          <p:cNvPr id="10" name="圆角矩形 9">
            <a:extLst>
              <a:ext uri="{FF2B5EF4-FFF2-40B4-BE49-F238E27FC236}">
                <a16:creationId xmlns:a16="http://schemas.microsoft.com/office/drawing/2014/main" id="{14874366-9FB9-4BE9-A764-A89002A5CFEB}"/>
              </a:ext>
            </a:extLst>
          </p:cNvPr>
          <p:cNvSpPr>
            <a:spLocks noGrp="1"/>
          </p:cNvSpPr>
          <p:nvPr/>
        </p:nvSpPr>
        <p:spPr>
          <a:xfrm>
            <a:off x="1047750" y="1924050"/>
            <a:ext cx="4171950" cy="2857500"/>
          </a:xfrm>
          <a:prstGeom prst="roundRect">
            <a:avLst>
              <a:gd name="adj" fmla="val 4000"/>
            </a:avLst>
          </a:prstGeom>
          <a:solidFill>
            <a:srgbClr val="07172B">
              <a:alpha val="78000"/>
            </a:srgbClr>
          </a:solidFill>
          <a:ln w="13335">
            <a:solidFill>
              <a:srgbClr val="26D9FF">
                <a:alpha val="42000"/>
              </a:srgbClr>
            </a:solidFill>
            <a:prstDash val="solid"/>
          </a:ln>
        </p:spPr>
        <p:txBody>
          <a:bodyPr/>
          <a:lstStyle/>
          <a:p>
            <a:endParaRPr lang="zh-CN" altLang="en-US"/>
          </a:p>
        </p:txBody>
      </p:sp>
      <p:sp>
        <p:nvSpPr>
          <p:cNvPr id="11" name="圆角矩形 10">
            <a:extLst>
              <a:ext uri="{FF2B5EF4-FFF2-40B4-BE49-F238E27FC236}">
                <a16:creationId xmlns:a16="http://schemas.microsoft.com/office/drawing/2014/main" id="{50BC08C9-F848-4EBA-B757-6F09765C7060}"/>
              </a:ext>
            </a:extLst>
          </p:cNvPr>
          <p:cNvSpPr>
            <a:spLocks noGrp="1"/>
          </p:cNvSpPr>
          <p:nvPr/>
        </p:nvSpPr>
        <p:spPr>
          <a:xfrm>
            <a:off x="1047750" y="1924050"/>
            <a:ext cx="47625" cy="2857500"/>
          </a:xfrm>
          <a:prstGeom prst="roundRect">
            <a:avLst>
              <a:gd name="adj" fmla="val 50000"/>
            </a:avLst>
          </a:prstGeom>
          <a:solidFill>
            <a:srgbClr val="37E6C4"/>
          </a:solidFill>
          <a:ln w="0">
            <a:noFill/>
            <a:prstDash val="solid"/>
          </a:ln>
        </p:spPr>
        <p:txBody>
          <a:bodyPr/>
          <a:lstStyle/>
          <a:p>
            <a:endParaRPr lang="zh-CN" altLang="en-US"/>
          </a:p>
        </p:txBody>
      </p:sp>
      <p:sp>
        <p:nvSpPr>
          <p:cNvPr id="12" name="矩形 11">
            <a:extLst>
              <a:ext uri="{FF2B5EF4-FFF2-40B4-BE49-F238E27FC236}">
                <a16:creationId xmlns:a16="http://schemas.microsoft.com/office/drawing/2014/main" id="{90AC2E8F-1961-4C35-A1A6-B292DFF2C368}"/>
              </a:ext>
            </a:extLst>
          </p:cNvPr>
          <p:cNvSpPr>
            <a:spLocks noGrp="1"/>
          </p:cNvSpPr>
          <p:nvPr/>
        </p:nvSpPr>
        <p:spPr>
          <a:xfrm>
            <a:off x="1390650" y="2247900"/>
            <a:ext cx="3143250" cy="304800"/>
          </a:xfrm>
          <a:prstGeom prst="rect">
            <a:avLst/>
          </a:prstGeom>
          <a:noFill/>
          <a:ln w="0">
            <a:noFill/>
            <a:prstDash val="solid"/>
          </a:ln>
        </p:spPr>
        <p:txBody>
          <a:bodyPr lIns="0" tIns="0" rIns="0" bIns="0"/>
          <a:lstStyle/>
          <a:p>
            <a:pPr>
              <a:lnSpc>
                <a:spcPct val="108000"/>
              </a:lnSpc>
              <a:buNone/>
              <a:defRPr sz="2025" b="1">
                <a:solidFill>
                  <a:srgbClr val="37E6C4"/>
                </a:solidFill>
                <a:latin typeface="Microsoft YaHei"/>
                <a:ea typeface="Microsoft YaHei"/>
                <a:cs typeface="Microsoft YaHei"/>
              </a:defRPr>
            </a:pPr>
            <a:r>
              <a:rPr sz="2025" b="1">
                <a:solidFill>
                  <a:srgbClr val="37E6C4"/>
                </a:solidFill>
                <a:latin typeface="Microsoft YaHei"/>
                <a:ea typeface="Microsoft YaHei"/>
                <a:cs typeface="Microsoft YaHei"/>
              </a:rPr>
              <a:t>已有系统的常见做法</a:t>
            </a:r>
          </a:p>
        </p:txBody>
      </p:sp>
      <p:sp>
        <p:nvSpPr>
          <p:cNvPr id="13" name="椭圆 12">
            <a:extLst>
              <a:ext uri="{FF2B5EF4-FFF2-40B4-BE49-F238E27FC236}">
                <a16:creationId xmlns:a16="http://schemas.microsoft.com/office/drawing/2014/main" id="{2BBFDF44-0AB6-4F9F-99AF-88656834343C}"/>
              </a:ext>
            </a:extLst>
          </p:cNvPr>
          <p:cNvSpPr>
            <a:spLocks noGrp="1"/>
          </p:cNvSpPr>
          <p:nvPr/>
        </p:nvSpPr>
        <p:spPr>
          <a:xfrm>
            <a:off x="1428750" y="2990850"/>
            <a:ext cx="114300" cy="114300"/>
          </a:xfrm>
          <a:prstGeom prst="ellipse">
            <a:avLst/>
          </a:prstGeom>
          <a:solidFill>
            <a:srgbClr val="37E6C4"/>
          </a:solidFill>
          <a:ln w="0">
            <a:noFill/>
            <a:prstDash val="solid"/>
          </a:ln>
        </p:spPr>
        <p:txBody>
          <a:bodyPr/>
          <a:lstStyle/>
          <a:p>
            <a:endParaRPr lang="zh-CN" altLang="en-US"/>
          </a:p>
        </p:txBody>
      </p:sp>
      <p:sp>
        <p:nvSpPr>
          <p:cNvPr id="14" name="矩形 13">
            <a:extLst>
              <a:ext uri="{FF2B5EF4-FFF2-40B4-BE49-F238E27FC236}">
                <a16:creationId xmlns:a16="http://schemas.microsoft.com/office/drawing/2014/main" id="{07B54EF9-662E-4CD6-B73C-C806AE7B18E7}"/>
              </a:ext>
            </a:extLst>
          </p:cNvPr>
          <p:cNvSpPr>
            <a:spLocks noGrp="1"/>
          </p:cNvSpPr>
          <p:nvPr/>
        </p:nvSpPr>
        <p:spPr>
          <a:xfrm>
            <a:off x="1676400" y="2933700"/>
            <a:ext cx="2990850" cy="533400"/>
          </a:xfrm>
          <a:prstGeom prst="rect">
            <a:avLst/>
          </a:prstGeom>
          <a:noFill/>
          <a:ln w="0">
            <a:noFill/>
            <a:prstDash val="solid"/>
          </a:ln>
        </p:spPr>
        <p:txBody>
          <a:bodyPr lIns="0" tIns="0" rIns="0" bIns="0"/>
          <a:lstStyle/>
          <a:p>
            <a:pPr>
              <a:lnSpc>
                <a:spcPct val="112000"/>
              </a:lnSpc>
              <a:buNone/>
              <a:defRPr sz="1350">
                <a:solidFill>
                  <a:srgbClr val="F6FBFF"/>
                </a:solidFill>
                <a:latin typeface="Microsoft YaHei"/>
                <a:ea typeface="Microsoft YaHei"/>
                <a:cs typeface="Microsoft YaHei"/>
              </a:defRPr>
            </a:pPr>
            <a:r>
              <a:rPr sz="1350">
                <a:solidFill>
                  <a:srgbClr val="F6FBFF"/>
                </a:solidFill>
                <a:latin typeface="Microsoft YaHei"/>
                <a:ea typeface="Microsoft YaHei"/>
                <a:cs typeface="Microsoft YaHei"/>
              </a:rPr>
              <a:t>无显式推荐模块：邻居传播、时间线或随机曝光。</a:t>
            </a:r>
          </a:p>
        </p:txBody>
      </p:sp>
      <p:sp>
        <p:nvSpPr>
          <p:cNvPr id="15" name="椭圆 14">
            <a:extLst>
              <a:ext uri="{FF2B5EF4-FFF2-40B4-BE49-F238E27FC236}">
                <a16:creationId xmlns:a16="http://schemas.microsoft.com/office/drawing/2014/main" id="{0AB3C40C-5E86-4E7E-9A8A-54D5337185D4}"/>
              </a:ext>
            </a:extLst>
          </p:cNvPr>
          <p:cNvSpPr>
            <a:spLocks noGrp="1"/>
          </p:cNvSpPr>
          <p:nvPr/>
        </p:nvSpPr>
        <p:spPr>
          <a:xfrm>
            <a:off x="1428750" y="3543300"/>
            <a:ext cx="114300" cy="114300"/>
          </a:xfrm>
          <a:prstGeom prst="ellipse">
            <a:avLst/>
          </a:prstGeom>
          <a:solidFill>
            <a:srgbClr val="37E6C4"/>
          </a:solidFill>
          <a:ln w="0">
            <a:noFill/>
            <a:prstDash val="solid"/>
          </a:ln>
        </p:spPr>
        <p:txBody>
          <a:bodyPr/>
          <a:lstStyle/>
          <a:p>
            <a:endParaRPr lang="zh-CN" altLang="en-US"/>
          </a:p>
        </p:txBody>
      </p:sp>
      <p:sp>
        <p:nvSpPr>
          <p:cNvPr id="16" name="矩形 15">
            <a:extLst>
              <a:ext uri="{FF2B5EF4-FFF2-40B4-BE49-F238E27FC236}">
                <a16:creationId xmlns:a16="http://schemas.microsoft.com/office/drawing/2014/main" id="{679C0DDE-9806-4EF5-8E45-27880E8B3D51}"/>
              </a:ext>
            </a:extLst>
          </p:cNvPr>
          <p:cNvSpPr>
            <a:spLocks noGrp="1"/>
          </p:cNvSpPr>
          <p:nvPr/>
        </p:nvSpPr>
        <p:spPr>
          <a:xfrm>
            <a:off x="1676400" y="3486150"/>
            <a:ext cx="2990850" cy="533400"/>
          </a:xfrm>
          <a:prstGeom prst="rect">
            <a:avLst/>
          </a:prstGeom>
          <a:noFill/>
          <a:ln w="0">
            <a:noFill/>
            <a:prstDash val="solid"/>
          </a:ln>
        </p:spPr>
        <p:txBody>
          <a:bodyPr lIns="0" tIns="0" rIns="0" bIns="0"/>
          <a:lstStyle/>
          <a:p>
            <a:pPr>
              <a:lnSpc>
                <a:spcPct val="112000"/>
              </a:lnSpc>
              <a:buNone/>
              <a:defRPr sz="1350">
                <a:solidFill>
                  <a:srgbClr val="F6FBFF"/>
                </a:solidFill>
                <a:latin typeface="Microsoft YaHei"/>
                <a:ea typeface="Microsoft YaHei"/>
                <a:cs typeface="Microsoft YaHei"/>
              </a:defRPr>
            </a:pPr>
            <a:r>
              <a:rPr sz="1350">
                <a:solidFill>
                  <a:srgbClr val="F6FBFF"/>
                </a:solidFill>
                <a:latin typeface="Microsoft YaHei"/>
                <a:ea typeface="Microsoft YaHei"/>
                <a:cs typeface="Microsoft YaHei"/>
              </a:rPr>
              <a:t>有推荐模块：兴趣公式、hot-score、人工权重或离线调参。</a:t>
            </a:r>
          </a:p>
        </p:txBody>
      </p:sp>
      <p:sp>
        <p:nvSpPr>
          <p:cNvPr id="17" name="椭圆 16">
            <a:extLst>
              <a:ext uri="{FF2B5EF4-FFF2-40B4-BE49-F238E27FC236}">
                <a16:creationId xmlns:a16="http://schemas.microsoft.com/office/drawing/2014/main" id="{39D58910-6185-4D0D-9305-ABE663087BFC}"/>
              </a:ext>
            </a:extLst>
          </p:cNvPr>
          <p:cNvSpPr>
            <a:spLocks noGrp="1"/>
          </p:cNvSpPr>
          <p:nvPr/>
        </p:nvSpPr>
        <p:spPr>
          <a:xfrm>
            <a:off x="1428750" y="4095750"/>
            <a:ext cx="114300" cy="114300"/>
          </a:xfrm>
          <a:prstGeom prst="ellipse">
            <a:avLst/>
          </a:prstGeom>
          <a:solidFill>
            <a:srgbClr val="37E6C4"/>
          </a:solidFill>
          <a:ln w="0">
            <a:noFill/>
            <a:prstDash val="solid"/>
          </a:ln>
        </p:spPr>
        <p:txBody>
          <a:bodyPr/>
          <a:lstStyle/>
          <a:p>
            <a:endParaRPr lang="zh-CN" altLang="en-US"/>
          </a:p>
        </p:txBody>
      </p:sp>
      <p:sp>
        <p:nvSpPr>
          <p:cNvPr id="18" name="矩形 17">
            <a:extLst>
              <a:ext uri="{FF2B5EF4-FFF2-40B4-BE49-F238E27FC236}">
                <a16:creationId xmlns:a16="http://schemas.microsoft.com/office/drawing/2014/main" id="{A18C4A62-8D96-4384-80E0-747E3647337D}"/>
              </a:ext>
            </a:extLst>
          </p:cNvPr>
          <p:cNvSpPr>
            <a:spLocks noGrp="1"/>
          </p:cNvSpPr>
          <p:nvPr/>
        </p:nvSpPr>
        <p:spPr>
          <a:xfrm>
            <a:off x="1676400" y="4038600"/>
            <a:ext cx="2990850" cy="533400"/>
          </a:xfrm>
          <a:prstGeom prst="rect">
            <a:avLst/>
          </a:prstGeom>
          <a:noFill/>
          <a:ln w="0">
            <a:noFill/>
            <a:prstDash val="solid"/>
          </a:ln>
        </p:spPr>
        <p:txBody>
          <a:bodyPr lIns="0" tIns="0" rIns="0" bIns="0"/>
          <a:lstStyle/>
          <a:p>
            <a:pPr>
              <a:lnSpc>
                <a:spcPct val="112000"/>
              </a:lnSpc>
              <a:buNone/>
              <a:defRPr sz="1350">
                <a:solidFill>
                  <a:srgbClr val="F6FBFF"/>
                </a:solidFill>
                <a:latin typeface="Microsoft YaHei"/>
                <a:ea typeface="Microsoft YaHei"/>
                <a:cs typeface="Microsoft YaHei"/>
              </a:defRPr>
            </a:pPr>
            <a:r>
              <a:rPr sz="1350">
                <a:solidFill>
                  <a:srgbClr val="F6FBFF"/>
                </a:solidFill>
                <a:latin typeface="Microsoft YaHei"/>
                <a:ea typeface="Microsoft YaHei"/>
                <a:cs typeface="Microsoft YaHei"/>
              </a:rPr>
              <a:t>政策优化类工作更关注干预效果，而非真实传播结果中的参数识别。</a:t>
            </a:r>
          </a:p>
        </p:txBody>
      </p:sp>
      <p:sp>
        <p:nvSpPr>
          <p:cNvPr id="19" name="右箭头 18">
            <a:extLst>
              <a:ext uri="{FF2B5EF4-FFF2-40B4-BE49-F238E27FC236}">
                <a16:creationId xmlns:a16="http://schemas.microsoft.com/office/drawing/2014/main" id="{20DE612E-037E-4E5C-9648-EA06421FD449}"/>
              </a:ext>
            </a:extLst>
          </p:cNvPr>
          <p:cNvSpPr>
            <a:spLocks noGrp="1"/>
          </p:cNvSpPr>
          <p:nvPr/>
        </p:nvSpPr>
        <p:spPr>
          <a:xfrm>
            <a:off x="5524500" y="3162300"/>
            <a:ext cx="742950" cy="457200"/>
          </a:xfrm>
          <a:prstGeom prst="rightArrow">
            <a:avLst/>
          </a:prstGeom>
          <a:solidFill>
            <a:srgbClr val="E2B84B"/>
          </a:solidFill>
          <a:ln w="0">
            <a:noFill/>
            <a:prstDash val="solid"/>
          </a:ln>
        </p:spPr>
        <p:txBody>
          <a:bodyPr/>
          <a:lstStyle/>
          <a:p>
            <a:endParaRPr lang="zh-CN" altLang="en-US"/>
          </a:p>
        </p:txBody>
      </p:sp>
      <p:sp>
        <p:nvSpPr>
          <p:cNvPr id="20" name="圆角矩形 19">
            <a:extLst>
              <a:ext uri="{FF2B5EF4-FFF2-40B4-BE49-F238E27FC236}">
                <a16:creationId xmlns:a16="http://schemas.microsoft.com/office/drawing/2014/main" id="{5007EFDB-0659-452F-B82D-45C8D329B457}"/>
              </a:ext>
            </a:extLst>
          </p:cNvPr>
          <p:cNvSpPr>
            <a:spLocks noGrp="1"/>
          </p:cNvSpPr>
          <p:nvPr/>
        </p:nvSpPr>
        <p:spPr>
          <a:xfrm>
            <a:off x="6572250" y="1924050"/>
            <a:ext cx="4171950" cy="2857500"/>
          </a:xfrm>
          <a:prstGeom prst="roundRect">
            <a:avLst>
              <a:gd name="adj" fmla="val 4000"/>
            </a:avLst>
          </a:prstGeom>
          <a:solidFill>
            <a:srgbClr val="07172B">
              <a:alpha val="78000"/>
            </a:srgbClr>
          </a:solidFill>
          <a:ln w="13335">
            <a:solidFill>
              <a:srgbClr val="26D9FF">
                <a:alpha val="42000"/>
              </a:srgbClr>
            </a:solidFill>
            <a:prstDash val="solid"/>
          </a:ln>
        </p:spPr>
        <p:txBody>
          <a:bodyPr/>
          <a:lstStyle/>
          <a:p>
            <a:endParaRPr lang="zh-CN" altLang="en-US"/>
          </a:p>
        </p:txBody>
      </p:sp>
      <p:sp>
        <p:nvSpPr>
          <p:cNvPr id="21" name="圆角矩形 20">
            <a:extLst>
              <a:ext uri="{FF2B5EF4-FFF2-40B4-BE49-F238E27FC236}">
                <a16:creationId xmlns:a16="http://schemas.microsoft.com/office/drawing/2014/main" id="{A41D432A-0565-49CD-87D0-2774FB6D77AB}"/>
              </a:ext>
            </a:extLst>
          </p:cNvPr>
          <p:cNvSpPr>
            <a:spLocks noGrp="1"/>
          </p:cNvSpPr>
          <p:nvPr/>
        </p:nvSpPr>
        <p:spPr>
          <a:xfrm>
            <a:off x="6572250" y="1924050"/>
            <a:ext cx="47625" cy="2857500"/>
          </a:xfrm>
          <a:prstGeom prst="roundRect">
            <a:avLst>
              <a:gd name="adj" fmla="val 50000"/>
            </a:avLst>
          </a:prstGeom>
          <a:solidFill>
            <a:srgbClr val="19D9FF"/>
          </a:solidFill>
          <a:ln w="0">
            <a:noFill/>
            <a:prstDash val="solid"/>
          </a:ln>
        </p:spPr>
        <p:txBody>
          <a:bodyPr/>
          <a:lstStyle/>
          <a:p>
            <a:endParaRPr lang="zh-CN" altLang="en-US"/>
          </a:p>
        </p:txBody>
      </p:sp>
      <p:sp>
        <p:nvSpPr>
          <p:cNvPr id="22" name="矩形 21">
            <a:extLst>
              <a:ext uri="{FF2B5EF4-FFF2-40B4-BE49-F238E27FC236}">
                <a16:creationId xmlns:a16="http://schemas.microsoft.com/office/drawing/2014/main" id="{0DAAE45B-3EE2-4D01-A7D5-9B4E22D563E6}"/>
              </a:ext>
            </a:extLst>
          </p:cNvPr>
          <p:cNvSpPr>
            <a:spLocks noGrp="1"/>
          </p:cNvSpPr>
          <p:nvPr/>
        </p:nvSpPr>
        <p:spPr>
          <a:xfrm>
            <a:off x="6915150" y="2247900"/>
            <a:ext cx="3143250" cy="304800"/>
          </a:xfrm>
          <a:prstGeom prst="rect">
            <a:avLst/>
          </a:prstGeom>
          <a:noFill/>
          <a:ln w="0">
            <a:noFill/>
            <a:prstDash val="solid"/>
          </a:ln>
        </p:spPr>
        <p:txBody>
          <a:bodyPr lIns="0" tIns="0" rIns="0" bIns="0"/>
          <a:lstStyle/>
          <a:p>
            <a:pPr>
              <a:lnSpc>
                <a:spcPct val="108000"/>
              </a:lnSpc>
              <a:buNone/>
              <a:defRPr sz="2025" b="1">
                <a:solidFill>
                  <a:srgbClr val="74F0FF"/>
                </a:solidFill>
                <a:latin typeface="Microsoft YaHei"/>
                <a:ea typeface="Microsoft YaHei"/>
                <a:cs typeface="Microsoft YaHei"/>
              </a:defRPr>
            </a:pPr>
            <a:r>
              <a:rPr sz="2025" b="1">
                <a:solidFill>
                  <a:srgbClr val="74F0FF"/>
                </a:solidFill>
                <a:latin typeface="Microsoft YaHei"/>
                <a:ea typeface="Microsoft YaHei"/>
                <a:cs typeface="Microsoft YaHei"/>
              </a:rPr>
              <a:t>本课题拟解决</a:t>
            </a:r>
          </a:p>
        </p:txBody>
      </p:sp>
      <p:sp>
        <p:nvSpPr>
          <p:cNvPr id="23" name="椭圆 22">
            <a:extLst>
              <a:ext uri="{FF2B5EF4-FFF2-40B4-BE49-F238E27FC236}">
                <a16:creationId xmlns:a16="http://schemas.microsoft.com/office/drawing/2014/main" id="{ED4CE15A-00E4-4F0A-927E-8CEC35E8B3E6}"/>
              </a:ext>
            </a:extLst>
          </p:cNvPr>
          <p:cNvSpPr>
            <a:spLocks noGrp="1"/>
          </p:cNvSpPr>
          <p:nvPr/>
        </p:nvSpPr>
        <p:spPr>
          <a:xfrm>
            <a:off x="6953250" y="3067050"/>
            <a:ext cx="114300" cy="114300"/>
          </a:xfrm>
          <a:prstGeom prst="ellipse">
            <a:avLst/>
          </a:prstGeom>
          <a:solidFill>
            <a:srgbClr val="19D9FF"/>
          </a:solidFill>
          <a:ln w="0">
            <a:noFill/>
            <a:prstDash val="solid"/>
          </a:ln>
        </p:spPr>
        <p:txBody>
          <a:bodyPr/>
          <a:lstStyle/>
          <a:p>
            <a:endParaRPr lang="zh-CN" altLang="en-US"/>
          </a:p>
        </p:txBody>
      </p:sp>
      <p:sp>
        <p:nvSpPr>
          <p:cNvPr id="24" name="矩形 23">
            <a:extLst>
              <a:ext uri="{FF2B5EF4-FFF2-40B4-BE49-F238E27FC236}">
                <a16:creationId xmlns:a16="http://schemas.microsoft.com/office/drawing/2014/main" id="{7C2B4CBC-DFED-4618-8504-6BC74E517B9D}"/>
              </a:ext>
            </a:extLst>
          </p:cNvPr>
          <p:cNvSpPr>
            <a:spLocks noGrp="1"/>
          </p:cNvSpPr>
          <p:nvPr/>
        </p:nvSpPr>
        <p:spPr>
          <a:xfrm>
            <a:off x="7200900" y="3009900"/>
            <a:ext cx="2990850" cy="533400"/>
          </a:xfrm>
          <a:prstGeom prst="rect">
            <a:avLst/>
          </a:prstGeom>
          <a:noFill/>
          <a:ln w="0">
            <a:noFill/>
            <a:prstDash val="solid"/>
          </a:ln>
        </p:spPr>
        <p:txBody>
          <a:bodyPr lIns="0" tIns="0" rIns="0" bIns="0"/>
          <a:lstStyle/>
          <a:p>
            <a:pPr>
              <a:lnSpc>
                <a:spcPct val="112000"/>
              </a:lnSpc>
              <a:buNone/>
              <a:defRPr sz="1425">
                <a:solidFill>
                  <a:srgbClr val="F6FBFF"/>
                </a:solidFill>
                <a:latin typeface="Microsoft YaHei"/>
                <a:ea typeface="Microsoft YaHei"/>
                <a:cs typeface="Microsoft YaHei"/>
              </a:defRPr>
            </a:pPr>
            <a:r>
              <a:rPr sz="1425">
                <a:solidFill>
                  <a:srgbClr val="F6FBFF"/>
                </a:solidFill>
                <a:latin typeface="Microsoft YaHei"/>
                <a:ea typeface="Microsoft YaHei"/>
                <a:cs typeface="Microsoft YaHei"/>
              </a:rPr>
              <a:t>将推荐评分拆解为可解释维度。</a:t>
            </a:r>
          </a:p>
        </p:txBody>
      </p:sp>
      <p:sp>
        <p:nvSpPr>
          <p:cNvPr id="25" name="椭圆 24">
            <a:extLst>
              <a:ext uri="{FF2B5EF4-FFF2-40B4-BE49-F238E27FC236}">
                <a16:creationId xmlns:a16="http://schemas.microsoft.com/office/drawing/2014/main" id="{660F3838-10F0-4D3C-A6B5-738CFDA47909}"/>
              </a:ext>
            </a:extLst>
          </p:cNvPr>
          <p:cNvSpPr>
            <a:spLocks noGrp="1"/>
          </p:cNvSpPr>
          <p:nvPr/>
        </p:nvSpPr>
        <p:spPr>
          <a:xfrm>
            <a:off x="6953250" y="3619500"/>
            <a:ext cx="114300" cy="114300"/>
          </a:xfrm>
          <a:prstGeom prst="ellipse">
            <a:avLst/>
          </a:prstGeom>
          <a:solidFill>
            <a:srgbClr val="19D9FF"/>
          </a:solidFill>
          <a:ln w="0">
            <a:noFill/>
            <a:prstDash val="solid"/>
          </a:ln>
        </p:spPr>
        <p:txBody>
          <a:bodyPr/>
          <a:lstStyle/>
          <a:p>
            <a:endParaRPr lang="zh-CN" altLang="en-US"/>
          </a:p>
        </p:txBody>
      </p:sp>
      <p:sp>
        <p:nvSpPr>
          <p:cNvPr id="26" name="矩形 25">
            <a:extLst>
              <a:ext uri="{FF2B5EF4-FFF2-40B4-BE49-F238E27FC236}">
                <a16:creationId xmlns:a16="http://schemas.microsoft.com/office/drawing/2014/main" id="{4354C52A-CABE-4B6B-9851-438A5099BB4F}"/>
              </a:ext>
            </a:extLst>
          </p:cNvPr>
          <p:cNvSpPr>
            <a:spLocks noGrp="1"/>
          </p:cNvSpPr>
          <p:nvPr/>
        </p:nvSpPr>
        <p:spPr>
          <a:xfrm>
            <a:off x="7200900" y="3562350"/>
            <a:ext cx="2990850" cy="533400"/>
          </a:xfrm>
          <a:prstGeom prst="rect">
            <a:avLst/>
          </a:prstGeom>
          <a:noFill/>
          <a:ln w="0">
            <a:noFill/>
            <a:prstDash val="solid"/>
          </a:ln>
        </p:spPr>
        <p:txBody>
          <a:bodyPr lIns="0" tIns="0" rIns="0" bIns="0"/>
          <a:lstStyle/>
          <a:p>
            <a:pPr>
              <a:lnSpc>
                <a:spcPct val="112000"/>
              </a:lnSpc>
              <a:buNone/>
              <a:defRPr sz="1425">
                <a:solidFill>
                  <a:srgbClr val="F6FBFF"/>
                </a:solidFill>
                <a:latin typeface="Microsoft YaHei"/>
                <a:ea typeface="Microsoft YaHei"/>
                <a:cs typeface="Microsoft YaHei"/>
              </a:defRPr>
            </a:pPr>
            <a:r>
              <a:rPr sz="1425">
                <a:solidFill>
                  <a:srgbClr val="F6FBFF"/>
                </a:solidFill>
                <a:latin typeface="Microsoft YaHei"/>
                <a:ea typeface="Microsoft YaHei"/>
                <a:cs typeface="Microsoft YaHei"/>
              </a:rPr>
              <a:t>用真实传播结果拟合反推参数。</a:t>
            </a:r>
          </a:p>
        </p:txBody>
      </p:sp>
      <p:sp>
        <p:nvSpPr>
          <p:cNvPr id="27" name="椭圆 26">
            <a:extLst>
              <a:ext uri="{FF2B5EF4-FFF2-40B4-BE49-F238E27FC236}">
                <a16:creationId xmlns:a16="http://schemas.microsoft.com/office/drawing/2014/main" id="{2B9606FD-9AAA-4D44-B328-D5998C4866AA}"/>
              </a:ext>
            </a:extLst>
          </p:cNvPr>
          <p:cNvSpPr>
            <a:spLocks noGrp="1"/>
          </p:cNvSpPr>
          <p:nvPr/>
        </p:nvSpPr>
        <p:spPr>
          <a:xfrm>
            <a:off x="6953250" y="4171950"/>
            <a:ext cx="114300" cy="114300"/>
          </a:xfrm>
          <a:prstGeom prst="ellipse">
            <a:avLst/>
          </a:prstGeom>
          <a:solidFill>
            <a:srgbClr val="19D9FF"/>
          </a:solidFill>
          <a:ln w="0">
            <a:noFill/>
            <a:prstDash val="solid"/>
          </a:ln>
        </p:spPr>
        <p:txBody>
          <a:bodyPr/>
          <a:lstStyle/>
          <a:p>
            <a:endParaRPr lang="zh-CN" altLang="en-US"/>
          </a:p>
        </p:txBody>
      </p:sp>
      <p:sp>
        <p:nvSpPr>
          <p:cNvPr id="28" name="矩形 27">
            <a:extLst>
              <a:ext uri="{FF2B5EF4-FFF2-40B4-BE49-F238E27FC236}">
                <a16:creationId xmlns:a16="http://schemas.microsoft.com/office/drawing/2014/main" id="{9A775EB9-114F-405F-8EEF-FCAEFCE96898}"/>
              </a:ext>
            </a:extLst>
          </p:cNvPr>
          <p:cNvSpPr>
            <a:spLocks noGrp="1"/>
          </p:cNvSpPr>
          <p:nvPr/>
        </p:nvSpPr>
        <p:spPr>
          <a:xfrm>
            <a:off x="7200900" y="4114800"/>
            <a:ext cx="2990850" cy="533400"/>
          </a:xfrm>
          <a:prstGeom prst="rect">
            <a:avLst/>
          </a:prstGeom>
          <a:noFill/>
          <a:ln w="0">
            <a:noFill/>
            <a:prstDash val="solid"/>
          </a:ln>
        </p:spPr>
        <p:txBody>
          <a:bodyPr lIns="0" tIns="0" rIns="0" bIns="0"/>
          <a:lstStyle/>
          <a:p>
            <a:pPr>
              <a:lnSpc>
                <a:spcPct val="112000"/>
              </a:lnSpc>
              <a:buNone/>
              <a:defRPr sz="1425">
                <a:solidFill>
                  <a:srgbClr val="F6FBFF"/>
                </a:solidFill>
                <a:latin typeface="Microsoft YaHei"/>
                <a:ea typeface="Microsoft YaHei"/>
                <a:cs typeface="Microsoft YaHei"/>
              </a:defRPr>
            </a:pPr>
            <a:r>
              <a:rPr sz="1425">
                <a:solidFill>
                  <a:srgbClr val="F6FBFF"/>
                </a:solidFill>
                <a:latin typeface="Microsoft YaHei"/>
                <a:ea typeface="Microsoft YaHei"/>
                <a:cs typeface="Microsoft YaHei"/>
              </a:rPr>
              <a:t>把校准参数写入 YAML 并驱动在线 Feed 排序。</a:t>
            </a:r>
          </a:p>
        </p:txBody>
      </p:sp>
      <p:sp>
        <p:nvSpPr>
          <p:cNvPr id="29" name="矩形 28">
            <a:extLst>
              <a:ext uri="{FF2B5EF4-FFF2-40B4-BE49-F238E27FC236}">
                <a16:creationId xmlns:a16="http://schemas.microsoft.com/office/drawing/2014/main" id="{B02AD459-C824-484B-ABC4-A01B091EF23B}"/>
              </a:ext>
            </a:extLst>
          </p:cNvPr>
          <p:cNvSpPr>
            <a:spLocks noGrp="1"/>
          </p:cNvSpPr>
          <p:nvPr/>
        </p:nvSpPr>
        <p:spPr>
          <a:xfrm>
            <a:off x="3810000" y="5429250"/>
            <a:ext cx="4572000" cy="323850"/>
          </a:xfrm>
          <a:prstGeom prst="rect">
            <a:avLst/>
          </a:prstGeom>
          <a:noFill/>
          <a:ln w="0">
            <a:noFill/>
            <a:prstDash val="solid"/>
          </a:ln>
        </p:spPr>
        <p:txBody>
          <a:bodyPr lIns="0" tIns="0" rIns="0" bIns="0"/>
          <a:lstStyle/>
          <a:p>
            <a:pPr algn="ctr">
              <a:lnSpc>
                <a:spcPct val="108000"/>
              </a:lnSpc>
              <a:buNone/>
              <a:defRPr sz="2400" b="1">
                <a:solidFill>
                  <a:srgbClr val="F6FBFF"/>
                </a:solidFill>
                <a:latin typeface="Microsoft YaHei"/>
                <a:ea typeface="Microsoft YaHei"/>
                <a:cs typeface="Microsoft YaHei"/>
              </a:defRPr>
            </a:pPr>
            <a:r>
              <a:rPr sz="2400" b="1">
                <a:solidFill>
                  <a:srgbClr val="F6FBFF"/>
                </a:solidFill>
                <a:latin typeface="Microsoft YaHei"/>
                <a:ea typeface="Microsoft YaHei"/>
                <a:cs typeface="Microsoft YaHei"/>
              </a:rPr>
              <a:t>从主观预设到数据校准</a:t>
            </a:r>
          </a:p>
        </p:txBody>
      </p:sp>
    </p:spTree>
    <p:extLst>
      <p:ext uri="{BB962C8B-B14F-4D97-AF65-F5344CB8AC3E}">
        <p14:creationId xmlns:p14="http://schemas.microsoft.com/office/powerpoint/2010/main" val="1302797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7907D3AA-894A-410D-981A-CDF01AE4A578}"/>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2EF381EF-7AFB-414B-8241-C43592B48F57}"/>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FDBB6E1E-50EB-4E32-9C1E-9D52639B63C7}"/>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31" name="图片 30"/>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BDFA65B8-2B2F-44C2-92A3-5F6CDD0E103D}"/>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03  研究目标与内容</a:t>
            </a:r>
          </a:p>
        </p:txBody>
      </p:sp>
      <p:sp>
        <p:nvSpPr>
          <p:cNvPr id="7" name="矩形 6">
            <a:extLst>
              <a:ext uri="{FF2B5EF4-FFF2-40B4-BE49-F238E27FC236}">
                <a16:creationId xmlns:a16="http://schemas.microsoft.com/office/drawing/2014/main" id="{57FE9B13-CB15-4EDF-9BB6-F2FEC7BD1010}"/>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目标：形成可复现实验闭环</a:t>
            </a:r>
          </a:p>
        </p:txBody>
      </p:sp>
      <p:sp>
        <p:nvSpPr>
          <p:cNvPr id="8" name="圆角矩形 7">
            <a:extLst>
              <a:ext uri="{FF2B5EF4-FFF2-40B4-BE49-F238E27FC236}">
                <a16:creationId xmlns:a16="http://schemas.microsoft.com/office/drawing/2014/main" id="{44517F55-499E-4BA0-A326-BF7301B0E47C}"/>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38357889-B0E7-4633-AEAE-5AC2BF50AF16}"/>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07</a:t>
            </a:r>
          </a:p>
        </p:txBody>
      </p:sp>
      <p:sp>
        <p:nvSpPr>
          <p:cNvPr id="10" name="矩形 9">
            <a:extLst>
              <a:ext uri="{FF2B5EF4-FFF2-40B4-BE49-F238E27FC236}">
                <a16:creationId xmlns:a16="http://schemas.microsoft.com/office/drawing/2014/main" id="{45C423EB-2DD6-420B-8446-29775455D292}"/>
              </a:ext>
            </a:extLst>
          </p:cNvPr>
          <p:cNvSpPr>
            <a:spLocks noGrp="1"/>
          </p:cNvSpPr>
          <p:nvPr/>
        </p:nvSpPr>
        <p:spPr>
          <a:xfrm>
            <a:off x="990600" y="1752600"/>
            <a:ext cx="8191500" cy="723900"/>
          </a:xfrm>
          <a:prstGeom prst="rect">
            <a:avLst/>
          </a:prstGeom>
          <a:noFill/>
          <a:ln w="0">
            <a:noFill/>
            <a:prstDash val="solid"/>
          </a:ln>
        </p:spPr>
        <p:txBody>
          <a:bodyPr lIns="0" tIns="0" rIns="0" bIns="0"/>
          <a:lstStyle/>
          <a:p>
            <a:pPr>
              <a:lnSpc>
                <a:spcPct val="112000"/>
              </a:lnSpc>
              <a:buNone/>
              <a:defRPr sz="2175" b="1">
                <a:solidFill>
                  <a:srgbClr val="F6FBFF"/>
                </a:solidFill>
                <a:latin typeface="Microsoft YaHei"/>
                <a:ea typeface="Microsoft YaHei"/>
                <a:cs typeface="Microsoft YaHei"/>
              </a:defRPr>
            </a:pPr>
            <a:r>
              <a:rPr sz="2175" b="1">
                <a:solidFill>
                  <a:srgbClr val="F6FBFF"/>
                </a:solidFill>
                <a:latin typeface="Microsoft YaHei"/>
                <a:ea typeface="Microsoft YaHei"/>
                <a:cs typeface="Microsoft YaHei"/>
              </a:rPr>
              <a:t>设计并实现一个融合推荐机制校准的 MOSS 社交仿真平台，</a:t>
            </a:r>
          </a:p>
          <a:p>
            <a:pPr>
              <a:lnSpc>
                <a:spcPct val="112000"/>
              </a:lnSpc>
              <a:buNone/>
              <a:defRPr sz="2175" b="1">
                <a:solidFill>
                  <a:srgbClr val="F6FBFF"/>
                </a:solidFill>
                <a:latin typeface="Microsoft YaHei"/>
                <a:ea typeface="Microsoft YaHei"/>
                <a:cs typeface="Microsoft YaHei"/>
              </a:defRPr>
            </a:pPr>
            <a:r>
              <a:rPr sz="2175" b="1">
                <a:solidFill>
                  <a:srgbClr val="F6FBFF"/>
                </a:solidFill>
                <a:latin typeface="Microsoft YaHei"/>
                <a:ea typeface="Microsoft YaHei"/>
                <a:cs typeface="Microsoft YaHei"/>
              </a:rPr>
              <a:t>形成从真实数据到在线推演的可复现闭环。</a:t>
            </a:r>
          </a:p>
        </p:txBody>
      </p:sp>
      <p:sp>
        <p:nvSpPr>
          <p:cNvPr id="11" name="圆角矩形 10">
            <a:extLst>
              <a:ext uri="{FF2B5EF4-FFF2-40B4-BE49-F238E27FC236}">
                <a16:creationId xmlns:a16="http://schemas.microsoft.com/office/drawing/2014/main" id="{0E07240C-F582-4ED7-B48F-341743806B8C}"/>
              </a:ext>
            </a:extLst>
          </p:cNvPr>
          <p:cNvSpPr>
            <a:spLocks noGrp="1"/>
          </p:cNvSpPr>
          <p:nvPr/>
        </p:nvSpPr>
        <p:spPr>
          <a:xfrm>
            <a:off x="1066800" y="3143250"/>
            <a:ext cx="4229100" cy="838200"/>
          </a:xfrm>
          <a:prstGeom prst="roundRect">
            <a:avLst>
              <a:gd name="adj" fmla="val 13636"/>
            </a:avLst>
          </a:prstGeom>
          <a:solidFill>
            <a:srgbClr val="07172B">
              <a:alpha val="78000"/>
            </a:srgbClr>
          </a:solidFill>
          <a:ln w="13335">
            <a:solidFill>
              <a:srgbClr val="26D9FF">
                <a:alpha val="42000"/>
              </a:srgbClr>
            </a:solidFill>
            <a:prstDash val="solid"/>
          </a:ln>
        </p:spPr>
        <p:txBody>
          <a:bodyPr/>
          <a:lstStyle/>
          <a:p>
            <a:endParaRPr lang="zh-CN" altLang="en-US"/>
          </a:p>
        </p:txBody>
      </p:sp>
      <p:sp>
        <p:nvSpPr>
          <p:cNvPr id="12" name="圆角矩形 11">
            <a:extLst>
              <a:ext uri="{FF2B5EF4-FFF2-40B4-BE49-F238E27FC236}">
                <a16:creationId xmlns:a16="http://schemas.microsoft.com/office/drawing/2014/main" id="{9F9F850D-476D-4ABF-A058-1477F0E3FCC3}"/>
              </a:ext>
            </a:extLst>
          </p:cNvPr>
          <p:cNvSpPr>
            <a:spLocks noGrp="1"/>
          </p:cNvSpPr>
          <p:nvPr/>
        </p:nvSpPr>
        <p:spPr>
          <a:xfrm>
            <a:off x="1066800" y="3143250"/>
            <a:ext cx="47625" cy="838200"/>
          </a:xfrm>
          <a:prstGeom prst="roundRect">
            <a:avLst>
              <a:gd name="adj" fmla="val 50000"/>
            </a:avLst>
          </a:prstGeom>
          <a:solidFill>
            <a:srgbClr val="19D9FF"/>
          </a:solidFill>
          <a:ln w="0">
            <a:noFill/>
            <a:prstDash val="solid"/>
          </a:ln>
        </p:spPr>
        <p:txBody>
          <a:bodyPr/>
          <a:lstStyle/>
          <a:p>
            <a:endParaRPr lang="zh-CN" altLang="en-US"/>
          </a:p>
        </p:txBody>
      </p:sp>
      <p:sp>
        <p:nvSpPr>
          <p:cNvPr id="13" name="矩形 12">
            <a:extLst>
              <a:ext uri="{FF2B5EF4-FFF2-40B4-BE49-F238E27FC236}">
                <a16:creationId xmlns:a16="http://schemas.microsoft.com/office/drawing/2014/main" id="{7CB30673-6B21-4EC6-8C58-01BA7F268592}"/>
              </a:ext>
            </a:extLst>
          </p:cNvPr>
          <p:cNvSpPr>
            <a:spLocks noGrp="1"/>
          </p:cNvSpPr>
          <p:nvPr/>
        </p:nvSpPr>
        <p:spPr>
          <a:xfrm>
            <a:off x="1352550" y="3390900"/>
            <a:ext cx="1104900" cy="266700"/>
          </a:xfrm>
          <a:prstGeom prst="rect">
            <a:avLst/>
          </a:prstGeom>
          <a:noFill/>
          <a:ln w="0">
            <a:noFill/>
            <a:prstDash val="solid"/>
          </a:ln>
        </p:spPr>
        <p:txBody>
          <a:bodyPr lIns="0" tIns="0" rIns="0" bIns="0"/>
          <a:lstStyle/>
          <a:p>
            <a:pPr>
              <a:lnSpc>
                <a:spcPct val="108000"/>
              </a:lnSpc>
              <a:buNone/>
              <a:defRPr sz="1725" b="1">
                <a:solidFill>
                  <a:srgbClr val="19D9FF"/>
                </a:solidFill>
                <a:latin typeface="Microsoft YaHei"/>
                <a:ea typeface="Microsoft YaHei"/>
                <a:cs typeface="Microsoft YaHei"/>
              </a:defRPr>
            </a:pPr>
            <a:r>
              <a:rPr sz="1725" b="1">
                <a:solidFill>
                  <a:srgbClr val="19D9FF"/>
                </a:solidFill>
                <a:latin typeface="Microsoft YaHei"/>
                <a:ea typeface="Microsoft YaHei"/>
                <a:cs typeface="Microsoft YaHei"/>
              </a:rPr>
              <a:t>画像生成</a:t>
            </a:r>
          </a:p>
        </p:txBody>
      </p:sp>
      <p:sp>
        <p:nvSpPr>
          <p:cNvPr id="14" name="矩形 13">
            <a:extLst>
              <a:ext uri="{FF2B5EF4-FFF2-40B4-BE49-F238E27FC236}">
                <a16:creationId xmlns:a16="http://schemas.microsoft.com/office/drawing/2014/main" id="{A28E2E51-DC40-46E7-A629-D79ED10291F0}"/>
              </a:ext>
            </a:extLst>
          </p:cNvPr>
          <p:cNvSpPr>
            <a:spLocks noGrp="1"/>
          </p:cNvSpPr>
          <p:nvPr/>
        </p:nvSpPr>
        <p:spPr>
          <a:xfrm>
            <a:off x="2533650" y="3314700"/>
            <a:ext cx="2343150" cy="457200"/>
          </a:xfrm>
          <a:prstGeom prst="rect">
            <a:avLst/>
          </a:prstGeom>
          <a:noFill/>
          <a:ln w="0">
            <a:noFill/>
            <a:prstDash val="solid"/>
          </a:ln>
        </p:spPr>
        <p:txBody>
          <a:bodyPr lIns="0" tIns="0" rIns="0" bIns="0"/>
          <a:lstStyle/>
          <a:p>
            <a:pPr>
              <a:lnSpc>
                <a:spcPct val="108000"/>
              </a:lnSpc>
              <a:buNone/>
              <a:defRPr sz="1275">
                <a:solidFill>
                  <a:srgbClr val="B5C8D8"/>
                </a:solidFill>
                <a:latin typeface="Microsoft YaHei"/>
                <a:ea typeface="Microsoft YaHei"/>
                <a:cs typeface="Microsoft YaHei"/>
              </a:defRPr>
            </a:pPr>
            <a:r>
              <a:rPr sz="1275">
                <a:solidFill>
                  <a:srgbClr val="B5C8D8"/>
                </a:solidFill>
                <a:latin typeface="Microsoft YaHei"/>
                <a:ea typeface="Microsoft YaHei"/>
                <a:cs typeface="Microsoft YaHei"/>
              </a:rPr>
              <a:t>从 user/post 数据生成稳定画像、行为画像和 Agent 运行画像。</a:t>
            </a:r>
          </a:p>
        </p:txBody>
      </p:sp>
      <p:sp>
        <p:nvSpPr>
          <p:cNvPr id="15" name="圆角矩形 14">
            <a:extLst>
              <a:ext uri="{FF2B5EF4-FFF2-40B4-BE49-F238E27FC236}">
                <a16:creationId xmlns:a16="http://schemas.microsoft.com/office/drawing/2014/main" id="{03C9A046-BE3E-4106-B24B-66B36968EB25}"/>
              </a:ext>
            </a:extLst>
          </p:cNvPr>
          <p:cNvSpPr>
            <a:spLocks noGrp="1"/>
          </p:cNvSpPr>
          <p:nvPr/>
        </p:nvSpPr>
        <p:spPr>
          <a:xfrm>
            <a:off x="6019800" y="3143250"/>
            <a:ext cx="4229100" cy="838200"/>
          </a:xfrm>
          <a:prstGeom prst="roundRect">
            <a:avLst>
              <a:gd name="adj" fmla="val 13636"/>
            </a:avLst>
          </a:prstGeom>
          <a:solidFill>
            <a:srgbClr val="07172B">
              <a:alpha val="78000"/>
            </a:srgbClr>
          </a:solidFill>
          <a:ln w="13335">
            <a:solidFill>
              <a:srgbClr val="26D9FF">
                <a:alpha val="42000"/>
              </a:srgbClr>
            </a:solidFill>
            <a:prstDash val="solid"/>
          </a:ln>
        </p:spPr>
        <p:txBody>
          <a:bodyPr/>
          <a:lstStyle/>
          <a:p>
            <a:endParaRPr lang="zh-CN" altLang="en-US"/>
          </a:p>
        </p:txBody>
      </p:sp>
      <p:sp>
        <p:nvSpPr>
          <p:cNvPr id="16" name="圆角矩形 15">
            <a:extLst>
              <a:ext uri="{FF2B5EF4-FFF2-40B4-BE49-F238E27FC236}">
                <a16:creationId xmlns:a16="http://schemas.microsoft.com/office/drawing/2014/main" id="{FEDC1DDB-D9B5-4D3F-9130-00F6FA844FF5}"/>
              </a:ext>
            </a:extLst>
          </p:cNvPr>
          <p:cNvSpPr>
            <a:spLocks noGrp="1"/>
          </p:cNvSpPr>
          <p:nvPr/>
        </p:nvSpPr>
        <p:spPr>
          <a:xfrm>
            <a:off x="6019800" y="3143250"/>
            <a:ext cx="47625" cy="838200"/>
          </a:xfrm>
          <a:prstGeom prst="roundRect">
            <a:avLst>
              <a:gd name="adj" fmla="val 50000"/>
            </a:avLst>
          </a:prstGeom>
          <a:solidFill>
            <a:srgbClr val="E2B84B"/>
          </a:solidFill>
          <a:ln w="0">
            <a:noFill/>
            <a:prstDash val="solid"/>
          </a:ln>
        </p:spPr>
        <p:txBody>
          <a:bodyPr/>
          <a:lstStyle/>
          <a:p>
            <a:endParaRPr lang="zh-CN" altLang="en-US"/>
          </a:p>
        </p:txBody>
      </p:sp>
      <p:sp>
        <p:nvSpPr>
          <p:cNvPr id="17" name="矩形 16">
            <a:extLst>
              <a:ext uri="{FF2B5EF4-FFF2-40B4-BE49-F238E27FC236}">
                <a16:creationId xmlns:a16="http://schemas.microsoft.com/office/drawing/2014/main" id="{F04542A0-47B6-4786-9987-A4BB060CA27D}"/>
              </a:ext>
            </a:extLst>
          </p:cNvPr>
          <p:cNvSpPr>
            <a:spLocks noGrp="1"/>
          </p:cNvSpPr>
          <p:nvPr/>
        </p:nvSpPr>
        <p:spPr>
          <a:xfrm>
            <a:off x="6305550" y="3390900"/>
            <a:ext cx="1104900" cy="266700"/>
          </a:xfrm>
          <a:prstGeom prst="rect">
            <a:avLst/>
          </a:prstGeom>
          <a:noFill/>
          <a:ln w="0">
            <a:noFill/>
            <a:prstDash val="solid"/>
          </a:ln>
        </p:spPr>
        <p:txBody>
          <a:bodyPr lIns="0" tIns="0" rIns="0" bIns="0"/>
          <a:lstStyle/>
          <a:p>
            <a:pPr>
              <a:lnSpc>
                <a:spcPct val="108000"/>
              </a:lnSpc>
              <a:buNone/>
              <a:defRPr sz="1725" b="1">
                <a:solidFill>
                  <a:srgbClr val="E2B84B"/>
                </a:solidFill>
                <a:latin typeface="Microsoft YaHei"/>
                <a:ea typeface="Microsoft YaHei"/>
                <a:cs typeface="Microsoft YaHei"/>
              </a:defRPr>
            </a:pPr>
            <a:r>
              <a:rPr sz="1725" b="1">
                <a:solidFill>
                  <a:srgbClr val="E2B84B"/>
                </a:solidFill>
                <a:latin typeface="Microsoft YaHei"/>
                <a:ea typeface="Microsoft YaHei"/>
                <a:cs typeface="Microsoft YaHei"/>
              </a:rPr>
              <a:t>参数反推</a:t>
            </a:r>
          </a:p>
        </p:txBody>
      </p:sp>
      <p:sp>
        <p:nvSpPr>
          <p:cNvPr id="18" name="矩形 17">
            <a:extLst>
              <a:ext uri="{FF2B5EF4-FFF2-40B4-BE49-F238E27FC236}">
                <a16:creationId xmlns:a16="http://schemas.microsoft.com/office/drawing/2014/main" id="{75FCC0E9-4AA4-4725-938B-959293A74DE2}"/>
              </a:ext>
            </a:extLst>
          </p:cNvPr>
          <p:cNvSpPr>
            <a:spLocks noGrp="1"/>
          </p:cNvSpPr>
          <p:nvPr/>
        </p:nvSpPr>
        <p:spPr>
          <a:xfrm>
            <a:off x="7486650" y="3314700"/>
            <a:ext cx="2343150" cy="457200"/>
          </a:xfrm>
          <a:prstGeom prst="rect">
            <a:avLst/>
          </a:prstGeom>
          <a:noFill/>
          <a:ln w="0">
            <a:noFill/>
            <a:prstDash val="solid"/>
          </a:ln>
        </p:spPr>
        <p:txBody>
          <a:bodyPr lIns="0" tIns="0" rIns="0" bIns="0"/>
          <a:lstStyle/>
          <a:p>
            <a:pPr>
              <a:lnSpc>
                <a:spcPct val="108000"/>
              </a:lnSpc>
              <a:buNone/>
              <a:defRPr sz="1275">
                <a:solidFill>
                  <a:srgbClr val="B5C8D8"/>
                </a:solidFill>
                <a:latin typeface="Microsoft YaHei"/>
                <a:ea typeface="Microsoft YaHei"/>
                <a:cs typeface="Microsoft YaHei"/>
              </a:defRPr>
            </a:pPr>
            <a:r>
              <a:rPr sz="1275">
                <a:solidFill>
                  <a:srgbClr val="B5C8D8"/>
                </a:solidFill>
                <a:latin typeface="Microsoft YaHei"/>
                <a:ea typeface="Microsoft YaHei"/>
                <a:cs typeface="Microsoft YaHei"/>
              </a:rPr>
              <a:t>拟合真实传播结果，校准推荐权重、时间衰减与层级影响参数。</a:t>
            </a:r>
          </a:p>
        </p:txBody>
      </p:sp>
      <p:sp>
        <p:nvSpPr>
          <p:cNvPr id="19" name="圆角矩形 18">
            <a:extLst>
              <a:ext uri="{FF2B5EF4-FFF2-40B4-BE49-F238E27FC236}">
                <a16:creationId xmlns:a16="http://schemas.microsoft.com/office/drawing/2014/main" id="{9A901953-6F34-4906-8DD1-E5BBDF3666DE}"/>
              </a:ext>
            </a:extLst>
          </p:cNvPr>
          <p:cNvSpPr>
            <a:spLocks noGrp="1"/>
          </p:cNvSpPr>
          <p:nvPr/>
        </p:nvSpPr>
        <p:spPr>
          <a:xfrm>
            <a:off x="1066800" y="4286250"/>
            <a:ext cx="4229100" cy="838200"/>
          </a:xfrm>
          <a:prstGeom prst="roundRect">
            <a:avLst>
              <a:gd name="adj" fmla="val 13636"/>
            </a:avLst>
          </a:prstGeom>
          <a:solidFill>
            <a:srgbClr val="07172B">
              <a:alpha val="78000"/>
            </a:srgbClr>
          </a:solidFill>
          <a:ln w="13335">
            <a:solidFill>
              <a:srgbClr val="26D9FF">
                <a:alpha val="42000"/>
              </a:srgbClr>
            </a:solidFill>
            <a:prstDash val="solid"/>
          </a:ln>
        </p:spPr>
        <p:txBody>
          <a:bodyPr/>
          <a:lstStyle/>
          <a:p>
            <a:endParaRPr lang="zh-CN" altLang="en-US"/>
          </a:p>
        </p:txBody>
      </p:sp>
      <p:sp>
        <p:nvSpPr>
          <p:cNvPr id="20" name="圆角矩形 19">
            <a:extLst>
              <a:ext uri="{FF2B5EF4-FFF2-40B4-BE49-F238E27FC236}">
                <a16:creationId xmlns:a16="http://schemas.microsoft.com/office/drawing/2014/main" id="{5C9D2288-1D3D-49D9-B144-72EA7B6BA4FA}"/>
              </a:ext>
            </a:extLst>
          </p:cNvPr>
          <p:cNvSpPr>
            <a:spLocks noGrp="1"/>
          </p:cNvSpPr>
          <p:nvPr/>
        </p:nvSpPr>
        <p:spPr>
          <a:xfrm>
            <a:off x="1066800" y="4286250"/>
            <a:ext cx="47625" cy="838200"/>
          </a:xfrm>
          <a:prstGeom prst="roundRect">
            <a:avLst>
              <a:gd name="adj" fmla="val 50000"/>
            </a:avLst>
          </a:prstGeom>
          <a:solidFill>
            <a:srgbClr val="37E6C4"/>
          </a:solidFill>
          <a:ln w="0">
            <a:noFill/>
            <a:prstDash val="solid"/>
          </a:ln>
        </p:spPr>
        <p:txBody>
          <a:bodyPr/>
          <a:lstStyle/>
          <a:p>
            <a:endParaRPr lang="zh-CN" altLang="en-US"/>
          </a:p>
        </p:txBody>
      </p:sp>
      <p:sp>
        <p:nvSpPr>
          <p:cNvPr id="21" name="矩形 20">
            <a:extLst>
              <a:ext uri="{FF2B5EF4-FFF2-40B4-BE49-F238E27FC236}">
                <a16:creationId xmlns:a16="http://schemas.microsoft.com/office/drawing/2014/main" id="{60BD7BDE-C2A0-46CE-ABAC-1494EEDBECC3}"/>
              </a:ext>
            </a:extLst>
          </p:cNvPr>
          <p:cNvSpPr>
            <a:spLocks noGrp="1"/>
          </p:cNvSpPr>
          <p:nvPr/>
        </p:nvSpPr>
        <p:spPr>
          <a:xfrm>
            <a:off x="1352550" y="4533900"/>
            <a:ext cx="1104900" cy="266700"/>
          </a:xfrm>
          <a:prstGeom prst="rect">
            <a:avLst/>
          </a:prstGeom>
          <a:noFill/>
          <a:ln w="0">
            <a:noFill/>
            <a:prstDash val="solid"/>
          </a:ln>
        </p:spPr>
        <p:txBody>
          <a:bodyPr lIns="0" tIns="0" rIns="0" bIns="0"/>
          <a:lstStyle/>
          <a:p>
            <a:pPr>
              <a:lnSpc>
                <a:spcPct val="108000"/>
              </a:lnSpc>
              <a:buNone/>
              <a:defRPr sz="1725" b="1">
                <a:solidFill>
                  <a:srgbClr val="37E6C4"/>
                </a:solidFill>
                <a:latin typeface="Microsoft YaHei"/>
                <a:ea typeface="Microsoft YaHei"/>
                <a:cs typeface="Microsoft YaHei"/>
              </a:defRPr>
            </a:pPr>
            <a:r>
              <a:rPr sz="1725" b="1">
                <a:solidFill>
                  <a:srgbClr val="37E6C4"/>
                </a:solidFill>
                <a:latin typeface="Microsoft YaHei"/>
                <a:ea typeface="Microsoft YaHei"/>
                <a:cs typeface="Microsoft YaHei"/>
              </a:rPr>
              <a:t>在线仿真</a:t>
            </a:r>
          </a:p>
        </p:txBody>
      </p:sp>
      <p:sp>
        <p:nvSpPr>
          <p:cNvPr id="22" name="矩形 21">
            <a:extLst>
              <a:ext uri="{FF2B5EF4-FFF2-40B4-BE49-F238E27FC236}">
                <a16:creationId xmlns:a16="http://schemas.microsoft.com/office/drawing/2014/main" id="{10FED5A3-C992-4DB6-B970-A04239B75019}"/>
              </a:ext>
            </a:extLst>
          </p:cNvPr>
          <p:cNvSpPr>
            <a:spLocks noGrp="1"/>
          </p:cNvSpPr>
          <p:nvPr/>
        </p:nvSpPr>
        <p:spPr>
          <a:xfrm>
            <a:off x="2533650" y="4457700"/>
            <a:ext cx="2343150" cy="457200"/>
          </a:xfrm>
          <a:prstGeom prst="rect">
            <a:avLst/>
          </a:prstGeom>
          <a:noFill/>
          <a:ln w="0">
            <a:noFill/>
            <a:prstDash val="solid"/>
          </a:ln>
        </p:spPr>
        <p:txBody>
          <a:bodyPr lIns="0" tIns="0" rIns="0" bIns="0"/>
          <a:lstStyle/>
          <a:p>
            <a:pPr>
              <a:lnSpc>
                <a:spcPct val="108000"/>
              </a:lnSpc>
              <a:buNone/>
              <a:defRPr sz="1275">
                <a:solidFill>
                  <a:srgbClr val="B5C8D8"/>
                </a:solidFill>
                <a:latin typeface="Microsoft YaHei"/>
                <a:ea typeface="Microsoft YaHei"/>
                <a:cs typeface="Microsoft YaHei"/>
              </a:defRPr>
            </a:pPr>
            <a:r>
              <a:rPr sz="1275">
                <a:solidFill>
                  <a:srgbClr val="B5C8D8"/>
                </a:solidFill>
                <a:latin typeface="Microsoft YaHei"/>
                <a:ea typeface="Microsoft YaHei"/>
                <a:cs typeface="Microsoft YaHei"/>
              </a:rPr>
              <a:t>通过 Backend 与 Agent 双进程运行发帖、评论、点赞、转发等行为。</a:t>
            </a:r>
          </a:p>
        </p:txBody>
      </p:sp>
      <p:sp>
        <p:nvSpPr>
          <p:cNvPr id="23" name="圆角矩形 22">
            <a:extLst>
              <a:ext uri="{FF2B5EF4-FFF2-40B4-BE49-F238E27FC236}">
                <a16:creationId xmlns:a16="http://schemas.microsoft.com/office/drawing/2014/main" id="{87BDD02E-ED59-4F52-B387-34CAC6249F48}"/>
              </a:ext>
            </a:extLst>
          </p:cNvPr>
          <p:cNvSpPr>
            <a:spLocks noGrp="1"/>
          </p:cNvSpPr>
          <p:nvPr/>
        </p:nvSpPr>
        <p:spPr>
          <a:xfrm>
            <a:off x="6019800" y="4286250"/>
            <a:ext cx="4229100" cy="838200"/>
          </a:xfrm>
          <a:prstGeom prst="roundRect">
            <a:avLst>
              <a:gd name="adj" fmla="val 13636"/>
            </a:avLst>
          </a:prstGeom>
          <a:solidFill>
            <a:srgbClr val="07172B">
              <a:alpha val="78000"/>
            </a:srgbClr>
          </a:solidFill>
          <a:ln w="13335">
            <a:solidFill>
              <a:srgbClr val="26D9FF">
                <a:alpha val="42000"/>
              </a:srgbClr>
            </a:solidFill>
            <a:prstDash val="solid"/>
          </a:ln>
        </p:spPr>
        <p:txBody>
          <a:bodyPr/>
          <a:lstStyle/>
          <a:p>
            <a:endParaRPr lang="zh-CN" altLang="en-US"/>
          </a:p>
        </p:txBody>
      </p:sp>
      <p:sp>
        <p:nvSpPr>
          <p:cNvPr id="24" name="圆角矩形 23">
            <a:extLst>
              <a:ext uri="{FF2B5EF4-FFF2-40B4-BE49-F238E27FC236}">
                <a16:creationId xmlns:a16="http://schemas.microsoft.com/office/drawing/2014/main" id="{EF3BA86E-A99D-4B45-8FAE-1653ACDEAEB9}"/>
              </a:ext>
            </a:extLst>
          </p:cNvPr>
          <p:cNvSpPr>
            <a:spLocks noGrp="1"/>
          </p:cNvSpPr>
          <p:nvPr/>
        </p:nvSpPr>
        <p:spPr>
          <a:xfrm>
            <a:off x="6019800" y="4286250"/>
            <a:ext cx="47625" cy="838200"/>
          </a:xfrm>
          <a:prstGeom prst="roundRect">
            <a:avLst>
              <a:gd name="adj" fmla="val 50000"/>
            </a:avLst>
          </a:prstGeom>
          <a:solidFill>
            <a:srgbClr val="D54A5C"/>
          </a:solidFill>
          <a:ln w="0">
            <a:noFill/>
            <a:prstDash val="solid"/>
          </a:ln>
        </p:spPr>
        <p:txBody>
          <a:bodyPr/>
          <a:lstStyle/>
          <a:p>
            <a:endParaRPr lang="zh-CN" altLang="en-US"/>
          </a:p>
        </p:txBody>
      </p:sp>
      <p:sp>
        <p:nvSpPr>
          <p:cNvPr id="25" name="矩形 24">
            <a:extLst>
              <a:ext uri="{FF2B5EF4-FFF2-40B4-BE49-F238E27FC236}">
                <a16:creationId xmlns:a16="http://schemas.microsoft.com/office/drawing/2014/main" id="{BFC64B8B-B6D6-421A-8488-7B782D95559B}"/>
              </a:ext>
            </a:extLst>
          </p:cNvPr>
          <p:cNvSpPr>
            <a:spLocks noGrp="1"/>
          </p:cNvSpPr>
          <p:nvPr/>
        </p:nvSpPr>
        <p:spPr>
          <a:xfrm>
            <a:off x="6305550" y="4533900"/>
            <a:ext cx="1104900" cy="266700"/>
          </a:xfrm>
          <a:prstGeom prst="rect">
            <a:avLst/>
          </a:prstGeom>
          <a:noFill/>
          <a:ln w="0">
            <a:noFill/>
            <a:prstDash val="solid"/>
          </a:ln>
        </p:spPr>
        <p:txBody>
          <a:bodyPr lIns="0" tIns="0" rIns="0" bIns="0"/>
          <a:lstStyle/>
          <a:p>
            <a:pPr>
              <a:lnSpc>
                <a:spcPct val="108000"/>
              </a:lnSpc>
              <a:buNone/>
              <a:defRPr sz="1725" b="1">
                <a:solidFill>
                  <a:srgbClr val="D54A5C"/>
                </a:solidFill>
                <a:latin typeface="Microsoft YaHei"/>
                <a:ea typeface="Microsoft YaHei"/>
                <a:cs typeface="Microsoft YaHei"/>
              </a:defRPr>
            </a:pPr>
            <a:r>
              <a:rPr sz="1725" b="1">
                <a:solidFill>
                  <a:srgbClr val="D54A5C"/>
                </a:solidFill>
                <a:latin typeface="Microsoft YaHei"/>
                <a:ea typeface="Microsoft YaHei"/>
                <a:cs typeface="Microsoft YaHei"/>
              </a:rPr>
              <a:t>闭环验证</a:t>
            </a:r>
          </a:p>
        </p:txBody>
      </p:sp>
      <p:sp>
        <p:nvSpPr>
          <p:cNvPr id="26" name="矩形 25">
            <a:extLst>
              <a:ext uri="{FF2B5EF4-FFF2-40B4-BE49-F238E27FC236}">
                <a16:creationId xmlns:a16="http://schemas.microsoft.com/office/drawing/2014/main" id="{486DFAD7-9F4F-4242-A396-5B9D30015768}"/>
              </a:ext>
            </a:extLst>
          </p:cNvPr>
          <p:cNvSpPr>
            <a:spLocks noGrp="1"/>
          </p:cNvSpPr>
          <p:nvPr/>
        </p:nvSpPr>
        <p:spPr>
          <a:xfrm>
            <a:off x="7486650" y="4457700"/>
            <a:ext cx="2343150" cy="457200"/>
          </a:xfrm>
          <a:prstGeom prst="rect">
            <a:avLst/>
          </a:prstGeom>
          <a:noFill/>
          <a:ln w="0">
            <a:noFill/>
            <a:prstDash val="solid"/>
          </a:ln>
        </p:spPr>
        <p:txBody>
          <a:bodyPr lIns="0" tIns="0" rIns="0" bIns="0"/>
          <a:lstStyle/>
          <a:p>
            <a:pPr>
              <a:lnSpc>
                <a:spcPct val="108000"/>
              </a:lnSpc>
              <a:buNone/>
              <a:defRPr sz="1275">
                <a:solidFill>
                  <a:srgbClr val="B5C8D8"/>
                </a:solidFill>
                <a:latin typeface="Microsoft YaHei"/>
                <a:ea typeface="Microsoft YaHei"/>
                <a:cs typeface="Microsoft YaHei"/>
              </a:defRPr>
            </a:pPr>
            <a:r>
              <a:rPr sz="1275">
                <a:solidFill>
                  <a:srgbClr val="B5C8D8"/>
                </a:solidFill>
                <a:latin typeface="Microsoft YaHei"/>
                <a:ea typeface="Microsoft YaHei"/>
                <a:cs typeface="Microsoft YaHei"/>
              </a:rPr>
              <a:t>用传播曲线、态度演化、互动分布和消融实验评估有效性。</a:t>
            </a:r>
          </a:p>
        </p:txBody>
      </p:sp>
    </p:spTree>
    <p:extLst>
      <p:ext uri="{BB962C8B-B14F-4D97-AF65-F5344CB8AC3E}">
        <p14:creationId xmlns:p14="http://schemas.microsoft.com/office/powerpoint/2010/main" val="437107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53B0931B-723C-4A63-8183-0DE2880896D9}"/>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A1FCCD58-5B54-4491-B2D6-6EBDAE7E02E1}"/>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23698C6F-5D60-48D1-85C4-66F1B85BD196}"/>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41" name="图片 40"/>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1CA061D8-AD0F-4FE4-944D-F7A3226C17A9}"/>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04  技术路线与方案</a:t>
            </a:r>
          </a:p>
        </p:txBody>
      </p:sp>
      <p:sp>
        <p:nvSpPr>
          <p:cNvPr id="7" name="矩形 6">
            <a:extLst>
              <a:ext uri="{FF2B5EF4-FFF2-40B4-BE49-F238E27FC236}">
                <a16:creationId xmlns:a16="http://schemas.microsoft.com/office/drawing/2014/main" id="{A38B08DF-BE80-426D-8FCC-B5217732EFF8}"/>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数据—校准—运行—反馈闭环</a:t>
            </a:r>
          </a:p>
        </p:txBody>
      </p:sp>
      <p:sp>
        <p:nvSpPr>
          <p:cNvPr id="8" name="圆角矩形 7">
            <a:extLst>
              <a:ext uri="{FF2B5EF4-FFF2-40B4-BE49-F238E27FC236}">
                <a16:creationId xmlns:a16="http://schemas.microsoft.com/office/drawing/2014/main" id="{F967EB0D-8EB8-4A24-A5DE-00C4EBAC8197}"/>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132271B5-7905-4807-96B1-5D34155B11C8}"/>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08</a:t>
            </a:r>
          </a:p>
        </p:txBody>
      </p:sp>
      <p:sp>
        <p:nvSpPr>
          <p:cNvPr id="10" name="圆角矩形 9">
            <a:extLst>
              <a:ext uri="{FF2B5EF4-FFF2-40B4-BE49-F238E27FC236}">
                <a16:creationId xmlns:a16="http://schemas.microsoft.com/office/drawing/2014/main" id="{3C7FACF7-BA47-432F-9DC3-5192501805BE}"/>
              </a:ext>
            </a:extLst>
          </p:cNvPr>
          <p:cNvSpPr>
            <a:spLocks noGrp="1"/>
          </p:cNvSpPr>
          <p:nvPr/>
        </p:nvSpPr>
        <p:spPr>
          <a:xfrm>
            <a:off x="800100" y="2400300"/>
            <a:ext cx="1695450" cy="1314450"/>
          </a:xfrm>
          <a:prstGeom prst="roundRect">
            <a:avLst>
              <a:gd name="adj" fmla="val 8696"/>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11" name="圆角矩形 10">
            <a:extLst>
              <a:ext uri="{FF2B5EF4-FFF2-40B4-BE49-F238E27FC236}">
                <a16:creationId xmlns:a16="http://schemas.microsoft.com/office/drawing/2014/main" id="{0B73ADB5-A3D6-4A15-8C99-094A7A500241}"/>
              </a:ext>
            </a:extLst>
          </p:cNvPr>
          <p:cNvSpPr>
            <a:spLocks noGrp="1"/>
          </p:cNvSpPr>
          <p:nvPr/>
        </p:nvSpPr>
        <p:spPr>
          <a:xfrm>
            <a:off x="800100" y="2400300"/>
            <a:ext cx="47625" cy="1314450"/>
          </a:xfrm>
          <a:prstGeom prst="roundRect">
            <a:avLst>
              <a:gd name="adj" fmla="val 50000"/>
            </a:avLst>
          </a:prstGeom>
          <a:solidFill>
            <a:srgbClr val="19D9FF"/>
          </a:solidFill>
          <a:ln w="0">
            <a:noFill/>
            <a:prstDash val="solid"/>
          </a:ln>
        </p:spPr>
        <p:txBody>
          <a:bodyPr/>
          <a:lstStyle/>
          <a:p>
            <a:endParaRPr lang="zh-CN" altLang="en-US"/>
          </a:p>
        </p:txBody>
      </p:sp>
      <p:sp>
        <p:nvSpPr>
          <p:cNvPr id="12" name="矩形 11">
            <a:extLst>
              <a:ext uri="{FF2B5EF4-FFF2-40B4-BE49-F238E27FC236}">
                <a16:creationId xmlns:a16="http://schemas.microsoft.com/office/drawing/2014/main" id="{D5DDB120-60D7-4A07-87C2-20EA18853444}"/>
              </a:ext>
            </a:extLst>
          </p:cNvPr>
          <p:cNvSpPr>
            <a:spLocks noGrp="1"/>
          </p:cNvSpPr>
          <p:nvPr/>
        </p:nvSpPr>
        <p:spPr>
          <a:xfrm>
            <a:off x="971550" y="2724150"/>
            <a:ext cx="1352550" cy="266700"/>
          </a:xfrm>
          <a:prstGeom prst="rect">
            <a:avLst/>
          </a:prstGeom>
          <a:noFill/>
          <a:ln w="0">
            <a:noFill/>
            <a:prstDash val="solid"/>
          </a:ln>
        </p:spPr>
        <p:txBody>
          <a:bodyPr lIns="0" tIns="0" rIns="0" bIns="0"/>
          <a:lstStyle/>
          <a:p>
            <a:pPr algn="ctr">
              <a:lnSpc>
                <a:spcPct val="108000"/>
              </a:lnSpc>
              <a:buNone/>
              <a:defRPr sz="1650" b="1">
                <a:solidFill>
                  <a:srgbClr val="74F0FF"/>
                </a:solidFill>
                <a:latin typeface="Microsoft YaHei"/>
                <a:ea typeface="Microsoft YaHei"/>
                <a:cs typeface="Microsoft YaHei"/>
              </a:defRPr>
            </a:pPr>
            <a:r>
              <a:rPr sz="1650" b="1">
                <a:solidFill>
                  <a:srgbClr val="74F0FF"/>
                </a:solidFill>
                <a:latin typeface="Microsoft YaHei"/>
                <a:ea typeface="Microsoft YaHei"/>
                <a:cs typeface="Microsoft YaHei"/>
              </a:rPr>
              <a:t>真实数据</a:t>
            </a:r>
          </a:p>
        </p:txBody>
      </p:sp>
      <p:sp>
        <p:nvSpPr>
          <p:cNvPr id="13" name="矩形 12">
            <a:extLst>
              <a:ext uri="{FF2B5EF4-FFF2-40B4-BE49-F238E27FC236}">
                <a16:creationId xmlns:a16="http://schemas.microsoft.com/office/drawing/2014/main" id="{9B937209-0888-453A-8734-8B572F164C85}"/>
              </a:ext>
            </a:extLst>
          </p:cNvPr>
          <p:cNvSpPr>
            <a:spLocks noGrp="1"/>
          </p:cNvSpPr>
          <p:nvPr/>
        </p:nvSpPr>
        <p:spPr>
          <a:xfrm>
            <a:off x="971550" y="3162300"/>
            <a:ext cx="1352550" cy="419100"/>
          </a:xfrm>
          <a:prstGeom prst="rect">
            <a:avLst/>
          </a:prstGeom>
          <a:noFill/>
          <a:ln w="0">
            <a:noFill/>
            <a:prstDash val="solid"/>
          </a:ln>
        </p:spPr>
        <p:txBody>
          <a:bodyPr lIns="0" tIns="0" rIns="0" bIns="0"/>
          <a:lstStyle/>
          <a:p>
            <a:pPr algn="ctr">
              <a:lnSpc>
                <a:spcPct val="108000"/>
              </a:lnSpc>
              <a:buNone/>
              <a:defRPr sz="1050">
                <a:solidFill>
                  <a:srgbClr val="B5C8D8"/>
                </a:solidFill>
                <a:latin typeface="Microsoft YaHei"/>
                <a:ea typeface="Microsoft YaHei"/>
                <a:cs typeface="Microsoft YaHei"/>
              </a:defRPr>
            </a:pPr>
            <a:r>
              <a:rPr sz="1050">
                <a:solidFill>
                  <a:srgbClr val="B5C8D8"/>
                </a:solidFill>
                <a:latin typeface="Microsoft YaHei"/>
                <a:ea typeface="Microsoft YaHei"/>
                <a:cs typeface="Microsoft YaHei"/>
              </a:rPr>
              <a:t>user/post</a:t>
            </a:r>
          </a:p>
          <a:p>
            <a:pPr algn="ctr">
              <a:lnSpc>
                <a:spcPct val="108000"/>
              </a:lnSpc>
              <a:buNone/>
              <a:defRPr sz="1050">
                <a:solidFill>
                  <a:srgbClr val="B5C8D8"/>
                </a:solidFill>
                <a:latin typeface="Microsoft YaHei"/>
                <a:ea typeface="Microsoft YaHei"/>
                <a:cs typeface="Microsoft YaHei"/>
              </a:defRPr>
            </a:pPr>
            <a:r>
              <a:rPr sz="1050">
                <a:solidFill>
                  <a:srgbClr val="B5C8D8"/>
                </a:solidFill>
                <a:latin typeface="Microsoft YaHei"/>
                <a:ea typeface="Microsoft YaHei"/>
                <a:cs typeface="Microsoft YaHei"/>
              </a:rPr>
              <a:t>互动、时间序列</a:t>
            </a:r>
          </a:p>
        </p:txBody>
      </p:sp>
      <p:sp>
        <p:nvSpPr>
          <p:cNvPr id="14" name="右箭头 13">
            <a:extLst>
              <a:ext uri="{FF2B5EF4-FFF2-40B4-BE49-F238E27FC236}">
                <a16:creationId xmlns:a16="http://schemas.microsoft.com/office/drawing/2014/main" id="{1F91283B-9EFD-4EF9-A8BC-0201E94D3815}"/>
              </a:ext>
            </a:extLst>
          </p:cNvPr>
          <p:cNvSpPr>
            <a:spLocks noGrp="1"/>
          </p:cNvSpPr>
          <p:nvPr/>
        </p:nvSpPr>
        <p:spPr>
          <a:xfrm>
            <a:off x="2476500" y="2914650"/>
            <a:ext cx="457200" cy="323850"/>
          </a:xfrm>
          <a:prstGeom prst="rightArrow">
            <a:avLst/>
          </a:prstGeom>
          <a:solidFill>
            <a:srgbClr val="E2B84B"/>
          </a:solidFill>
          <a:ln w="0">
            <a:noFill/>
            <a:prstDash val="solid"/>
          </a:ln>
        </p:spPr>
        <p:txBody>
          <a:bodyPr/>
          <a:lstStyle/>
          <a:p>
            <a:endParaRPr lang="zh-CN" altLang="en-US"/>
          </a:p>
        </p:txBody>
      </p:sp>
      <p:sp>
        <p:nvSpPr>
          <p:cNvPr id="15" name="圆角矩形 14">
            <a:extLst>
              <a:ext uri="{FF2B5EF4-FFF2-40B4-BE49-F238E27FC236}">
                <a16:creationId xmlns:a16="http://schemas.microsoft.com/office/drawing/2014/main" id="{C824F6AC-62B7-4A19-A7A4-9527D36F992F}"/>
              </a:ext>
            </a:extLst>
          </p:cNvPr>
          <p:cNvSpPr>
            <a:spLocks noGrp="1"/>
          </p:cNvSpPr>
          <p:nvPr/>
        </p:nvSpPr>
        <p:spPr>
          <a:xfrm>
            <a:off x="2971800" y="2400300"/>
            <a:ext cx="1695450" cy="1314450"/>
          </a:xfrm>
          <a:prstGeom prst="roundRect">
            <a:avLst>
              <a:gd name="adj" fmla="val 8696"/>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16" name="圆角矩形 15">
            <a:extLst>
              <a:ext uri="{FF2B5EF4-FFF2-40B4-BE49-F238E27FC236}">
                <a16:creationId xmlns:a16="http://schemas.microsoft.com/office/drawing/2014/main" id="{D6F02095-B0E6-4733-A1FD-E1878DF89F14}"/>
              </a:ext>
            </a:extLst>
          </p:cNvPr>
          <p:cNvSpPr>
            <a:spLocks noGrp="1"/>
          </p:cNvSpPr>
          <p:nvPr/>
        </p:nvSpPr>
        <p:spPr>
          <a:xfrm>
            <a:off x="2971800" y="2400300"/>
            <a:ext cx="47625" cy="1314450"/>
          </a:xfrm>
          <a:prstGeom prst="roundRect">
            <a:avLst>
              <a:gd name="adj" fmla="val 50000"/>
            </a:avLst>
          </a:prstGeom>
          <a:solidFill>
            <a:srgbClr val="19D9FF"/>
          </a:solidFill>
          <a:ln w="0">
            <a:noFill/>
            <a:prstDash val="solid"/>
          </a:ln>
        </p:spPr>
        <p:txBody>
          <a:bodyPr/>
          <a:lstStyle/>
          <a:p>
            <a:endParaRPr lang="zh-CN" altLang="en-US"/>
          </a:p>
        </p:txBody>
      </p:sp>
      <p:sp>
        <p:nvSpPr>
          <p:cNvPr id="17" name="矩形 16">
            <a:extLst>
              <a:ext uri="{FF2B5EF4-FFF2-40B4-BE49-F238E27FC236}">
                <a16:creationId xmlns:a16="http://schemas.microsoft.com/office/drawing/2014/main" id="{4CFCDEF0-CF30-4E97-97FF-47E6E666BD5E}"/>
              </a:ext>
            </a:extLst>
          </p:cNvPr>
          <p:cNvSpPr>
            <a:spLocks noGrp="1"/>
          </p:cNvSpPr>
          <p:nvPr/>
        </p:nvSpPr>
        <p:spPr>
          <a:xfrm>
            <a:off x="3143250" y="2724150"/>
            <a:ext cx="1352550" cy="266700"/>
          </a:xfrm>
          <a:prstGeom prst="rect">
            <a:avLst/>
          </a:prstGeom>
          <a:noFill/>
          <a:ln w="0">
            <a:noFill/>
            <a:prstDash val="solid"/>
          </a:ln>
        </p:spPr>
        <p:txBody>
          <a:bodyPr lIns="0" tIns="0" rIns="0" bIns="0"/>
          <a:lstStyle/>
          <a:p>
            <a:pPr algn="ctr">
              <a:lnSpc>
                <a:spcPct val="108000"/>
              </a:lnSpc>
              <a:buNone/>
              <a:defRPr sz="1650" b="1">
                <a:solidFill>
                  <a:srgbClr val="74F0FF"/>
                </a:solidFill>
                <a:latin typeface="Microsoft YaHei"/>
                <a:ea typeface="Microsoft YaHei"/>
                <a:cs typeface="Microsoft YaHei"/>
              </a:defRPr>
            </a:pPr>
            <a:r>
              <a:rPr sz="1650" b="1">
                <a:solidFill>
                  <a:srgbClr val="74F0FF"/>
                </a:solidFill>
                <a:latin typeface="Microsoft YaHei"/>
                <a:ea typeface="Microsoft YaHei"/>
                <a:cs typeface="Microsoft YaHei"/>
              </a:rPr>
              <a:t>画像生成</a:t>
            </a:r>
          </a:p>
        </p:txBody>
      </p:sp>
      <p:sp>
        <p:nvSpPr>
          <p:cNvPr id="18" name="矩形 17">
            <a:extLst>
              <a:ext uri="{FF2B5EF4-FFF2-40B4-BE49-F238E27FC236}">
                <a16:creationId xmlns:a16="http://schemas.microsoft.com/office/drawing/2014/main" id="{CF62831B-DD0B-4CC9-9A44-39EFA1D7FC3A}"/>
              </a:ext>
            </a:extLst>
          </p:cNvPr>
          <p:cNvSpPr>
            <a:spLocks noGrp="1"/>
          </p:cNvSpPr>
          <p:nvPr/>
        </p:nvSpPr>
        <p:spPr>
          <a:xfrm>
            <a:off x="3143250" y="3162300"/>
            <a:ext cx="1352550" cy="419100"/>
          </a:xfrm>
          <a:prstGeom prst="rect">
            <a:avLst/>
          </a:prstGeom>
          <a:noFill/>
          <a:ln w="0">
            <a:noFill/>
            <a:prstDash val="solid"/>
          </a:ln>
        </p:spPr>
        <p:txBody>
          <a:bodyPr lIns="0" tIns="0" rIns="0" bIns="0"/>
          <a:lstStyle/>
          <a:p>
            <a:pPr algn="ctr">
              <a:lnSpc>
                <a:spcPct val="108000"/>
              </a:lnSpc>
              <a:buNone/>
              <a:defRPr sz="1050">
                <a:solidFill>
                  <a:srgbClr val="B5C8D8"/>
                </a:solidFill>
                <a:latin typeface="Microsoft YaHei"/>
                <a:ea typeface="Microsoft YaHei"/>
                <a:cs typeface="Microsoft YaHei"/>
              </a:defRPr>
            </a:pPr>
            <a:r>
              <a:rPr sz="1050">
                <a:solidFill>
                  <a:srgbClr val="B5C8D8"/>
                </a:solidFill>
                <a:latin typeface="Microsoft YaHei"/>
                <a:ea typeface="Microsoft YaHei"/>
                <a:cs typeface="Microsoft YaHei"/>
              </a:rPr>
              <a:t>证据抽取</a:t>
            </a:r>
          </a:p>
          <a:p>
            <a:pPr algn="ctr">
              <a:lnSpc>
                <a:spcPct val="108000"/>
              </a:lnSpc>
              <a:buNone/>
              <a:defRPr sz="1050">
                <a:solidFill>
                  <a:srgbClr val="B5C8D8"/>
                </a:solidFill>
                <a:latin typeface="Microsoft YaHei"/>
                <a:ea typeface="Microsoft YaHei"/>
                <a:cs typeface="Microsoft YaHei"/>
              </a:defRPr>
            </a:pPr>
            <a:r>
              <a:rPr sz="1050">
                <a:solidFill>
                  <a:srgbClr val="B5C8D8"/>
                </a:solidFill>
                <a:latin typeface="Microsoft YaHei"/>
                <a:ea typeface="Microsoft YaHei"/>
                <a:cs typeface="Microsoft YaHei"/>
              </a:rPr>
              <a:t>稳定画像、行为画像</a:t>
            </a:r>
          </a:p>
        </p:txBody>
      </p:sp>
      <p:sp>
        <p:nvSpPr>
          <p:cNvPr id="19" name="右箭头 18">
            <a:extLst>
              <a:ext uri="{FF2B5EF4-FFF2-40B4-BE49-F238E27FC236}">
                <a16:creationId xmlns:a16="http://schemas.microsoft.com/office/drawing/2014/main" id="{1B9EBEE4-3AA8-4D03-AD32-41CD3F73AB8B}"/>
              </a:ext>
            </a:extLst>
          </p:cNvPr>
          <p:cNvSpPr>
            <a:spLocks noGrp="1"/>
          </p:cNvSpPr>
          <p:nvPr/>
        </p:nvSpPr>
        <p:spPr>
          <a:xfrm>
            <a:off x="4648200" y="2914650"/>
            <a:ext cx="457200" cy="323850"/>
          </a:xfrm>
          <a:prstGeom prst="rightArrow">
            <a:avLst/>
          </a:prstGeom>
          <a:solidFill>
            <a:srgbClr val="E2B84B"/>
          </a:solidFill>
          <a:ln w="0">
            <a:noFill/>
            <a:prstDash val="solid"/>
          </a:ln>
        </p:spPr>
        <p:txBody>
          <a:bodyPr/>
          <a:lstStyle/>
          <a:p>
            <a:endParaRPr lang="zh-CN" altLang="en-US"/>
          </a:p>
        </p:txBody>
      </p:sp>
      <p:sp>
        <p:nvSpPr>
          <p:cNvPr id="20" name="圆角矩形 19">
            <a:extLst>
              <a:ext uri="{FF2B5EF4-FFF2-40B4-BE49-F238E27FC236}">
                <a16:creationId xmlns:a16="http://schemas.microsoft.com/office/drawing/2014/main" id="{2746DA1E-0E4E-4733-A8F2-A2A75F91AB77}"/>
              </a:ext>
            </a:extLst>
          </p:cNvPr>
          <p:cNvSpPr>
            <a:spLocks noGrp="1"/>
          </p:cNvSpPr>
          <p:nvPr/>
        </p:nvSpPr>
        <p:spPr>
          <a:xfrm>
            <a:off x="5143500" y="2400300"/>
            <a:ext cx="1695450" cy="1314450"/>
          </a:xfrm>
          <a:prstGeom prst="roundRect">
            <a:avLst>
              <a:gd name="adj" fmla="val 8696"/>
            </a:avLst>
          </a:prstGeom>
          <a:solidFill>
            <a:srgbClr val="0B2742">
              <a:alpha val="88000"/>
            </a:srgbClr>
          </a:solidFill>
          <a:ln w="13335">
            <a:solidFill>
              <a:srgbClr val="26D9FF">
                <a:alpha val="42000"/>
              </a:srgbClr>
            </a:solidFill>
            <a:prstDash val="solid"/>
          </a:ln>
        </p:spPr>
        <p:txBody>
          <a:bodyPr/>
          <a:lstStyle/>
          <a:p>
            <a:endParaRPr lang="zh-CN" altLang="en-US"/>
          </a:p>
        </p:txBody>
      </p:sp>
      <p:sp>
        <p:nvSpPr>
          <p:cNvPr id="21" name="圆角矩形 20">
            <a:extLst>
              <a:ext uri="{FF2B5EF4-FFF2-40B4-BE49-F238E27FC236}">
                <a16:creationId xmlns:a16="http://schemas.microsoft.com/office/drawing/2014/main" id="{36335224-2D7C-402B-A91E-E651E664131A}"/>
              </a:ext>
            </a:extLst>
          </p:cNvPr>
          <p:cNvSpPr>
            <a:spLocks noGrp="1"/>
          </p:cNvSpPr>
          <p:nvPr/>
        </p:nvSpPr>
        <p:spPr>
          <a:xfrm>
            <a:off x="5143500" y="2400300"/>
            <a:ext cx="47625" cy="1314450"/>
          </a:xfrm>
          <a:prstGeom prst="roundRect">
            <a:avLst>
              <a:gd name="adj" fmla="val 50000"/>
            </a:avLst>
          </a:prstGeom>
          <a:solidFill>
            <a:srgbClr val="E2B84B"/>
          </a:solidFill>
          <a:ln w="0">
            <a:noFill/>
            <a:prstDash val="solid"/>
          </a:ln>
        </p:spPr>
        <p:txBody>
          <a:bodyPr/>
          <a:lstStyle/>
          <a:p>
            <a:endParaRPr lang="zh-CN" altLang="en-US"/>
          </a:p>
        </p:txBody>
      </p:sp>
      <p:sp>
        <p:nvSpPr>
          <p:cNvPr id="22" name="矩形 21">
            <a:extLst>
              <a:ext uri="{FF2B5EF4-FFF2-40B4-BE49-F238E27FC236}">
                <a16:creationId xmlns:a16="http://schemas.microsoft.com/office/drawing/2014/main" id="{36337A7A-C3B2-4CF0-B210-E5FAD54B5B9B}"/>
              </a:ext>
            </a:extLst>
          </p:cNvPr>
          <p:cNvSpPr>
            <a:spLocks noGrp="1"/>
          </p:cNvSpPr>
          <p:nvPr/>
        </p:nvSpPr>
        <p:spPr>
          <a:xfrm>
            <a:off x="5314950" y="2724150"/>
            <a:ext cx="1352550" cy="266700"/>
          </a:xfrm>
          <a:prstGeom prst="rect">
            <a:avLst/>
          </a:prstGeom>
          <a:noFill/>
          <a:ln w="0">
            <a:noFill/>
            <a:prstDash val="solid"/>
          </a:ln>
        </p:spPr>
        <p:txBody>
          <a:bodyPr lIns="0" tIns="0" rIns="0" bIns="0"/>
          <a:lstStyle/>
          <a:p>
            <a:pPr algn="ctr">
              <a:lnSpc>
                <a:spcPct val="108000"/>
              </a:lnSpc>
              <a:buNone/>
              <a:defRPr sz="1650" b="1">
                <a:solidFill>
                  <a:srgbClr val="E2B84B"/>
                </a:solidFill>
                <a:latin typeface="Microsoft YaHei"/>
                <a:ea typeface="Microsoft YaHei"/>
                <a:cs typeface="Microsoft YaHei"/>
              </a:defRPr>
            </a:pPr>
            <a:r>
              <a:rPr sz="1650" b="1">
                <a:solidFill>
                  <a:srgbClr val="E2B84B"/>
                </a:solidFill>
                <a:latin typeface="Microsoft YaHei"/>
                <a:ea typeface="Microsoft YaHei"/>
                <a:cs typeface="Microsoft YaHei"/>
              </a:rPr>
              <a:t>参数反推</a:t>
            </a:r>
          </a:p>
        </p:txBody>
      </p:sp>
      <p:sp>
        <p:nvSpPr>
          <p:cNvPr id="23" name="矩形 22">
            <a:extLst>
              <a:ext uri="{FF2B5EF4-FFF2-40B4-BE49-F238E27FC236}">
                <a16:creationId xmlns:a16="http://schemas.microsoft.com/office/drawing/2014/main" id="{159A3B91-E8E5-4A2F-A82D-30E9582BAF57}"/>
              </a:ext>
            </a:extLst>
          </p:cNvPr>
          <p:cNvSpPr>
            <a:spLocks noGrp="1"/>
          </p:cNvSpPr>
          <p:nvPr/>
        </p:nvSpPr>
        <p:spPr>
          <a:xfrm>
            <a:off x="5314950" y="3162300"/>
            <a:ext cx="1352550" cy="419100"/>
          </a:xfrm>
          <a:prstGeom prst="rect">
            <a:avLst/>
          </a:prstGeom>
          <a:noFill/>
          <a:ln w="0">
            <a:noFill/>
            <a:prstDash val="solid"/>
          </a:ln>
        </p:spPr>
        <p:txBody>
          <a:bodyPr lIns="0" tIns="0" rIns="0" bIns="0"/>
          <a:lstStyle/>
          <a:p>
            <a:pPr algn="ctr">
              <a:lnSpc>
                <a:spcPct val="108000"/>
              </a:lnSpc>
              <a:buNone/>
              <a:defRPr sz="1050">
                <a:solidFill>
                  <a:srgbClr val="B5C8D8"/>
                </a:solidFill>
                <a:latin typeface="Microsoft YaHei"/>
                <a:ea typeface="Microsoft YaHei"/>
                <a:cs typeface="Microsoft YaHei"/>
              </a:defRPr>
            </a:pPr>
            <a:r>
              <a:rPr sz="1050">
                <a:solidFill>
                  <a:srgbClr val="B5C8D8"/>
                </a:solidFill>
                <a:latin typeface="Microsoft YaHei"/>
                <a:ea typeface="Microsoft YaHei"/>
                <a:cs typeface="Microsoft YaHei"/>
              </a:rPr>
              <a:t>推荐评分</a:t>
            </a:r>
          </a:p>
          <a:p>
            <a:pPr algn="ctr">
              <a:lnSpc>
                <a:spcPct val="108000"/>
              </a:lnSpc>
              <a:buNone/>
              <a:defRPr sz="1050">
                <a:solidFill>
                  <a:srgbClr val="B5C8D8"/>
                </a:solidFill>
                <a:latin typeface="Microsoft YaHei"/>
                <a:ea typeface="Microsoft YaHei"/>
                <a:cs typeface="Microsoft YaHei"/>
              </a:defRPr>
            </a:pPr>
            <a:r>
              <a:rPr sz="1050">
                <a:solidFill>
                  <a:srgbClr val="B5C8D8"/>
                </a:solidFill>
                <a:latin typeface="Microsoft YaHei"/>
                <a:ea typeface="Microsoft YaHei"/>
                <a:cs typeface="Microsoft YaHei"/>
              </a:rPr>
              <a:t>EM + Optuna</a:t>
            </a:r>
          </a:p>
        </p:txBody>
      </p:sp>
      <p:sp>
        <p:nvSpPr>
          <p:cNvPr id="24" name="右箭头 23">
            <a:extLst>
              <a:ext uri="{FF2B5EF4-FFF2-40B4-BE49-F238E27FC236}">
                <a16:creationId xmlns:a16="http://schemas.microsoft.com/office/drawing/2014/main" id="{5AA033E5-B09B-4E14-B89C-039F6FDFC7B4}"/>
              </a:ext>
            </a:extLst>
          </p:cNvPr>
          <p:cNvSpPr>
            <a:spLocks noGrp="1"/>
          </p:cNvSpPr>
          <p:nvPr/>
        </p:nvSpPr>
        <p:spPr>
          <a:xfrm>
            <a:off x="6819900" y="2914650"/>
            <a:ext cx="457200" cy="323850"/>
          </a:xfrm>
          <a:prstGeom prst="rightArrow">
            <a:avLst/>
          </a:prstGeom>
          <a:solidFill>
            <a:srgbClr val="E2B84B"/>
          </a:solidFill>
          <a:ln w="0">
            <a:noFill/>
            <a:prstDash val="solid"/>
          </a:ln>
        </p:spPr>
        <p:txBody>
          <a:bodyPr/>
          <a:lstStyle/>
          <a:p>
            <a:endParaRPr lang="zh-CN" altLang="en-US"/>
          </a:p>
        </p:txBody>
      </p:sp>
      <p:sp>
        <p:nvSpPr>
          <p:cNvPr id="25" name="圆角矩形 24">
            <a:extLst>
              <a:ext uri="{FF2B5EF4-FFF2-40B4-BE49-F238E27FC236}">
                <a16:creationId xmlns:a16="http://schemas.microsoft.com/office/drawing/2014/main" id="{087B2B3B-2C15-4D21-8659-6E1A8453E92F}"/>
              </a:ext>
            </a:extLst>
          </p:cNvPr>
          <p:cNvSpPr>
            <a:spLocks noGrp="1"/>
          </p:cNvSpPr>
          <p:nvPr/>
        </p:nvSpPr>
        <p:spPr>
          <a:xfrm>
            <a:off x="7315200" y="2400300"/>
            <a:ext cx="1695450" cy="1314450"/>
          </a:xfrm>
          <a:prstGeom prst="roundRect">
            <a:avLst>
              <a:gd name="adj" fmla="val 8696"/>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26" name="圆角矩形 25">
            <a:extLst>
              <a:ext uri="{FF2B5EF4-FFF2-40B4-BE49-F238E27FC236}">
                <a16:creationId xmlns:a16="http://schemas.microsoft.com/office/drawing/2014/main" id="{81B1F7EF-F46D-4B18-9277-77A9CDCFD307}"/>
              </a:ext>
            </a:extLst>
          </p:cNvPr>
          <p:cNvSpPr>
            <a:spLocks noGrp="1"/>
          </p:cNvSpPr>
          <p:nvPr/>
        </p:nvSpPr>
        <p:spPr>
          <a:xfrm>
            <a:off x="7315200" y="2400300"/>
            <a:ext cx="47625" cy="1314450"/>
          </a:xfrm>
          <a:prstGeom prst="roundRect">
            <a:avLst>
              <a:gd name="adj" fmla="val 50000"/>
            </a:avLst>
          </a:prstGeom>
          <a:solidFill>
            <a:srgbClr val="19D9FF"/>
          </a:solidFill>
          <a:ln w="0">
            <a:noFill/>
            <a:prstDash val="solid"/>
          </a:ln>
        </p:spPr>
        <p:txBody>
          <a:bodyPr/>
          <a:lstStyle/>
          <a:p>
            <a:endParaRPr lang="zh-CN" altLang="en-US"/>
          </a:p>
        </p:txBody>
      </p:sp>
      <p:sp>
        <p:nvSpPr>
          <p:cNvPr id="27" name="矩形 26">
            <a:extLst>
              <a:ext uri="{FF2B5EF4-FFF2-40B4-BE49-F238E27FC236}">
                <a16:creationId xmlns:a16="http://schemas.microsoft.com/office/drawing/2014/main" id="{CF055AE0-C794-4E39-9ADF-99863DF5C11B}"/>
              </a:ext>
            </a:extLst>
          </p:cNvPr>
          <p:cNvSpPr>
            <a:spLocks noGrp="1"/>
          </p:cNvSpPr>
          <p:nvPr/>
        </p:nvSpPr>
        <p:spPr>
          <a:xfrm>
            <a:off x="7486650" y="2724150"/>
            <a:ext cx="1352550" cy="266700"/>
          </a:xfrm>
          <a:prstGeom prst="rect">
            <a:avLst/>
          </a:prstGeom>
          <a:noFill/>
          <a:ln w="0">
            <a:noFill/>
            <a:prstDash val="solid"/>
          </a:ln>
        </p:spPr>
        <p:txBody>
          <a:bodyPr lIns="0" tIns="0" rIns="0" bIns="0"/>
          <a:lstStyle/>
          <a:p>
            <a:pPr algn="ctr">
              <a:lnSpc>
                <a:spcPct val="108000"/>
              </a:lnSpc>
              <a:buNone/>
              <a:defRPr sz="1650" b="1">
                <a:solidFill>
                  <a:srgbClr val="74F0FF"/>
                </a:solidFill>
                <a:latin typeface="Microsoft YaHei"/>
                <a:ea typeface="Microsoft YaHei"/>
                <a:cs typeface="Microsoft YaHei"/>
              </a:defRPr>
            </a:pPr>
            <a:r>
              <a:rPr sz="1650" b="1">
                <a:solidFill>
                  <a:srgbClr val="74F0FF"/>
                </a:solidFill>
                <a:latin typeface="Microsoft YaHei"/>
                <a:ea typeface="Microsoft YaHei"/>
                <a:cs typeface="Microsoft YaHei"/>
              </a:rPr>
              <a:t>在线仿真</a:t>
            </a:r>
          </a:p>
        </p:txBody>
      </p:sp>
      <p:sp>
        <p:nvSpPr>
          <p:cNvPr id="28" name="矩形 27">
            <a:extLst>
              <a:ext uri="{FF2B5EF4-FFF2-40B4-BE49-F238E27FC236}">
                <a16:creationId xmlns:a16="http://schemas.microsoft.com/office/drawing/2014/main" id="{C1B4B741-F530-42D2-B963-F6E473C1BD8B}"/>
              </a:ext>
            </a:extLst>
          </p:cNvPr>
          <p:cNvSpPr>
            <a:spLocks noGrp="1"/>
          </p:cNvSpPr>
          <p:nvPr/>
        </p:nvSpPr>
        <p:spPr>
          <a:xfrm>
            <a:off x="7486650" y="3162300"/>
            <a:ext cx="1352550" cy="419100"/>
          </a:xfrm>
          <a:prstGeom prst="rect">
            <a:avLst/>
          </a:prstGeom>
          <a:noFill/>
          <a:ln w="0">
            <a:noFill/>
            <a:prstDash val="solid"/>
          </a:ln>
        </p:spPr>
        <p:txBody>
          <a:bodyPr lIns="0" tIns="0" rIns="0" bIns="0"/>
          <a:lstStyle/>
          <a:p>
            <a:pPr algn="ctr">
              <a:lnSpc>
                <a:spcPct val="108000"/>
              </a:lnSpc>
              <a:buNone/>
              <a:defRPr sz="1050">
                <a:solidFill>
                  <a:srgbClr val="B5C8D8"/>
                </a:solidFill>
                <a:latin typeface="Microsoft YaHei"/>
                <a:ea typeface="Microsoft YaHei"/>
                <a:cs typeface="Microsoft YaHei"/>
              </a:defRPr>
            </a:pPr>
            <a:r>
              <a:rPr sz="1050">
                <a:solidFill>
                  <a:srgbClr val="B5C8D8"/>
                </a:solidFill>
                <a:latin typeface="Microsoft YaHei"/>
                <a:ea typeface="Microsoft YaHei"/>
                <a:cs typeface="Microsoft YaHei"/>
              </a:rPr>
              <a:t>Feed 排序</a:t>
            </a:r>
          </a:p>
          <a:p>
            <a:pPr algn="ctr">
              <a:lnSpc>
                <a:spcPct val="108000"/>
              </a:lnSpc>
              <a:buNone/>
              <a:defRPr sz="1050">
                <a:solidFill>
                  <a:srgbClr val="B5C8D8"/>
                </a:solidFill>
                <a:latin typeface="Microsoft YaHei"/>
                <a:ea typeface="Microsoft YaHei"/>
                <a:cs typeface="Microsoft YaHei"/>
              </a:defRPr>
            </a:pPr>
            <a:r>
              <a:rPr sz="1050">
                <a:solidFill>
                  <a:srgbClr val="B5C8D8"/>
                </a:solidFill>
                <a:latin typeface="Microsoft YaHei"/>
                <a:ea typeface="Microsoft YaHei"/>
                <a:cs typeface="Microsoft YaHei"/>
              </a:rPr>
              <a:t>Agent 决策、归档</a:t>
            </a:r>
          </a:p>
        </p:txBody>
      </p:sp>
      <p:sp>
        <p:nvSpPr>
          <p:cNvPr id="29" name="右箭头 28">
            <a:extLst>
              <a:ext uri="{FF2B5EF4-FFF2-40B4-BE49-F238E27FC236}">
                <a16:creationId xmlns:a16="http://schemas.microsoft.com/office/drawing/2014/main" id="{502A4486-E541-4254-B4F1-7EA943ADC20A}"/>
              </a:ext>
            </a:extLst>
          </p:cNvPr>
          <p:cNvSpPr>
            <a:spLocks noGrp="1"/>
          </p:cNvSpPr>
          <p:nvPr/>
        </p:nvSpPr>
        <p:spPr>
          <a:xfrm>
            <a:off x="8991600" y="2914650"/>
            <a:ext cx="457200" cy="323850"/>
          </a:xfrm>
          <a:prstGeom prst="rightArrow">
            <a:avLst/>
          </a:prstGeom>
          <a:solidFill>
            <a:srgbClr val="E2B84B"/>
          </a:solidFill>
          <a:ln w="0">
            <a:noFill/>
            <a:prstDash val="solid"/>
          </a:ln>
        </p:spPr>
        <p:txBody>
          <a:bodyPr/>
          <a:lstStyle/>
          <a:p>
            <a:endParaRPr lang="zh-CN" altLang="en-US"/>
          </a:p>
        </p:txBody>
      </p:sp>
      <p:sp>
        <p:nvSpPr>
          <p:cNvPr id="30" name="圆角矩形 29">
            <a:extLst>
              <a:ext uri="{FF2B5EF4-FFF2-40B4-BE49-F238E27FC236}">
                <a16:creationId xmlns:a16="http://schemas.microsoft.com/office/drawing/2014/main" id="{319DACFF-138C-4EA8-9EF5-65BB34C83D45}"/>
              </a:ext>
            </a:extLst>
          </p:cNvPr>
          <p:cNvSpPr>
            <a:spLocks noGrp="1"/>
          </p:cNvSpPr>
          <p:nvPr/>
        </p:nvSpPr>
        <p:spPr>
          <a:xfrm>
            <a:off x="9486900" y="2400300"/>
            <a:ext cx="1695450" cy="1314450"/>
          </a:xfrm>
          <a:prstGeom prst="roundRect">
            <a:avLst>
              <a:gd name="adj" fmla="val 8696"/>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31" name="圆角矩形 30">
            <a:extLst>
              <a:ext uri="{FF2B5EF4-FFF2-40B4-BE49-F238E27FC236}">
                <a16:creationId xmlns:a16="http://schemas.microsoft.com/office/drawing/2014/main" id="{F6895597-CA48-4C1C-A3D1-A3F6933F54FA}"/>
              </a:ext>
            </a:extLst>
          </p:cNvPr>
          <p:cNvSpPr>
            <a:spLocks noGrp="1"/>
          </p:cNvSpPr>
          <p:nvPr/>
        </p:nvSpPr>
        <p:spPr>
          <a:xfrm>
            <a:off x="9486900" y="2400300"/>
            <a:ext cx="47625" cy="1314450"/>
          </a:xfrm>
          <a:prstGeom prst="roundRect">
            <a:avLst>
              <a:gd name="adj" fmla="val 50000"/>
            </a:avLst>
          </a:prstGeom>
          <a:solidFill>
            <a:srgbClr val="19D9FF"/>
          </a:solidFill>
          <a:ln w="0">
            <a:noFill/>
            <a:prstDash val="solid"/>
          </a:ln>
        </p:spPr>
        <p:txBody>
          <a:bodyPr/>
          <a:lstStyle/>
          <a:p>
            <a:endParaRPr lang="zh-CN" altLang="en-US"/>
          </a:p>
        </p:txBody>
      </p:sp>
      <p:sp>
        <p:nvSpPr>
          <p:cNvPr id="32" name="矩形 31">
            <a:extLst>
              <a:ext uri="{FF2B5EF4-FFF2-40B4-BE49-F238E27FC236}">
                <a16:creationId xmlns:a16="http://schemas.microsoft.com/office/drawing/2014/main" id="{C0FC9CF6-A446-49ED-9902-779AA3CB96CD}"/>
              </a:ext>
            </a:extLst>
          </p:cNvPr>
          <p:cNvSpPr>
            <a:spLocks noGrp="1"/>
          </p:cNvSpPr>
          <p:nvPr/>
        </p:nvSpPr>
        <p:spPr>
          <a:xfrm>
            <a:off x="9658350" y="2724150"/>
            <a:ext cx="1352550" cy="266700"/>
          </a:xfrm>
          <a:prstGeom prst="rect">
            <a:avLst/>
          </a:prstGeom>
          <a:noFill/>
          <a:ln w="0">
            <a:noFill/>
            <a:prstDash val="solid"/>
          </a:ln>
        </p:spPr>
        <p:txBody>
          <a:bodyPr lIns="0" tIns="0" rIns="0" bIns="0"/>
          <a:lstStyle/>
          <a:p>
            <a:pPr algn="ctr">
              <a:lnSpc>
                <a:spcPct val="108000"/>
              </a:lnSpc>
              <a:buNone/>
              <a:defRPr sz="1650" b="1">
                <a:solidFill>
                  <a:srgbClr val="74F0FF"/>
                </a:solidFill>
                <a:latin typeface="Microsoft YaHei"/>
                <a:ea typeface="Microsoft YaHei"/>
                <a:cs typeface="Microsoft YaHei"/>
              </a:defRPr>
            </a:pPr>
            <a:r>
              <a:rPr sz="1650" b="1">
                <a:solidFill>
                  <a:srgbClr val="74F0FF"/>
                </a:solidFill>
                <a:latin typeface="Microsoft YaHei"/>
                <a:ea typeface="Microsoft YaHei"/>
                <a:cs typeface="Microsoft YaHei"/>
              </a:rPr>
              <a:t>验证反馈</a:t>
            </a:r>
          </a:p>
        </p:txBody>
      </p:sp>
      <p:sp>
        <p:nvSpPr>
          <p:cNvPr id="33" name="矩形 32">
            <a:extLst>
              <a:ext uri="{FF2B5EF4-FFF2-40B4-BE49-F238E27FC236}">
                <a16:creationId xmlns:a16="http://schemas.microsoft.com/office/drawing/2014/main" id="{CD3501CC-54E4-40DB-89C5-0C3D40039C92}"/>
              </a:ext>
            </a:extLst>
          </p:cNvPr>
          <p:cNvSpPr>
            <a:spLocks noGrp="1"/>
          </p:cNvSpPr>
          <p:nvPr/>
        </p:nvSpPr>
        <p:spPr>
          <a:xfrm>
            <a:off x="9658350" y="3162300"/>
            <a:ext cx="1352550" cy="419100"/>
          </a:xfrm>
          <a:prstGeom prst="rect">
            <a:avLst/>
          </a:prstGeom>
          <a:noFill/>
          <a:ln w="0">
            <a:noFill/>
            <a:prstDash val="solid"/>
          </a:ln>
        </p:spPr>
        <p:txBody>
          <a:bodyPr lIns="0" tIns="0" rIns="0" bIns="0"/>
          <a:lstStyle/>
          <a:p>
            <a:pPr algn="ctr">
              <a:lnSpc>
                <a:spcPct val="108000"/>
              </a:lnSpc>
              <a:buNone/>
              <a:defRPr sz="1050">
                <a:solidFill>
                  <a:srgbClr val="B5C8D8"/>
                </a:solidFill>
                <a:latin typeface="Microsoft YaHei"/>
                <a:ea typeface="Microsoft YaHei"/>
                <a:cs typeface="Microsoft YaHei"/>
              </a:defRPr>
            </a:pPr>
            <a:r>
              <a:rPr sz="1050">
                <a:solidFill>
                  <a:srgbClr val="B5C8D8"/>
                </a:solidFill>
                <a:latin typeface="Microsoft YaHei"/>
                <a:ea typeface="Microsoft YaHei"/>
                <a:cs typeface="Microsoft YaHei"/>
              </a:rPr>
              <a:t>DTW / Pearson</a:t>
            </a:r>
          </a:p>
          <a:p>
            <a:pPr algn="ctr">
              <a:lnSpc>
                <a:spcPct val="108000"/>
              </a:lnSpc>
              <a:buNone/>
              <a:defRPr sz="1050">
                <a:solidFill>
                  <a:srgbClr val="B5C8D8"/>
                </a:solidFill>
                <a:latin typeface="Microsoft YaHei"/>
                <a:ea typeface="Microsoft YaHei"/>
                <a:cs typeface="Microsoft YaHei"/>
              </a:defRPr>
            </a:pPr>
            <a:r>
              <a:rPr sz="1050">
                <a:solidFill>
                  <a:srgbClr val="B5C8D8"/>
                </a:solidFill>
                <a:latin typeface="Microsoft YaHei"/>
                <a:ea typeface="Microsoft YaHei"/>
                <a:cs typeface="Microsoft YaHei"/>
              </a:rPr>
              <a:t>MAE / 消融</a:t>
            </a:r>
          </a:p>
        </p:txBody>
      </p:sp>
      <p:sp>
        <p:nvSpPr>
          <p:cNvPr id="34" name="圆角矩形 33">
            <a:extLst>
              <a:ext uri="{FF2B5EF4-FFF2-40B4-BE49-F238E27FC236}">
                <a16:creationId xmlns:a16="http://schemas.microsoft.com/office/drawing/2014/main" id="{B462517C-960C-4801-BC67-006FB05C45BA}"/>
              </a:ext>
            </a:extLst>
          </p:cNvPr>
          <p:cNvSpPr>
            <a:spLocks noGrp="1"/>
          </p:cNvSpPr>
          <p:nvPr/>
        </p:nvSpPr>
        <p:spPr>
          <a:xfrm>
            <a:off x="1619250" y="4857750"/>
            <a:ext cx="8953500" cy="647700"/>
          </a:xfrm>
          <a:prstGeom prst="roundRect">
            <a:avLst>
              <a:gd name="adj" fmla="val 17647"/>
            </a:avLst>
          </a:prstGeom>
          <a:solidFill>
            <a:srgbClr val="0B2038">
              <a:alpha val="82000"/>
            </a:srgbClr>
          </a:solidFill>
          <a:ln w="13335">
            <a:solidFill>
              <a:srgbClr val="26D9FF">
                <a:alpha val="42000"/>
              </a:srgbClr>
            </a:solidFill>
            <a:prstDash val="solid"/>
          </a:ln>
        </p:spPr>
        <p:txBody>
          <a:bodyPr/>
          <a:lstStyle/>
          <a:p>
            <a:endParaRPr lang="zh-CN" altLang="en-US"/>
          </a:p>
        </p:txBody>
      </p:sp>
      <p:sp>
        <p:nvSpPr>
          <p:cNvPr id="35" name="圆角矩形 34">
            <a:extLst>
              <a:ext uri="{FF2B5EF4-FFF2-40B4-BE49-F238E27FC236}">
                <a16:creationId xmlns:a16="http://schemas.microsoft.com/office/drawing/2014/main" id="{C804ABDB-7FE5-416C-8298-82B42980E750}"/>
              </a:ext>
            </a:extLst>
          </p:cNvPr>
          <p:cNvSpPr>
            <a:spLocks noGrp="1"/>
          </p:cNvSpPr>
          <p:nvPr/>
        </p:nvSpPr>
        <p:spPr>
          <a:xfrm>
            <a:off x="1619250" y="4857750"/>
            <a:ext cx="47625" cy="647700"/>
          </a:xfrm>
          <a:prstGeom prst="roundRect">
            <a:avLst>
              <a:gd name="adj" fmla="val 50000"/>
            </a:avLst>
          </a:prstGeom>
          <a:solidFill>
            <a:srgbClr val="37E6C4"/>
          </a:solidFill>
          <a:ln w="0">
            <a:noFill/>
            <a:prstDash val="solid"/>
          </a:ln>
        </p:spPr>
        <p:txBody>
          <a:bodyPr/>
          <a:lstStyle/>
          <a:p>
            <a:endParaRPr lang="zh-CN" altLang="en-US"/>
          </a:p>
        </p:txBody>
      </p:sp>
      <p:sp>
        <p:nvSpPr>
          <p:cNvPr id="36" name="矩形 35">
            <a:extLst>
              <a:ext uri="{FF2B5EF4-FFF2-40B4-BE49-F238E27FC236}">
                <a16:creationId xmlns:a16="http://schemas.microsoft.com/office/drawing/2014/main" id="{7462CACA-AA8C-49A8-8C81-8D9325D06FF0}"/>
              </a:ext>
            </a:extLst>
          </p:cNvPr>
          <p:cNvSpPr>
            <a:spLocks noGrp="1"/>
          </p:cNvSpPr>
          <p:nvPr/>
        </p:nvSpPr>
        <p:spPr>
          <a:xfrm>
            <a:off x="2000250" y="5048250"/>
            <a:ext cx="8191500" cy="247650"/>
          </a:xfrm>
          <a:prstGeom prst="rect">
            <a:avLst/>
          </a:prstGeom>
          <a:noFill/>
          <a:ln w="0">
            <a:noFill/>
            <a:prstDash val="solid"/>
          </a:ln>
        </p:spPr>
        <p:txBody>
          <a:bodyPr lIns="0" tIns="0" rIns="0" bIns="0"/>
          <a:lstStyle/>
          <a:p>
            <a:pPr algn="ctr">
              <a:lnSpc>
                <a:spcPct val="108000"/>
              </a:lnSpc>
              <a:buNone/>
              <a:defRPr sz="1725" b="1">
                <a:solidFill>
                  <a:srgbClr val="74F0FF"/>
                </a:solidFill>
                <a:latin typeface="Microsoft YaHei"/>
                <a:ea typeface="Microsoft YaHei"/>
                <a:cs typeface="Microsoft YaHei"/>
              </a:defRPr>
            </a:pPr>
            <a:r>
              <a:rPr sz="1725" b="1">
                <a:solidFill>
                  <a:srgbClr val="74F0FF"/>
                </a:solidFill>
                <a:latin typeface="Microsoft YaHei"/>
                <a:ea typeface="Microsoft YaHei"/>
                <a:cs typeface="Microsoft YaHei"/>
              </a:rPr>
              <a:t>单一配置中枢：calibration_profile.yaml 连接离线校准与在线推荐服务</a:t>
            </a:r>
          </a:p>
        </p:txBody>
      </p:sp>
    </p:spTree>
    <p:extLst>
      <p:ext uri="{BB962C8B-B14F-4D97-AF65-F5344CB8AC3E}">
        <p14:creationId xmlns:p14="http://schemas.microsoft.com/office/powerpoint/2010/main" val="203176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5A86916F-8754-40C8-92EF-712B666724B5}"/>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04105680-8E6A-49CD-998A-182D8C617A4A}"/>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5614A9CA-1A42-4959-94CD-4810877A4EDC}"/>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39" name="图片 38"/>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C86BE013-F3D9-4B99-9062-9E45D0790B45}"/>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04  技术路线与方案</a:t>
            </a:r>
          </a:p>
        </p:txBody>
      </p:sp>
      <p:sp>
        <p:nvSpPr>
          <p:cNvPr id="7" name="矩形 6">
            <a:extLst>
              <a:ext uri="{FF2B5EF4-FFF2-40B4-BE49-F238E27FC236}">
                <a16:creationId xmlns:a16="http://schemas.microsoft.com/office/drawing/2014/main" id="{678E0383-3C58-412F-A6D6-FD0B0607DAB2}"/>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核心模块一：用户画像生成</a:t>
            </a:r>
          </a:p>
        </p:txBody>
      </p:sp>
      <p:sp>
        <p:nvSpPr>
          <p:cNvPr id="8" name="圆角矩形 7">
            <a:extLst>
              <a:ext uri="{FF2B5EF4-FFF2-40B4-BE49-F238E27FC236}">
                <a16:creationId xmlns:a16="http://schemas.microsoft.com/office/drawing/2014/main" id="{0011BFCF-1D0E-413C-BB38-B429150FE6DF}"/>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9ABBD699-6F41-43AB-9F88-E671912626C4}"/>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09</a:t>
            </a:r>
          </a:p>
        </p:txBody>
      </p:sp>
      <p:sp>
        <p:nvSpPr>
          <p:cNvPr id="10" name="圆角矩形 9">
            <a:extLst>
              <a:ext uri="{FF2B5EF4-FFF2-40B4-BE49-F238E27FC236}">
                <a16:creationId xmlns:a16="http://schemas.microsoft.com/office/drawing/2014/main" id="{BB2281F1-0837-4CE3-8D46-D85C3C7A317A}"/>
              </a:ext>
            </a:extLst>
          </p:cNvPr>
          <p:cNvSpPr>
            <a:spLocks noGrp="1"/>
          </p:cNvSpPr>
          <p:nvPr/>
        </p:nvSpPr>
        <p:spPr>
          <a:xfrm>
            <a:off x="952500" y="1752600"/>
            <a:ext cx="3524250" cy="3619500"/>
          </a:xfrm>
          <a:prstGeom prst="roundRect">
            <a:avLst>
              <a:gd name="adj" fmla="val 3243"/>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11" name="圆角矩形 10">
            <a:extLst>
              <a:ext uri="{FF2B5EF4-FFF2-40B4-BE49-F238E27FC236}">
                <a16:creationId xmlns:a16="http://schemas.microsoft.com/office/drawing/2014/main" id="{ECFA6A9A-91B0-4650-8059-8268BEFBAA7A}"/>
              </a:ext>
            </a:extLst>
          </p:cNvPr>
          <p:cNvSpPr>
            <a:spLocks noGrp="1"/>
          </p:cNvSpPr>
          <p:nvPr/>
        </p:nvSpPr>
        <p:spPr>
          <a:xfrm>
            <a:off x="952500" y="1752600"/>
            <a:ext cx="47625" cy="3619500"/>
          </a:xfrm>
          <a:prstGeom prst="roundRect">
            <a:avLst>
              <a:gd name="adj" fmla="val 50000"/>
            </a:avLst>
          </a:prstGeom>
          <a:solidFill>
            <a:srgbClr val="37E6C4"/>
          </a:solidFill>
          <a:ln w="0">
            <a:noFill/>
            <a:prstDash val="solid"/>
          </a:ln>
        </p:spPr>
        <p:txBody>
          <a:bodyPr/>
          <a:lstStyle/>
          <a:p>
            <a:endParaRPr lang="zh-CN" altLang="en-US"/>
          </a:p>
        </p:txBody>
      </p:sp>
      <p:sp>
        <p:nvSpPr>
          <p:cNvPr id="12" name="矩形 11">
            <a:extLst>
              <a:ext uri="{FF2B5EF4-FFF2-40B4-BE49-F238E27FC236}">
                <a16:creationId xmlns:a16="http://schemas.microsoft.com/office/drawing/2014/main" id="{368B93A5-B435-4F1A-BB3B-EE94BA0017BB}"/>
              </a:ext>
            </a:extLst>
          </p:cNvPr>
          <p:cNvSpPr>
            <a:spLocks noGrp="1"/>
          </p:cNvSpPr>
          <p:nvPr/>
        </p:nvSpPr>
        <p:spPr>
          <a:xfrm>
            <a:off x="1295400" y="2133600"/>
            <a:ext cx="2286000" cy="304800"/>
          </a:xfrm>
          <a:prstGeom prst="rect">
            <a:avLst/>
          </a:prstGeom>
          <a:noFill/>
          <a:ln w="0">
            <a:noFill/>
            <a:prstDash val="solid"/>
          </a:ln>
        </p:spPr>
        <p:txBody>
          <a:bodyPr lIns="0" tIns="0" rIns="0" bIns="0"/>
          <a:lstStyle/>
          <a:p>
            <a:pPr>
              <a:lnSpc>
                <a:spcPct val="108000"/>
              </a:lnSpc>
              <a:buNone/>
              <a:defRPr sz="2025" b="1">
                <a:solidFill>
                  <a:srgbClr val="37E6C4"/>
                </a:solidFill>
                <a:latin typeface="Microsoft YaHei"/>
                <a:ea typeface="Microsoft YaHei"/>
                <a:cs typeface="Microsoft YaHei"/>
              </a:defRPr>
            </a:pPr>
            <a:r>
              <a:rPr sz="2025" b="1">
                <a:solidFill>
                  <a:srgbClr val="37E6C4"/>
                </a:solidFill>
                <a:latin typeface="Microsoft YaHei"/>
                <a:ea typeface="Microsoft YaHei"/>
                <a:cs typeface="Microsoft YaHei"/>
              </a:rPr>
              <a:t>输入与特征</a:t>
            </a:r>
          </a:p>
        </p:txBody>
      </p:sp>
      <p:sp>
        <p:nvSpPr>
          <p:cNvPr id="13" name="椭圆 12">
            <a:extLst>
              <a:ext uri="{FF2B5EF4-FFF2-40B4-BE49-F238E27FC236}">
                <a16:creationId xmlns:a16="http://schemas.microsoft.com/office/drawing/2014/main" id="{4B8897D4-656B-4CBB-891F-114317FEBEF2}"/>
              </a:ext>
            </a:extLst>
          </p:cNvPr>
          <p:cNvSpPr>
            <a:spLocks noGrp="1"/>
          </p:cNvSpPr>
          <p:nvPr/>
        </p:nvSpPr>
        <p:spPr>
          <a:xfrm>
            <a:off x="1333500" y="2895600"/>
            <a:ext cx="114300" cy="114300"/>
          </a:xfrm>
          <a:prstGeom prst="ellipse">
            <a:avLst/>
          </a:prstGeom>
          <a:solidFill>
            <a:srgbClr val="37E6C4"/>
          </a:solidFill>
          <a:ln w="0">
            <a:noFill/>
            <a:prstDash val="solid"/>
          </a:ln>
        </p:spPr>
        <p:txBody>
          <a:bodyPr/>
          <a:lstStyle/>
          <a:p>
            <a:endParaRPr lang="zh-CN" altLang="en-US"/>
          </a:p>
        </p:txBody>
      </p:sp>
      <p:sp>
        <p:nvSpPr>
          <p:cNvPr id="14" name="矩形 13">
            <a:extLst>
              <a:ext uri="{FF2B5EF4-FFF2-40B4-BE49-F238E27FC236}">
                <a16:creationId xmlns:a16="http://schemas.microsoft.com/office/drawing/2014/main" id="{2AAF3E1D-0DCC-4BC0-AFE3-EC6F95B25844}"/>
              </a:ext>
            </a:extLst>
          </p:cNvPr>
          <p:cNvSpPr>
            <a:spLocks noGrp="1"/>
          </p:cNvSpPr>
          <p:nvPr/>
        </p:nvSpPr>
        <p:spPr>
          <a:xfrm>
            <a:off x="1581150" y="2838450"/>
            <a:ext cx="2324100" cy="438150"/>
          </a:xfrm>
          <a:prstGeom prst="rect">
            <a:avLst/>
          </a:prstGeom>
          <a:noFill/>
          <a:ln w="0">
            <a:noFill/>
            <a:prstDash val="solid"/>
          </a:ln>
        </p:spPr>
        <p:txBody>
          <a:bodyPr lIns="0" tIns="0" rIns="0" bIns="0"/>
          <a:lstStyle/>
          <a:p>
            <a:pPr>
              <a:lnSpc>
                <a:spcPct val="112000"/>
              </a:lnSpc>
              <a:buNone/>
              <a:defRPr sz="1350">
                <a:solidFill>
                  <a:srgbClr val="F6FBFF"/>
                </a:solidFill>
                <a:latin typeface="Microsoft YaHei"/>
                <a:ea typeface="Microsoft YaHei"/>
                <a:cs typeface="Microsoft YaHei"/>
              </a:defRPr>
            </a:pPr>
            <a:r>
              <a:rPr sz="1350">
                <a:solidFill>
                  <a:srgbClr val="F6FBFF"/>
                </a:solidFill>
                <a:latin typeface="Microsoft YaHei"/>
                <a:ea typeface="Microsoft YaHei"/>
                <a:cs typeface="Microsoft YaHei"/>
              </a:rPr>
              <a:t>user/post 原始数据</a:t>
            </a:r>
          </a:p>
        </p:txBody>
      </p:sp>
      <p:sp>
        <p:nvSpPr>
          <p:cNvPr id="15" name="椭圆 14">
            <a:extLst>
              <a:ext uri="{FF2B5EF4-FFF2-40B4-BE49-F238E27FC236}">
                <a16:creationId xmlns:a16="http://schemas.microsoft.com/office/drawing/2014/main" id="{22C4CBB5-AA30-470F-9A5B-DA7AC26D37A9}"/>
              </a:ext>
            </a:extLst>
          </p:cNvPr>
          <p:cNvSpPr>
            <a:spLocks noGrp="1"/>
          </p:cNvSpPr>
          <p:nvPr/>
        </p:nvSpPr>
        <p:spPr>
          <a:xfrm>
            <a:off x="1333500" y="3352800"/>
            <a:ext cx="114300" cy="114300"/>
          </a:xfrm>
          <a:prstGeom prst="ellipse">
            <a:avLst/>
          </a:prstGeom>
          <a:solidFill>
            <a:srgbClr val="37E6C4"/>
          </a:solidFill>
          <a:ln w="0">
            <a:noFill/>
            <a:prstDash val="solid"/>
          </a:ln>
        </p:spPr>
        <p:txBody>
          <a:bodyPr/>
          <a:lstStyle/>
          <a:p>
            <a:endParaRPr lang="zh-CN" altLang="en-US"/>
          </a:p>
        </p:txBody>
      </p:sp>
      <p:sp>
        <p:nvSpPr>
          <p:cNvPr id="16" name="矩形 15">
            <a:extLst>
              <a:ext uri="{FF2B5EF4-FFF2-40B4-BE49-F238E27FC236}">
                <a16:creationId xmlns:a16="http://schemas.microsoft.com/office/drawing/2014/main" id="{95176432-04F6-46C5-984A-B7AE64FF1500}"/>
              </a:ext>
            </a:extLst>
          </p:cNvPr>
          <p:cNvSpPr>
            <a:spLocks noGrp="1"/>
          </p:cNvSpPr>
          <p:nvPr/>
        </p:nvSpPr>
        <p:spPr>
          <a:xfrm>
            <a:off x="1581150" y="3295650"/>
            <a:ext cx="2324100" cy="438150"/>
          </a:xfrm>
          <a:prstGeom prst="rect">
            <a:avLst/>
          </a:prstGeom>
          <a:noFill/>
          <a:ln w="0">
            <a:noFill/>
            <a:prstDash val="solid"/>
          </a:ln>
        </p:spPr>
        <p:txBody>
          <a:bodyPr lIns="0" tIns="0" rIns="0" bIns="0"/>
          <a:lstStyle/>
          <a:p>
            <a:pPr>
              <a:lnSpc>
                <a:spcPct val="112000"/>
              </a:lnSpc>
              <a:buNone/>
              <a:defRPr sz="1350">
                <a:solidFill>
                  <a:srgbClr val="F6FBFF"/>
                </a:solidFill>
                <a:latin typeface="Microsoft YaHei"/>
                <a:ea typeface="Microsoft YaHei"/>
                <a:cs typeface="Microsoft YaHei"/>
              </a:defRPr>
            </a:pPr>
            <a:r>
              <a:rPr sz="1350">
                <a:solidFill>
                  <a:srgbClr val="F6FBFF"/>
                </a:solidFill>
                <a:latin typeface="Microsoft YaHei"/>
                <a:ea typeface="Microsoft YaHei"/>
                <a:cs typeface="Microsoft YaHei"/>
              </a:rPr>
              <a:t>发帖、互动、活跃时段、粉丝数</a:t>
            </a:r>
          </a:p>
        </p:txBody>
      </p:sp>
      <p:sp>
        <p:nvSpPr>
          <p:cNvPr id="17" name="椭圆 16">
            <a:extLst>
              <a:ext uri="{FF2B5EF4-FFF2-40B4-BE49-F238E27FC236}">
                <a16:creationId xmlns:a16="http://schemas.microsoft.com/office/drawing/2014/main" id="{7154D4AA-288E-4A90-B2C7-782B16E3EA50}"/>
              </a:ext>
            </a:extLst>
          </p:cNvPr>
          <p:cNvSpPr>
            <a:spLocks noGrp="1"/>
          </p:cNvSpPr>
          <p:nvPr/>
        </p:nvSpPr>
        <p:spPr>
          <a:xfrm>
            <a:off x="1333500" y="3810000"/>
            <a:ext cx="114300" cy="114300"/>
          </a:xfrm>
          <a:prstGeom prst="ellipse">
            <a:avLst/>
          </a:prstGeom>
          <a:solidFill>
            <a:srgbClr val="37E6C4"/>
          </a:solidFill>
          <a:ln w="0">
            <a:noFill/>
            <a:prstDash val="solid"/>
          </a:ln>
        </p:spPr>
        <p:txBody>
          <a:bodyPr/>
          <a:lstStyle/>
          <a:p>
            <a:endParaRPr lang="zh-CN" altLang="en-US"/>
          </a:p>
        </p:txBody>
      </p:sp>
      <p:sp>
        <p:nvSpPr>
          <p:cNvPr id="18" name="矩形 17">
            <a:extLst>
              <a:ext uri="{FF2B5EF4-FFF2-40B4-BE49-F238E27FC236}">
                <a16:creationId xmlns:a16="http://schemas.microsoft.com/office/drawing/2014/main" id="{1701E38D-A0AB-4180-82D2-5F1030DB73E6}"/>
              </a:ext>
            </a:extLst>
          </p:cNvPr>
          <p:cNvSpPr>
            <a:spLocks noGrp="1"/>
          </p:cNvSpPr>
          <p:nvPr/>
        </p:nvSpPr>
        <p:spPr>
          <a:xfrm>
            <a:off x="1581150" y="3752850"/>
            <a:ext cx="2324100" cy="438150"/>
          </a:xfrm>
          <a:prstGeom prst="rect">
            <a:avLst/>
          </a:prstGeom>
          <a:noFill/>
          <a:ln w="0">
            <a:noFill/>
            <a:prstDash val="solid"/>
          </a:ln>
        </p:spPr>
        <p:txBody>
          <a:bodyPr lIns="0" tIns="0" rIns="0" bIns="0"/>
          <a:lstStyle/>
          <a:p>
            <a:pPr>
              <a:lnSpc>
                <a:spcPct val="112000"/>
              </a:lnSpc>
              <a:buNone/>
              <a:defRPr sz="1350">
                <a:solidFill>
                  <a:srgbClr val="F6FBFF"/>
                </a:solidFill>
                <a:latin typeface="Microsoft YaHei"/>
                <a:ea typeface="Microsoft YaHei"/>
                <a:cs typeface="Microsoft YaHei"/>
              </a:defRPr>
            </a:pPr>
            <a:r>
              <a:rPr sz="1350">
                <a:solidFill>
                  <a:srgbClr val="F6FBFF"/>
                </a:solidFill>
                <a:latin typeface="Microsoft YaHei"/>
                <a:ea typeface="Microsoft YaHei"/>
                <a:cs typeface="Microsoft YaHei"/>
              </a:rPr>
              <a:t>帖子影响力与账号影响力指标</a:t>
            </a:r>
          </a:p>
        </p:txBody>
      </p:sp>
      <p:sp>
        <p:nvSpPr>
          <p:cNvPr id="19" name="椭圆 18">
            <a:extLst>
              <a:ext uri="{FF2B5EF4-FFF2-40B4-BE49-F238E27FC236}">
                <a16:creationId xmlns:a16="http://schemas.microsoft.com/office/drawing/2014/main" id="{70042E7F-BBA0-4DAD-8AE4-AA50400146B3}"/>
              </a:ext>
            </a:extLst>
          </p:cNvPr>
          <p:cNvSpPr>
            <a:spLocks noGrp="1"/>
          </p:cNvSpPr>
          <p:nvPr/>
        </p:nvSpPr>
        <p:spPr>
          <a:xfrm>
            <a:off x="1333500" y="4267200"/>
            <a:ext cx="114300" cy="114300"/>
          </a:xfrm>
          <a:prstGeom prst="ellipse">
            <a:avLst/>
          </a:prstGeom>
          <a:solidFill>
            <a:srgbClr val="37E6C4"/>
          </a:solidFill>
          <a:ln w="0">
            <a:noFill/>
            <a:prstDash val="solid"/>
          </a:ln>
        </p:spPr>
        <p:txBody>
          <a:bodyPr/>
          <a:lstStyle/>
          <a:p>
            <a:endParaRPr lang="zh-CN" altLang="en-US"/>
          </a:p>
        </p:txBody>
      </p:sp>
      <p:sp>
        <p:nvSpPr>
          <p:cNvPr id="20" name="矩形 19">
            <a:extLst>
              <a:ext uri="{FF2B5EF4-FFF2-40B4-BE49-F238E27FC236}">
                <a16:creationId xmlns:a16="http://schemas.microsoft.com/office/drawing/2014/main" id="{495D3784-6A54-4C96-AA23-C603860AF37A}"/>
              </a:ext>
            </a:extLst>
          </p:cNvPr>
          <p:cNvSpPr>
            <a:spLocks noGrp="1"/>
          </p:cNvSpPr>
          <p:nvPr/>
        </p:nvSpPr>
        <p:spPr>
          <a:xfrm>
            <a:off x="1581150" y="4210050"/>
            <a:ext cx="2324100" cy="438150"/>
          </a:xfrm>
          <a:prstGeom prst="rect">
            <a:avLst/>
          </a:prstGeom>
          <a:noFill/>
          <a:ln w="0">
            <a:noFill/>
            <a:prstDash val="solid"/>
          </a:ln>
        </p:spPr>
        <p:txBody>
          <a:bodyPr lIns="0" tIns="0" rIns="0" bIns="0"/>
          <a:lstStyle/>
          <a:p>
            <a:pPr>
              <a:lnSpc>
                <a:spcPct val="112000"/>
              </a:lnSpc>
              <a:buNone/>
              <a:defRPr sz="1350">
                <a:solidFill>
                  <a:srgbClr val="F6FBFF"/>
                </a:solidFill>
                <a:latin typeface="Microsoft YaHei"/>
                <a:ea typeface="Microsoft YaHei"/>
                <a:cs typeface="Microsoft YaHei"/>
              </a:defRPr>
            </a:pPr>
            <a:r>
              <a:rPr sz="1350">
                <a:solidFill>
                  <a:srgbClr val="F6FBFF"/>
                </a:solidFill>
                <a:latin typeface="Microsoft YaHei"/>
                <a:ea typeface="Microsoft YaHei"/>
                <a:cs typeface="Microsoft YaHei"/>
              </a:rPr>
              <a:t>高质量证据帖筛选</a:t>
            </a:r>
          </a:p>
        </p:txBody>
      </p:sp>
      <p:sp>
        <p:nvSpPr>
          <p:cNvPr id="21" name="圆角矩形 20">
            <a:extLst>
              <a:ext uri="{FF2B5EF4-FFF2-40B4-BE49-F238E27FC236}">
                <a16:creationId xmlns:a16="http://schemas.microsoft.com/office/drawing/2014/main" id="{D8C5396D-0139-4A7E-83F0-0521F8584909}"/>
              </a:ext>
            </a:extLst>
          </p:cNvPr>
          <p:cNvSpPr>
            <a:spLocks noGrp="1"/>
          </p:cNvSpPr>
          <p:nvPr/>
        </p:nvSpPr>
        <p:spPr>
          <a:xfrm>
            <a:off x="5048250" y="1752600"/>
            <a:ext cx="5219700" cy="3619500"/>
          </a:xfrm>
          <a:prstGeom prst="roundRect">
            <a:avLst>
              <a:gd name="adj" fmla="val 3158"/>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22" name="圆角矩形 21">
            <a:extLst>
              <a:ext uri="{FF2B5EF4-FFF2-40B4-BE49-F238E27FC236}">
                <a16:creationId xmlns:a16="http://schemas.microsoft.com/office/drawing/2014/main" id="{689F1C15-B7FC-4EFA-ABA9-753593EB7783}"/>
              </a:ext>
            </a:extLst>
          </p:cNvPr>
          <p:cNvSpPr>
            <a:spLocks noGrp="1"/>
          </p:cNvSpPr>
          <p:nvPr/>
        </p:nvSpPr>
        <p:spPr>
          <a:xfrm>
            <a:off x="5048250" y="1752600"/>
            <a:ext cx="47625" cy="3619500"/>
          </a:xfrm>
          <a:prstGeom prst="roundRect">
            <a:avLst>
              <a:gd name="adj" fmla="val 50000"/>
            </a:avLst>
          </a:prstGeom>
          <a:solidFill>
            <a:srgbClr val="E2B84B"/>
          </a:solidFill>
          <a:ln w="0">
            <a:noFill/>
            <a:prstDash val="solid"/>
          </a:ln>
        </p:spPr>
        <p:txBody>
          <a:bodyPr/>
          <a:lstStyle/>
          <a:p>
            <a:endParaRPr lang="zh-CN" altLang="en-US"/>
          </a:p>
        </p:txBody>
      </p:sp>
      <p:sp>
        <p:nvSpPr>
          <p:cNvPr id="23" name="矩形 22">
            <a:extLst>
              <a:ext uri="{FF2B5EF4-FFF2-40B4-BE49-F238E27FC236}">
                <a16:creationId xmlns:a16="http://schemas.microsoft.com/office/drawing/2014/main" id="{3065AA29-8333-4AF9-9910-D794305263D9}"/>
              </a:ext>
            </a:extLst>
          </p:cNvPr>
          <p:cNvSpPr>
            <a:spLocks noGrp="1"/>
          </p:cNvSpPr>
          <p:nvPr/>
        </p:nvSpPr>
        <p:spPr>
          <a:xfrm>
            <a:off x="5429250" y="2133600"/>
            <a:ext cx="3429000" cy="304800"/>
          </a:xfrm>
          <a:prstGeom prst="rect">
            <a:avLst/>
          </a:prstGeom>
          <a:noFill/>
          <a:ln w="0">
            <a:noFill/>
            <a:prstDash val="solid"/>
          </a:ln>
        </p:spPr>
        <p:txBody>
          <a:bodyPr lIns="0" tIns="0" rIns="0" bIns="0"/>
          <a:lstStyle/>
          <a:p>
            <a:pPr>
              <a:lnSpc>
                <a:spcPct val="108000"/>
              </a:lnSpc>
              <a:buNone/>
              <a:defRPr sz="2025" b="1">
                <a:solidFill>
                  <a:srgbClr val="E2B84B"/>
                </a:solidFill>
                <a:latin typeface="Microsoft YaHei"/>
                <a:ea typeface="Microsoft YaHei"/>
                <a:cs typeface="Microsoft YaHei"/>
              </a:defRPr>
            </a:pPr>
            <a:r>
              <a:rPr sz="2025" b="1">
                <a:solidFill>
                  <a:srgbClr val="E2B84B"/>
                </a:solidFill>
                <a:latin typeface="Microsoft YaHei"/>
                <a:ea typeface="Microsoft YaHei"/>
                <a:cs typeface="Microsoft YaHei"/>
              </a:rPr>
              <a:t>五阶段 LLM 流水线</a:t>
            </a:r>
          </a:p>
        </p:txBody>
      </p:sp>
      <p:sp>
        <p:nvSpPr>
          <p:cNvPr id="24" name="圆角矩形 23">
            <a:extLst>
              <a:ext uri="{FF2B5EF4-FFF2-40B4-BE49-F238E27FC236}">
                <a16:creationId xmlns:a16="http://schemas.microsoft.com/office/drawing/2014/main" id="{689DDC75-9FC5-4253-AAE4-ED40CC938A0E}"/>
              </a:ext>
            </a:extLst>
          </p:cNvPr>
          <p:cNvSpPr>
            <a:spLocks noGrp="1"/>
          </p:cNvSpPr>
          <p:nvPr/>
        </p:nvSpPr>
        <p:spPr>
          <a:xfrm>
            <a:off x="5467350" y="2781300"/>
            <a:ext cx="3048000" cy="285750"/>
          </a:xfrm>
          <a:prstGeom prst="roundRect">
            <a:avLst>
              <a:gd name="adj" fmla="val 26667"/>
            </a:avLst>
          </a:prstGeom>
          <a:solidFill>
            <a:srgbClr val="0EA5E9">
              <a:alpha val="90000"/>
            </a:srgbClr>
          </a:solidFill>
          <a:ln w="9525">
            <a:solidFill>
              <a:srgbClr val="26D9FF">
                <a:alpha val="42000"/>
              </a:srgbClr>
            </a:solidFill>
            <a:prstDash val="solid"/>
          </a:ln>
        </p:spPr>
        <p:txBody>
          <a:bodyPr/>
          <a:lstStyle/>
          <a:p>
            <a:endParaRPr lang="zh-CN" altLang="en-US"/>
          </a:p>
        </p:txBody>
      </p:sp>
      <p:sp>
        <p:nvSpPr>
          <p:cNvPr id="25" name="矩形 24">
            <a:extLst>
              <a:ext uri="{FF2B5EF4-FFF2-40B4-BE49-F238E27FC236}">
                <a16:creationId xmlns:a16="http://schemas.microsoft.com/office/drawing/2014/main" id="{9F83A8C7-4CD3-4933-A057-02A7E307003F}"/>
              </a:ext>
            </a:extLst>
          </p:cNvPr>
          <p:cNvSpPr>
            <a:spLocks noGrp="1"/>
          </p:cNvSpPr>
          <p:nvPr/>
        </p:nvSpPr>
        <p:spPr>
          <a:xfrm>
            <a:off x="5657850" y="2838450"/>
            <a:ext cx="2667000" cy="171450"/>
          </a:xfrm>
          <a:prstGeom prst="rect">
            <a:avLst/>
          </a:prstGeom>
          <a:noFill/>
          <a:ln w="0">
            <a:noFill/>
            <a:prstDash val="solid"/>
          </a:ln>
        </p:spPr>
        <p:txBody>
          <a:bodyPr lIns="0" tIns="0" rIns="0" bIns="0"/>
          <a:lstStyle/>
          <a:p>
            <a:pPr algn="ctr">
              <a:lnSpc>
                <a:spcPct val="108000"/>
              </a:lnSpc>
              <a:buNone/>
              <a:defRPr sz="1200" b="1">
                <a:solidFill>
                  <a:srgbClr val="F6FBFF"/>
                </a:solidFill>
                <a:latin typeface="Microsoft YaHei"/>
                <a:ea typeface="Microsoft YaHei"/>
                <a:cs typeface="Microsoft YaHei"/>
              </a:defRPr>
            </a:pPr>
            <a:r>
              <a:rPr sz="1200" b="1">
                <a:solidFill>
                  <a:srgbClr val="F6FBFF"/>
                </a:solidFill>
                <a:latin typeface="Microsoft YaHei"/>
                <a:ea typeface="Microsoft YaHei"/>
                <a:cs typeface="Microsoft YaHei"/>
              </a:rPr>
              <a:t>证据抽取</a:t>
            </a:r>
          </a:p>
        </p:txBody>
      </p:sp>
      <p:sp>
        <p:nvSpPr>
          <p:cNvPr id="26" name="圆角矩形 25">
            <a:extLst>
              <a:ext uri="{FF2B5EF4-FFF2-40B4-BE49-F238E27FC236}">
                <a16:creationId xmlns:a16="http://schemas.microsoft.com/office/drawing/2014/main" id="{955D0EE8-11B0-459F-A3A6-B62F74EEF358}"/>
              </a:ext>
            </a:extLst>
          </p:cNvPr>
          <p:cNvSpPr>
            <a:spLocks noGrp="1"/>
          </p:cNvSpPr>
          <p:nvPr/>
        </p:nvSpPr>
        <p:spPr>
          <a:xfrm>
            <a:off x="5467350" y="3200400"/>
            <a:ext cx="3048000" cy="285750"/>
          </a:xfrm>
          <a:prstGeom prst="roundRect">
            <a:avLst>
              <a:gd name="adj" fmla="val 26667"/>
            </a:avLst>
          </a:prstGeom>
          <a:solidFill>
            <a:srgbClr val="0B2038">
              <a:alpha val="90000"/>
            </a:srgbClr>
          </a:solidFill>
          <a:ln w="9525">
            <a:solidFill>
              <a:srgbClr val="26D9FF">
                <a:alpha val="42000"/>
              </a:srgbClr>
            </a:solidFill>
            <a:prstDash val="solid"/>
          </a:ln>
        </p:spPr>
        <p:txBody>
          <a:bodyPr/>
          <a:lstStyle/>
          <a:p>
            <a:endParaRPr lang="zh-CN" altLang="en-US"/>
          </a:p>
        </p:txBody>
      </p:sp>
      <p:sp>
        <p:nvSpPr>
          <p:cNvPr id="27" name="矩形 26">
            <a:extLst>
              <a:ext uri="{FF2B5EF4-FFF2-40B4-BE49-F238E27FC236}">
                <a16:creationId xmlns:a16="http://schemas.microsoft.com/office/drawing/2014/main" id="{D677E52C-07A6-4052-B5D3-8865F6B9A157}"/>
              </a:ext>
            </a:extLst>
          </p:cNvPr>
          <p:cNvSpPr>
            <a:spLocks noGrp="1"/>
          </p:cNvSpPr>
          <p:nvPr/>
        </p:nvSpPr>
        <p:spPr>
          <a:xfrm>
            <a:off x="5657850" y="3257550"/>
            <a:ext cx="2667000" cy="171450"/>
          </a:xfrm>
          <a:prstGeom prst="rect">
            <a:avLst/>
          </a:prstGeom>
          <a:noFill/>
          <a:ln w="0">
            <a:noFill/>
            <a:prstDash val="solid"/>
          </a:ln>
        </p:spPr>
        <p:txBody>
          <a:bodyPr lIns="0" tIns="0" rIns="0" bIns="0"/>
          <a:lstStyle/>
          <a:p>
            <a:pPr algn="ctr">
              <a:lnSpc>
                <a:spcPct val="108000"/>
              </a:lnSpc>
              <a:buNone/>
              <a:defRPr sz="1200" b="0">
                <a:solidFill>
                  <a:srgbClr val="F6FBFF"/>
                </a:solidFill>
                <a:latin typeface="Microsoft YaHei"/>
                <a:ea typeface="Microsoft YaHei"/>
                <a:cs typeface="Microsoft YaHei"/>
              </a:defRPr>
            </a:pPr>
            <a:r>
              <a:rPr sz="1200" b="0">
                <a:solidFill>
                  <a:srgbClr val="F6FBFF"/>
                </a:solidFill>
                <a:latin typeface="Microsoft YaHei"/>
                <a:ea typeface="Microsoft YaHei"/>
                <a:cs typeface="Microsoft YaHei"/>
              </a:rPr>
              <a:t>稳定画像</a:t>
            </a:r>
          </a:p>
        </p:txBody>
      </p:sp>
      <p:sp>
        <p:nvSpPr>
          <p:cNvPr id="28" name="圆角矩形 27">
            <a:extLst>
              <a:ext uri="{FF2B5EF4-FFF2-40B4-BE49-F238E27FC236}">
                <a16:creationId xmlns:a16="http://schemas.microsoft.com/office/drawing/2014/main" id="{209CE568-4EF0-437E-9F95-C1769D1C3C75}"/>
              </a:ext>
            </a:extLst>
          </p:cNvPr>
          <p:cNvSpPr>
            <a:spLocks noGrp="1"/>
          </p:cNvSpPr>
          <p:nvPr/>
        </p:nvSpPr>
        <p:spPr>
          <a:xfrm>
            <a:off x="5467350" y="3619500"/>
            <a:ext cx="3048000" cy="285750"/>
          </a:xfrm>
          <a:prstGeom prst="roundRect">
            <a:avLst>
              <a:gd name="adj" fmla="val 26667"/>
            </a:avLst>
          </a:prstGeom>
          <a:solidFill>
            <a:srgbClr val="0B2038">
              <a:alpha val="90000"/>
            </a:srgbClr>
          </a:solidFill>
          <a:ln w="9525">
            <a:solidFill>
              <a:srgbClr val="26D9FF">
                <a:alpha val="42000"/>
              </a:srgbClr>
            </a:solidFill>
            <a:prstDash val="solid"/>
          </a:ln>
        </p:spPr>
        <p:txBody>
          <a:bodyPr/>
          <a:lstStyle/>
          <a:p>
            <a:endParaRPr lang="zh-CN" altLang="en-US"/>
          </a:p>
        </p:txBody>
      </p:sp>
      <p:sp>
        <p:nvSpPr>
          <p:cNvPr id="29" name="矩形 28">
            <a:extLst>
              <a:ext uri="{FF2B5EF4-FFF2-40B4-BE49-F238E27FC236}">
                <a16:creationId xmlns:a16="http://schemas.microsoft.com/office/drawing/2014/main" id="{808FC832-E776-44B1-8C26-645D6F7A314B}"/>
              </a:ext>
            </a:extLst>
          </p:cNvPr>
          <p:cNvSpPr>
            <a:spLocks noGrp="1"/>
          </p:cNvSpPr>
          <p:nvPr/>
        </p:nvSpPr>
        <p:spPr>
          <a:xfrm>
            <a:off x="5657850" y="3676650"/>
            <a:ext cx="2667000" cy="171450"/>
          </a:xfrm>
          <a:prstGeom prst="rect">
            <a:avLst/>
          </a:prstGeom>
          <a:noFill/>
          <a:ln w="0">
            <a:noFill/>
            <a:prstDash val="solid"/>
          </a:ln>
        </p:spPr>
        <p:txBody>
          <a:bodyPr lIns="0" tIns="0" rIns="0" bIns="0"/>
          <a:lstStyle/>
          <a:p>
            <a:pPr algn="ctr">
              <a:lnSpc>
                <a:spcPct val="108000"/>
              </a:lnSpc>
              <a:buNone/>
              <a:defRPr sz="1200" b="0">
                <a:solidFill>
                  <a:srgbClr val="F6FBFF"/>
                </a:solidFill>
                <a:latin typeface="Microsoft YaHei"/>
                <a:ea typeface="Microsoft YaHei"/>
                <a:cs typeface="Microsoft YaHei"/>
              </a:defRPr>
            </a:pPr>
            <a:r>
              <a:rPr sz="1200" b="0">
                <a:solidFill>
                  <a:srgbClr val="F6FBFF"/>
                </a:solidFill>
                <a:latin typeface="Microsoft YaHei"/>
                <a:ea typeface="Microsoft YaHei"/>
                <a:cs typeface="Microsoft YaHei"/>
              </a:rPr>
              <a:t>行为画像</a:t>
            </a:r>
          </a:p>
        </p:txBody>
      </p:sp>
      <p:sp>
        <p:nvSpPr>
          <p:cNvPr id="30" name="圆角矩形 29">
            <a:extLst>
              <a:ext uri="{FF2B5EF4-FFF2-40B4-BE49-F238E27FC236}">
                <a16:creationId xmlns:a16="http://schemas.microsoft.com/office/drawing/2014/main" id="{99C0D2CC-8D8A-4870-B1F8-A26561CD9FE7}"/>
              </a:ext>
            </a:extLst>
          </p:cNvPr>
          <p:cNvSpPr>
            <a:spLocks noGrp="1"/>
          </p:cNvSpPr>
          <p:nvPr/>
        </p:nvSpPr>
        <p:spPr>
          <a:xfrm>
            <a:off x="5467350" y="4038600"/>
            <a:ext cx="3048000" cy="285750"/>
          </a:xfrm>
          <a:prstGeom prst="roundRect">
            <a:avLst>
              <a:gd name="adj" fmla="val 26667"/>
            </a:avLst>
          </a:prstGeom>
          <a:solidFill>
            <a:srgbClr val="0B2038">
              <a:alpha val="90000"/>
            </a:srgbClr>
          </a:solidFill>
          <a:ln w="9525">
            <a:solidFill>
              <a:srgbClr val="26D9FF">
                <a:alpha val="42000"/>
              </a:srgbClr>
            </a:solidFill>
            <a:prstDash val="solid"/>
          </a:ln>
        </p:spPr>
        <p:txBody>
          <a:bodyPr/>
          <a:lstStyle/>
          <a:p>
            <a:endParaRPr lang="zh-CN" altLang="en-US"/>
          </a:p>
        </p:txBody>
      </p:sp>
      <p:sp>
        <p:nvSpPr>
          <p:cNvPr id="31" name="矩形 30">
            <a:extLst>
              <a:ext uri="{FF2B5EF4-FFF2-40B4-BE49-F238E27FC236}">
                <a16:creationId xmlns:a16="http://schemas.microsoft.com/office/drawing/2014/main" id="{13A322B4-E37A-481E-BB99-725E9242F84A}"/>
              </a:ext>
            </a:extLst>
          </p:cNvPr>
          <p:cNvSpPr>
            <a:spLocks noGrp="1"/>
          </p:cNvSpPr>
          <p:nvPr/>
        </p:nvSpPr>
        <p:spPr>
          <a:xfrm>
            <a:off x="5657850" y="4095750"/>
            <a:ext cx="2667000" cy="171450"/>
          </a:xfrm>
          <a:prstGeom prst="rect">
            <a:avLst/>
          </a:prstGeom>
          <a:noFill/>
          <a:ln w="0">
            <a:noFill/>
            <a:prstDash val="solid"/>
          </a:ln>
        </p:spPr>
        <p:txBody>
          <a:bodyPr lIns="0" tIns="0" rIns="0" bIns="0"/>
          <a:lstStyle/>
          <a:p>
            <a:pPr algn="ctr">
              <a:lnSpc>
                <a:spcPct val="108000"/>
              </a:lnSpc>
              <a:buNone/>
              <a:defRPr sz="1200" b="0">
                <a:solidFill>
                  <a:srgbClr val="F6FBFF"/>
                </a:solidFill>
                <a:latin typeface="Microsoft YaHei"/>
                <a:ea typeface="Microsoft YaHei"/>
                <a:cs typeface="Microsoft YaHei"/>
              </a:defRPr>
            </a:pPr>
            <a:r>
              <a:rPr sz="1200" b="0">
                <a:solidFill>
                  <a:srgbClr val="F6FBFF"/>
                </a:solidFill>
                <a:latin typeface="Microsoft YaHei"/>
                <a:ea typeface="Microsoft YaHei"/>
                <a:cs typeface="Microsoft YaHei"/>
              </a:rPr>
              <a:t>Agent画像压缩</a:t>
            </a:r>
          </a:p>
        </p:txBody>
      </p:sp>
      <p:sp>
        <p:nvSpPr>
          <p:cNvPr id="32" name="圆角矩形 31">
            <a:extLst>
              <a:ext uri="{FF2B5EF4-FFF2-40B4-BE49-F238E27FC236}">
                <a16:creationId xmlns:a16="http://schemas.microsoft.com/office/drawing/2014/main" id="{C0EA1931-4BA5-4ABC-8DC0-EF0D5A5E1068}"/>
              </a:ext>
            </a:extLst>
          </p:cNvPr>
          <p:cNvSpPr>
            <a:spLocks noGrp="1"/>
          </p:cNvSpPr>
          <p:nvPr/>
        </p:nvSpPr>
        <p:spPr>
          <a:xfrm>
            <a:off x="5467350" y="4457700"/>
            <a:ext cx="3048000" cy="285750"/>
          </a:xfrm>
          <a:prstGeom prst="roundRect">
            <a:avLst>
              <a:gd name="adj" fmla="val 26667"/>
            </a:avLst>
          </a:prstGeom>
          <a:solidFill>
            <a:srgbClr val="0B2038">
              <a:alpha val="90000"/>
            </a:srgbClr>
          </a:solidFill>
          <a:ln w="9525">
            <a:solidFill>
              <a:srgbClr val="26D9FF">
                <a:alpha val="42000"/>
              </a:srgbClr>
            </a:solidFill>
            <a:prstDash val="solid"/>
          </a:ln>
        </p:spPr>
        <p:txBody>
          <a:bodyPr/>
          <a:lstStyle/>
          <a:p>
            <a:endParaRPr lang="zh-CN" altLang="en-US"/>
          </a:p>
        </p:txBody>
      </p:sp>
      <p:sp>
        <p:nvSpPr>
          <p:cNvPr id="33" name="矩形 32">
            <a:extLst>
              <a:ext uri="{FF2B5EF4-FFF2-40B4-BE49-F238E27FC236}">
                <a16:creationId xmlns:a16="http://schemas.microsoft.com/office/drawing/2014/main" id="{6688DE29-B52E-431A-8228-C4F094132DC0}"/>
              </a:ext>
            </a:extLst>
          </p:cNvPr>
          <p:cNvSpPr>
            <a:spLocks noGrp="1"/>
          </p:cNvSpPr>
          <p:nvPr/>
        </p:nvSpPr>
        <p:spPr>
          <a:xfrm>
            <a:off x="5657850" y="4514850"/>
            <a:ext cx="2667000" cy="171450"/>
          </a:xfrm>
          <a:prstGeom prst="rect">
            <a:avLst/>
          </a:prstGeom>
          <a:noFill/>
          <a:ln w="0">
            <a:noFill/>
            <a:prstDash val="solid"/>
          </a:ln>
        </p:spPr>
        <p:txBody>
          <a:bodyPr lIns="0" tIns="0" rIns="0" bIns="0"/>
          <a:lstStyle/>
          <a:p>
            <a:pPr algn="ctr">
              <a:lnSpc>
                <a:spcPct val="108000"/>
              </a:lnSpc>
              <a:buNone/>
              <a:defRPr sz="1200" b="0">
                <a:solidFill>
                  <a:srgbClr val="F6FBFF"/>
                </a:solidFill>
                <a:latin typeface="Microsoft YaHei"/>
                <a:ea typeface="Microsoft YaHei"/>
                <a:cs typeface="Microsoft YaHei"/>
              </a:defRPr>
            </a:pPr>
            <a:r>
              <a:rPr sz="1200" b="0">
                <a:solidFill>
                  <a:srgbClr val="F6FBFF"/>
                </a:solidFill>
                <a:latin typeface="Microsoft YaHei"/>
                <a:ea typeface="Microsoft YaHei"/>
                <a:cs typeface="Microsoft YaHei"/>
              </a:rPr>
              <a:t>模拟初始状态</a:t>
            </a:r>
          </a:p>
        </p:txBody>
      </p:sp>
      <p:sp>
        <p:nvSpPr>
          <p:cNvPr id="34" name="矩形 33">
            <a:extLst>
              <a:ext uri="{FF2B5EF4-FFF2-40B4-BE49-F238E27FC236}">
                <a16:creationId xmlns:a16="http://schemas.microsoft.com/office/drawing/2014/main" id="{E52AA146-2167-410B-8762-F6FBAC038DAE}"/>
              </a:ext>
            </a:extLst>
          </p:cNvPr>
          <p:cNvSpPr>
            <a:spLocks noGrp="1"/>
          </p:cNvSpPr>
          <p:nvPr/>
        </p:nvSpPr>
        <p:spPr>
          <a:xfrm>
            <a:off x="5467350" y="4876800"/>
            <a:ext cx="4267200" cy="438150"/>
          </a:xfrm>
          <a:prstGeom prst="rect">
            <a:avLst/>
          </a:prstGeom>
          <a:noFill/>
          <a:ln w="0">
            <a:noFill/>
            <a:prstDash val="solid"/>
          </a:ln>
        </p:spPr>
        <p:txBody>
          <a:bodyPr lIns="0" tIns="0" rIns="0" bIns="0"/>
          <a:lstStyle/>
          <a:p>
            <a:pPr>
              <a:lnSpc>
                <a:spcPct val="108000"/>
              </a:lnSpc>
              <a:buNone/>
              <a:defRPr sz="1125">
                <a:solidFill>
                  <a:srgbClr val="B5C8D8"/>
                </a:solidFill>
                <a:latin typeface="Microsoft YaHei"/>
                <a:ea typeface="Microsoft YaHei"/>
                <a:cs typeface="Microsoft YaHei"/>
              </a:defRPr>
            </a:pPr>
            <a:r>
              <a:rPr sz="1125">
                <a:solidFill>
                  <a:srgbClr val="B5C8D8"/>
                </a:solidFill>
                <a:latin typeface="Microsoft YaHei"/>
                <a:ea typeface="Microsoft YaHei"/>
                <a:cs typeface="Microsoft YaHei"/>
              </a:rPr>
              <a:t>成本控制：L4-L5 高影响力用户使用完整流水线；L1-L3 用户采用 simple profile mode 与行为库。</a:t>
            </a:r>
          </a:p>
        </p:txBody>
      </p:sp>
    </p:spTree>
    <p:extLst>
      <p:ext uri="{BB962C8B-B14F-4D97-AF65-F5344CB8AC3E}">
        <p14:creationId xmlns:p14="http://schemas.microsoft.com/office/powerpoint/2010/main" val="1269668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E5CA9E4F-5EB0-44E8-A0C7-950C3C77481E}"/>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90B57413-D212-4C69-AFC8-6C2663A8AB57}"/>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B4FB62D7-DBDE-47BA-A92A-1BAB1CBE8576}"/>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31" name="图片 30"/>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F08A4069-E75C-451C-B55C-3230C7FD8555}"/>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04  技术路线与方案</a:t>
            </a:r>
          </a:p>
        </p:txBody>
      </p:sp>
      <p:sp>
        <p:nvSpPr>
          <p:cNvPr id="7" name="矩形 6">
            <a:extLst>
              <a:ext uri="{FF2B5EF4-FFF2-40B4-BE49-F238E27FC236}">
                <a16:creationId xmlns:a16="http://schemas.microsoft.com/office/drawing/2014/main" id="{A7E33043-04F2-4692-8275-0055B176C94B}"/>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核心模块二：ABM 推荐参数反推</a:t>
            </a:r>
          </a:p>
        </p:txBody>
      </p:sp>
      <p:sp>
        <p:nvSpPr>
          <p:cNvPr id="8" name="圆角矩形 7">
            <a:extLst>
              <a:ext uri="{FF2B5EF4-FFF2-40B4-BE49-F238E27FC236}">
                <a16:creationId xmlns:a16="http://schemas.microsoft.com/office/drawing/2014/main" id="{7FF67F8B-9EC9-4080-8979-75E73963F259}"/>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388CD899-3905-4BE9-889A-E723BAF4CB5C}"/>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10</a:t>
            </a:r>
          </a:p>
        </p:txBody>
      </p:sp>
      <p:sp>
        <p:nvSpPr>
          <p:cNvPr id="10" name="矩形 9">
            <a:extLst>
              <a:ext uri="{FF2B5EF4-FFF2-40B4-BE49-F238E27FC236}">
                <a16:creationId xmlns:a16="http://schemas.microsoft.com/office/drawing/2014/main" id="{534608E8-444D-4177-845E-7B4084ABC089}"/>
              </a:ext>
            </a:extLst>
          </p:cNvPr>
          <p:cNvSpPr>
            <a:spLocks noGrp="1"/>
          </p:cNvSpPr>
          <p:nvPr/>
        </p:nvSpPr>
        <p:spPr>
          <a:xfrm>
            <a:off x="952500" y="1752600"/>
            <a:ext cx="6858000" cy="323850"/>
          </a:xfrm>
          <a:prstGeom prst="rect">
            <a:avLst/>
          </a:prstGeom>
          <a:noFill/>
          <a:ln w="0">
            <a:noFill/>
            <a:prstDash val="solid"/>
          </a:ln>
        </p:spPr>
        <p:txBody>
          <a:bodyPr lIns="0" tIns="0" rIns="0" bIns="0"/>
          <a:lstStyle/>
          <a:p>
            <a:pPr>
              <a:lnSpc>
                <a:spcPct val="108000"/>
              </a:lnSpc>
              <a:buNone/>
              <a:defRPr sz="2175" b="1">
                <a:solidFill>
                  <a:srgbClr val="F6FBFF"/>
                </a:solidFill>
                <a:latin typeface="Microsoft YaHei"/>
                <a:ea typeface="Microsoft YaHei"/>
                <a:cs typeface="Microsoft YaHei"/>
              </a:defRPr>
            </a:pPr>
            <a:r>
              <a:rPr sz="2175" b="1">
                <a:solidFill>
                  <a:srgbClr val="F6FBFF"/>
                </a:solidFill>
                <a:latin typeface="Microsoft YaHei"/>
                <a:ea typeface="Microsoft YaHei"/>
                <a:cs typeface="Microsoft YaHei"/>
              </a:rPr>
              <a:t>推荐可见概率由四类分数加权得到</a:t>
            </a:r>
          </a:p>
        </p:txBody>
      </p:sp>
      <p:sp>
        <p:nvSpPr>
          <p:cNvPr id="11" name="圆角矩形 10">
            <a:extLst>
              <a:ext uri="{FF2B5EF4-FFF2-40B4-BE49-F238E27FC236}">
                <a16:creationId xmlns:a16="http://schemas.microsoft.com/office/drawing/2014/main" id="{8C6CA41A-FC3A-4207-BEDF-EDE07F87BCBD}"/>
              </a:ext>
            </a:extLst>
          </p:cNvPr>
          <p:cNvSpPr>
            <a:spLocks noGrp="1"/>
          </p:cNvSpPr>
          <p:nvPr/>
        </p:nvSpPr>
        <p:spPr>
          <a:xfrm>
            <a:off x="1009650" y="2419350"/>
            <a:ext cx="1866900" cy="1104900"/>
          </a:xfrm>
          <a:prstGeom prst="roundRect">
            <a:avLst>
              <a:gd name="adj" fmla="val 10345"/>
            </a:avLst>
          </a:prstGeom>
          <a:solidFill>
            <a:srgbClr val="07172B">
              <a:alpha val="78000"/>
            </a:srgbClr>
          </a:solidFill>
          <a:ln w="13335">
            <a:solidFill>
              <a:srgbClr val="37E6C4">
                <a:alpha val="6400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89C365AB-4356-4FDF-BBC1-950938EF544C}"/>
              </a:ext>
            </a:extLst>
          </p:cNvPr>
          <p:cNvSpPr>
            <a:spLocks noGrp="1"/>
          </p:cNvSpPr>
          <p:nvPr/>
        </p:nvSpPr>
        <p:spPr>
          <a:xfrm>
            <a:off x="1181100" y="2705100"/>
            <a:ext cx="1524000" cy="323850"/>
          </a:xfrm>
          <a:prstGeom prst="rect">
            <a:avLst/>
          </a:prstGeom>
          <a:noFill/>
          <a:ln w="0">
            <a:noFill/>
            <a:prstDash val="solid"/>
          </a:ln>
        </p:spPr>
        <p:txBody>
          <a:bodyPr lIns="0" tIns="0" rIns="0" bIns="0"/>
          <a:lstStyle/>
          <a:p>
            <a:pPr algn="ctr">
              <a:lnSpc>
                <a:spcPct val="108000"/>
              </a:lnSpc>
              <a:buNone/>
              <a:defRPr sz="2250" b="1">
                <a:solidFill>
                  <a:srgbClr val="37E6C4"/>
                </a:solidFill>
                <a:latin typeface="Microsoft YaHei"/>
                <a:ea typeface="Microsoft YaHei"/>
                <a:cs typeface="Microsoft YaHei"/>
              </a:defRPr>
            </a:pPr>
            <a:r>
              <a:rPr sz="2250" b="1">
                <a:solidFill>
                  <a:srgbClr val="37E6C4"/>
                </a:solidFill>
                <a:latin typeface="Microsoft YaHei"/>
                <a:ea typeface="Microsoft YaHei"/>
                <a:cs typeface="Microsoft YaHei"/>
              </a:rPr>
              <a:t>w_i</a:t>
            </a:r>
          </a:p>
        </p:txBody>
      </p:sp>
      <p:sp>
        <p:nvSpPr>
          <p:cNvPr id="13" name="矩形 12">
            <a:extLst>
              <a:ext uri="{FF2B5EF4-FFF2-40B4-BE49-F238E27FC236}">
                <a16:creationId xmlns:a16="http://schemas.microsoft.com/office/drawing/2014/main" id="{2D6CAE41-6686-4F67-A08A-D6FCAD62FE58}"/>
              </a:ext>
            </a:extLst>
          </p:cNvPr>
          <p:cNvSpPr>
            <a:spLocks noGrp="1"/>
          </p:cNvSpPr>
          <p:nvPr/>
        </p:nvSpPr>
        <p:spPr>
          <a:xfrm>
            <a:off x="1181100" y="3105150"/>
            <a:ext cx="1524000" cy="228600"/>
          </a:xfrm>
          <a:prstGeom prst="rect">
            <a:avLst/>
          </a:prstGeom>
          <a:noFill/>
          <a:ln w="0">
            <a:noFill/>
            <a:prstDash val="solid"/>
          </a:ln>
        </p:spPr>
        <p:txBody>
          <a:bodyPr lIns="0" tIns="0" rIns="0" bIns="0"/>
          <a:lstStyle/>
          <a:p>
            <a:pPr algn="ctr">
              <a:lnSpc>
                <a:spcPct val="108000"/>
              </a:lnSpc>
              <a:buNone/>
              <a:defRPr sz="1575" b="1">
                <a:solidFill>
                  <a:srgbClr val="F6FBFF"/>
                </a:solidFill>
                <a:latin typeface="Microsoft YaHei"/>
                <a:ea typeface="Microsoft YaHei"/>
                <a:cs typeface="Microsoft YaHei"/>
              </a:defRPr>
            </a:pPr>
            <a:r>
              <a:rPr sz="1575" b="1">
                <a:solidFill>
                  <a:srgbClr val="F6FBFF"/>
                </a:solidFill>
                <a:latin typeface="Microsoft YaHei"/>
                <a:ea typeface="Microsoft YaHei"/>
                <a:cs typeface="Microsoft YaHei"/>
              </a:rPr>
              <a:t>兴趣匹配</a:t>
            </a:r>
          </a:p>
        </p:txBody>
      </p:sp>
      <p:sp>
        <p:nvSpPr>
          <p:cNvPr id="14" name="圆角矩形 13">
            <a:extLst>
              <a:ext uri="{FF2B5EF4-FFF2-40B4-BE49-F238E27FC236}">
                <a16:creationId xmlns:a16="http://schemas.microsoft.com/office/drawing/2014/main" id="{7C786D28-385D-4A98-AAFD-5FD3F054190F}"/>
              </a:ext>
            </a:extLst>
          </p:cNvPr>
          <p:cNvSpPr>
            <a:spLocks noGrp="1"/>
          </p:cNvSpPr>
          <p:nvPr/>
        </p:nvSpPr>
        <p:spPr>
          <a:xfrm>
            <a:off x="3467100" y="2419350"/>
            <a:ext cx="1866900" cy="1104900"/>
          </a:xfrm>
          <a:prstGeom prst="roundRect">
            <a:avLst>
              <a:gd name="adj" fmla="val 10345"/>
            </a:avLst>
          </a:prstGeom>
          <a:solidFill>
            <a:srgbClr val="07172B">
              <a:alpha val="78000"/>
            </a:srgbClr>
          </a:solidFill>
          <a:ln w="13335">
            <a:solidFill>
              <a:srgbClr val="E2B84B">
                <a:alpha val="64000"/>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D9D7A197-2FA4-4C02-BA8D-747171827F67}"/>
              </a:ext>
            </a:extLst>
          </p:cNvPr>
          <p:cNvSpPr>
            <a:spLocks noGrp="1"/>
          </p:cNvSpPr>
          <p:nvPr/>
        </p:nvSpPr>
        <p:spPr>
          <a:xfrm>
            <a:off x="3638550" y="2705100"/>
            <a:ext cx="1524000" cy="323850"/>
          </a:xfrm>
          <a:prstGeom prst="rect">
            <a:avLst/>
          </a:prstGeom>
          <a:noFill/>
          <a:ln w="0">
            <a:noFill/>
            <a:prstDash val="solid"/>
          </a:ln>
        </p:spPr>
        <p:txBody>
          <a:bodyPr lIns="0" tIns="0" rIns="0" bIns="0"/>
          <a:lstStyle/>
          <a:p>
            <a:pPr algn="ctr">
              <a:lnSpc>
                <a:spcPct val="108000"/>
              </a:lnSpc>
              <a:buNone/>
              <a:defRPr sz="2250" b="1">
                <a:solidFill>
                  <a:srgbClr val="E2B84B"/>
                </a:solidFill>
                <a:latin typeface="Microsoft YaHei"/>
                <a:ea typeface="Microsoft YaHei"/>
                <a:cs typeface="Microsoft YaHei"/>
              </a:defRPr>
            </a:pPr>
            <a:r>
              <a:rPr sz="2250" b="1">
                <a:solidFill>
                  <a:srgbClr val="E2B84B"/>
                </a:solidFill>
                <a:latin typeface="Microsoft YaHei"/>
                <a:ea typeface="Microsoft YaHei"/>
                <a:cs typeface="Microsoft YaHei"/>
              </a:rPr>
              <a:t>w_pop</a:t>
            </a:r>
          </a:p>
        </p:txBody>
      </p:sp>
      <p:sp>
        <p:nvSpPr>
          <p:cNvPr id="16" name="矩形 15">
            <a:extLst>
              <a:ext uri="{FF2B5EF4-FFF2-40B4-BE49-F238E27FC236}">
                <a16:creationId xmlns:a16="http://schemas.microsoft.com/office/drawing/2014/main" id="{61456AE8-465F-4FDC-ABA2-2658CAA79B51}"/>
              </a:ext>
            </a:extLst>
          </p:cNvPr>
          <p:cNvSpPr>
            <a:spLocks noGrp="1"/>
          </p:cNvSpPr>
          <p:nvPr/>
        </p:nvSpPr>
        <p:spPr>
          <a:xfrm>
            <a:off x="3638550" y="3105150"/>
            <a:ext cx="1524000" cy="228600"/>
          </a:xfrm>
          <a:prstGeom prst="rect">
            <a:avLst/>
          </a:prstGeom>
          <a:noFill/>
          <a:ln w="0">
            <a:noFill/>
            <a:prstDash val="solid"/>
          </a:ln>
        </p:spPr>
        <p:txBody>
          <a:bodyPr lIns="0" tIns="0" rIns="0" bIns="0"/>
          <a:lstStyle/>
          <a:p>
            <a:pPr algn="ctr">
              <a:lnSpc>
                <a:spcPct val="108000"/>
              </a:lnSpc>
              <a:buNone/>
              <a:defRPr sz="1575" b="1">
                <a:solidFill>
                  <a:srgbClr val="F6FBFF"/>
                </a:solidFill>
                <a:latin typeface="Microsoft YaHei"/>
                <a:ea typeface="Microsoft YaHei"/>
                <a:cs typeface="Microsoft YaHei"/>
              </a:defRPr>
            </a:pPr>
            <a:r>
              <a:rPr sz="1575" b="1">
                <a:solidFill>
                  <a:srgbClr val="F6FBFF"/>
                </a:solidFill>
                <a:latin typeface="Microsoft YaHei"/>
                <a:ea typeface="Microsoft YaHei"/>
                <a:cs typeface="Microsoft YaHei"/>
              </a:rPr>
              <a:t>内容热度</a:t>
            </a:r>
          </a:p>
        </p:txBody>
      </p:sp>
      <p:sp>
        <p:nvSpPr>
          <p:cNvPr id="17" name="圆角矩形 16">
            <a:extLst>
              <a:ext uri="{FF2B5EF4-FFF2-40B4-BE49-F238E27FC236}">
                <a16:creationId xmlns:a16="http://schemas.microsoft.com/office/drawing/2014/main" id="{9F915802-E4E2-43B9-9C5C-8F41A45BCA89}"/>
              </a:ext>
            </a:extLst>
          </p:cNvPr>
          <p:cNvSpPr>
            <a:spLocks noGrp="1"/>
          </p:cNvSpPr>
          <p:nvPr/>
        </p:nvSpPr>
        <p:spPr>
          <a:xfrm>
            <a:off x="5924550" y="2419350"/>
            <a:ext cx="1866900" cy="1104900"/>
          </a:xfrm>
          <a:prstGeom prst="roundRect">
            <a:avLst>
              <a:gd name="adj" fmla="val 10345"/>
            </a:avLst>
          </a:prstGeom>
          <a:solidFill>
            <a:srgbClr val="07172B">
              <a:alpha val="78000"/>
            </a:srgbClr>
          </a:solidFill>
          <a:ln w="13335">
            <a:solidFill>
              <a:srgbClr val="19D9FF">
                <a:alpha val="6400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70914B5E-225A-40AB-A3B7-424B5C65AFB8}"/>
              </a:ext>
            </a:extLst>
          </p:cNvPr>
          <p:cNvSpPr>
            <a:spLocks noGrp="1"/>
          </p:cNvSpPr>
          <p:nvPr/>
        </p:nvSpPr>
        <p:spPr>
          <a:xfrm>
            <a:off x="6096000" y="2705100"/>
            <a:ext cx="1524000" cy="323850"/>
          </a:xfrm>
          <a:prstGeom prst="rect">
            <a:avLst/>
          </a:prstGeom>
          <a:noFill/>
          <a:ln w="0">
            <a:noFill/>
            <a:prstDash val="solid"/>
          </a:ln>
        </p:spPr>
        <p:txBody>
          <a:bodyPr lIns="0" tIns="0" rIns="0" bIns="0"/>
          <a:lstStyle/>
          <a:p>
            <a:pPr algn="ctr">
              <a:lnSpc>
                <a:spcPct val="108000"/>
              </a:lnSpc>
              <a:buNone/>
              <a:defRPr sz="2250" b="1">
                <a:solidFill>
                  <a:srgbClr val="19D9FF"/>
                </a:solidFill>
                <a:latin typeface="Microsoft YaHei"/>
                <a:ea typeface="Microsoft YaHei"/>
                <a:cs typeface="Microsoft YaHei"/>
              </a:defRPr>
            </a:pPr>
            <a:r>
              <a:rPr sz="2250" b="1">
                <a:solidFill>
                  <a:srgbClr val="19D9FF"/>
                </a:solidFill>
                <a:latin typeface="Microsoft YaHei"/>
                <a:ea typeface="Microsoft YaHei"/>
                <a:cs typeface="Microsoft YaHei"/>
              </a:rPr>
              <a:t>w_time</a:t>
            </a:r>
          </a:p>
        </p:txBody>
      </p:sp>
      <p:sp>
        <p:nvSpPr>
          <p:cNvPr id="19" name="矩形 18">
            <a:extLst>
              <a:ext uri="{FF2B5EF4-FFF2-40B4-BE49-F238E27FC236}">
                <a16:creationId xmlns:a16="http://schemas.microsoft.com/office/drawing/2014/main" id="{FE0F9909-0EF1-4262-9396-3E4F9F9A38A5}"/>
              </a:ext>
            </a:extLst>
          </p:cNvPr>
          <p:cNvSpPr>
            <a:spLocks noGrp="1"/>
          </p:cNvSpPr>
          <p:nvPr/>
        </p:nvSpPr>
        <p:spPr>
          <a:xfrm>
            <a:off x="6096000" y="3105150"/>
            <a:ext cx="1524000" cy="228600"/>
          </a:xfrm>
          <a:prstGeom prst="rect">
            <a:avLst/>
          </a:prstGeom>
          <a:noFill/>
          <a:ln w="0">
            <a:noFill/>
            <a:prstDash val="solid"/>
          </a:ln>
        </p:spPr>
        <p:txBody>
          <a:bodyPr lIns="0" tIns="0" rIns="0" bIns="0"/>
          <a:lstStyle/>
          <a:p>
            <a:pPr algn="ctr">
              <a:lnSpc>
                <a:spcPct val="108000"/>
              </a:lnSpc>
              <a:buNone/>
              <a:defRPr sz="1575" b="1">
                <a:solidFill>
                  <a:srgbClr val="F6FBFF"/>
                </a:solidFill>
                <a:latin typeface="Microsoft YaHei"/>
                <a:ea typeface="Microsoft YaHei"/>
                <a:cs typeface="Microsoft YaHei"/>
              </a:defRPr>
            </a:pPr>
            <a:r>
              <a:rPr sz="1575" b="1">
                <a:solidFill>
                  <a:srgbClr val="F6FBFF"/>
                </a:solidFill>
                <a:latin typeface="Microsoft YaHei"/>
                <a:ea typeface="Microsoft YaHei"/>
                <a:cs typeface="Microsoft YaHei"/>
              </a:rPr>
              <a:t>时间衰减</a:t>
            </a:r>
          </a:p>
        </p:txBody>
      </p:sp>
      <p:sp>
        <p:nvSpPr>
          <p:cNvPr id="20" name="圆角矩形 19">
            <a:extLst>
              <a:ext uri="{FF2B5EF4-FFF2-40B4-BE49-F238E27FC236}">
                <a16:creationId xmlns:a16="http://schemas.microsoft.com/office/drawing/2014/main" id="{5394317C-0583-481B-AE20-36CE3FCD1908}"/>
              </a:ext>
            </a:extLst>
          </p:cNvPr>
          <p:cNvSpPr>
            <a:spLocks noGrp="1"/>
          </p:cNvSpPr>
          <p:nvPr/>
        </p:nvSpPr>
        <p:spPr>
          <a:xfrm>
            <a:off x="8382000" y="2419350"/>
            <a:ext cx="1866900" cy="1104900"/>
          </a:xfrm>
          <a:prstGeom prst="roundRect">
            <a:avLst>
              <a:gd name="adj" fmla="val 10345"/>
            </a:avLst>
          </a:prstGeom>
          <a:solidFill>
            <a:srgbClr val="07172B">
              <a:alpha val="78000"/>
            </a:srgbClr>
          </a:solidFill>
          <a:ln w="13335">
            <a:solidFill>
              <a:srgbClr val="D54A5C">
                <a:alpha val="64000"/>
              </a:srgbClr>
            </a:solidFill>
            <a:prstDash val="solid"/>
          </a:ln>
        </p:spPr>
        <p:txBody>
          <a:bodyPr/>
          <a:lstStyle/>
          <a:p>
            <a:endParaRPr lang="zh-CN" altLang="en-US"/>
          </a:p>
        </p:txBody>
      </p:sp>
      <p:sp>
        <p:nvSpPr>
          <p:cNvPr id="21" name="矩形 20">
            <a:extLst>
              <a:ext uri="{FF2B5EF4-FFF2-40B4-BE49-F238E27FC236}">
                <a16:creationId xmlns:a16="http://schemas.microsoft.com/office/drawing/2014/main" id="{E2F15D2D-BDCF-45F4-8783-56CD10D5A0CC}"/>
              </a:ext>
            </a:extLst>
          </p:cNvPr>
          <p:cNvSpPr>
            <a:spLocks noGrp="1"/>
          </p:cNvSpPr>
          <p:nvPr/>
        </p:nvSpPr>
        <p:spPr>
          <a:xfrm>
            <a:off x="8553450" y="2705100"/>
            <a:ext cx="1524000" cy="323850"/>
          </a:xfrm>
          <a:prstGeom prst="rect">
            <a:avLst/>
          </a:prstGeom>
          <a:noFill/>
          <a:ln w="0">
            <a:noFill/>
            <a:prstDash val="solid"/>
          </a:ln>
        </p:spPr>
        <p:txBody>
          <a:bodyPr lIns="0" tIns="0" rIns="0" bIns="0"/>
          <a:lstStyle/>
          <a:p>
            <a:pPr algn="ctr">
              <a:lnSpc>
                <a:spcPct val="108000"/>
              </a:lnSpc>
              <a:buNone/>
              <a:defRPr sz="2250" b="1">
                <a:solidFill>
                  <a:srgbClr val="D54A5C"/>
                </a:solidFill>
                <a:latin typeface="Microsoft YaHei"/>
                <a:ea typeface="Microsoft YaHei"/>
                <a:cs typeface="Microsoft YaHei"/>
              </a:defRPr>
            </a:pPr>
            <a:r>
              <a:rPr sz="2250" b="1">
                <a:solidFill>
                  <a:srgbClr val="D54A5C"/>
                </a:solidFill>
                <a:latin typeface="Microsoft YaHei"/>
                <a:ea typeface="Microsoft YaHei"/>
                <a:cs typeface="Microsoft YaHei"/>
              </a:rPr>
              <a:t>w_rand</a:t>
            </a:r>
          </a:p>
        </p:txBody>
      </p:sp>
      <p:sp>
        <p:nvSpPr>
          <p:cNvPr id="22" name="矩形 21">
            <a:extLst>
              <a:ext uri="{FF2B5EF4-FFF2-40B4-BE49-F238E27FC236}">
                <a16:creationId xmlns:a16="http://schemas.microsoft.com/office/drawing/2014/main" id="{2D5E3E12-6A72-4E96-A0D5-C5D397BC8C20}"/>
              </a:ext>
            </a:extLst>
          </p:cNvPr>
          <p:cNvSpPr>
            <a:spLocks noGrp="1"/>
          </p:cNvSpPr>
          <p:nvPr/>
        </p:nvSpPr>
        <p:spPr>
          <a:xfrm>
            <a:off x="8553450" y="3105150"/>
            <a:ext cx="1524000" cy="228600"/>
          </a:xfrm>
          <a:prstGeom prst="rect">
            <a:avLst/>
          </a:prstGeom>
          <a:noFill/>
          <a:ln w="0">
            <a:noFill/>
            <a:prstDash val="solid"/>
          </a:ln>
        </p:spPr>
        <p:txBody>
          <a:bodyPr lIns="0" tIns="0" rIns="0" bIns="0"/>
          <a:lstStyle/>
          <a:p>
            <a:pPr algn="ctr">
              <a:lnSpc>
                <a:spcPct val="108000"/>
              </a:lnSpc>
              <a:buNone/>
              <a:defRPr sz="1575" b="1">
                <a:solidFill>
                  <a:srgbClr val="F6FBFF"/>
                </a:solidFill>
                <a:latin typeface="Microsoft YaHei"/>
                <a:ea typeface="Microsoft YaHei"/>
                <a:cs typeface="Microsoft YaHei"/>
              </a:defRPr>
            </a:pPr>
            <a:r>
              <a:rPr sz="1575" b="1">
                <a:solidFill>
                  <a:srgbClr val="F6FBFF"/>
                </a:solidFill>
                <a:latin typeface="Microsoft YaHei"/>
                <a:ea typeface="Microsoft YaHei"/>
                <a:cs typeface="Microsoft YaHei"/>
              </a:rPr>
              <a:t>随机探索</a:t>
            </a:r>
          </a:p>
        </p:txBody>
      </p:sp>
      <p:sp>
        <p:nvSpPr>
          <p:cNvPr id="23" name="圆角矩形 22">
            <a:extLst>
              <a:ext uri="{FF2B5EF4-FFF2-40B4-BE49-F238E27FC236}">
                <a16:creationId xmlns:a16="http://schemas.microsoft.com/office/drawing/2014/main" id="{514DEA63-0D5B-4498-9732-4E90571BD8C3}"/>
              </a:ext>
            </a:extLst>
          </p:cNvPr>
          <p:cNvSpPr>
            <a:spLocks noGrp="1"/>
          </p:cNvSpPr>
          <p:nvPr/>
        </p:nvSpPr>
        <p:spPr>
          <a:xfrm>
            <a:off x="1390650" y="4343400"/>
            <a:ext cx="9429750" cy="857250"/>
          </a:xfrm>
          <a:prstGeom prst="roundRect">
            <a:avLst>
              <a:gd name="adj" fmla="val 13333"/>
            </a:avLst>
          </a:prstGeom>
          <a:solidFill>
            <a:srgbClr val="07172B">
              <a:alpha val="82000"/>
            </a:srgbClr>
          </a:solidFill>
          <a:ln w="13335">
            <a:solidFill>
              <a:srgbClr val="26D9FF">
                <a:alpha val="42000"/>
              </a:srgbClr>
            </a:solidFill>
            <a:prstDash val="solid"/>
          </a:ln>
        </p:spPr>
        <p:txBody>
          <a:bodyPr/>
          <a:lstStyle/>
          <a:p>
            <a:endParaRPr lang="zh-CN" altLang="en-US"/>
          </a:p>
        </p:txBody>
      </p:sp>
      <p:sp>
        <p:nvSpPr>
          <p:cNvPr id="24" name="圆角矩形 23">
            <a:extLst>
              <a:ext uri="{FF2B5EF4-FFF2-40B4-BE49-F238E27FC236}">
                <a16:creationId xmlns:a16="http://schemas.microsoft.com/office/drawing/2014/main" id="{20B44A4A-B94E-4407-BDBA-F3E78CD61D9E}"/>
              </a:ext>
            </a:extLst>
          </p:cNvPr>
          <p:cNvSpPr>
            <a:spLocks noGrp="1"/>
          </p:cNvSpPr>
          <p:nvPr/>
        </p:nvSpPr>
        <p:spPr>
          <a:xfrm>
            <a:off x="1390650" y="4343400"/>
            <a:ext cx="47625" cy="857250"/>
          </a:xfrm>
          <a:prstGeom prst="roundRect">
            <a:avLst>
              <a:gd name="adj" fmla="val 50000"/>
            </a:avLst>
          </a:prstGeom>
          <a:solidFill>
            <a:srgbClr val="E2B84B"/>
          </a:solidFill>
          <a:ln w="0">
            <a:noFill/>
            <a:prstDash val="solid"/>
          </a:ln>
        </p:spPr>
        <p:txBody>
          <a:bodyPr/>
          <a:lstStyle/>
          <a:p>
            <a:endParaRPr lang="zh-CN" altLang="en-US"/>
          </a:p>
        </p:txBody>
      </p:sp>
      <p:sp>
        <p:nvSpPr>
          <p:cNvPr id="25" name="矩形 24">
            <a:extLst>
              <a:ext uri="{FF2B5EF4-FFF2-40B4-BE49-F238E27FC236}">
                <a16:creationId xmlns:a16="http://schemas.microsoft.com/office/drawing/2014/main" id="{FDEF41F1-DB39-422B-9E62-0A7E3B2E79E6}"/>
              </a:ext>
            </a:extLst>
          </p:cNvPr>
          <p:cNvSpPr>
            <a:spLocks noGrp="1"/>
          </p:cNvSpPr>
          <p:nvPr/>
        </p:nvSpPr>
        <p:spPr>
          <a:xfrm>
            <a:off x="1752600" y="4572000"/>
            <a:ext cx="8572500" cy="342900"/>
          </a:xfrm>
          <a:prstGeom prst="rect">
            <a:avLst/>
          </a:prstGeom>
          <a:noFill/>
          <a:ln w="0">
            <a:noFill/>
            <a:prstDash val="solid"/>
          </a:ln>
        </p:spPr>
        <p:txBody>
          <a:bodyPr lIns="0" tIns="0" rIns="0" bIns="0"/>
          <a:lstStyle/>
          <a:p>
            <a:pPr algn="ctr">
              <a:lnSpc>
                <a:spcPct val="110000"/>
              </a:lnSpc>
              <a:buNone/>
              <a:defRPr sz="1575" b="1">
                <a:solidFill>
                  <a:srgbClr val="74F0FF"/>
                </a:solidFill>
                <a:latin typeface="Microsoft YaHei"/>
                <a:ea typeface="Microsoft YaHei"/>
                <a:cs typeface="Microsoft YaHei"/>
              </a:defRPr>
            </a:pPr>
            <a:r>
              <a:rPr sz="1575" b="1">
                <a:solidFill>
                  <a:srgbClr val="74F0FF"/>
                </a:solidFill>
                <a:latin typeface="Microsoft YaHei"/>
                <a:ea typeface="Microsoft YaHei"/>
                <a:cs typeface="Microsoft YaHei"/>
              </a:rPr>
              <a:t>EMCalibrationEngine：E 步搜索内容级 p_base；M 步在 Dirichlet 约束下联合搜索推荐权重与 decay_lambda。</a:t>
            </a:r>
          </a:p>
        </p:txBody>
      </p:sp>
      <p:sp>
        <p:nvSpPr>
          <p:cNvPr id="26" name="矩形 25">
            <a:extLst>
              <a:ext uri="{FF2B5EF4-FFF2-40B4-BE49-F238E27FC236}">
                <a16:creationId xmlns:a16="http://schemas.microsoft.com/office/drawing/2014/main" id="{96901DA1-2512-4B4E-A230-4796A3E1910E}"/>
              </a:ext>
            </a:extLst>
          </p:cNvPr>
          <p:cNvSpPr>
            <a:spLocks noGrp="1"/>
          </p:cNvSpPr>
          <p:nvPr/>
        </p:nvSpPr>
        <p:spPr>
          <a:xfrm>
            <a:off x="2571750" y="5562600"/>
            <a:ext cx="7239000" cy="266700"/>
          </a:xfrm>
          <a:prstGeom prst="rect">
            <a:avLst/>
          </a:prstGeom>
          <a:noFill/>
          <a:ln w="0">
            <a:noFill/>
            <a:prstDash val="solid"/>
          </a:ln>
        </p:spPr>
        <p:txBody>
          <a:bodyPr lIns="0" tIns="0" rIns="0" bIns="0"/>
          <a:lstStyle/>
          <a:p>
            <a:pPr algn="ctr">
              <a:lnSpc>
                <a:spcPct val="108000"/>
              </a:lnSpc>
              <a:buNone/>
              <a:defRPr sz="1650" b="1">
                <a:solidFill>
                  <a:srgbClr val="37E6C4"/>
                </a:solidFill>
                <a:latin typeface="Microsoft YaHei"/>
                <a:ea typeface="Microsoft YaHei"/>
                <a:cs typeface="Microsoft YaHei"/>
              </a:defRPr>
            </a:pPr>
            <a:r>
              <a:rPr sz="1650" b="1">
                <a:solidFill>
                  <a:srgbClr val="37E6C4"/>
                </a:solidFill>
                <a:latin typeface="Microsoft YaHei"/>
                <a:ea typeface="Microsoft YaHei"/>
                <a:cs typeface="Microsoft YaHei"/>
              </a:rPr>
              <a:t>输出 calibration_profile.yaml，供在线 SocialRecSys.configure 直接注入。</a:t>
            </a:r>
          </a:p>
        </p:txBody>
      </p:sp>
    </p:spTree>
    <p:extLst>
      <p:ext uri="{BB962C8B-B14F-4D97-AF65-F5344CB8AC3E}">
        <p14:creationId xmlns:p14="http://schemas.microsoft.com/office/powerpoint/2010/main" val="1513162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4BC65FF2-BBEC-4114-8A34-37D1DFF918F9}"/>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6573F5BD-2F59-43FE-AB14-F57A79B9AD2D}"/>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B1BAD03A-4EDC-4D34-81D1-16F2DEDEEE6A}"/>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39" name="图片 38"/>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F814EE21-671C-43FA-B85C-6FF42B24F359}"/>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04  技术路线与方案</a:t>
            </a:r>
          </a:p>
        </p:txBody>
      </p:sp>
      <p:sp>
        <p:nvSpPr>
          <p:cNvPr id="7" name="矩形 6">
            <a:extLst>
              <a:ext uri="{FF2B5EF4-FFF2-40B4-BE49-F238E27FC236}">
                <a16:creationId xmlns:a16="http://schemas.microsoft.com/office/drawing/2014/main" id="{848EEF54-3DC4-43F8-BF7B-43FC72B48E86}"/>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核心模块三：在线模拟与验证方案</a:t>
            </a:r>
          </a:p>
        </p:txBody>
      </p:sp>
      <p:sp>
        <p:nvSpPr>
          <p:cNvPr id="8" name="圆角矩形 7">
            <a:extLst>
              <a:ext uri="{FF2B5EF4-FFF2-40B4-BE49-F238E27FC236}">
                <a16:creationId xmlns:a16="http://schemas.microsoft.com/office/drawing/2014/main" id="{F5DBC498-C5FE-46BE-822A-AAC30F80BAC7}"/>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87E4A580-90E3-4C8A-AD60-3A570C809B15}"/>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11</a:t>
            </a:r>
          </a:p>
        </p:txBody>
      </p:sp>
      <p:sp>
        <p:nvSpPr>
          <p:cNvPr id="10" name="圆角矩形 9">
            <a:extLst>
              <a:ext uri="{FF2B5EF4-FFF2-40B4-BE49-F238E27FC236}">
                <a16:creationId xmlns:a16="http://schemas.microsoft.com/office/drawing/2014/main" id="{2EF4554E-4B4D-42F8-8916-9A8861689294}"/>
              </a:ext>
            </a:extLst>
          </p:cNvPr>
          <p:cNvSpPr>
            <a:spLocks noGrp="1"/>
          </p:cNvSpPr>
          <p:nvPr/>
        </p:nvSpPr>
        <p:spPr>
          <a:xfrm>
            <a:off x="876300" y="1809750"/>
            <a:ext cx="4762500" cy="2952750"/>
          </a:xfrm>
          <a:prstGeom prst="roundRect">
            <a:avLst>
              <a:gd name="adj" fmla="val 3871"/>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11" name="圆角矩形 10">
            <a:extLst>
              <a:ext uri="{FF2B5EF4-FFF2-40B4-BE49-F238E27FC236}">
                <a16:creationId xmlns:a16="http://schemas.microsoft.com/office/drawing/2014/main" id="{09C36EE3-9613-4C74-A7F7-CB9077B69735}"/>
              </a:ext>
            </a:extLst>
          </p:cNvPr>
          <p:cNvSpPr>
            <a:spLocks noGrp="1"/>
          </p:cNvSpPr>
          <p:nvPr/>
        </p:nvSpPr>
        <p:spPr>
          <a:xfrm>
            <a:off x="876300" y="1809750"/>
            <a:ext cx="47625" cy="2952750"/>
          </a:xfrm>
          <a:prstGeom prst="roundRect">
            <a:avLst>
              <a:gd name="adj" fmla="val 50000"/>
            </a:avLst>
          </a:prstGeom>
          <a:solidFill>
            <a:srgbClr val="37E6C4"/>
          </a:solidFill>
          <a:ln w="0">
            <a:noFill/>
            <a:prstDash val="solid"/>
          </a:ln>
        </p:spPr>
        <p:txBody>
          <a:bodyPr/>
          <a:lstStyle/>
          <a:p>
            <a:endParaRPr lang="zh-CN" altLang="en-US"/>
          </a:p>
        </p:txBody>
      </p:sp>
      <p:sp>
        <p:nvSpPr>
          <p:cNvPr id="12" name="矩形 11">
            <a:extLst>
              <a:ext uri="{FF2B5EF4-FFF2-40B4-BE49-F238E27FC236}">
                <a16:creationId xmlns:a16="http://schemas.microsoft.com/office/drawing/2014/main" id="{E4B40108-ACAD-436B-AE90-D9399C0207F7}"/>
              </a:ext>
            </a:extLst>
          </p:cNvPr>
          <p:cNvSpPr>
            <a:spLocks noGrp="1"/>
          </p:cNvSpPr>
          <p:nvPr/>
        </p:nvSpPr>
        <p:spPr>
          <a:xfrm>
            <a:off x="1219200" y="2171700"/>
            <a:ext cx="3238500" cy="323850"/>
          </a:xfrm>
          <a:prstGeom prst="rect">
            <a:avLst/>
          </a:prstGeom>
          <a:noFill/>
          <a:ln w="0">
            <a:noFill/>
            <a:prstDash val="solid"/>
          </a:ln>
        </p:spPr>
        <p:txBody>
          <a:bodyPr lIns="0" tIns="0" rIns="0" bIns="0"/>
          <a:lstStyle/>
          <a:p>
            <a:pPr>
              <a:lnSpc>
                <a:spcPct val="108000"/>
              </a:lnSpc>
              <a:buNone/>
              <a:defRPr sz="2025" b="1">
                <a:solidFill>
                  <a:srgbClr val="37E6C4"/>
                </a:solidFill>
                <a:latin typeface="Microsoft YaHei"/>
                <a:ea typeface="Microsoft YaHei"/>
                <a:cs typeface="Microsoft YaHei"/>
              </a:defRPr>
            </a:pPr>
            <a:r>
              <a:rPr sz="2025" b="1">
                <a:solidFill>
                  <a:srgbClr val="37E6C4"/>
                </a:solidFill>
                <a:latin typeface="Microsoft YaHei"/>
                <a:ea typeface="Microsoft YaHei"/>
                <a:cs typeface="Microsoft YaHei"/>
              </a:rPr>
              <a:t>在线社交网络模拟</a:t>
            </a:r>
          </a:p>
        </p:txBody>
      </p:sp>
      <p:sp>
        <p:nvSpPr>
          <p:cNvPr id="13" name="椭圆 12">
            <a:extLst>
              <a:ext uri="{FF2B5EF4-FFF2-40B4-BE49-F238E27FC236}">
                <a16:creationId xmlns:a16="http://schemas.microsoft.com/office/drawing/2014/main" id="{BC64E5FB-0ABE-441D-ABA5-3DA3C6C7EEA0}"/>
              </a:ext>
            </a:extLst>
          </p:cNvPr>
          <p:cNvSpPr>
            <a:spLocks noGrp="1"/>
          </p:cNvSpPr>
          <p:nvPr/>
        </p:nvSpPr>
        <p:spPr>
          <a:xfrm>
            <a:off x="1257300" y="2914650"/>
            <a:ext cx="114300" cy="114300"/>
          </a:xfrm>
          <a:prstGeom prst="ellipse">
            <a:avLst/>
          </a:prstGeom>
          <a:solidFill>
            <a:srgbClr val="37E6C4"/>
          </a:solidFill>
          <a:ln w="0">
            <a:noFill/>
            <a:prstDash val="solid"/>
          </a:ln>
        </p:spPr>
        <p:txBody>
          <a:bodyPr/>
          <a:lstStyle/>
          <a:p>
            <a:endParaRPr lang="zh-CN" altLang="en-US"/>
          </a:p>
        </p:txBody>
      </p:sp>
      <p:sp>
        <p:nvSpPr>
          <p:cNvPr id="14" name="矩形 13">
            <a:extLst>
              <a:ext uri="{FF2B5EF4-FFF2-40B4-BE49-F238E27FC236}">
                <a16:creationId xmlns:a16="http://schemas.microsoft.com/office/drawing/2014/main" id="{CD1EFAFA-54EE-407B-A1FF-6D99D7D1F6AF}"/>
              </a:ext>
            </a:extLst>
          </p:cNvPr>
          <p:cNvSpPr>
            <a:spLocks noGrp="1"/>
          </p:cNvSpPr>
          <p:nvPr/>
        </p:nvSpPr>
        <p:spPr>
          <a:xfrm>
            <a:off x="1504950" y="2857500"/>
            <a:ext cx="3371850" cy="647700"/>
          </a:xfrm>
          <a:prstGeom prst="rect">
            <a:avLst/>
          </a:prstGeom>
          <a:noFill/>
          <a:ln w="0">
            <a:noFill/>
            <a:prstDash val="solid"/>
          </a:ln>
        </p:spPr>
        <p:txBody>
          <a:bodyPr lIns="0" tIns="0" rIns="0" bIns="0"/>
          <a:lstStyle/>
          <a:p>
            <a:pPr>
              <a:lnSpc>
                <a:spcPct val="112000"/>
              </a:lnSpc>
              <a:buNone/>
              <a:defRPr sz="1275">
                <a:solidFill>
                  <a:srgbClr val="F6FBFF"/>
                </a:solidFill>
                <a:latin typeface="Microsoft YaHei"/>
                <a:ea typeface="Microsoft YaHei"/>
                <a:cs typeface="Microsoft YaHei"/>
              </a:defRPr>
            </a:pPr>
            <a:r>
              <a:rPr sz="1275">
                <a:solidFill>
                  <a:srgbClr val="F6FBFF"/>
                </a:solidFill>
                <a:latin typeface="Microsoft YaHei"/>
                <a:ea typeface="Microsoft YaHei"/>
                <a:cs typeface="Microsoft YaHei"/>
              </a:rPr>
              <a:t>main.py 启动 Backend 与 Agent 双进程。</a:t>
            </a:r>
          </a:p>
        </p:txBody>
      </p:sp>
      <p:sp>
        <p:nvSpPr>
          <p:cNvPr id="15" name="椭圆 14">
            <a:extLst>
              <a:ext uri="{FF2B5EF4-FFF2-40B4-BE49-F238E27FC236}">
                <a16:creationId xmlns:a16="http://schemas.microsoft.com/office/drawing/2014/main" id="{8907404D-8BC1-4708-A18E-36D8EF9F0FDD}"/>
              </a:ext>
            </a:extLst>
          </p:cNvPr>
          <p:cNvSpPr>
            <a:spLocks noGrp="1"/>
          </p:cNvSpPr>
          <p:nvPr/>
        </p:nvSpPr>
        <p:spPr>
          <a:xfrm>
            <a:off x="1257300" y="3581400"/>
            <a:ext cx="114300" cy="114300"/>
          </a:xfrm>
          <a:prstGeom prst="ellipse">
            <a:avLst/>
          </a:prstGeom>
          <a:solidFill>
            <a:srgbClr val="37E6C4"/>
          </a:solidFill>
          <a:ln w="0">
            <a:noFill/>
            <a:prstDash val="solid"/>
          </a:ln>
        </p:spPr>
        <p:txBody>
          <a:bodyPr/>
          <a:lstStyle/>
          <a:p>
            <a:endParaRPr lang="zh-CN" altLang="en-US"/>
          </a:p>
        </p:txBody>
      </p:sp>
      <p:sp>
        <p:nvSpPr>
          <p:cNvPr id="16" name="矩形 15">
            <a:extLst>
              <a:ext uri="{FF2B5EF4-FFF2-40B4-BE49-F238E27FC236}">
                <a16:creationId xmlns:a16="http://schemas.microsoft.com/office/drawing/2014/main" id="{E213EDEB-6EC9-4EE4-9EAC-D763C63AF8A5}"/>
              </a:ext>
            </a:extLst>
          </p:cNvPr>
          <p:cNvSpPr>
            <a:spLocks noGrp="1"/>
          </p:cNvSpPr>
          <p:nvPr/>
        </p:nvSpPr>
        <p:spPr>
          <a:xfrm>
            <a:off x="1504950" y="3524250"/>
            <a:ext cx="3371850" cy="647700"/>
          </a:xfrm>
          <a:prstGeom prst="rect">
            <a:avLst/>
          </a:prstGeom>
          <a:noFill/>
          <a:ln w="0">
            <a:noFill/>
            <a:prstDash val="solid"/>
          </a:ln>
        </p:spPr>
        <p:txBody>
          <a:bodyPr lIns="0" tIns="0" rIns="0" bIns="0"/>
          <a:lstStyle/>
          <a:p>
            <a:pPr>
              <a:lnSpc>
                <a:spcPct val="112000"/>
              </a:lnSpc>
              <a:buNone/>
              <a:defRPr sz="1275">
                <a:solidFill>
                  <a:srgbClr val="F6FBFF"/>
                </a:solidFill>
                <a:latin typeface="Microsoft YaHei"/>
                <a:ea typeface="Microsoft YaHei"/>
                <a:cs typeface="Microsoft YaHei"/>
              </a:defRPr>
            </a:pPr>
            <a:r>
              <a:rPr sz="1275">
                <a:solidFill>
                  <a:srgbClr val="F6FBFF"/>
                </a:solidFill>
                <a:latin typeface="Microsoft YaHei"/>
                <a:ea typeface="Microsoft YaHei"/>
                <a:cs typeface="Microsoft YaHei"/>
              </a:rPr>
              <a:t>Backend 提供 Feed 推荐、内容管理、时间控制与持久化。</a:t>
            </a:r>
          </a:p>
        </p:txBody>
      </p:sp>
      <p:sp>
        <p:nvSpPr>
          <p:cNvPr id="17" name="椭圆 16">
            <a:extLst>
              <a:ext uri="{FF2B5EF4-FFF2-40B4-BE49-F238E27FC236}">
                <a16:creationId xmlns:a16="http://schemas.microsoft.com/office/drawing/2014/main" id="{EEAAA9E6-7139-419F-8E45-E24EF8F73661}"/>
              </a:ext>
            </a:extLst>
          </p:cNvPr>
          <p:cNvSpPr>
            <a:spLocks noGrp="1"/>
          </p:cNvSpPr>
          <p:nvPr/>
        </p:nvSpPr>
        <p:spPr>
          <a:xfrm>
            <a:off x="1257300" y="4248150"/>
            <a:ext cx="114300" cy="114300"/>
          </a:xfrm>
          <a:prstGeom prst="ellipse">
            <a:avLst/>
          </a:prstGeom>
          <a:solidFill>
            <a:srgbClr val="37E6C4"/>
          </a:solidFill>
          <a:ln w="0">
            <a:noFill/>
            <a:prstDash val="solid"/>
          </a:ln>
        </p:spPr>
        <p:txBody>
          <a:bodyPr/>
          <a:lstStyle/>
          <a:p>
            <a:endParaRPr lang="zh-CN" altLang="en-US"/>
          </a:p>
        </p:txBody>
      </p:sp>
      <p:sp>
        <p:nvSpPr>
          <p:cNvPr id="18" name="矩形 17">
            <a:extLst>
              <a:ext uri="{FF2B5EF4-FFF2-40B4-BE49-F238E27FC236}">
                <a16:creationId xmlns:a16="http://schemas.microsoft.com/office/drawing/2014/main" id="{1928DB48-3FA3-4E6A-92DE-F886A6EB2D10}"/>
              </a:ext>
            </a:extLst>
          </p:cNvPr>
          <p:cNvSpPr>
            <a:spLocks noGrp="1"/>
          </p:cNvSpPr>
          <p:nvPr/>
        </p:nvSpPr>
        <p:spPr>
          <a:xfrm>
            <a:off x="1504950" y="4191000"/>
            <a:ext cx="3371850" cy="647700"/>
          </a:xfrm>
          <a:prstGeom prst="rect">
            <a:avLst/>
          </a:prstGeom>
          <a:noFill/>
          <a:ln w="0">
            <a:noFill/>
            <a:prstDash val="solid"/>
          </a:ln>
        </p:spPr>
        <p:txBody>
          <a:bodyPr lIns="0" tIns="0" rIns="0" bIns="0"/>
          <a:lstStyle/>
          <a:p>
            <a:pPr>
              <a:lnSpc>
                <a:spcPct val="112000"/>
              </a:lnSpc>
              <a:buNone/>
              <a:defRPr sz="1275">
                <a:solidFill>
                  <a:srgbClr val="F6FBFF"/>
                </a:solidFill>
                <a:latin typeface="Microsoft YaHei"/>
                <a:ea typeface="Microsoft YaHei"/>
                <a:cs typeface="Microsoft YaHei"/>
              </a:defRPr>
            </a:pPr>
            <a:r>
              <a:rPr sz="1275">
                <a:solidFill>
                  <a:srgbClr val="F6FBFF"/>
                </a:solidFill>
                <a:latin typeface="Microsoft YaHei"/>
                <a:ea typeface="Microsoft YaHei"/>
                <a:cs typeface="Microsoft YaHei"/>
              </a:rPr>
              <a:t>Agent 决策循环执行发帖、评论、点赞和转发。</a:t>
            </a:r>
          </a:p>
        </p:txBody>
      </p:sp>
      <p:sp>
        <p:nvSpPr>
          <p:cNvPr id="19" name="圆角矩形 18">
            <a:extLst>
              <a:ext uri="{FF2B5EF4-FFF2-40B4-BE49-F238E27FC236}">
                <a16:creationId xmlns:a16="http://schemas.microsoft.com/office/drawing/2014/main" id="{107D4944-C56B-4A96-8C1E-0F4B27777B60}"/>
              </a:ext>
            </a:extLst>
          </p:cNvPr>
          <p:cNvSpPr>
            <a:spLocks noGrp="1"/>
          </p:cNvSpPr>
          <p:nvPr/>
        </p:nvSpPr>
        <p:spPr>
          <a:xfrm>
            <a:off x="6496050" y="1809750"/>
            <a:ext cx="4572000" cy="2952750"/>
          </a:xfrm>
          <a:prstGeom prst="roundRect">
            <a:avLst>
              <a:gd name="adj" fmla="val 3871"/>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20" name="圆角矩形 19">
            <a:extLst>
              <a:ext uri="{FF2B5EF4-FFF2-40B4-BE49-F238E27FC236}">
                <a16:creationId xmlns:a16="http://schemas.microsoft.com/office/drawing/2014/main" id="{3E35F4B8-3AB5-4CA9-AF20-3CA787A667F7}"/>
              </a:ext>
            </a:extLst>
          </p:cNvPr>
          <p:cNvSpPr>
            <a:spLocks noGrp="1"/>
          </p:cNvSpPr>
          <p:nvPr/>
        </p:nvSpPr>
        <p:spPr>
          <a:xfrm>
            <a:off x="6496050" y="1809750"/>
            <a:ext cx="47625" cy="2952750"/>
          </a:xfrm>
          <a:prstGeom prst="roundRect">
            <a:avLst>
              <a:gd name="adj" fmla="val 50000"/>
            </a:avLst>
          </a:prstGeom>
          <a:solidFill>
            <a:srgbClr val="19D9FF"/>
          </a:solidFill>
          <a:ln w="0">
            <a:noFill/>
            <a:prstDash val="solid"/>
          </a:ln>
        </p:spPr>
        <p:txBody>
          <a:bodyPr/>
          <a:lstStyle/>
          <a:p>
            <a:endParaRPr lang="zh-CN" altLang="en-US"/>
          </a:p>
        </p:txBody>
      </p:sp>
      <p:sp>
        <p:nvSpPr>
          <p:cNvPr id="21" name="矩形 20">
            <a:extLst>
              <a:ext uri="{FF2B5EF4-FFF2-40B4-BE49-F238E27FC236}">
                <a16:creationId xmlns:a16="http://schemas.microsoft.com/office/drawing/2014/main" id="{E9F97C45-2D18-465F-80F6-6141F36B9179}"/>
              </a:ext>
            </a:extLst>
          </p:cNvPr>
          <p:cNvSpPr>
            <a:spLocks noGrp="1"/>
          </p:cNvSpPr>
          <p:nvPr/>
        </p:nvSpPr>
        <p:spPr>
          <a:xfrm>
            <a:off x="6858000" y="2171700"/>
            <a:ext cx="2667000" cy="323850"/>
          </a:xfrm>
          <a:prstGeom prst="rect">
            <a:avLst/>
          </a:prstGeom>
          <a:noFill/>
          <a:ln w="0">
            <a:noFill/>
            <a:prstDash val="solid"/>
          </a:ln>
        </p:spPr>
        <p:txBody>
          <a:bodyPr lIns="0" tIns="0" rIns="0" bIns="0"/>
          <a:lstStyle/>
          <a:p>
            <a:pPr>
              <a:lnSpc>
                <a:spcPct val="108000"/>
              </a:lnSpc>
              <a:buNone/>
              <a:defRPr sz="2025" b="1">
                <a:solidFill>
                  <a:srgbClr val="74F0FF"/>
                </a:solidFill>
                <a:latin typeface="Microsoft YaHei"/>
                <a:ea typeface="Microsoft YaHei"/>
                <a:cs typeface="Microsoft YaHei"/>
              </a:defRPr>
            </a:pPr>
            <a:r>
              <a:rPr sz="2025" b="1">
                <a:solidFill>
                  <a:srgbClr val="74F0FF"/>
                </a:solidFill>
                <a:latin typeface="Microsoft YaHei"/>
                <a:ea typeface="Microsoft YaHei"/>
                <a:cs typeface="Microsoft YaHei"/>
              </a:rPr>
              <a:t>验证指标</a:t>
            </a:r>
          </a:p>
        </p:txBody>
      </p:sp>
      <p:sp>
        <p:nvSpPr>
          <p:cNvPr id="22" name="圆角矩形 21">
            <a:extLst>
              <a:ext uri="{FF2B5EF4-FFF2-40B4-BE49-F238E27FC236}">
                <a16:creationId xmlns:a16="http://schemas.microsoft.com/office/drawing/2014/main" id="{829A8B58-05FE-4C66-B193-DEB382327C70}"/>
              </a:ext>
            </a:extLst>
          </p:cNvPr>
          <p:cNvSpPr>
            <a:spLocks noGrp="1"/>
          </p:cNvSpPr>
          <p:nvPr/>
        </p:nvSpPr>
        <p:spPr>
          <a:xfrm>
            <a:off x="6896100" y="2800350"/>
            <a:ext cx="1466850" cy="361950"/>
          </a:xfrm>
          <a:prstGeom prst="roundRect">
            <a:avLst>
              <a:gd name="adj" fmla="val 21053"/>
            </a:avLst>
          </a:prstGeom>
          <a:solidFill>
            <a:srgbClr val="0B2038">
              <a:alpha val="88000"/>
            </a:srgbClr>
          </a:solidFill>
          <a:ln w="9525">
            <a:solidFill>
              <a:srgbClr val="37E6C4">
                <a:alpha val="6000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D7984739-6888-433C-8979-7CF7B587AA9B}"/>
              </a:ext>
            </a:extLst>
          </p:cNvPr>
          <p:cNvSpPr>
            <a:spLocks noGrp="1"/>
          </p:cNvSpPr>
          <p:nvPr/>
        </p:nvSpPr>
        <p:spPr>
          <a:xfrm>
            <a:off x="6991350" y="2886075"/>
            <a:ext cx="1276350" cy="171450"/>
          </a:xfrm>
          <a:prstGeom prst="rect">
            <a:avLst/>
          </a:prstGeom>
          <a:noFill/>
          <a:ln w="0">
            <a:noFill/>
            <a:prstDash val="solid"/>
          </a:ln>
        </p:spPr>
        <p:txBody>
          <a:bodyPr lIns="0" tIns="0" rIns="0" bIns="0"/>
          <a:lstStyle/>
          <a:p>
            <a:pPr algn="ctr">
              <a:lnSpc>
                <a:spcPct val="108000"/>
              </a:lnSpc>
              <a:buNone/>
              <a:defRPr sz="1200">
                <a:solidFill>
                  <a:srgbClr val="F6FBFF"/>
                </a:solidFill>
                <a:latin typeface="Microsoft YaHei"/>
                <a:ea typeface="Microsoft YaHei"/>
                <a:cs typeface="Microsoft YaHei"/>
              </a:defRPr>
            </a:pPr>
            <a:r>
              <a:rPr sz="1200">
                <a:solidFill>
                  <a:srgbClr val="F6FBFF"/>
                </a:solidFill>
                <a:latin typeface="Microsoft YaHei"/>
                <a:ea typeface="Microsoft YaHei"/>
                <a:cs typeface="Microsoft YaHei"/>
              </a:rPr>
              <a:t>功能完整性</a:t>
            </a:r>
          </a:p>
        </p:txBody>
      </p:sp>
      <p:sp>
        <p:nvSpPr>
          <p:cNvPr id="24" name="圆角矩形 23">
            <a:extLst>
              <a:ext uri="{FF2B5EF4-FFF2-40B4-BE49-F238E27FC236}">
                <a16:creationId xmlns:a16="http://schemas.microsoft.com/office/drawing/2014/main" id="{D177076F-1EA5-481A-8370-495E9D2BF278}"/>
              </a:ext>
            </a:extLst>
          </p:cNvPr>
          <p:cNvSpPr>
            <a:spLocks noGrp="1"/>
          </p:cNvSpPr>
          <p:nvPr/>
        </p:nvSpPr>
        <p:spPr>
          <a:xfrm>
            <a:off x="8648700" y="2800350"/>
            <a:ext cx="1466850" cy="361950"/>
          </a:xfrm>
          <a:prstGeom prst="roundRect">
            <a:avLst>
              <a:gd name="adj" fmla="val 21053"/>
            </a:avLst>
          </a:prstGeom>
          <a:solidFill>
            <a:srgbClr val="0B2038">
              <a:alpha val="88000"/>
            </a:srgbClr>
          </a:solidFill>
          <a:ln w="9525">
            <a:solidFill>
              <a:srgbClr val="37E6C4">
                <a:alpha val="60000"/>
              </a:srgbClr>
            </a:solidFill>
            <a:prstDash val="solid"/>
          </a:ln>
        </p:spPr>
        <p:txBody>
          <a:bodyPr/>
          <a:lstStyle/>
          <a:p>
            <a:endParaRPr lang="zh-CN" altLang="en-US"/>
          </a:p>
        </p:txBody>
      </p:sp>
      <p:sp>
        <p:nvSpPr>
          <p:cNvPr id="25" name="矩形 24">
            <a:extLst>
              <a:ext uri="{FF2B5EF4-FFF2-40B4-BE49-F238E27FC236}">
                <a16:creationId xmlns:a16="http://schemas.microsoft.com/office/drawing/2014/main" id="{47EA6D98-746F-4330-BD61-A57B4DA1376B}"/>
              </a:ext>
            </a:extLst>
          </p:cNvPr>
          <p:cNvSpPr>
            <a:spLocks noGrp="1"/>
          </p:cNvSpPr>
          <p:nvPr/>
        </p:nvSpPr>
        <p:spPr>
          <a:xfrm>
            <a:off x="8743950" y="2886075"/>
            <a:ext cx="1276350" cy="171450"/>
          </a:xfrm>
          <a:prstGeom prst="rect">
            <a:avLst/>
          </a:prstGeom>
          <a:noFill/>
          <a:ln w="0">
            <a:noFill/>
            <a:prstDash val="solid"/>
          </a:ln>
        </p:spPr>
        <p:txBody>
          <a:bodyPr lIns="0" tIns="0" rIns="0" bIns="0"/>
          <a:lstStyle/>
          <a:p>
            <a:pPr algn="ctr">
              <a:lnSpc>
                <a:spcPct val="108000"/>
              </a:lnSpc>
              <a:buNone/>
              <a:defRPr sz="1200">
                <a:solidFill>
                  <a:srgbClr val="F6FBFF"/>
                </a:solidFill>
                <a:latin typeface="Microsoft YaHei"/>
                <a:ea typeface="Microsoft YaHei"/>
                <a:cs typeface="Microsoft YaHei"/>
              </a:defRPr>
            </a:pPr>
            <a:r>
              <a:rPr sz="1200">
                <a:solidFill>
                  <a:srgbClr val="F6FBFF"/>
                </a:solidFill>
                <a:latin typeface="Microsoft YaHei"/>
                <a:ea typeface="Microsoft YaHei"/>
                <a:cs typeface="Microsoft YaHei"/>
              </a:rPr>
              <a:t>参数一致性</a:t>
            </a:r>
          </a:p>
        </p:txBody>
      </p:sp>
      <p:sp>
        <p:nvSpPr>
          <p:cNvPr id="26" name="圆角矩形 25">
            <a:extLst>
              <a:ext uri="{FF2B5EF4-FFF2-40B4-BE49-F238E27FC236}">
                <a16:creationId xmlns:a16="http://schemas.microsoft.com/office/drawing/2014/main" id="{84E70611-CF85-4AB1-B05A-679B1431A948}"/>
              </a:ext>
            </a:extLst>
          </p:cNvPr>
          <p:cNvSpPr>
            <a:spLocks noGrp="1"/>
          </p:cNvSpPr>
          <p:nvPr/>
        </p:nvSpPr>
        <p:spPr>
          <a:xfrm>
            <a:off x="6896100" y="3409950"/>
            <a:ext cx="1466850" cy="361950"/>
          </a:xfrm>
          <a:prstGeom prst="roundRect">
            <a:avLst>
              <a:gd name="adj" fmla="val 21053"/>
            </a:avLst>
          </a:prstGeom>
          <a:solidFill>
            <a:srgbClr val="0B2038">
              <a:alpha val="88000"/>
            </a:srgbClr>
          </a:solidFill>
          <a:ln w="9525">
            <a:solidFill>
              <a:srgbClr val="19D9FF">
                <a:alpha val="60000"/>
              </a:srgbClr>
            </a:solidFill>
            <a:prstDash val="solid"/>
          </a:ln>
        </p:spPr>
        <p:txBody>
          <a:bodyPr/>
          <a:lstStyle/>
          <a:p>
            <a:endParaRPr lang="zh-CN" altLang="en-US"/>
          </a:p>
        </p:txBody>
      </p:sp>
      <p:sp>
        <p:nvSpPr>
          <p:cNvPr id="27" name="矩形 26">
            <a:extLst>
              <a:ext uri="{FF2B5EF4-FFF2-40B4-BE49-F238E27FC236}">
                <a16:creationId xmlns:a16="http://schemas.microsoft.com/office/drawing/2014/main" id="{ED03C822-510C-4B14-8FF0-78C582476BD8}"/>
              </a:ext>
            </a:extLst>
          </p:cNvPr>
          <p:cNvSpPr>
            <a:spLocks noGrp="1"/>
          </p:cNvSpPr>
          <p:nvPr/>
        </p:nvSpPr>
        <p:spPr>
          <a:xfrm>
            <a:off x="6991350" y="3495675"/>
            <a:ext cx="1276350" cy="171450"/>
          </a:xfrm>
          <a:prstGeom prst="rect">
            <a:avLst/>
          </a:prstGeom>
          <a:noFill/>
          <a:ln w="0">
            <a:noFill/>
            <a:prstDash val="solid"/>
          </a:ln>
        </p:spPr>
        <p:txBody>
          <a:bodyPr lIns="0" tIns="0" rIns="0" bIns="0"/>
          <a:lstStyle/>
          <a:p>
            <a:pPr algn="ctr">
              <a:lnSpc>
                <a:spcPct val="108000"/>
              </a:lnSpc>
              <a:buNone/>
              <a:defRPr sz="1200">
                <a:solidFill>
                  <a:srgbClr val="F6FBFF"/>
                </a:solidFill>
                <a:latin typeface="Microsoft YaHei"/>
                <a:ea typeface="Microsoft YaHei"/>
                <a:cs typeface="Microsoft YaHei"/>
              </a:defRPr>
            </a:pPr>
            <a:r>
              <a:rPr sz="1200">
                <a:solidFill>
                  <a:srgbClr val="F6FBFF"/>
                </a:solidFill>
                <a:latin typeface="Microsoft YaHei"/>
                <a:ea typeface="Microsoft YaHei"/>
                <a:cs typeface="Microsoft YaHei"/>
              </a:rPr>
              <a:t>DTW / Pearson</a:t>
            </a:r>
          </a:p>
        </p:txBody>
      </p:sp>
      <p:sp>
        <p:nvSpPr>
          <p:cNvPr id="28" name="圆角矩形 27">
            <a:extLst>
              <a:ext uri="{FF2B5EF4-FFF2-40B4-BE49-F238E27FC236}">
                <a16:creationId xmlns:a16="http://schemas.microsoft.com/office/drawing/2014/main" id="{C8F124AC-E012-4AE0-A5B9-55CFB049129F}"/>
              </a:ext>
            </a:extLst>
          </p:cNvPr>
          <p:cNvSpPr>
            <a:spLocks noGrp="1"/>
          </p:cNvSpPr>
          <p:nvPr/>
        </p:nvSpPr>
        <p:spPr>
          <a:xfrm>
            <a:off x="8648700" y="3409950"/>
            <a:ext cx="1466850" cy="361950"/>
          </a:xfrm>
          <a:prstGeom prst="roundRect">
            <a:avLst>
              <a:gd name="adj" fmla="val 21053"/>
            </a:avLst>
          </a:prstGeom>
          <a:solidFill>
            <a:srgbClr val="0B2038">
              <a:alpha val="88000"/>
            </a:srgbClr>
          </a:solidFill>
          <a:ln w="9525">
            <a:solidFill>
              <a:srgbClr val="19D9FF">
                <a:alpha val="60000"/>
              </a:srgbClr>
            </a:solidFill>
            <a:prstDash val="solid"/>
          </a:ln>
        </p:spPr>
        <p:txBody>
          <a:bodyPr/>
          <a:lstStyle/>
          <a:p>
            <a:endParaRPr lang="zh-CN" altLang="en-US"/>
          </a:p>
        </p:txBody>
      </p:sp>
      <p:sp>
        <p:nvSpPr>
          <p:cNvPr id="29" name="矩形 28">
            <a:extLst>
              <a:ext uri="{FF2B5EF4-FFF2-40B4-BE49-F238E27FC236}">
                <a16:creationId xmlns:a16="http://schemas.microsoft.com/office/drawing/2014/main" id="{431E3640-C766-42BF-A088-1752B07F5FB5}"/>
              </a:ext>
            </a:extLst>
          </p:cNvPr>
          <p:cNvSpPr>
            <a:spLocks noGrp="1"/>
          </p:cNvSpPr>
          <p:nvPr/>
        </p:nvSpPr>
        <p:spPr>
          <a:xfrm>
            <a:off x="8743950" y="3495675"/>
            <a:ext cx="1276350" cy="171450"/>
          </a:xfrm>
          <a:prstGeom prst="rect">
            <a:avLst/>
          </a:prstGeom>
          <a:noFill/>
          <a:ln w="0">
            <a:noFill/>
            <a:prstDash val="solid"/>
          </a:ln>
        </p:spPr>
        <p:txBody>
          <a:bodyPr lIns="0" tIns="0" rIns="0" bIns="0"/>
          <a:lstStyle/>
          <a:p>
            <a:pPr algn="ctr">
              <a:lnSpc>
                <a:spcPct val="108000"/>
              </a:lnSpc>
              <a:buNone/>
              <a:defRPr sz="1200">
                <a:solidFill>
                  <a:srgbClr val="F6FBFF"/>
                </a:solidFill>
                <a:latin typeface="Microsoft YaHei"/>
                <a:ea typeface="Microsoft YaHei"/>
                <a:cs typeface="Microsoft YaHei"/>
              </a:defRPr>
            </a:pPr>
            <a:r>
              <a:rPr sz="1200">
                <a:solidFill>
                  <a:srgbClr val="F6FBFF"/>
                </a:solidFill>
                <a:latin typeface="Microsoft YaHei"/>
                <a:ea typeface="Microsoft YaHei"/>
                <a:cs typeface="Microsoft YaHei"/>
              </a:rPr>
              <a:t>MAE / MRE</a:t>
            </a:r>
          </a:p>
        </p:txBody>
      </p:sp>
      <p:sp>
        <p:nvSpPr>
          <p:cNvPr id="30" name="圆角矩形 29">
            <a:extLst>
              <a:ext uri="{FF2B5EF4-FFF2-40B4-BE49-F238E27FC236}">
                <a16:creationId xmlns:a16="http://schemas.microsoft.com/office/drawing/2014/main" id="{951D492C-EF25-4B05-97B3-D62A0F57B48F}"/>
              </a:ext>
            </a:extLst>
          </p:cNvPr>
          <p:cNvSpPr>
            <a:spLocks noGrp="1"/>
          </p:cNvSpPr>
          <p:nvPr/>
        </p:nvSpPr>
        <p:spPr>
          <a:xfrm>
            <a:off x="6896100" y="4019550"/>
            <a:ext cx="1466850" cy="361950"/>
          </a:xfrm>
          <a:prstGeom prst="roundRect">
            <a:avLst>
              <a:gd name="adj" fmla="val 21053"/>
            </a:avLst>
          </a:prstGeom>
          <a:solidFill>
            <a:srgbClr val="0B2038">
              <a:alpha val="88000"/>
            </a:srgbClr>
          </a:solidFill>
          <a:ln w="9525">
            <a:solidFill>
              <a:srgbClr val="E2B84B">
                <a:alpha val="60000"/>
              </a:srgbClr>
            </a:solidFill>
            <a:prstDash val="solid"/>
          </a:ln>
        </p:spPr>
        <p:txBody>
          <a:bodyPr/>
          <a:lstStyle/>
          <a:p>
            <a:endParaRPr lang="zh-CN" altLang="en-US"/>
          </a:p>
        </p:txBody>
      </p:sp>
      <p:sp>
        <p:nvSpPr>
          <p:cNvPr id="31" name="矩形 30">
            <a:extLst>
              <a:ext uri="{FF2B5EF4-FFF2-40B4-BE49-F238E27FC236}">
                <a16:creationId xmlns:a16="http://schemas.microsoft.com/office/drawing/2014/main" id="{9D1A1773-8D45-46D1-B755-B6A988D3A66E}"/>
              </a:ext>
            </a:extLst>
          </p:cNvPr>
          <p:cNvSpPr>
            <a:spLocks noGrp="1"/>
          </p:cNvSpPr>
          <p:nvPr/>
        </p:nvSpPr>
        <p:spPr>
          <a:xfrm>
            <a:off x="6991350" y="4105275"/>
            <a:ext cx="1276350" cy="171450"/>
          </a:xfrm>
          <a:prstGeom prst="rect">
            <a:avLst/>
          </a:prstGeom>
          <a:noFill/>
          <a:ln w="0">
            <a:noFill/>
            <a:prstDash val="solid"/>
          </a:ln>
        </p:spPr>
        <p:txBody>
          <a:bodyPr lIns="0" tIns="0" rIns="0" bIns="0"/>
          <a:lstStyle/>
          <a:p>
            <a:pPr algn="ctr">
              <a:lnSpc>
                <a:spcPct val="108000"/>
              </a:lnSpc>
              <a:buNone/>
              <a:defRPr sz="1200">
                <a:solidFill>
                  <a:srgbClr val="F6FBFF"/>
                </a:solidFill>
                <a:latin typeface="Microsoft YaHei"/>
                <a:ea typeface="Microsoft YaHei"/>
                <a:cs typeface="Microsoft YaHei"/>
              </a:defRPr>
            </a:pPr>
            <a:r>
              <a:rPr sz="1200">
                <a:solidFill>
                  <a:srgbClr val="F6FBFF"/>
                </a:solidFill>
                <a:latin typeface="Microsoft YaHei"/>
                <a:ea typeface="Microsoft YaHei"/>
                <a:cs typeface="Microsoft YaHei"/>
              </a:rPr>
              <a:t>随机种子方差</a:t>
            </a:r>
          </a:p>
        </p:txBody>
      </p:sp>
      <p:sp>
        <p:nvSpPr>
          <p:cNvPr id="32" name="圆角矩形 31">
            <a:extLst>
              <a:ext uri="{FF2B5EF4-FFF2-40B4-BE49-F238E27FC236}">
                <a16:creationId xmlns:a16="http://schemas.microsoft.com/office/drawing/2014/main" id="{792B9801-EAA4-4329-A027-2A628C3BC380}"/>
              </a:ext>
            </a:extLst>
          </p:cNvPr>
          <p:cNvSpPr>
            <a:spLocks noGrp="1"/>
          </p:cNvSpPr>
          <p:nvPr/>
        </p:nvSpPr>
        <p:spPr>
          <a:xfrm>
            <a:off x="8648700" y="4019550"/>
            <a:ext cx="1466850" cy="361950"/>
          </a:xfrm>
          <a:prstGeom prst="roundRect">
            <a:avLst>
              <a:gd name="adj" fmla="val 21053"/>
            </a:avLst>
          </a:prstGeom>
          <a:solidFill>
            <a:srgbClr val="0B2038">
              <a:alpha val="88000"/>
            </a:srgbClr>
          </a:solidFill>
          <a:ln w="9525">
            <a:solidFill>
              <a:srgbClr val="E2B84B">
                <a:alpha val="60000"/>
              </a:srgbClr>
            </a:solidFill>
            <a:prstDash val="solid"/>
          </a:ln>
        </p:spPr>
        <p:txBody>
          <a:bodyPr/>
          <a:lstStyle/>
          <a:p>
            <a:endParaRPr lang="zh-CN" altLang="en-US"/>
          </a:p>
        </p:txBody>
      </p:sp>
      <p:sp>
        <p:nvSpPr>
          <p:cNvPr id="33" name="矩形 32">
            <a:extLst>
              <a:ext uri="{FF2B5EF4-FFF2-40B4-BE49-F238E27FC236}">
                <a16:creationId xmlns:a16="http://schemas.microsoft.com/office/drawing/2014/main" id="{73404296-49EC-44B0-8C63-BE73914D8DC7}"/>
              </a:ext>
            </a:extLst>
          </p:cNvPr>
          <p:cNvSpPr>
            <a:spLocks noGrp="1"/>
          </p:cNvSpPr>
          <p:nvPr/>
        </p:nvSpPr>
        <p:spPr>
          <a:xfrm>
            <a:off x="8743950" y="4105275"/>
            <a:ext cx="1276350" cy="171450"/>
          </a:xfrm>
          <a:prstGeom prst="rect">
            <a:avLst/>
          </a:prstGeom>
          <a:noFill/>
          <a:ln w="0">
            <a:noFill/>
            <a:prstDash val="solid"/>
          </a:ln>
        </p:spPr>
        <p:txBody>
          <a:bodyPr lIns="0" tIns="0" rIns="0" bIns="0"/>
          <a:lstStyle/>
          <a:p>
            <a:pPr algn="ctr">
              <a:lnSpc>
                <a:spcPct val="108000"/>
              </a:lnSpc>
              <a:buNone/>
              <a:defRPr sz="1200">
                <a:solidFill>
                  <a:srgbClr val="F6FBFF"/>
                </a:solidFill>
                <a:latin typeface="Microsoft YaHei"/>
                <a:ea typeface="Microsoft YaHei"/>
                <a:cs typeface="Microsoft YaHei"/>
              </a:defRPr>
            </a:pPr>
            <a:r>
              <a:rPr sz="1200">
                <a:solidFill>
                  <a:srgbClr val="F6FBFF"/>
                </a:solidFill>
                <a:latin typeface="Microsoft YaHei"/>
                <a:ea typeface="Microsoft YaHei"/>
                <a:cs typeface="Microsoft YaHei"/>
              </a:rPr>
              <a:t>参数消融</a:t>
            </a:r>
          </a:p>
        </p:txBody>
      </p:sp>
      <p:sp>
        <p:nvSpPr>
          <p:cNvPr id="34" name="矩形 33">
            <a:extLst>
              <a:ext uri="{FF2B5EF4-FFF2-40B4-BE49-F238E27FC236}">
                <a16:creationId xmlns:a16="http://schemas.microsoft.com/office/drawing/2014/main" id="{5629C122-8163-4BC4-B90C-7960EEBA8104}"/>
              </a:ext>
            </a:extLst>
          </p:cNvPr>
          <p:cNvSpPr>
            <a:spLocks noGrp="1"/>
          </p:cNvSpPr>
          <p:nvPr/>
        </p:nvSpPr>
        <p:spPr>
          <a:xfrm>
            <a:off x="1428750" y="5505450"/>
            <a:ext cx="9334500" cy="285750"/>
          </a:xfrm>
          <a:prstGeom prst="rect">
            <a:avLst/>
          </a:prstGeom>
          <a:noFill/>
          <a:ln w="0">
            <a:noFill/>
            <a:prstDash val="solid"/>
          </a:ln>
        </p:spPr>
        <p:txBody>
          <a:bodyPr lIns="0" tIns="0" rIns="0" bIns="0"/>
          <a:lstStyle/>
          <a:p>
            <a:pPr algn="ctr">
              <a:lnSpc>
                <a:spcPct val="108000"/>
              </a:lnSpc>
              <a:buNone/>
              <a:defRPr sz="1650" b="1">
                <a:solidFill>
                  <a:srgbClr val="74F0FF"/>
                </a:solidFill>
                <a:latin typeface="Microsoft YaHei"/>
                <a:ea typeface="Microsoft YaHei"/>
                <a:cs typeface="Microsoft YaHei"/>
              </a:defRPr>
            </a:pPr>
            <a:r>
              <a:rPr sz="1650" b="1">
                <a:solidFill>
                  <a:srgbClr val="74F0FF"/>
                </a:solidFill>
                <a:latin typeface="Microsoft YaHei"/>
                <a:ea typeface="Microsoft YaHei"/>
                <a:cs typeface="Microsoft YaHei"/>
              </a:rPr>
              <a:t>验证重点：校准参数是否提升传播曲线、态度演化与互动行为分布的拟合程度。</a:t>
            </a:r>
          </a:p>
        </p:txBody>
      </p:sp>
    </p:spTree>
    <p:extLst>
      <p:ext uri="{BB962C8B-B14F-4D97-AF65-F5344CB8AC3E}">
        <p14:creationId xmlns:p14="http://schemas.microsoft.com/office/powerpoint/2010/main" val="1708987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0454A309-6315-42F1-8527-FF647CB113FB}"/>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D6F75B90-BB2B-425E-A65A-0FF7DF015058}"/>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A1E918E7-E674-4FF4-954E-60AA942D9C4F}"/>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30" name="图片 29"/>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9BA2F774-8CE1-408A-9C4F-32CBF94353DF}"/>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05  可行性分析</a:t>
            </a:r>
          </a:p>
        </p:txBody>
      </p:sp>
      <p:sp>
        <p:nvSpPr>
          <p:cNvPr id="7" name="矩形 6">
            <a:extLst>
              <a:ext uri="{FF2B5EF4-FFF2-40B4-BE49-F238E27FC236}">
                <a16:creationId xmlns:a16="http://schemas.microsoft.com/office/drawing/2014/main" id="{DF74BDE5-CDA1-42D9-888F-621BB2D54701}"/>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理论、方法、工程基础均具备</a:t>
            </a:r>
          </a:p>
        </p:txBody>
      </p:sp>
      <p:sp>
        <p:nvSpPr>
          <p:cNvPr id="8" name="圆角矩形 7">
            <a:extLst>
              <a:ext uri="{FF2B5EF4-FFF2-40B4-BE49-F238E27FC236}">
                <a16:creationId xmlns:a16="http://schemas.microsoft.com/office/drawing/2014/main" id="{306DCF13-C9E4-4F70-B21B-F3FBBD8F3BB1}"/>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B53D652B-33F5-4E58-98A4-3FDF14EB61DD}"/>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12</a:t>
            </a:r>
          </a:p>
        </p:txBody>
      </p:sp>
      <p:sp>
        <p:nvSpPr>
          <p:cNvPr id="10" name="圆角矩形 9">
            <a:extLst>
              <a:ext uri="{FF2B5EF4-FFF2-40B4-BE49-F238E27FC236}">
                <a16:creationId xmlns:a16="http://schemas.microsoft.com/office/drawing/2014/main" id="{53F3F30A-4F96-4F92-9CD7-0E55589375E1}"/>
              </a:ext>
            </a:extLst>
          </p:cNvPr>
          <p:cNvSpPr>
            <a:spLocks noGrp="1"/>
          </p:cNvSpPr>
          <p:nvPr/>
        </p:nvSpPr>
        <p:spPr>
          <a:xfrm>
            <a:off x="990600" y="1885950"/>
            <a:ext cx="4267200" cy="1200150"/>
          </a:xfrm>
          <a:prstGeom prst="roundRect">
            <a:avLst>
              <a:gd name="adj" fmla="val 9524"/>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11" name="圆角矩形 10">
            <a:extLst>
              <a:ext uri="{FF2B5EF4-FFF2-40B4-BE49-F238E27FC236}">
                <a16:creationId xmlns:a16="http://schemas.microsoft.com/office/drawing/2014/main" id="{C9A484CD-54C3-48F3-B194-71FEE13C5AD9}"/>
              </a:ext>
            </a:extLst>
          </p:cNvPr>
          <p:cNvSpPr>
            <a:spLocks noGrp="1"/>
          </p:cNvSpPr>
          <p:nvPr/>
        </p:nvSpPr>
        <p:spPr>
          <a:xfrm>
            <a:off x="990600" y="1885950"/>
            <a:ext cx="47625" cy="1200150"/>
          </a:xfrm>
          <a:prstGeom prst="roundRect">
            <a:avLst>
              <a:gd name="adj" fmla="val 50000"/>
            </a:avLst>
          </a:prstGeom>
          <a:solidFill>
            <a:srgbClr val="37E6C4"/>
          </a:solidFill>
          <a:ln w="0">
            <a:noFill/>
            <a:prstDash val="solid"/>
          </a:ln>
        </p:spPr>
        <p:txBody>
          <a:bodyPr/>
          <a:lstStyle/>
          <a:p>
            <a:endParaRPr lang="zh-CN" altLang="en-US"/>
          </a:p>
        </p:txBody>
      </p:sp>
      <p:sp>
        <p:nvSpPr>
          <p:cNvPr id="12" name="矩形 11">
            <a:extLst>
              <a:ext uri="{FF2B5EF4-FFF2-40B4-BE49-F238E27FC236}">
                <a16:creationId xmlns:a16="http://schemas.microsoft.com/office/drawing/2014/main" id="{9785AD7D-428C-42DD-8470-8F8C5F360909}"/>
              </a:ext>
            </a:extLst>
          </p:cNvPr>
          <p:cNvSpPr>
            <a:spLocks noGrp="1"/>
          </p:cNvSpPr>
          <p:nvPr/>
        </p:nvSpPr>
        <p:spPr>
          <a:xfrm>
            <a:off x="1295400" y="2114550"/>
            <a:ext cx="2476500" cy="266700"/>
          </a:xfrm>
          <a:prstGeom prst="rect">
            <a:avLst/>
          </a:prstGeom>
          <a:noFill/>
          <a:ln w="0">
            <a:noFill/>
            <a:prstDash val="solid"/>
          </a:ln>
        </p:spPr>
        <p:txBody>
          <a:bodyPr lIns="0" tIns="0" rIns="0" bIns="0"/>
          <a:lstStyle/>
          <a:p>
            <a:pPr>
              <a:lnSpc>
                <a:spcPct val="108000"/>
              </a:lnSpc>
              <a:buNone/>
              <a:defRPr sz="1800" b="1">
                <a:solidFill>
                  <a:srgbClr val="37E6C4"/>
                </a:solidFill>
                <a:latin typeface="Microsoft YaHei"/>
                <a:ea typeface="Microsoft YaHei"/>
                <a:cs typeface="Microsoft YaHei"/>
              </a:defRPr>
            </a:pPr>
            <a:r>
              <a:rPr sz="1800" b="1">
                <a:solidFill>
                  <a:srgbClr val="37E6C4"/>
                </a:solidFill>
                <a:latin typeface="Microsoft YaHei"/>
                <a:ea typeface="Microsoft YaHei"/>
                <a:cs typeface="Microsoft YaHei"/>
              </a:rPr>
              <a:t>理论基础</a:t>
            </a:r>
          </a:p>
        </p:txBody>
      </p:sp>
      <p:sp>
        <p:nvSpPr>
          <p:cNvPr id="13" name="矩形 12">
            <a:extLst>
              <a:ext uri="{FF2B5EF4-FFF2-40B4-BE49-F238E27FC236}">
                <a16:creationId xmlns:a16="http://schemas.microsoft.com/office/drawing/2014/main" id="{2A910D66-1C06-458C-9CCF-0F7C1DF1C60A}"/>
              </a:ext>
            </a:extLst>
          </p:cNvPr>
          <p:cNvSpPr>
            <a:spLocks noGrp="1"/>
          </p:cNvSpPr>
          <p:nvPr/>
        </p:nvSpPr>
        <p:spPr>
          <a:xfrm>
            <a:off x="1295400" y="2533650"/>
            <a:ext cx="3524250" cy="400050"/>
          </a:xfrm>
          <a:prstGeom prst="rect">
            <a:avLst/>
          </a:prstGeom>
          <a:noFill/>
          <a:ln w="0">
            <a:noFill/>
            <a:prstDash val="solid"/>
          </a:ln>
        </p:spPr>
        <p:txBody>
          <a:bodyPr lIns="0" tIns="0" rIns="0" bIns="0"/>
          <a:lstStyle/>
          <a:p>
            <a:pPr>
              <a:lnSpc>
                <a:spcPct val="108000"/>
              </a:lnSpc>
              <a:buNone/>
              <a:defRPr sz="1275">
                <a:solidFill>
                  <a:srgbClr val="B5C8D8"/>
                </a:solidFill>
                <a:latin typeface="Microsoft YaHei"/>
                <a:ea typeface="Microsoft YaHei"/>
                <a:cs typeface="Microsoft YaHei"/>
              </a:defRPr>
            </a:pPr>
            <a:r>
              <a:rPr sz="1275">
                <a:solidFill>
                  <a:srgbClr val="B5C8D8"/>
                </a:solidFill>
                <a:latin typeface="Microsoft YaHei"/>
                <a:ea typeface="Microsoft YaHei"/>
                <a:cs typeface="Microsoft YaHei"/>
              </a:rPr>
              <a:t>HiSim、FDE-LLM、OASIS 等研究证明混合仿真与平台化系统可行。</a:t>
            </a:r>
          </a:p>
        </p:txBody>
      </p:sp>
      <p:sp>
        <p:nvSpPr>
          <p:cNvPr id="14" name="圆角矩形 13">
            <a:extLst>
              <a:ext uri="{FF2B5EF4-FFF2-40B4-BE49-F238E27FC236}">
                <a16:creationId xmlns:a16="http://schemas.microsoft.com/office/drawing/2014/main" id="{91EB6E32-73A1-4815-917A-740B93EE5CB1}"/>
              </a:ext>
            </a:extLst>
          </p:cNvPr>
          <p:cNvSpPr>
            <a:spLocks noGrp="1"/>
          </p:cNvSpPr>
          <p:nvPr/>
        </p:nvSpPr>
        <p:spPr>
          <a:xfrm>
            <a:off x="5943600" y="1885950"/>
            <a:ext cx="4267200" cy="1200150"/>
          </a:xfrm>
          <a:prstGeom prst="roundRect">
            <a:avLst>
              <a:gd name="adj" fmla="val 9524"/>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15" name="圆角矩形 14">
            <a:extLst>
              <a:ext uri="{FF2B5EF4-FFF2-40B4-BE49-F238E27FC236}">
                <a16:creationId xmlns:a16="http://schemas.microsoft.com/office/drawing/2014/main" id="{2968D05D-1DDC-4E6B-87BD-71A9C693AD83}"/>
              </a:ext>
            </a:extLst>
          </p:cNvPr>
          <p:cNvSpPr>
            <a:spLocks noGrp="1"/>
          </p:cNvSpPr>
          <p:nvPr/>
        </p:nvSpPr>
        <p:spPr>
          <a:xfrm>
            <a:off x="5943600" y="1885950"/>
            <a:ext cx="47625" cy="1200150"/>
          </a:xfrm>
          <a:prstGeom prst="roundRect">
            <a:avLst>
              <a:gd name="adj" fmla="val 50000"/>
            </a:avLst>
          </a:prstGeom>
          <a:solidFill>
            <a:srgbClr val="19D9FF"/>
          </a:solidFill>
          <a:ln w="0">
            <a:noFill/>
            <a:prstDash val="solid"/>
          </a:ln>
        </p:spPr>
        <p:txBody>
          <a:bodyPr/>
          <a:lstStyle/>
          <a:p>
            <a:endParaRPr lang="zh-CN" altLang="en-US"/>
          </a:p>
        </p:txBody>
      </p:sp>
      <p:sp>
        <p:nvSpPr>
          <p:cNvPr id="16" name="矩形 15">
            <a:extLst>
              <a:ext uri="{FF2B5EF4-FFF2-40B4-BE49-F238E27FC236}">
                <a16:creationId xmlns:a16="http://schemas.microsoft.com/office/drawing/2014/main" id="{C21CC5D4-FA64-462D-A7B1-B453E56F2CEE}"/>
              </a:ext>
            </a:extLst>
          </p:cNvPr>
          <p:cNvSpPr>
            <a:spLocks noGrp="1"/>
          </p:cNvSpPr>
          <p:nvPr/>
        </p:nvSpPr>
        <p:spPr>
          <a:xfrm>
            <a:off x="6248400" y="2114550"/>
            <a:ext cx="2476500" cy="266700"/>
          </a:xfrm>
          <a:prstGeom prst="rect">
            <a:avLst/>
          </a:prstGeom>
          <a:noFill/>
          <a:ln w="0">
            <a:noFill/>
            <a:prstDash val="solid"/>
          </a:ln>
        </p:spPr>
        <p:txBody>
          <a:bodyPr lIns="0" tIns="0" rIns="0" bIns="0"/>
          <a:lstStyle/>
          <a:p>
            <a:pPr>
              <a:lnSpc>
                <a:spcPct val="108000"/>
              </a:lnSpc>
              <a:buNone/>
              <a:defRPr sz="1800" b="1">
                <a:solidFill>
                  <a:srgbClr val="19D9FF"/>
                </a:solidFill>
                <a:latin typeface="Microsoft YaHei"/>
                <a:ea typeface="Microsoft YaHei"/>
                <a:cs typeface="Microsoft YaHei"/>
              </a:defRPr>
            </a:pPr>
            <a:r>
              <a:rPr sz="1800" b="1">
                <a:solidFill>
                  <a:srgbClr val="19D9FF"/>
                </a:solidFill>
                <a:latin typeface="Microsoft YaHei"/>
                <a:ea typeface="Microsoft YaHei"/>
                <a:cs typeface="Microsoft YaHei"/>
              </a:rPr>
              <a:t>方法基础</a:t>
            </a:r>
          </a:p>
        </p:txBody>
      </p:sp>
      <p:sp>
        <p:nvSpPr>
          <p:cNvPr id="17" name="矩形 16">
            <a:extLst>
              <a:ext uri="{FF2B5EF4-FFF2-40B4-BE49-F238E27FC236}">
                <a16:creationId xmlns:a16="http://schemas.microsoft.com/office/drawing/2014/main" id="{A5EC9327-CE69-4E8A-BD74-4E67F859D9A5}"/>
              </a:ext>
            </a:extLst>
          </p:cNvPr>
          <p:cNvSpPr>
            <a:spLocks noGrp="1"/>
          </p:cNvSpPr>
          <p:nvPr/>
        </p:nvSpPr>
        <p:spPr>
          <a:xfrm>
            <a:off x="6248400" y="2533650"/>
            <a:ext cx="3524250" cy="400050"/>
          </a:xfrm>
          <a:prstGeom prst="rect">
            <a:avLst/>
          </a:prstGeom>
          <a:noFill/>
          <a:ln w="0">
            <a:noFill/>
            <a:prstDash val="solid"/>
          </a:ln>
        </p:spPr>
        <p:txBody>
          <a:bodyPr lIns="0" tIns="0" rIns="0" bIns="0"/>
          <a:lstStyle/>
          <a:p>
            <a:pPr>
              <a:lnSpc>
                <a:spcPct val="108000"/>
              </a:lnSpc>
              <a:buNone/>
              <a:defRPr sz="1275">
                <a:solidFill>
                  <a:srgbClr val="B5C8D8"/>
                </a:solidFill>
                <a:latin typeface="Microsoft YaHei"/>
                <a:ea typeface="Microsoft YaHei"/>
                <a:cs typeface="Microsoft YaHei"/>
              </a:defRPr>
            </a:pPr>
            <a:r>
              <a:rPr sz="1275">
                <a:solidFill>
                  <a:srgbClr val="B5C8D8"/>
                </a:solidFill>
                <a:latin typeface="Microsoft YaHei"/>
                <a:ea typeface="Microsoft YaHei"/>
                <a:cs typeface="Microsoft YaHei"/>
              </a:rPr>
              <a:t>EM、Optuna、贝叶斯优化与奖励反推研究可迁移到推荐参数估计。</a:t>
            </a:r>
          </a:p>
        </p:txBody>
      </p:sp>
      <p:sp>
        <p:nvSpPr>
          <p:cNvPr id="18" name="圆角矩形 17">
            <a:extLst>
              <a:ext uri="{FF2B5EF4-FFF2-40B4-BE49-F238E27FC236}">
                <a16:creationId xmlns:a16="http://schemas.microsoft.com/office/drawing/2014/main" id="{4B824F2C-07DA-4B90-ADC6-6DE8E69AFE9C}"/>
              </a:ext>
            </a:extLst>
          </p:cNvPr>
          <p:cNvSpPr>
            <a:spLocks noGrp="1"/>
          </p:cNvSpPr>
          <p:nvPr/>
        </p:nvSpPr>
        <p:spPr>
          <a:xfrm>
            <a:off x="990600" y="3486150"/>
            <a:ext cx="4267200" cy="1200150"/>
          </a:xfrm>
          <a:prstGeom prst="roundRect">
            <a:avLst>
              <a:gd name="adj" fmla="val 9524"/>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19" name="圆角矩形 18">
            <a:extLst>
              <a:ext uri="{FF2B5EF4-FFF2-40B4-BE49-F238E27FC236}">
                <a16:creationId xmlns:a16="http://schemas.microsoft.com/office/drawing/2014/main" id="{BAECB1AD-5BAF-46FA-8ECF-D723364DD7C3}"/>
              </a:ext>
            </a:extLst>
          </p:cNvPr>
          <p:cNvSpPr>
            <a:spLocks noGrp="1"/>
          </p:cNvSpPr>
          <p:nvPr/>
        </p:nvSpPr>
        <p:spPr>
          <a:xfrm>
            <a:off x="990600" y="3486150"/>
            <a:ext cx="47625" cy="1200150"/>
          </a:xfrm>
          <a:prstGeom prst="roundRect">
            <a:avLst>
              <a:gd name="adj" fmla="val 50000"/>
            </a:avLst>
          </a:prstGeom>
          <a:solidFill>
            <a:srgbClr val="E2B84B"/>
          </a:solidFill>
          <a:ln w="0">
            <a:noFill/>
            <a:prstDash val="solid"/>
          </a:ln>
        </p:spPr>
        <p:txBody>
          <a:bodyPr/>
          <a:lstStyle/>
          <a:p>
            <a:endParaRPr lang="zh-CN" altLang="en-US"/>
          </a:p>
        </p:txBody>
      </p:sp>
      <p:sp>
        <p:nvSpPr>
          <p:cNvPr id="20" name="矩形 19">
            <a:extLst>
              <a:ext uri="{FF2B5EF4-FFF2-40B4-BE49-F238E27FC236}">
                <a16:creationId xmlns:a16="http://schemas.microsoft.com/office/drawing/2014/main" id="{0BFB8158-4C04-4066-AFFA-CD3E4DDBA2B5}"/>
              </a:ext>
            </a:extLst>
          </p:cNvPr>
          <p:cNvSpPr>
            <a:spLocks noGrp="1"/>
          </p:cNvSpPr>
          <p:nvPr/>
        </p:nvSpPr>
        <p:spPr>
          <a:xfrm>
            <a:off x="1295400" y="3714750"/>
            <a:ext cx="2476500" cy="266700"/>
          </a:xfrm>
          <a:prstGeom prst="rect">
            <a:avLst/>
          </a:prstGeom>
          <a:noFill/>
          <a:ln w="0">
            <a:noFill/>
            <a:prstDash val="solid"/>
          </a:ln>
        </p:spPr>
        <p:txBody>
          <a:bodyPr lIns="0" tIns="0" rIns="0" bIns="0"/>
          <a:lstStyle/>
          <a:p>
            <a:pPr>
              <a:lnSpc>
                <a:spcPct val="108000"/>
              </a:lnSpc>
              <a:buNone/>
              <a:defRPr sz="1800" b="1">
                <a:solidFill>
                  <a:srgbClr val="E2B84B"/>
                </a:solidFill>
                <a:latin typeface="Microsoft YaHei"/>
                <a:ea typeface="Microsoft YaHei"/>
                <a:cs typeface="Microsoft YaHei"/>
              </a:defRPr>
            </a:pPr>
            <a:r>
              <a:rPr sz="1800" b="1">
                <a:solidFill>
                  <a:srgbClr val="E2B84B"/>
                </a:solidFill>
                <a:latin typeface="Microsoft YaHei"/>
                <a:ea typeface="Microsoft YaHei"/>
                <a:cs typeface="Microsoft YaHei"/>
              </a:rPr>
              <a:t>数据与画像基础</a:t>
            </a:r>
          </a:p>
        </p:txBody>
      </p:sp>
      <p:sp>
        <p:nvSpPr>
          <p:cNvPr id="21" name="矩形 20">
            <a:extLst>
              <a:ext uri="{FF2B5EF4-FFF2-40B4-BE49-F238E27FC236}">
                <a16:creationId xmlns:a16="http://schemas.microsoft.com/office/drawing/2014/main" id="{06E2AFD4-688E-4AED-A1AA-D30E57CBDD47}"/>
              </a:ext>
            </a:extLst>
          </p:cNvPr>
          <p:cNvSpPr>
            <a:spLocks noGrp="1"/>
          </p:cNvSpPr>
          <p:nvPr/>
        </p:nvSpPr>
        <p:spPr>
          <a:xfrm>
            <a:off x="1295400" y="4133850"/>
            <a:ext cx="3524250" cy="400050"/>
          </a:xfrm>
          <a:prstGeom prst="rect">
            <a:avLst/>
          </a:prstGeom>
          <a:noFill/>
          <a:ln w="0">
            <a:noFill/>
            <a:prstDash val="solid"/>
          </a:ln>
        </p:spPr>
        <p:txBody>
          <a:bodyPr lIns="0" tIns="0" rIns="0" bIns="0"/>
          <a:lstStyle/>
          <a:p>
            <a:pPr>
              <a:lnSpc>
                <a:spcPct val="108000"/>
              </a:lnSpc>
              <a:buNone/>
              <a:defRPr sz="1275">
                <a:solidFill>
                  <a:srgbClr val="B5C8D8"/>
                </a:solidFill>
                <a:latin typeface="Microsoft YaHei"/>
                <a:ea typeface="Microsoft YaHei"/>
                <a:cs typeface="Microsoft YaHei"/>
              </a:defRPr>
            </a:pPr>
            <a:r>
              <a:rPr sz="1275">
                <a:solidFill>
                  <a:srgbClr val="B5C8D8"/>
                </a:solidFill>
                <a:latin typeface="Microsoft YaHei"/>
                <a:ea typeface="Microsoft YaHei"/>
                <a:cs typeface="Microsoft YaHei"/>
              </a:rPr>
              <a:t>用户画像生成与分层建模已有 Two-stage Profiling、TWICE 等研究支撑。</a:t>
            </a:r>
          </a:p>
        </p:txBody>
      </p:sp>
      <p:sp>
        <p:nvSpPr>
          <p:cNvPr id="22" name="圆角矩形 21">
            <a:extLst>
              <a:ext uri="{FF2B5EF4-FFF2-40B4-BE49-F238E27FC236}">
                <a16:creationId xmlns:a16="http://schemas.microsoft.com/office/drawing/2014/main" id="{96E207E4-60D1-4633-91DE-F542FF240CE4}"/>
              </a:ext>
            </a:extLst>
          </p:cNvPr>
          <p:cNvSpPr>
            <a:spLocks noGrp="1"/>
          </p:cNvSpPr>
          <p:nvPr/>
        </p:nvSpPr>
        <p:spPr>
          <a:xfrm>
            <a:off x="5943600" y="3486150"/>
            <a:ext cx="4267200" cy="1200150"/>
          </a:xfrm>
          <a:prstGeom prst="roundRect">
            <a:avLst>
              <a:gd name="adj" fmla="val 9524"/>
            </a:avLst>
          </a:prstGeom>
          <a:solidFill>
            <a:srgbClr val="07172B">
              <a:alpha val="76000"/>
            </a:srgbClr>
          </a:solidFill>
          <a:ln w="13335">
            <a:solidFill>
              <a:srgbClr val="26D9FF">
                <a:alpha val="42000"/>
              </a:srgbClr>
            </a:solidFill>
            <a:prstDash val="solid"/>
          </a:ln>
        </p:spPr>
        <p:txBody>
          <a:bodyPr/>
          <a:lstStyle/>
          <a:p>
            <a:endParaRPr lang="zh-CN" altLang="en-US"/>
          </a:p>
        </p:txBody>
      </p:sp>
      <p:sp>
        <p:nvSpPr>
          <p:cNvPr id="23" name="圆角矩形 22">
            <a:extLst>
              <a:ext uri="{FF2B5EF4-FFF2-40B4-BE49-F238E27FC236}">
                <a16:creationId xmlns:a16="http://schemas.microsoft.com/office/drawing/2014/main" id="{D18F15C7-AFE2-476E-8C5D-588A57895B80}"/>
              </a:ext>
            </a:extLst>
          </p:cNvPr>
          <p:cNvSpPr>
            <a:spLocks noGrp="1"/>
          </p:cNvSpPr>
          <p:nvPr/>
        </p:nvSpPr>
        <p:spPr>
          <a:xfrm>
            <a:off x="5943600" y="3486150"/>
            <a:ext cx="47625" cy="1200150"/>
          </a:xfrm>
          <a:prstGeom prst="roundRect">
            <a:avLst>
              <a:gd name="adj" fmla="val 50000"/>
            </a:avLst>
          </a:prstGeom>
          <a:solidFill>
            <a:srgbClr val="37E6C4"/>
          </a:solidFill>
          <a:ln w="0">
            <a:noFill/>
            <a:prstDash val="solid"/>
          </a:ln>
        </p:spPr>
        <p:txBody>
          <a:bodyPr/>
          <a:lstStyle/>
          <a:p>
            <a:endParaRPr lang="zh-CN" altLang="en-US"/>
          </a:p>
        </p:txBody>
      </p:sp>
      <p:sp>
        <p:nvSpPr>
          <p:cNvPr id="24" name="矩形 23">
            <a:extLst>
              <a:ext uri="{FF2B5EF4-FFF2-40B4-BE49-F238E27FC236}">
                <a16:creationId xmlns:a16="http://schemas.microsoft.com/office/drawing/2014/main" id="{08AB20A2-3BAF-4154-9E0F-6DFA022BBFE5}"/>
              </a:ext>
            </a:extLst>
          </p:cNvPr>
          <p:cNvSpPr>
            <a:spLocks noGrp="1"/>
          </p:cNvSpPr>
          <p:nvPr/>
        </p:nvSpPr>
        <p:spPr>
          <a:xfrm>
            <a:off x="6248400" y="3714750"/>
            <a:ext cx="2476500" cy="266700"/>
          </a:xfrm>
          <a:prstGeom prst="rect">
            <a:avLst/>
          </a:prstGeom>
          <a:noFill/>
          <a:ln w="0">
            <a:noFill/>
            <a:prstDash val="solid"/>
          </a:ln>
        </p:spPr>
        <p:txBody>
          <a:bodyPr lIns="0" tIns="0" rIns="0" bIns="0"/>
          <a:lstStyle/>
          <a:p>
            <a:pPr>
              <a:lnSpc>
                <a:spcPct val="108000"/>
              </a:lnSpc>
              <a:buNone/>
              <a:defRPr sz="1800" b="1">
                <a:solidFill>
                  <a:srgbClr val="37E6C4"/>
                </a:solidFill>
                <a:latin typeface="Microsoft YaHei"/>
                <a:ea typeface="Microsoft YaHei"/>
                <a:cs typeface="Microsoft YaHei"/>
              </a:defRPr>
            </a:pPr>
            <a:r>
              <a:rPr sz="1800" b="1">
                <a:solidFill>
                  <a:srgbClr val="37E6C4"/>
                </a:solidFill>
                <a:latin typeface="Microsoft YaHei"/>
                <a:ea typeface="Microsoft YaHei"/>
                <a:cs typeface="Microsoft YaHei"/>
              </a:rPr>
              <a:t>工程基础</a:t>
            </a:r>
          </a:p>
        </p:txBody>
      </p:sp>
      <p:sp>
        <p:nvSpPr>
          <p:cNvPr id="25" name="矩形 24">
            <a:extLst>
              <a:ext uri="{FF2B5EF4-FFF2-40B4-BE49-F238E27FC236}">
                <a16:creationId xmlns:a16="http://schemas.microsoft.com/office/drawing/2014/main" id="{6D287DAB-601E-4BA4-A4A7-ED527B56B3BB}"/>
              </a:ext>
            </a:extLst>
          </p:cNvPr>
          <p:cNvSpPr>
            <a:spLocks noGrp="1"/>
          </p:cNvSpPr>
          <p:nvPr/>
        </p:nvSpPr>
        <p:spPr>
          <a:xfrm>
            <a:off x="6248400" y="4133850"/>
            <a:ext cx="3524250" cy="400050"/>
          </a:xfrm>
          <a:prstGeom prst="rect">
            <a:avLst/>
          </a:prstGeom>
          <a:noFill/>
          <a:ln w="0">
            <a:noFill/>
            <a:prstDash val="solid"/>
          </a:ln>
        </p:spPr>
        <p:txBody>
          <a:bodyPr lIns="0" tIns="0" rIns="0" bIns="0"/>
          <a:lstStyle/>
          <a:p>
            <a:pPr>
              <a:lnSpc>
                <a:spcPct val="108000"/>
              </a:lnSpc>
              <a:buNone/>
              <a:defRPr sz="1275">
                <a:solidFill>
                  <a:srgbClr val="B5C8D8"/>
                </a:solidFill>
                <a:latin typeface="Microsoft YaHei"/>
                <a:ea typeface="Microsoft YaHei"/>
                <a:cs typeface="Microsoft YaHei"/>
              </a:defRPr>
            </a:pPr>
            <a:r>
              <a:rPr sz="1275">
                <a:solidFill>
                  <a:srgbClr val="B5C8D8"/>
                </a:solidFill>
                <a:latin typeface="Microsoft YaHei"/>
                <a:ea typeface="Microsoft YaHei"/>
                <a:cs typeface="Microsoft YaHei"/>
              </a:rPr>
              <a:t>FastAPI、SQLite、向量检索与 LangChain 等工具链可支撑系统实现。</a:t>
            </a:r>
          </a:p>
        </p:txBody>
      </p:sp>
    </p:spTree>
    <p:extLst>
      <p:ext uri="{BB962C8B-B14F-4D97-AF65-F5344CB8AC3E}">
        <p14:creationId xmlns:p14="http://schemas.microsoft.com/office/powerpoint/2010/main" val="931563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42"/>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D55A83F5-F70B-4BF9-9D7F-06B48FDCA1BA}"/>
              </a:ext>
            </a:extLst>
          </p:cNvPr>
          <p:cNvSpPr>
            <a:spLocks noGrp="1"/>
          </p:cNvSpPr>
          <p:nvPr/>
        </p:nvSpPr>
        <p:spPr>
          <a:xfrm>
            <a:off x="0" y="0"/>
            <a:ext cx="12192000" cy="6858000"/>
          </a:xfrm>
          <a:prstGeom prst="roundRect">
            <a:avLst>
              <a:gd name="adj" fmla="val 1667"/>
            </a:avLst>
          </a:prstGeom>
          <a:gradFill>
            <a:gsLst>
              <a:gs pos="0">
                <a:srgbClr val="020814">
                  <a:alpha val="98000"/>
                </a:srgbClr>
              </a:gs>
              <a:gs pos="58000">
                <a:srgbClr val="020814">
                  <a:alpha val="91000"/>
                </a:srgbClr>
              </a:gs>
              <a:gs pos="100000">
                <a:srgbClr val="020814">
                  <a:alpha val="62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F2C0A2EF-56ED-4262-B535-AEDB8C5F127C}"/>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8030BB93-2A00-4498-9FF8-70F9763DC33A}"/>
              </a:ext>
            </a:extLst>
          </p:cNvPr>
          <p:cNvSpPr>
            <a:spLocks noGrp="1"/>
          </p:cNvSpPr>
          <p:nvPr/>
        </p:nvSpPr>
        <p:spPr>
          <a:xfrm>
            <a:off x="10896600" y="209550"/>
            <a:ext cx="704850" cy="70485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47" name="图片 46"/>
          <p:cNvPicPr>
            <a:picLocks noChangeAspect="1"/>
          </p:cNvPicPr>
          <p:nvPr/>
        </p:nvPicPr>
        <p:blipFill>
          <a:blip r:embed="rId4"/>
          <a:stretch/>
        </p:blipFill>
        <p:spPr>
          <a:xfrm>
            <a:off x="11017695" y="266700"/>
            <a:ext cx="462660" cy="590550"/>
          </a:xfrm>
          <a:prstGeom prst="rect">
            <a:avLst/>
          </a:prstGeom>
        </p:spPr>
      </p:pic>
      <p:sp>
        <p:nvSpPr>
          <p:cNvPr id="6" name="矩形 5">
            <a:extLst>
              <a:ext uri="{FF2B5EF4-FFF2-40B4-BE49-F238E27FC236}">
                <a16:creationId xmlns:a16="http://schemas.microsoft.com/office/drawing/2014/main" id="{E467108D-91B9-4ACC-892A-33955DC1F2E0}"/>
              </a:ext>
            </a:extLst>
          </p:cNvPr>
          <p:cNvSpPr>
            <a:spLocks noGrp="1"/>
          </p:cNvSpPr>
          <p:nvPr/>
        </p:nvSpPr>
        <p:spPr>
          <a:xfrm>
            <a:off x="704850" y="400050"/>
            <a:ext cx="3429000" cy="228600"/>
          </a:xfrm>
          <a:prstGeom prst="rect">
            <a:avLst/>
          </a:prstGeom>
          <a:noFill/>
          <a:ln w="0">
            <a:noFill/>
            <a:prstDash val="solid"/>
          </a:ln>
        </p:spPr>
        <p:txBody>
          <a:bodyPr lIns="0" tIns="0" rIns="0" bIns="0"/>
          <a:lstStyle/>
          <a:p>
            <a:pPr>
              <a:lnSpc>
                <a:spcPct val="108000"/>
              </a:lnSpc>
              <a:buNone/>
              <a:defRPr sz="1200" b="1">
                <a:solidFill>
                  <a:srgbClr val="74F0FF"/>
                </a:solidFill>
                <a:latin typeface="Microsoft YaHei"/>
                <a:ea typeface="Microsoft YaHei"/>
                <a:cs typeface="Microsoft YaHei"/>
              </a:defRPr>
            </a:pPr>
            <a:r>
              <a:rPr sz="1200" b="1">
                <a:solidFill>
                  <a:srgbClr val="74F0FF"/>
                </a:solidFill>
                <a:latin typeface="Microsoft YaHei"/>
                <a:ea typeface="Microsoft YaHei"/>
                <a:cs typeface="Microsoft YaHei"/>
              </a:rPr>
              <a:t>06  进度安排</a:t>
            </a:r>
          </a:p>
        </p:txBody>
      </p:sp>
      <p:sp>
        <p:nvSpPr>
          <p:cNvPr id="7" name="矩形 6">
            <a:extLst>
              <a:ext uri="{FF2B5EF4-FFF2-40B4-BE49-F238E27FC236}">
                <a16:creationId xmlns:a16="http://schemas.microsoft.com/office/drawing/2014/main" id="{95A0ED56-25A9-41F0-8693-486AF5F7C804}"/>
              </a:ext>
            </a:extLst>
          </p:cNvPr>
          <p:cNvSpPr>
            <a:spLocks noGrp="1"/>
          </p:cNvSpPr>
          <p:nvPr/>
        </p:nvSpPr>
        <p:spPr>
          <a:xfrm>
            <a:off x="704850" y="742950"/>
            <a:ext cx="8763000" cy="514350"/>
          </a:xfrm>
          <a:prstGeom prst="rect">
            <a:avLst/>
          </a:prstGeom>
          <a:noFill/>
          <a:ln w="0">
            <a:noFill/>
            <a:prstDash val="solid"/>
          </a:ln>
        </p:spPr>
        <p:txBody>
          <a:bodyPr lIns="0" tIns="0" rIns="0" bIns="0"/>
          <a:lstStyle/>
          <a:p>
            <a:pPr>
              <a:lnSpc>
                <a:spcPct val="108000"/>
              </a:lnSpc>
              <a:buNone/>
              <a:defRPr sz="2775" b="1">
                <a:solidFill>
                  <a:srgbClr val="F6FBFF"/>
                </a:solidFill>
                <a:latin typeface="Microsoft YaHei"/>
                <a:ea typeface="Microsoft YaHei"/>
                <a:cs typeface="Microsoft YaHei"/>
              </a:defRPr>
            </a:pPr>
            <a:r>
              <a:rPr sz="2775" b="1">
                <a:solidFill>
                  <a:srgbClr val="F6FBFF"/>
                </a:solidFill>
                <a:latin typeface="Microsoft YaHei"/>
                <a:ea typeface="Microsoft YaHei"/>
                <a:cs typeface="Microsoft YaHei"/>
              </a:rPr>
              <a:t>2026年6月至12月</a:t>
            </a:r>
          </a:p>
        </p:txBody>
      </p:sp>
      <p:sp>
        <p:nvSpPr>
          <p:cNvPr id="8" name="圆角矩形 7">
            <a:extLst>
              <a:ext uri="{FF2B5EF4-FFF2-40B4-BE49-F238E27FC236}">
                <a16:creationId xmlns:a16="http://schemas.microsoft.com/office/drawing/2014/main" id="{6EF90648-6794-4EC6-B3B6-1605ED5A43A8}"/>
              </a:ext>
            </a:extLst>
          </p:cNvPr>
          <p:cNvSpPr>
            <a:spLocks noGrp="1"/>
          </p:cNvSpPr>
          <p:nvPr/>
        </p:nvSpPr>
        <p:spPr>
          <a:xfrm>
            <a:off x="704850" y="1352550"/>
            <a:ext cx="876300" cy="38100"/>
          </a:xfrm>
          <a:prstGeom prst="roundRect">
            <a:avLst>
              <a:gd name="adj" fmla="val 50000"/>
            </a:avLst>
          </a:prstGeom>
          <a:gradFill>
            <a:gsLst>
              <a:gs pos="0">
                <a:srgbClr val="19D9FF"/>
              </a:gs>
              <a:gs pos="62000">
                <a:srgbClr val="37E6C4"/>
              </a:gs>
              <a:gs pos="100000">
                <a:srgbClr val="E2B84B"/>
              </a:gs>
            </a:gsLst>
            <a:lin ang="5400000"/>
          </a:gra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33698A0A-565C-4135-8F23-FDC208ECDFA1}"/>
              </a:ext>
            </a:extLst>
          </p:cNvPr>
          <p:cNvSpPr>
            <a:spLocks noGrp="1"/>
          </p:cNvSpPr>
          <p:nvPr/>
        </p:nvSpPr>
        <p:spPr>
          <a:xfrm>
            <a:off x="11125200" y="6134100"/>
            <a:ext cx="552450" cy="228600"/>
          </a:xfrm>
          <a:prstGeom prst="rect">
            <a:avLst/>
          </a:prstGeom>
          <a:noFill/>
          <a:ln w="0">
            <a:noFill/>
            <a:prstDash val="solid"/>
          </a:ln>
        </p:spPr>
        <p:txBody>
          <a:bodyPr lIns="0" tIns="0" rIns="0" bIns="0"/>
          <a:lstStyle/>
          <a:p>
            <a:pPr algn="r">
              <a:lnSpc>
                <a:spcPct val="108000"/>
              </a:lnSpc>
              <a:buNone/>
              <a:defRPr sz="1350">
                <a:solidFill>
                  <a:srgbClr val="82A1B5"/>
                </a:solidFill>
                <a:latin typeface="Microsoft YaHei"/>
                <a:ea typeface="Microsoft YaHei"/>
                <a:cs typeface="Microsoft YaHei"/>
              </a:defRPr>
            </a:pPr>
            <a:r>
              <a:rPr sz="1350">
                <a:solidFill>
                  <a:srgbClr val="82A1B5"/>
                </a:solidFill>
                <a:latin typeface="Microsoft YaHei"/>
                <a:ea typeface="Microsoft YaHei"/>
                <a:cs typeface="Microsoft YaHei"/>
              </a:rPr>
              <a:t>13</a:t>
            </a:r>
          </a:p>
        </p:txBody>
      </p:sp>
      <p:sp>
        <p:nvSpPr>
          <p:cNvPr id="10" name="直线连接符 9">
            <a:extLst>
              <a:ext uri="{FF2B5EF4-FFF2-40B4-BE49-F238E27FC236}">
                <a16:creationId xmlns:a16="http://schemas.microsoft.com/office/drawing/2014/main" id="{B818D89E-4AED-4C4F-B280-86DBF2F0FE19}"/>
              </a:ext>
            </a:extLst>
          </p:cNvPr>
          <p:cNvSpPr>
            <a:spLocks noGrp="1"/>
          </p:cNvSpPr>
          <p:nvPr/>
        </p:nvSpPr>
        <p:spPr>
          <a:xfrm>
            <a:off x="1466850" y="2857500"/>
            <a:ext cx="8858250" cy="0"/>
          </a:xfrm>
          <a:prstGeom prst="line">
            <a:avLst/>
          </a:prstGeom>
          <a:noFill/>
          <a:ln w="19050">
            <a:solidFill>
              <a:srgbClr val="254B66"/>
            </a:solidFill>
            <a:prstDash val="solid"/>
          </a:ln>
        </p:spPr>
        <p:txBody>
          <a:bodyPr/>
          <a:lstStyle/>
          <a:p>
            <a:endParaRPr lang="zh-CN" altLang="en-US"/>
          </a:p>
        </p:txBody>
      </p:sp>
      <p:sp>
        <p:nvSpPr>
          <p:cNvPr id="11" name="椭圆 10">
            <a:extLst>
              <a:ext uri="{FF2B5EF4-FFF2-40B4-BE49-F238E27FC236}">
                <a16:creationId xmlns:a16="http://schemas.microsoft.com/office/drawing/2014/main" id="{CCCB9E40-1D9C-43FB-8673-09CC81802922}"/>
              </a:ext>
            </a:extLst>
          </p:cNvPr>
          <p:cNvSpPr>
            <a:spLocks noGrp="1"/>
          </p:cNvSpPr>
          <p:nvPr/>
        </p:nvSpPr>
        <p:spPr>
          <a:xfrm>
            <a:off x="1104900" y="2419350"/>
            <a:ext cx="552450" cy="552450"/>
          </a:xfrm>
          <a:prstGeom prst="ellipse">
            <a:avLst/>
          </a:prstGeom>
          <a:gradFill>
            <a:gsLst>
              <a:gs pos="0">
                <a:srgbClr val="7DEBFF">
                  <a:alpha val="95000"/>
                </a:srgbClr>
              </a:gs>
              <a:gs pos="48000">
                <a:srgbClr val="19D9FF">
                  <a:alpha val="48000"/>
                </a:srgbClr>
              </a:gs>
              <a:gs pos="100000">
                <a:srgbClr val="19D9FF">
                  <a:alpha val="0"/>
                </a:srgbClr>
              </a:gs>
            </a:gsLst>
            <a:path path="shape"/>
          </a:gradFill>
          <a:ln w="11430">
            <a:solidFill>
              <a:srgbClr val="7DEBFF">
                <a:alpha val="6200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7A751FA9-85DE-4DDB-88CF-590242EDC411}"/>
              </a:ext>
            </a:extLst>
          </p:cNvPr>
          <p:cNvSpPr>
            <a:spLocks noGrp="1"/>
          </p:cNvSpPr>
          <p:nvPr/>
        </p:nvSpPr>
        <p:spPr>
          <a:xfrm>
            <a:off x="1104900" y="2574036"/>
            <a:ext cx="552450" cy="193357"/>
          </a:xfrm>
          <a:prstGeom prst="rect">
            <a:avLst/>
          </a:prstGeom>
          <a:noFill/>
          <a:ln w="0">
            <a:noFill/>
            <a:prstDash val="solid"/>
          </a:ln>
        </p:spPr>
        <p:txBody>
          <a:bodyPr lIns="0" tIns="0" rIns="0" bIns="0"/>
          <a:lstStyle/>
          <a:p>
            <a:pPr algn="ctr">
              <a:lnSpc>
                <a:spcPct val="108000"/>
              </a:lnSpc>
              <a:buNone/>
              <a:defRPr sz="1500" b="1">
                <a:solidFill>
                  <a:srgbClr val="F6FBFF"/>
                </a:solidFill>
                <a:latin typeface="Microsoft YaHei"/>
                <a:ea typeface="Microsoft YaHei"/>
                <a:cs typeface="Microsoft YaHei"/>
              </a:defRPr>
            </a:pPr>
            <a:r>
              <a:rPr sz="1500" b="1">
                <a:solidFill>
                  <a:srgbClr val="F6FBFF"/>
                </a:solidFill>
                <a:latin typeface="Microsoft YaHei"/>
                <a:ea typeface="Microsoft YaHei"/>
                <a:cs typeface="Microsoft YaHei"/>
              </a:rPr>
              <a:t>01</a:t>
            </a:r>
          </a:p>
        </p:txBody>
      </p:sp>
      <p:sp>
        <p:nvSpPr>
          <p:cNvPr id="13" name="矩形 12">
            <a:extLst>
              <a:ext uri="{FF2B5EF4-FFF2-40B4-BE49-F238E27FC236}">
                <a16:creationId xmlns:a16="http://schemas.microsoft.com/office/drawing/2014/main" id="{4CFDFCAA-3BE2-4667-B23B-5B98621C360C}"/>
              </a:ext>
            </a:extLst>
          </p:cNvPr>
          <p:cNvSpPr>
            <a:spLocks noGrp="1"/>
          </p:cNvSpPr>
          <p:nvPr/>
        </p:nvSpPr>
        <p:spPr>
          <a:xfrm>
            <a:off x="1028700" y="3181350"/>
            <a:ext cx="723900" cy="228600"/>
          </a:xfrm>
          <a:prstGeom prst="rect">
            <a:avLst/>
          </a:prstGeom>
          <a:noFill/>
          <a:ln w="0">
            <a:noFill/>
            <a:prstDash val="solid"/>
          </a:ln>
        </p:spPr>
        <p:txBody>
          <a:bodyPr lIns="0" tIns="0" rIns="0" bIns="0"/>
          <a:lstStyle/>
          <a:p>
            <a:pPr algn="ctr">
              <a:lnSpc>
                <a:spcPct val="108000"/>
              </a:lnSpc>
              <a:buNone/>
              <a:defRPr sz="1350" b="1">
                <a:solidFill>
                  <a:srgbClr val="37E6C4"/>
                </a:solidFill>
                <a:latin typeface="Microsoft YaHei"/>
                <a:ea typeface="Microsoft YaHei"/>
                <a:cs typeface="Microsoft YaHei"/>
              </a:defRPr>
            </a:pPr>
            <a:r>
              <a:rPr sz="1350" b="1">
                <a:solidFill>
                  <a:srgbClr val="37E6C4"/>
                </a:solidFill>
                <a:latin typeface="Microsoft YaHei"/>
                <a:ea typeface="Microsoft YaHei"/>
                <a:cs typeface="Microsoft YaHei"/>
              </a:rPr>
              <a:t>6-7月</a:t>
            </a:r>
          </a:p>
        </p:txBody>
      </p:sp>
      <p:sp>
        <p:nvSpPr>
          <p:cNvPr id="14" name="矩形 13">
            <a:extLst>
              <a:ext uri="{FF2B5EF4-FFF2-40B4-BE49-F238E27FC236}">
                <a16:creationId xmlns:a16="http://schemas.microsoft.com/office/drawing/2014/main" id="{BAC63D37-FAB1-4FCE-A2C6-030387FE2C9C}"/>
              </a:ext>
            </a:extLst>
          </p:cNvPr>
          <p:cNvSpPr>
            <a:spLocks noGrp="1"/>
          </p:cNvSpPr>
          <p:nvPr/>
        </p:nvSpPr>
        <p:spPr>
          <a:xfrm>
            <a:off x="590550" y="3733800"/>
            <a:ext cx="1600200" cy="495300"/>
          </a:xfrm>
          <a:prstGeom prst="rect">
            <a:avLst/>
          </a:prstGeom>
          <a:noFill/>
          <a:ln w="0">
            <a:noFill/>
            <a:prstDash val="solid"/>
          </a:ln>
        </p:spPr>
        <p:txBody>
          <a:bodyPr lIns="0" tIns="0" rIns="0" bIns="0"/>
          <a:lstStyle/>
          <a:p>
            <a:pPr algn="ctr">
              <a:lnSpc>
                <a:spcPct val="110000"/>
              </a:lnSpc>
              <a:buNone/>
              <a:defRPr sz="1275" b="1">
                <a:solidFill>
                  <a:srgbClr val="F6FBFF"/>
                </a:solidFill>
                <a:latin typeface="Microsoft YaHei"/>
                <a:ea typeface="Microsoft YaHei"/>
                <a:cs typeface="Microsoft YaHei"/>
              </a:defRPr>
            </a:pPr>
            <a:r>
              <a:rPr sz="1275" b="1">
                <a:solidFill>
                  <a:srgbClr val="F6FBFF"/>
                </a:solidFill>
                <a:latin typeface="Microsoft YaHei"/>
                <a:ea typeface="Microsoft YaHei"/>
                <a:cs typeface="Microsoft YaHei"/>
              </a:rPr>
              <a:t>需求分析与总体方案</a:t>
            </a:r>
          </a:p>
        </p:txBody>
      </p:sp>
      <p:sp>
        <p:nvSpPr>
          <p:cNvPr id="15" name="直线连接符 14">
            <a:extLst>
              <a:ext uri="{FF2B5EF4-FFF2-40B4-BE49-F238E27FC236}">
                <a16:creationId xmlns:a16="http://schemas.microsoft.com/office/drawing/2014/main" id="{9D9F7AE6-7FC6-4666-B16F-A6959BB7B8A3}"/>
              </a:ext>
            </a:extLst>
          </p:cNvPr>
          <p:cNvSpPr>
            <a:spLocks noGrp="1"/>
          </p:cNvSpPr>
          <p:nvPr/>
        </p:nvSpPr>
        <p:spPr>
          <a:xfrm>
            <a:off x="1466850" y="2857500"/>
            <a:ext cx="8858250" cy="0"/>
          </a:xfrm>
          <a:prstGeom prst="line">
            <a:avLst/>
          </a:prstGeom>
          <a:noFill/>
          <a:ln w="19050">
            <a:solidFill>
              <a:srgbClr val="254B66"/>
            </a:solidFill>
            <a:prstDash val="solid"/>
          </a:ln>
        </p:spPr>
        <p:txBody>
          <a:bodyPr/>
          <a:lstStyle/>
          <a:p>
            <a:endParaRPr lang="zh-CN" altLang="en-US"/>
          </a:p>
        </p:txBody>
      </p:sp>
      <p:sp>
        <p:nvSpPr>
          <p:cNvPr id="16" name="椭圆 15">
            <a:extLst>
              <a:ext uri="{FF2B5EF4-FFF2-40B4-BE49-F238E27FC236}">
                <a16:creationId xmlns:a16="http://schemas.microsoft.com/office/drawing/2014/main" id="{DE7B5D2B-1722-4CDF-9E2D-944BB656B16A}"/>
              </a:ext>
            </a:extLst>
          </p:cNvPr>
          <p:cNvSpPr>
            <a:spLocks noGrp="1"/>
          </p:cNvSpPr>
          <p:nvPr/>
        </p:nvSpPr>
        <p:spPr>
          <a:xfrm>
            <a:off x="2762250" y="2419350"/>
            <a:ext cx="552450" cy="552450"/>
          </a:xfrm>
          <a:prstGeom prst="ellipse">
            <a:avLst/>
          </a:prstGeom>
          <a:gradFill>
            <a:gsLst>
              <a:gs pos="0">
                <a:srgbClr val="7DEBFF">
                  <a:alpha val="95000"/>
                </a:srgbClr>
              </a:gs>
              <a:gs pos="48000">
                <a:srgbClr val="19D9FF">
                  <a:alpha val="48000"/>
                </a:srgbClr>
              </a:gs>
              <a:gs pos="100000">
                <a:srgbClr val="19D9FF">
                  <a:alpha val="0"/>
                </a:srgbClr>
              </a:gs>
            </a:gsLst>
            <a:path path="shape"/>
          </a:gradFill>
          <a:ln w="11430">
            <a:solidFill>
              <a:srgbClr val="7DEBFF">
                <a:alpha val="62000"/>
              </a:srgbClr>
            </a:solidFill>
            <a:prstDash val="solid"/>
          </a:ln>
        </p:spPr>
        <p:txBody>
          <a:bodyPr/>
          <a:lstStyle/>
          <a:p>
            <a:endParaRPr lang="zh-CN" altLang="en-US"/>
          </a:p>
        </p:txBody>
      </p:sp>
      <p:sp>
        <p:nvSpPr>
          <p:cNvPr id="17" name="矩形 16">
            <a:extLst>
              <a:ext uri="{FF2B5EF4-FFF2-40B4-BE49-F238E27FC236}">
                <a16:creationId xmlns:a16="http://schemas.microsoft.com/office/drawing/2014/main" id="{9F7AEC86-74AE-4E81-89F4-7B35065EB380}"/>
              </a:ext>
            </a:extLst>
          </p:cNvPr>
          <p:cNvSpPr>
            <a:spLocks noGrp="1"/>
          </p:cNvSpPr>
          <p:nvPr/>
        </p:nvSpPr>
        <p:spPr>
          <a:xfrm>
            <a:off x="2762250" y="2574036"/>
            <a:ext cx="552450" cy="193357"/>
          </a:xfrm>
          <a:prstGeom prst="rect">
            <a:avLst/>
          </a:prstGeom>
          <a:noFill/>
          <a:ln w="0">
            <a:noFill/>
            <a:prstDash val="solid"/>
          </a:ln>
        </p:spPr>
        <p:txBody>
          <a:bodyPr lIns="0" tIns="0" rIns="0" bIns="0"/>
          <a:lstStyle/>
          <a:p>
            <a:pPr algn="ctr">
              <a:lnSpc>
                <a:spcPct val="108000"/>
              </a:lnSpc>
              <a:buNone/>
              <a:defRPr sz="1500" b="1">
                <a:solidFill>
                  <a:srgbClr val="F6FBFF"/>
                </a:solidFill>
                <a:latin typeface="Microsoft YaHei"/>
                <a:ea typeface="Microsoft YaHei"/>
                <a:cs typeface="Microsoft YaHei"/>
              </a:defRPr>
            </a:pPr>
            <a:r>
              <a:rPr sz="1500" b="1">
                <a:solidFill>
                  <a:srgbClr val="F6FBFF"/>
                </a:solidFill>
                <a:latin typeface="Microsoft YaHei"/>
                <a:ea typeface="Microsoft YaHei"/>
                <a:cs typeface="Microsoft YaHei"/>
              </a:rPr>
              <a:t>02</a:t>
            </a:r>
          </a:p>
        </p:txBody>
      </p:sp>
      <p:sp>
        <p:nvSpPr>
          <p:cNvPr id="18" name="矩形 17">
            <a:extLst>
              <a:ext uri="{FF2B5EF4-FFF2-40B4-BE49-F238E27FC236}">
                <a16:creationId xmlns:a16="http://schemas.microsoft.com/office/drawing/2014/main" id="{D8CC53FF-C303-4BFB-A748-8A46D94F1947}"/>
              </a:ext>
            </a:extLst>
          </p:cNvPr>
          <p:cNvSpPr>
            <a:spLocks noGrp="1"/>
          </p:cNvSpPr>
          <p:nvPr/>
        </p:nvSpPr>
        <p:spPr>
          <a:xfrm>
            <a:off x="2686050" y="3181350"/>
            <a:ext cx="723900" cy="228600"/>
          </a:xfrm>
          <a:prstGeom prst="rect">
            <a:avLst/>
          </a:prstGeom>
          <a:noFill/>
          <a:ln w="0">
            <a:noFill/>
            <a:prstDash val="solid"/>
          </a:ln>
        </p:spPr>
        <p:txBody>
          <a:bodyPr lIns="0" tIns="0" rIns="0" bIns="0"/>
          <a:lstStyle/>
          <a:p>
            <a:pPr algn="ctr">
              <a:lnSpc>
                <a:spcPct val="108000"/>
              </a:lnSpc>
              <a:buNone/>
              <a:defRPr sz="1350" b="1">
                <a:solidFill>
                  <a:srgbClr val="37E6C4"/>
                </a:solidFill>
                <a:latin typeface="Microsoft YaHei"/>
                <a:ea typeface="Microsoft YaHei"/>
                <a:cs typeface="Microsoft YaHei"/>
              </a:defRPr>
            </a:pPr>
            <a:r>
              <a:rPr sz="1350" b="1">
                <a:solidFill>
                  <a:srgbClr val="37E6C4"/>
                </a:solidFill>
                <a:latin typeface="Microsoft YaHei"/>
                <a:ea typeface="Microsoft YaHei"/>
                <a:cs typeface="Microsoft YaHei"/>
              </a:rPr>
              <a:t>7-8月</a:t>
            </a:r>
          </a:p>
        </p:txBody>
      </p:sp>
      <p:sp>
        <p:nvSpPr>
          <p:cNvPr id="19" name="矩形 18">
            <a:extLst>
              <a:ext uri="{FF2B5EF4-FFF2-40B4-BE49-F238E27FC236}">
                <a16:creationId xmlns:a16="http://schemas.microsoft.com/office/drawing/2014/main" id="{F99172C2-5771-4081-A245-372F7F831B68}"/>
              </a:ext>
            </a:extLst>
          </p:cNvPr>
          <p:cNvSpPr>
            <a:spLocks noGrp="1"/>
          </p:cNvSpPr>
          <p:nvPr/>
        </p:nvSpPr>
        <p:spPr>
          <a:xfrm>
            <a:off x="2247900" y="3733800"/>
            <a:ext cx="1600200" cy="495300"/>
          </a:xfrm>
          <a:prstGeom prst="rect">
            <a:avLst/>
          </a:prstGeom>
          <a:noFill/>
          <a:ln w="0">
            <a:noFill/>
            <a:prstDash val="solid"/>
          </a:ln>
        </p:spPr>
        <p:txBody>
          <a:bodyPr lIns="0" tIns="0" rIns="0" bIns="0"/>
          <a:lstStyle/>
          <a:p>
            <a:pPr algn="ctr">
              <a:lnSpc>
                <a:spcPct val="110000"/>
              </a:lnSpc>
              <a:buNone/>
              <a:defRPr sz="1275" b="1">
                <a:solidFill>
                  <a:srgbClr val="F6FBFF"/>
                </a:solidFill>
                <a:latin typeface="Microsoft YaHei"/>
                <a:ea typeface="Microsoft YaHei"/>
                <a:cs typeface="Microsoft YaHei"/>
              </a:defRPr>
            </a:pPr>
            <a:r>
              <a:rPr sz="1275" b="1">
                <a:solidFill>
                  <a:srgbClr val="F6FBFF"/>
                </a:solidFill>
                <a:latin typeface="Microsoft YaHei"/>
                <a:ea typeface="Microsoft YaHei"/>
                <a:cs typeface="Microsoft YaHei"/>
              </a:rPr>
              <a:t>数据准备与画像模块</a:t>
            </a:r>
          </a:p>
        </p:txBody>
      </p:sp>
      <p:sp>
        <p:nvSpPr>
          <p:cNvPr id="20" name="直线连接符 19">
            <a:extLst>
              <a:ext uri="{FF2B5EF4-FFF2-40B4-BE49-F238E27FC236}">
                <a16:creationId xmlns:a16="http://schemas.microsoft.com/office/drawing/2014/main" id="{28F2342F-749A-41B4-B57A-609D5CC4E74A}"/>
              </a:ext>
            </a:extLst>
          </p:cNvPr>
          <p:cNvSpPr>
            <a:spLocks noGrp="1"/>
          </p:cNvSpPr>
          <p:nvPr/>
        </p:nvSpPr>
        <p:spPr>
          <a:xfrm>
            <a:off x="1466850" y="2857500"/>
            <a:ext cx="8858250" cy="0"/>
          </a:xfrm>
          <a:prstGeom prst="line">
            <a:avLst/>
          </a:prstGeom>
          <a:noFill/>
          <a:ln w="19050">
            <a:solidFill>
              <a:srgbClr val="254B66"/>
            </a:solidFill>
            <a:prstDash val="solid"/>
          </a:ln>
        </p:spPr>
        <p:txBody>
          <a:bodyPr/>
          <a:lstStyle/>
          <a:p>
            <a:endParaRPr lang="zh-CN" altLang="en-US"/>
          </a:p>
        </p:txBody>
      </p:sp>
      <p:sp>
        <p:nvSpPr>
          <p:cNvPr id="21" name="椭圆 20">
            <a:extLst>
              <a:ext uri="{FF2B5EF4-FFF2-40B4-BE49-F238E27FC236}">
                <a16:creationId xmlns:a16="http://schemas.microsoft.com/office/drawing/2014/main" id="{3F33DC86-41A6-48B8-8339-2ECA9215887E}"/>
              </a:ext>
            </a:extLst>
          </p:cNvPr>
          <p:cNvSpPr>
            <a:spLocks noGrp="1"/>
          </p:cNvSpPr>
          <p:nvPr/>
        </p:nvSpPr>
        <p:spPr>
          <a:xfrm>
            <a:off x="4419600" y="2419350"/>
            <a:ext cx="552450" cy="552450"/>
          </a:xfrm>
          <a:prstGeom prst="ellipse">
            <a:avLst/>
          </a:prstGeom>
          <a:gradFill>
            <a:gsLst>
              <a:gs pos="0">
                <a:srgbClr val="7DEBFF">
                  <a:alpha val="95000"/>
                </a:srgbClr>
              </a:gs>
              <a:gs pos="48000">
                <a:srgbClr val="19D9FF">
                  <a:alpha val="48000"/>
                </a:srgbClr>
              </a:gs>
              <a:gs pos="100000">
                <a:srgbClr val="19D9FF">
                  <a:alpha val="0"/>
                </a:srgbClr>
              </a:gs>
            </a:gsLst>
            <a:path path="shape"/>
          </a:gradFill>
          <a:ln w="11430">
            <a:solidFill>
              <a:srgbClr val="7DEBFF">
                <a:alpha val="6200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5B34A6CC-D984-4427-B4D7-0B255C888922}"/>
              </a:ext>
            </a:extLst>
          </p:cNvPr>
          <p:cNvSpPr>
            <a:spLocks noGrp="1"/>
          </p:cNvSpPr>
          <p:nvPr/>
        </p:nvSpPr>
        <p:spPr>
          <a:xfrm>
            <a:off x="4419600" y="2574036"/>
            <a:ext cx="552450" cy="193357"/>
          </a:xfrm>
          <a:prstGeom prst="rect">
            <a:avLst/>
          </a:prstGeom>
          <a:noFill/>
          <a:ln w="0">
            <a:noFill/>
            <a:prstDash val="solid"/>
          </a:ln>
        </p:spPr>
        <p:txBody>
          <a:bodyPr lIns="0" tIns="0" rIns="0" bIns="0"/>
          <a:lstStyle/>
          <a:p>
            <a:pPr algn="ctr">
              <a:lnSpc>
                <a:spcPct val="108000"/>
              </a:lnSpc>
              <a:buNone/>
              <a:defRPr sz="1500" b="1">
                <a:solidFill>
                  <a:srgbClr val="F6FBFF"/>
                </a:solidFill>
                <a:latin typeface="Microsoft YaHei"/>
                <a:ea typeface="Microsoft YaHei"/>
                <a:cs typeface="Microsoft YaHei"/>
              </a:defRPr>
            </a:pPr>
            <a:r>
              <a:rPr sz="1500" b="1">
                <a:solidFill>
                  <a:srgbClr val="F6FBFF"/>
                </a:solidFill>
                <a:latin typeface="Microsoft YaHei"/>
                <a:ea typeface="Microsoft YaHei"/>
                <a:cs typeface="Microsoft YaHei"/>
              </a:rPr>
              <a:t>03</a:t>
            </a:r>
          </a:p>
        </p:txBody>
      </p:sp>
      <p:sp>
        <p:nvSpPr>
          <p:cNvPr id="23" name="矩形 22">
            <a:extLst>
              <a:ext uri="{FF2B5EF4-FFF2-40B4-BE49-F238E27FC236}">
                <a16:creationId xmlns:a16="http://schemas.microsoft.com/office/drawing/2014/main" id="{94BC90F3-4543-447E-A31B-EB621783CFCC}"/>
              </a:ext>
            </a:extLst>
          </p:cNvPr>
          <p:cNvSpPr>
            <a:spLocks noGrp="1"/>
          </p:cNvSpPr>
          <p:nvPr/>
        </p:nvSpPr>
        <p:spPr>
          <a:xfrm>
            <a:off x="4343400" y="3181350"/>
            <a:ext cx="723900" cy="228600"/>
          </a:xfrm>
          <a:prstGeom prst="rect">
            <a:avLst/>
          </a:prstGeom>
          <a:noFill/>
          <a:ln w="0">
            <a:noFill/>
            <a:prstDash val="solid"/>
          </a:ln>
        </p:spPr>
        <p:txBody>
          <a:bodyPr lIns="0" tIns="0" rIns="0" bIns="0"/>
          <a:lstStyle/>
          <a:p>
            <a:pPr algn="ctr">
              <a:lnSpc>
                <a:spcPct val="108000"/>
              </a:lnSpc>
              <a:buNone/>
              <a:defRPr sz="1350" b="1">
                <a:solidFill>
                  <a:srgbClr val="37E6C4"/>
                </a:solidFill>
                <a:latin typeface="Microsoft YaHei"/>
                <a:ea typeface="Microsoft YaHei"/>
                <a:cs typeface="Microsoft YaHei"/>
              </a:defRPr>
            </a:pPr>
            <a:r>
              <a:rPr sz="1350" b="1">
                <a:solidFill>
                  <a:srgbClr val="37E6C4"/>
                </a:solidFill>
                <a:latin typeface="Microsoft YaHei"/>
                <a:ea typeface="Microsoft YaHei"/>
                <a:cs typeface="Microsoft YaHei"/>
              </a:rPr>
              <a:t>8-9月</a:t>
            </a:r>
          </a:p>
        </p:txBody>
      </p:sp>
      <p:sp>
        <p:nvSpPr>
          <p:cNvPr id="24" name="矩形 23">
            <a:extLst>
              <a:ext uri="{FF2B5EF4-FFF2-40B4-BE49-F238E27FC236}">
                <a16:creationId xmlns:a16="http://schemas.microsoft.com/office/drawing/2014/main" id="{5DE8B2FF-82AB-416A-8A0B-F981570D48D3}"/>
              </a:ext>
            </a:extLst>
          </p:cNvPr>
          <p:cNvSpPr>
            <a:spLocks noGrp="1"/>
          </p:cNvSpPr>
          <p:nvPr/>
        </p:nvSpPr>
        <p:spPr>
          <a:xfrm>
            <a:off x="3905250" y="3733800"/>
            <a:ext cx="1600200" cy="495300"/>
          </a:xfrm>
          <a:prstGeom prst="rect">
            <a:avLst/>
          </a:prstGeom>
          <a:noFill/>
          <a:ln w="0">
            <a:noFill/>
            <a:prstDash val="solid"/>
          </a:ln>
        </p:spPr>
        <p:txBody>
          <a:bodyPr lIns="0" tIns="0" rIns="0" bIns="0"/>
          <a:lstStyle/>
          <a:p>
            <a:pPr algn="ctr">
              <a:lnSpc>
                <a:spcPct val="110000"/>
              </a:lnSpc>
              <a:buNone/>
              <a:defRPr sz="1275" b="1">
                <a:solidFill>
                  <a:srgbClr val="F6FBFF"/>
                </a:solidFill>
                <a:latin typeface="Microsoft YaHei"/>
                <a:ea typeface="Microsoft YaHei"/>
                <a:cs typeface="Microsoft YaHei"/>
              </a:defRPr>
            </a:pPr>
            <a:r>
              <a:rPr sz="1275" b="1">
                <a:solidFill>
                  <a:srgbClr val="F6FBFF"/>
                </a:solidFill>
                <a:latin typeface="Microsoft YaHei"/>
                <a:ea typeface="Microsoft YaHei"/>
                <a:cs typeface="Microsoft YaHei"/>
              </a:rPr>
              <a:t>ABM 参数反推初步实验</a:t>
            </a:r>
          </a:p>
        </p:txBody>
      </p:sp>
      <p:sp>
        <p:nvSpPr>
          <p:cNvPr id="25" name="直线连接符 24">
            <a:extLst>
              <a:ext uri="{FF2B5EF4-FFF2-40B4-BE49-F238E27FC236}">
                <a16:creationId xmlns:a16="http://schemas.microsoft.com/office/drawing/2014/main" id="{B1210140-17F2-47E9-A92B-F46F1DA873C0}"/>
              </a:ext>
            </a:extLst>
          </p:cNvPr>
          <p:cNvSpPr>
            <a:spLocks noGrp="1"/>
          </p:cNvSpPr>
          <p:nvPr/>
        </p:nvSpPr>
        <p:spPr>
          <a:xfrm>
            <a:off x="1466850" y="2857500"/>
            <a:ext cx="8858250" cy="0"/>
          </a:xfrm>
          <a:prstGeom prst="line">
            <a:avLst/>
          </a:prstGeom>
          <a:noFill/>
          <a:ln w="19050">
            <a:solidFill>
              <a:srgbClr val="254B66"/>
            </a:solidFill>
            <a:prstDash val="solid"/>
          </a:ln>
        </p:spPr>
        <p:txBody>
          <a:bodyPr/>
          <a:lstStyle/>
          <a:p>
            <a:endParaRPr lang="zh-CN" altLang="en-US"/>
          </a:p>
        </p:txBody>
      </p:sp>
      <p:sp>
        <p:nvSpPr>
          <p:cNvPr id="26" name="椭圆 25">
            <a:extLst>
              <a:ext uri="{FF2B5EF4-FFF2-40B4-BE49-F238E27FC236}">
                <a16:creationId xmlns:a16="http://schemas.microsoft.com/office/drawing/2014/main" id="{16DCD4EC-AA9F-44DD-B8DE-F85AC97B067C}"/>
              </a:ext>
            </a:extLst>
          </p:cNvPr>
          <p:cNvSpPr>
            <a:spLocks noGrp="1"/>
          </p:cNvSpPr>
          <p:nvPr/>
        </p:nvSpPr>
        <p:spPr>
          <a:xfrm>
            <a:off x="6076950" y="2419350"/>
            <a:ext cx="552450" cy="552450"/>
          </a:xfrm>
          <a:prstGeom prst="ellipse">
            <a:avLst/>
          </a:prstGeom>
          <a:gradFill>
            <a:gsLst>
              <a:gs pos="0">
                <a:srgbClr val="7DEBFF">
                  <a:alpha val="95000"/>
                </a:srgbClr>
              </a:gs>
              <a:gs pos="48000">
                <a:srgbClr val="19D9FF">
                  <a:alpha val="48000"/>
                </a:srgbClr>
              </a:gs>
              <a:gs pos="100000">
                <a:srgbClr val="19D9FF">
                  <a:alpha val="0"/>
                </a:srgbClr>
              </a:gs>
            </a:gsLst>
            <a:path path="shape"/>
          </a:gradFill>
          <a:ln w="11430">
            <a:solidFill>
              <a:srgbClr val="7DEBFF">
                <a:alpha val="62000"/>
              </a:srgbClr>
            </a:solidFill>
            <a:prstDash val="solid"/>
          </a:ln>
        </p:spPr>
        <p:txBody>
          <a:bodyPr/>
          <a:lstStyle/>
          <a:p>
            <a:endParaRPr lang="zh-CN" altLang="en-US"/>
          </a:p>
        </p:txBody>
      </p:sp>
      <p:sp>
        <p:nvSpPr>
          <p:cNvPr id="27" name="矩形 26">
            <a:extLst>
              <a:ext uri="{FF2B5EF4-FFF2-40B4-BE49-F238E27FC236}">
                <a16:creationId xmlns:a16="http://schemas.microsoft.com/office/drawing/2014/main" id="{D418B3E2-5719-486B-ACB9-BA2B2F5F2ECC}"/>
              </a:ext>
            </a:extLst>
          </p:cNvPr>
          <p:cNvSpPr>
            <a:spLocks noGrp="1"/>
          </p:cNvSpPr>
          <p:nvPr/>
        </p:nvSpPr>
        <p:spPr>
          <a:xfrm>
            <a:off x="6076950" y="2574036"/>
            <a:ext cx="552450" cy="193357"/>
          </a:xfrm>
          <a:prstGeom prst="rect">
            <a:avLst/>
          </a:prstGeom>
          <a:noFill/>
          <a:ln w="0">
            <a:noFill/>
            <a:prstDash val="solid"/>
          </a:ln>
        </p:spPr>
        <p:txBody>
          <a:bodyPr lIns="0" tIns="0" rIns="0" bIns="0"/>
          <a:lstStyle/>
          <a:p>
            <a:pPr algn="ctr">
              <a:lnSpc>
                <a:spcPct val="108000"/>
              </a:lnSpc>
              <a:buNone/>
              <a:defRPr sz="1500" b="1">
                <a:solidFill>
                  <a:srgbClr val="F6FBFF"/>
                </a:solidFill>
                <a:latin typeface="Microsoft YaHei"/>
                <a:ea typeface="Microsoft YaHei"/>
                <a:cs typeface="Microsoft YaHei"/>
              </a:defRPr>
            </a:pPr>
            <a:r>
              <a:rPr sz="1500" b="1">
                <a:solidFill>
                  <a:srgbClr val="F6FBFF"/>
                </a:solidFill>
                <a:latin typeface="Microsoft YaHei"/>
                <a:ea typeface="Microsoft YaHei"/>
                <a:cs typeface="Microsoft YaHei"/>
              </a:rPr>
              <a:t>04</a:t>
            </a:r>
          </a:p>
        </p:txBody>
      </p:sp>
      <p:sp>
        <p:nvSpPr>
          <p:cNvPr id="28" name="矩形 27">
            <a:extLst>
              <a:ext uri="{FF2B5EF4-FFF2-40B4-BE49-F238E27FC236}">
                <a16:creationId xmlns:a16="http://schemas.microsoft.com/office/drawing/2014/main" id="{239EFC4E-6257-454F-9EFB-940675A5E54E}"/>
              </a:ext>
            </a:extLst>
          </p:cNvPr>
          <p:cNvSpPr>
            <a:spLocks noGrp="1"/>
          </p:cNvSpPr>
          <p:nvPr/>
        </p:nvSpPr>
        <p:spPr>
          <a:xfrm>
            <a:off x="6000750" y="3181350"/>
            <a:ext cx="723900" cy="228600"/>
          </a:xfrm>
          <a:prstGeom prst="rect">
            <a:avLst/>
          </a:prstGeom>
          <a:noFill/>
          <a:ln w="0">
            <a:noFill/>
            <a:prstDash val="solid"/>
          </a:ln>
        </p:spPr>
        <p:txBody>
          <a:bodyPr lIns="0" tIns="0" rIns="0" bIns="0"/>
          <a:lstStyle/>
          <a:p>
            <a:pPr algn="ctr">
              <a:lnSpc>
                <a:spcPct val="108000"/>
              </a:lnSpc>
              <a:buNone/>
              <a:defRPr sz="1350" b="1">
                <a:solidFill>
                  <a:srgbClr val="E2B84B"/>
                </a:solidFill>
                <a:latin typeface="Microsoft YaHei"/>
                <a:ea typeface="Microsoft YaHei"/>
                <a:cs typeface="Microsoft YaHei"/>
              </a:defRPr>
            </a:pPr>
            <a:r>
              <a:rPr sz="1350" b="1">
                <a:solidFill>
                  <a:srgbClr val="E2B84B"/>
                </a:solidFill>
                <a:latin typeface="Microsoft YaHei"/>
                <a:ea typeface="Microsoft YaHei"/>
                <a:cs typeface="Microsoft YaHei"/>
              </a:rPr>
              <a:t>9-10月</a:t>
            </a:r>
          </a:p>
        </p:txBody>
      </p:sp>
      <p:sp>
        <p:nvSpPr>
          <p:cNvPr id="29" name="矩形 28">
            <a:extLst>
              <a:ext uri="{FF2B5EF4-FFF2-40B4-BE49-F238E27FC236}">
                <a16:creationId xmlns:a16="http://schemas.microsoft.com/office/drawing/2014/main" id="{D03213B5-6890-427D-AFDC-2656B0C302A5}"/>
              </a:ext>
            </a:extLst>
          </p:cNvPr>
          <p:cNvSpPr>
            <a:spLocks noGrp="1"/>
          </p:cNvSpPr>
          <p:nvPr/>
        </p:nvSpPr>
        <p:spPr>
          <a:xfrm>
            <a:off x="5562600" y="3733800"/>
            <a:ext cx="1600200" cy="495300"/>
          </a:xfrm>
          <a:prstGeom prst="rect">
            <a:avLst/>
          </a:prstGeom>
          <a:noFill/>
          <a:ln w="0">
            <a:noFill/>
            <a:prstDash val="solid"/>
          </a:ln>
        </p:spPr>
        <p:txBody>
          <a:bodyPr lIns="0" tIns="0" rIns="0" bIns="0"/>
          <a:lstStyle/>
          <a:p>
            <a:pPr algn="ctr">
              <a:lnSpc>
                <a:spcPct val="110000"/>
              </a:lnSpc>
              <a:buNone/>
              <a:defRPr sz="1275" b="1">
                <a:solidFill>
                  <a:srgbClr val="F6FBFF"/>
                </a:solidFill>
                <a:latin typeface="Microsoft YaHei"/>
                <a:ea typeface="Microsoft YaHei"/>
                <a:cs typeface="Microsoft YaHei"/>
              </a:defRPr>
            </a:pPr>
            <a:r>
              <a:rPr sz="1275" b="1">
                <a:solidFill>
                  <a:srgbClr val="F6FBFF"/>
                </a:solidFill>
                <a:latin typeface="Microsoft YaHei"/>
                <a:ea typeface="Microsoft YaHei"/>
                <a:cs typeface="Microsoft YaHei"/>
              </a:rPr>
              <a:t>在线模拟系统开发联调</a:t>
            </a:r>
          </a:p>
        </p:txBody>
      </p:sp>
      <p:sp>
        <p:nvSpPr>
          <p:cNvPr id="30" name="直线连接符 29">
            <a:extLst>
              <a:ext uri="{FF2B5EF4-FFF2-40B4-BE49-F238E27FC236}">
                <a16:creationId xmlns:a16="http://schemas.microsoft.com/office/drawing/2014/main" id="{B8F5E549-F5C2-4A80-8C95-22FB6CE8158C}"/>
              </a:ext>
            </a:extLst>
          </p:cNvPr>
          <p:cNvSpPr>
            <a:spLocks noGrp="1"/>
          </p:cNvSpPr>
          <p:nvPr/>
        </p:nvSpPr>
        <p:spPr>
          <a:xfrm>
            <a:off x="1466850" y="2857500"/>
            <a:ext cx="8858250" cy="0"/>
          </a:xfrm>
          <a:prstGeom prst="line">
            <a:avLst/>
          </a:prstGeom>
          <a:noFill/>
          <a:ln w="19050">
            <a:solidFill>
              <a:srgbClr val="254B66"/>
            </a:solidFill>
            <a:prstDash val="solid"/>
          </a:ln>
        </p:spPr>
        <p:txBody>
          <a:bodyPr/>
          <a:lstStyle/>
          <a:p>
            <a:endParaRPr lang="zh-CN" altLang="en-US"/>
          </a:p>
        </p:txBody>
      </p:sp>
      <p:sp>
        <p:nvSpPr>
          <p:cNvPr id="31" name="椭圆 30">
            <a:extLst>
              <a:ext uri="{FF2B5EF4-FFF2-40B4-BE49-F238E27FC236}">
                <a16:creationId xmlns:a16="http://schemas.microsoft.com/office/drawing/2014/main" id="{5729E28F-6360-4F3F-B34A-3B28A51FCC5D}"/>
              </a:ext>
            </a:extLst>
          </p:cNvPr>
          <p:cNvSpPr>
            <a:spLocks noGrp="1"/>
          </p:cNvSpPr>
          <p:nvPr/>
        </p:nvSpPr>
        <p:spPr>
          <a:xfrm>
            <a:off x="7734300" y="2419350"/>
            <a:ext cx="552450" cy="552450"/>
          </a:xfrm>
          <a:prstGeom prst="ellipse">
            <a:avLst/>
          </a:prstGeom>
          <a:gradFill>
            <a:gsLst>
              <a:gs pos="0">
                <a:srgbClr val="7DEBFF">
                  <a:alpha val="95000"/>
                </a:srgbClr>
              </a:gs>
              <a:gs pos="48000">
                <a:srgbClr val="19D9FF">
                  <a:alpha val="48000"/>
                </a:srgbClr>
              </a:gs>
              <a:gs pos="100000">
                <a:srgbClr val="19D9FF">
                  <a:alpha val="0"/>
                </a:srgbClr>
              </a:gs>
            </a:gsLst>
            <a:path path="shape"/>
          </a:gradFill>
          <a:ln w="11430">
            <a:solidFill>
              <a:srgbClr val="7DEBFF">
                <a:alpha val="6200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35FCDBD2-2081-4DDF-8B4B-9FEE6D09D8D4}"/>
              </a:ext>
            </a:extLst>
          </p:cNvPr>
          <p:cNvSpPr>
            <a:spLocks noGrp="1"/>
          </p:cNvSpPr>
          <p:nvPr/>
        </p:nvSpPr>
        <p:spPr>
          <a:xfrm>
            <a:off x="7734300" y="2574036"/>
            <a:ext cx="552450" cy="193357"/>
          </a:xfrm>
          <a:prstGeom prst="rect">
            <a:avLst/>
          </a:prstGeom>
          <a:noFill/>
          <a:ln w="0">
            <a:noFill/>
            <a:prstDash val="solid"/>
          </a:ln>
        </p:spPr>
        <p:txBody>
          <a:bodyPr lIns="0" tIns="0" rIns="0" bIns="0"/>
          <a:lstStyle/>
          <a:p>
            <a:pPr algn="ctr">
              <a:lnSpc>
                <a:spcPct val="108000"/>
              </a:lnSpc>
              <a:buNone/>
              <a:defRPr sz="1500" b="1">
                <a:solidFill>
                  <a:srgbClr val="F6FBFF"/>
                </a:solidFill>
                <a:latin typeface="Microsoft YaHei"/>
                <a:ea typeface="Microsoft YaHei"/>
                <a:cs typeface="Microsoft YaHei"/>
              </a:defRPr>
            </a:pPr>
            <a:r>
              <a:rPr sz="1500" b="1">
                <a:solidFill>
                  <a:srgbClr val="F6FBFF"/>
                </a:solidFill>
                <a:latin typeface="Microsoft YaHei"/>
                <a:ea typeface="Microsoft YaHei"/>
                <a:cs typeface="Microsoft YaHei"/>
              </a:rPr>
              <a:t>05</a:t>
            </a:r>
          </a:p>
        </p:txBody>
      </p:sp>
      <p:sp>
        <p:nvSpPr>
          <p:cNvPr id="33" name="矩形 32">
            <a:extLst>
              <a:ext uri="{FF2B5EF4-FFF2-40B4-BE49-F238E27FC236}">
                <a16:creationId xmlns:a16="http://schemas.microsoft.com/office/drawing/2014/main" id="{473CE007-6D43-4712-8089-E81CB55367DE}"/>
              </a:ext>
            </a:extLst>
          </p:cNvPr>
          <p:cNvSpPr>
            <a:spLocks noGrp="1"/>
          </p:cNvSpPr>
          <p:nvPr/>
        </p:nvSpPr>
        <p:spPr>
          <a:xfrm>
            <a:off x="7658100" y="3181350"/>
            <a:ext cx="723900" cy="228600"/>
          </a:xfrm>
          <a:prstGeom prst="rect">
            <a:avLst/>
          </a:prstGeom>
          <a:noFill/>
          <a:ln w="0">
            <a:noFill/>
            <a:prstDash val="solid"/>
          </a:ln>
        </p:spPr>
        <p:txBody>
          <a:bodyPr lIns="0" tIns="0" rIns="0" bIns="0"/>
          <a:lstStyle/>
          <a:p>
            <a:pPr algn="ctr">
              <a:lnSpc>
                <a:spcPct val="108000"/>
              </a:lnSpc>
              <a:buNone/>
              <a:defRPr sz="1350" b="1">
                <a:solidFill>
                  <a:srgbClr val="E2B84B"/>
                </a:solidFill>
                <a:latin typeface="Microsoft YaHei"/>
                <a:ea typeface="Microsoft YaHei"/>
                <a:cs typeface="Microsoft YaHei"/>
              </a:defRPr>
            </a:pPr>
            <a:r>
              <a:rPr sz="1350" b="1">
                <a:solidFill>
                  <a:srgbClr val="E2B84B"/>
                </a:solidFill>
                <a:latin typeface="Microsoft YaHei"/>
                <a:ea typeface="Microsoft YaHei"/>
                <a:cs typeface="Microsoft YaHei"/>
              </a:rPr>
              <a:t>10-11月</a:t>
            </a:r>
          </a:p>
        </p:txBody>
      </p:sp>
      <p:sp>
        <p:nvSpPr>
          <p:cNvPr id="34" name="矩形 33">
            <a:extLst>
              <a:ext uri="{FF2B5EF4-FFF2-40B4-BE49-F238E27FC236}">
                <a16:creationId xmlns:a16="http://schemas.microsoft.com/office/drawing/2014/main" id="{3C70DDFF-2A89-435D-9916-C44CD7F0AF0F}"/>
              </a:ext>
            </a:extLst>
          </p:cNvPr>
          <p:cNvSpPr>
            <a:spLocks noGrp="1"/>
          </p:cNvSpPr>
          <p:nvPr/>
        </p:nvSpPr>
        <p:spPr>
          <a:xfrm>
            <a:off x="7219950" y="3733800"/>
            <a:ext cx="1600200" cy="495300"/>
          </a:xfrm>
          <a:prstGeom prst="rect">
            <a:avLst/>
          </a:prstGeom>
          <a:noFill/>
          <a:ln w="0">
            <a:noFill/>
            <a:prstDash val="solid"/>
          </a:ln>
        </p:spPr>
        <p:txBody>
          <a:bodyPr lIns="0" tIns="0" rIns="0" bIns="0"/>
          <a:lstStyle/>
          <a:p>
            <a:pPr algn="ctr">
              <a:lnSpc>
                <a:spcPct val="110000"/>
              </a:lnSpc>
              <a:buNone/>
              <a:defRPr sz="1275" b="1">
                <a:solidFill>
                  <a:srgbClr val="F6FBFF"/>
                </a:solidFill>
                <a:latin typeface="Microsoft YaHei"/>
                <a:ea typeface="Microsoft YaHei"/>
                <a:cs typeface="Microsoft YaHei"/>
              </a:defRPr>
            </a:pPr>
            <a:r>
              <a:rPr sz="1275" b="1">
                <a:solidFill>
                  <a:srgbClr val="F6FBFF"/>
                </a:solidFill>
                <a:latin typeface="Microsoft YaHei"/>
                <a:ea typeface="Microsoft YaHei"/>
                <a:cs typeface="Microsoft YaHei"/>
              </a:rPr>
              <a:t>系统实验与结果分析</a:t>
            </a:r>
          </a:p>
        </p:txBody>
      </p:sp>
      <p:sp>
        <p:nvSpPr>
          <p:cNvPr id="35" name="直线连接符 34">
            <a:extLst>
              <a:ext uri="{FF2B5EF4-FFF2-40B4-BE49-F238E27FC236}">
                <a16:creationId xmlns:a16="http://schemas.microsoft.com/office/drawing/2014/main" id="{1C14170C-BCEC-4C4B-8D8C-0875E3EFA057}"/>
              </a:ext>
            </a:extLst>
          </p:cNvPr>
          <p:cNvSpPr>
            <a:spLocks noGrp="1"/>
          </p:cNvSpPr>
          <p:nvPr/>
        </p:nvSpPr>
        <p:spPr>
          <a:xfrm>
            <a:off x="1466850" y="2857500"/>
            <a:ext cx="8858250" cy="0"/>
          </a:xfrm>
          <a:prstGeom prst="line">
            <a:avLst/>
          </a:prstGeom>
          <a:noFill/>
          <a:ln w="19050">
            <a:solidFill>
              <a:srgbClr val="254B66"/>
            </a:solidFill>
            <a:prstDash val="solid"/>
          </a:ln>
        </p:spPr>
        <p:txBody>
          <a:bodyPr/>
          <a:lstStyle/>
          <a:p>
            <a:endParaRPr lang="zh-CN" altLang="en-US"/>
          </a:p>
        </p:txBody>
      </p:sp>
      <p:sp>
        <p:nvSpPr>
          <p:cNvPr id="36" name="椭圆 35">
            <a:extLst>
              <a:ext uri="{FF2B5EF4-FFF2-40B4-BE49-F238E27FC236}">
                <a16:creationId xmlns:a16="http://schemas.microsoft.com/office/drawing/2014/main" id="{97F4CB4C-4A6B-4423-ADCB-891A7CF3E11B}"/>
              </a:ext>
            </a:extLst>
          </p:cNvPr>
          <p:cNvSpPr>
            <a:spLocks noGrp="1"/>
          </p:cNvSpPr>
          <p:nvPr/>
        </p:nvSpPr>
        <p:spPr>
          <a:xfrm>
            <a:off x="9391650" y="2419350"/>
            <a:ext cx="552450" cy="552450"/>
          </a:xfrm>
          <a:prstGeom prst="ellipse">
            <a:avLst/>
          </a:prstGeom>
          <a:gradFill>
            <a:gsLst>
              <a:gs pos="0">
                <a:srgbClr val="7DEBFF">
                  <a:alpha val="95000"/>
                </a:srgbClr>
              </a:gs>
              <a:gs pos="48000">
                <a:srgbClr val="19D9FF">
                  <a:alpha val="48000"/>
                </a:srgbClr>
              </a:gs>
              <a:gs pos="100000">
                <a:srgbClr val="19D9FF">
                  <a:alpha val="0"/>
                </a:srgbClr>
              </a:gs>
            </a:gsLst>
            <a:path path="shape"/>
          </a:gradFill>
          <a:ln w="11430">
            <a:solidFill>
              <a:srgbClr val="7DEBFF">
                <a:alpha val="62000"/>
              </a:srgbClr>
            </a:solidFill>
            <a:prstDash val="solid"/>
          </a:ln>
        </p:spPr>
        <p:txBody>
          <a:bodyPr/>
          <a:lstStyle/>
          <a:p>
            <a:endParaRPr lang="zh-CN" altLang="en-US"/>
          </a:p>
        </p:txBody>
      </p:sp>
      <p:sp>
        <p:nvSpPr>
          <p:cNvPr id="37" name="矩形 36">
            <a:extLst>
              <a:ext uri="{FF2B5EF4-FFF2-40B4-BE49-F238E27FC236}">
                <a16:creationId xmlns:a16="http://schemas.microsoft.com/office/drawing/2014/main" id="{B7704639-6488-4FBC-8696-ED2742A5D005}"/>
              </a:ext>
            </a:extLst>
          </p:cNvPr>
          <p:cNvSpPr>
            <a:spLocks noGrp="1"/>
          </p:cNvSpPr>
          <p:nvPr/>
        </p:nvSpPr>
        <p:spPr>
          <a:xfrm>
            <a:off x="9391650" y="2574036"/>
            <a:ext cx="552450" cy="193357"/>
          </a:xfrm>
          <a:prstGeom prst="rect">
            <a:avLst/>
          </a:prstGeom>
          <a:noFill/>
          <a:ln w="0">
            <a:noFill/>
            <a:prstDash val="solid"/>
          </a:ln>
        </p:spPr>
        <p:txBody>
          <a:bodyPr lIns="0" tIns="0" rIns="0" bIns="0"/>
          <a:lstStyle/>
          <a:p>
            <a:pPr algn="ctr">
              <a:lnSpc>
                <a:spcPct val="108000"/>
              </a:lnSpc>
              <a:buNone/>
              <a:defRPr sz="1500" b="1">
                <a:solidFill>
                  <a:srgbClr val="F6FBFF"/>
                </a:solidFill>
                <a:latin typeface="Microsoft YaHei"/>
                <a:ea typeface="Microsoft YaHei"/>
                <a:cs typeface="Microsoft YaHei"/>
              </a:defRPr>
            </a:pPr>
            <a:r>
              <a:rPr sz="1500" b="1">
                <a:solidFill>
                  <a:srgbClr val="F6FBFF"/>
                </a:solidFill>
                <a:latin typeface="Microsoft YaHei"/>
                <a:ea typeface="Microsoft YaHei"/>
                <a:cs typeface="Microsoft YaHei"/>
              </a:rPr>
              <a:t>06</a:t>
            </a:r>
          </a:p>
        </p:txBody>
      </p:sp>
      <p:sp>
        <p:nvSpPr>
          <p:cNvPr id="38" name="矩形 37">
            <a:extLst>
              <a:ext uri="{FF2B5EF4-FFF2-40B4-BE49-F238E27FC236}">
                <a16:creationId xmlns:a16="http://schemas.microsoft.com/office/drawing/2014/main" id="{E116EEAD-6CCF-45D4-8697-BC4B70284B64}"/>
              </a:ext>
            </a:extLst>
          </p:cNvPr>
          <p:cNvSpPr>
            <a:spLocks noGrp="1"/>
          </p:cNvSpPr>
          <p:nvPr/>
        </p:nvSpPr>
        <p:spPr>
          <a:xfrm>
            <a:off x="9315450" y="3181350"/>
            <a:ext cx="723900" cy="228600"/>
          </a:xfrm>
          <a:prstGeom prst="rect">
            <a:avLst/>
          </a:prstGeom>
          <a:noFill/>
          <a:ln w="0">
            <a:noFill/>
            <a:prstDash val="solid"/>
          </a:ln>
        </p:spPr>
        <p:txBody>
          <a:bodyPr lIns="0" tIns="0" rIns="0" bIns="0"/>
          <a:lstStyle/>
          <a:p>
            <a:pPr algn="ctr">
              <a:lnSpc>
                <a:spcPct val="108000"/>
              </a:lnSpc>
              <a:buNone/>
              <a:defRPr sz="1350" b="1">
                <a:solidFill>
                  <a:srgbClr val="E2B84B"/>
                </a:solidFill>
                <a:latin typeface="Microsoft YaHei"/>
                <a:ea typeface="Microsoft YaHei"/>
                <a:cs typeface="Microsoft YaHei"/>
              </a:defRPr>
            </a:pPr>
            <a:r>
              <a:rPr sz="1350" b="1">
                <a:solidFill>
                  <a:srgbClr val="E2B84B"/>
                </a:solidFill>
                <a:latin typeface="Microsoft YaHei"/>
                <a:ea typeface="Microsoft YaHei"/>
                <a:cs typeface="Microsoft YaHei"/>
              </a:rPr>
              <a:t>11-12月</a:t>
            </a:r>
          </a:p>
        </p:txBody>
      </p:sp>
      <p:sp>
        <p:nvSpPr>
          <p:cNvPr id="39" name="矩形 38">
            <a:extLst>
              <a:ext uri="{FF2B5EF4-FFF2-40B4-BE49-F238E27FC236}">
                <a16:creationId xmlns:a16="http://schemas.microsoft.com/office/drawing/2014/main" id="{04585D78-0C1E-4B23-860F-CB39C202A606}"/>
              </a:ext>
            </a:extLst>
          </p:cNvPr>
          <p:cNvSpPr>
            <a:spLocks noGrp="1"/>
          </p:cNvSpPr>
          <p:nvPr/>
        </p:nvSpPr>
        <p:spPr>
          <a:xfrm>
            <a:off x="8877300" y="3733800"/>
            <a:ext cx="1600200" cy="495300"/>
          </a:xfrm>
          <a:prstGeom prst="rect">
            <a:avLst/>
          </a:prstGeom>
          <a:noFill/>
          <a:ln w="0">
            <a:noFill/>
            <a:prstDash val="solid"/>
          </a:ln>
        </p:spPr>
        <p:txBody>
          <a:bodyPr lIns="0" tIns="0" rIns="0" bIns="0"/>
          <a:lstStyle/>
          <a:p>
            <a:pPr algn="ctr">
              <a:lnSpc>
                <a:spcPct val="110000"/>
              </a:lnSpc>
              <a:buNone/>
              <a:defRPr sz="1275" b="1">
                <a:solidFill>
                  <a:srgbClr val="F6FBFF"/>
                </a:solidFill>
                <a:latin typeface="Microsoft YaHei"/>
                <a:ea typeface="Microsoft YaHei"/>
                <a:cs typeface="Microsoft YaHei"/>
              </a:defRPr>
            </a:pPr>
            <a:r>
              <a:rPr sz="1275" b="1">
                <a:solidFill>
                  <a:srgbClr val="F6FBFF"/>
                </a:solidFill>
                <a:latin typeface="Microsoft YaHei"/>
                <a:ea typeface="Microsoft YaHei"/>
                <a:cs typeface="Microsoft YaHei"/>
              </a:rPr>
              <a:t>系统优化、论文与答辩</a:t>
            </a:r>
          </a:p>
        </p:txBody>
      </p:sp>
      <p:sp>
        <p:nvSpPr>
          <p:cNvPr id="40" name="圆角矩形 39">
            <a:extLst>
              <a:ext uri="{FF2B5EF4-FFF2-40B4-BE49-F238E27FC236}">
                <a16:creationId xmlns:a16="http://schemas.microsoft.com/office/drawing/2014/main" id="{C6783888-11C4-4BE2-82B2-72FBFBC4C3EA}"/>
              </a:ext>
            </a:extLst>
          </p:cNvPr>
          <p:cNvSpPr>
            <a:spLocks noGrp="1"/>
          </p:cNvSpPr>
          <p:nvPr/>
        </p:nvSpPr>
        <p:spPr>
          <a:xfrm>
            <a:off x="1562100" y="5391150"/>
            <a:ext cx="9067800" cy="552450"/>
          </a:xfrm>
          <a:prstGeom prst="roundRect">
            <a:avLst>
              <a:gd name="adj" fmla="val 20690"/>
            </a:avLst>
          </a:prstGeom>
          <a:solidFill>
            <a:srgbClr val="07172B">
              <a:alpha val="80000"/>
            </a:srgbClr>
          </a:solidFill>
          <a:ln w="13335">
            <a:solidFill>
              <a:srgbClr val="26D9FF">
                <a:alpha val="42000"/>
              </a:srgbClr>
            </a:solidFill>
            <a:prstDash val="solid"/>
          </a:ln>
        </p:spPr>
        <p:txBody>
          <a:bodyPr/>
          <a:lstStyle/>
          <a:p>
            <a:endParaRPr lang="zh-CN" altLang="en-US"/>
          </a:p>
        </p:txBody>
      </p:sp>
      <p:sp>
        <p:nvSpPr>
          <p:cNvPr id="41" name="圆角矩形 40">
            <a:extLst>
              <a:ext uri="{FF2B5EF4-FFF2-40B4-BE49-F238E27FC236}">
                <a16:creationId xmlns:a16="http://schemas.microsoft.com/office/drawing/2014/main" id="{498C0527-A7B0-4EF3-86AC-C8F4EA4CAF0F}"/>
              </a:ext>
            </a:extLst>
          </p:cNvPr>
          <p:cNvSpPr>
            <a:spLocks noGrp="1"/>
          </p:cNvSpPr>
          <p:nvPr/>
        </p:nvSpPr>
        <p:spPr>
          <a:xfrm>
            <a:off x="1562100" y="5391150"/>
            <a:ext cx="47625" cy="552450"/>
          </a:xfrm>
          <a:prstGeom prst="roundRect">
            <a:avLst>
              <a:gd name="adj" fmla="val 50000"/>
            </a:avLst>
          </a:prstGeom>
          <a:solidFill>
            <a:srgbClr val="E2B84B"/>
          </a:solidFill>
          <a:ln w="0">
            <a:noFill/>
            <a:prstDash val="solid"/>
          </a:ln>
        </p:spPr>
        <p:txBody>
          <a:bodyPr/>
          <a:lstStyle/>
          <a:p>
            <a:endParaRPr lang="zh-CN" altLang="en-US"/>
          </a:p>
        </p:txBody>
      </p:sp>
      <p:sp>
        <p:nvSpPr>
          <p:cNvPr id="42" name="矩形 41">
            <a:extLst>
              <a:ext uri="{FF2B5EF4-FFF2-40B4-BE49-F238E27FC236}">
                <a16:creationId xmlns:a16="http://schemas.microsoft.com/office/drawing/2014/main" id="{49C0B02F-95F0-43C1-8B48-C595F40F6038}"/>
              </a:ext>
            </a:extLst>
          </p:cNvPr>
          <p:cNvSpPr>
            <a:spLocks noGrp="1"/>
          </p:cNvSpPr>
          <p:nvPr/>
        </p:nvSpPr>
        <p:spPr>
          <a:xfrm>
            <a:off x="1943100" y="5562600"/>
            <a:ext cx="8286750" cy="228600"/>
          </a:xfrm>
          <a:prstGeom prst="rect">
            <a:avLst/>
          </a:prstGeom>
          <a:noFill/>
          <a:ln w="0">
            <a:noFill/>
            <a:prstDash val="solid"/>
          </a:ln>
        </p:spPr>
        <p:txBody>
          <a:bodyPr lIns="0" tIns="0" rIns="0" bIns="0"/>
          <a:lstStyle/>
          <a:p>
            <a:pPr algn="ctr">
              <a:lnSpc>
                <a:spcPct val="108000"/>
              </a:lnSpc>
              <a:buNone/>
              <a:defRPr sz="1575" b="1">
                <a:solidFill>
                  <a:srgbClr val="74F0FF"/>
                </a:solidFill>
                <a:latin typeface="Microsoft YaHei"/>
                <a:ea typeface="Microsoft YaHei"/>
                <a:cs typeface="Microsoft YaHei"/>
              </a:defRPr>
            </a:pPr>
            <a:r>
              <a:rPr sz="1575" b="1">
                <a:solidFill>
                  <a:srgbClr val="74F0FF"/>
                </a:solidFill>
                <a:latin typeface="Microsoft YaHei"/>
                <a:ea typeface="Microsoft YaHei"/>
                <a:cs typeface="Microsoft YaHei"/>
              </a:rPr>
              <a:t>节奏安排遵循“先闭环、再优化、再实验”的原则，确保论文写作有稳定系统与实验结果支撑。</a:t>
            </a:r>
          </a:p>
        </p:txBody>
      </p:sp>
    </p:spTree>
    <p:extLst>
      <p:ext uri="{BB962C8B-B14F-4D97-AF65-F5344CB8AC3E}">
        <p14:creationId xmlns:p14="http://schemas.microsoft.com/office/powerpoint/2010/main" val="474337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srcRect t="27" b="27"/>
          <a:stretch>
            <a:fillRect/>
          </a:stretch>
        </p:blipFill>
        <p:spPr>
          <a:xfrm>
            <a:off x="0" y="0"/>
            <a:ext cx="12192000" cy="6858000"/>
          </a:xfrm>
          <a:prstGeom prst="rect">
            <a:avLst/>
          </a:prstGeom>
        </p:spPr>
      </p:pic>
      <p:sp>
        <p:nvSpPr>
          <p:cNvPr id="2" name="圆角矩形 1">
            <a:extLst>
              <a:ext uri="{FF2B5EF4-FFF2-40B4-BE49-F238E27FC236}">
                <a16:creationId xmlns:a16="http://schemas.microsoft.com/office/drawing/2014/main" id="{C9D74029-AD19-4365-A189-904996C48368}"/>
              </a:ext>
            </a:extLst>
          </p:cNvPr>
          <p:cNvSpPr>
            <a:spLocks noGrp="1"/>
          </p:cNvSpPr>
          <p:nvPr/>
        </p:nvSpPr>
        <p:spPr>
          <a:xfrm>
            <a:off x="0" y="0"/>
            <a:ext cx="12192000" cy="6858000"/>
          </a:xfrm>
          <a:prstGeom prst="roundRect">
            <a:avLst>
              <a:gd name="adj" fmla="val 1667"/>
            </a:avLst>
          </a:prstGeom>
          <a:gradFill>
            <a:gsLst>
              <a:gs pos="0">
                <a:srgbClr val="020814">
                  <a:alpha val="96000"/>
                </a:srgbClr>
              </a:gs>
              <a:gs pos="45000">
                <a:srgbClr val="020814">
                  <a:alpha val="84000"/>
                </a:srgbClr>
              </a:gs>
              <a:gs pos="100000">
                <a:srgbClr val="020814">
                  <a:alpha val="30000"/>
                </a:srgbClr>
              </a:gs>
            </a:gsLst>
            <a:lin ang="5400000"/>
          </a:gradFill>
          <a:ln w="0">
            <a:noFill/>
            <a:prstDash val="solid"/>
          </a:ln>
        </p:spPr>
        <p:txBody>
          <a:bodyPr/>
          <a:lstStyle/>
          <a:p>
            <a:endParaRPr lang="zh-CN" altLang="en-US"/>
          </a:p>
        </p:txBody>
      </p:sp>
      <p:sp>
        <p:nvSpPr>
          <p:cNvPr id="3" name="圆角矩形 2">
            <a:extLst>
              <a:ext uri="{FF2B5EF4-FFF2-40B4-BE49-F238E27FC236}">
                <a16:creationId xmlns:a16="http://schemas.microsoft.com/office/drawing/2014/main" id="{738D3537-12E8-49D0-B5B9-0FA592DCB8CE}"/>
              </a:ext>
            </a:extLst>
          </p:cNvPr>
          <p:cNvSpPr>
            <a:spLocks noGrp="1"/>
          </p:cNvSpPr>
          <p:nvPr/>
        </p:nvSpPr>
        <p:spPr>
          <a:xfrm>
            <a:off x="0" y="0"/>
            <a:ext cx="12192000" cy="38100"/>
          </a:xfrm>
          <a:prstGeom prst="roundRect">
            <a:avLst>
              <a:gd name="adj" fmla="val 50000"/>
            </a:avLst>
          </a:prstGeom>
          <a:gradFill>
            <a:gsLst>
              <a:gs pos="0">
                <a:srgbClr val="19D9FF"/>
              </a:gs>
              <a:gs pos="55000">
                <a:srgbClr val="37E6C4"/>
              </a:gs>
              <a:gs pos="100000">
                <a:srgbClr val="E2B84B"/>
              </a:gs>
            </a:gsLst>
            <a:lin ang="5400000"/>
          </a:gradFill>
          <a:ln w="0">
            <a:noFill/>
            <a:prstDash val="solid"/>
          </a:ln>
        </p:spPr>
        <p:txBody>
          <a:bodyPr/>
          <a:lstStyle/>
          <a:p>
            <a:endParaRPr lang="zh-CN" altLang="en-US"/>
          </a:p>
        </p:txBody>
      </p:sp>
      <p:sp>
        <p:nvSpPr>
          <p:cNvPr id="4" name="椭圆 3">
            <a:extLst>
              <a:ext uri="{FF2B5EF4-FFF2-40B4-BE49-F238E27FC236}">
                <a16:creationId xmlns:a16="http://schemas.microsoft.com/office/drawing/2014/main" id="{39A96494-62AF-4042-B93E-22AA80A9F0FB}"/>
              </a:ext>
            </a:extLst>
          </p:cNvPr>
          <p:cNvSpPr>
            <a:spLocks noGrp="1"/>
          </p:cNvSpPr>
          <p:nvPr/>
        </p:nvSpPr>
        <p:spPr>
          <a:xfrm>
            <a:off x="628650" y="514350"/>
            <a:ext cx="838200" cy="838200"/>
          </a:xfrm>
          <a:prstGeom prst="ellipse">
            <a:avLst/>
          </a:prstGeom>
          <a:solidFill>
            <a:srgbClr val="FFFFFF">
              <a:alpha val="94000"/>
            </a:srgbClr>
          </a:solidFill>
          <a:ln w="9525">
            <a:solidFill>
              <a:srgbClr val="FFFFFF">
                <a:alpha val="80000"/>
              </a:srgbClr>
            </a:solidFill>
            <a:prstDash val="solid"/>
          </a:ln>
        </p:spPr>
        <p:txBody>
          <a:bodyPr/>
          <a:lstStyle/>
          <a:p>
            <a:endParaRPr lang="zh-CN" altLang="en-US"/>
          </a:p>
        </p:txBody>
      </p:sp>
      <p:pic>
        <p:nvPicPr>
          <p:cNvPr id="17" name="图片 16"/>
          <p:cNvPicPr>
            <a:picLocks noChangeAspect="1"/>
          </p:cNvPicPr>
          <p:nvPr/>
        </p:nvPicPr>
        <p:blipFill>
          <a:blip r:embed="rId4"/>
          <a:stretch/>
        </p:blipFill>
        <p:spPr>
          <a:xfrm>
            <a:off x="764184" y="571500"/>
            <a:ext cx="567132" cy="723900"/>
          </a:xfrm>
          <a:prstGeom prst="rect">
            <a:avLst/>
          </a:prstGeom>
        </p:spPr>
      </p:pic>
      <p:sp>
        <p:nvSpPr>
          <p:cNvPr id="6" name="矩形 5">
            <a:extLst>
              <a:ext uri="{FF2B5EF4-FFF2-40B4-BE49-F238E27FC236}">
                <a16:creationId xmlns:a16="http://schemas.microsoft.com/office/drawing/2014/main" id="{0BC26DD1-4327-4383-90C1-CFCCD6634183}"/>
              </a:ext>
            </a:extLst>
          </p:cNvPr>
          <p:cNvSpPr>
            <a:spLocks noGrp="1"/>
          </p:cNvSpPr>
          <p:nvPr/>
        </p:nvSpPr>
        <p:spPr>
          <a:xfrm>
            <a:off x="876300" y="1962150"/>
            <a:ext cx="2476500" cy="590550"/>
          </a:xfrm>
          <a:prstGeom prst="rect">
            <a:avLst/>
          </a:prstGeom>
          <a:noFill/>
          <a:ln w="0">
            <a:noFill/>
            <a:prstDash val="solid"/>
          </a:ln>
        </p:spPr>
        <p:txBody>
          <a:bodyPr lIns="0" tIns="0" rIns="0" bIns="0"/>
          <a:lstStyle/>
          <a:p>
            <a:pPr>
              <a:lnSpc>
                <a:spcPct val="108000"/>
              </a:lnSpc>
              <a:buNone/>
              <a:defRPr sz="4350" b="1">
                <a:solidFill>
                  <a:srgbClr val="F6FBFF"/>
                </a:solidFill>
                <a:latin typeface="Microsoft YaHei"/>
                <a:ea typeface="Microsoft YaHei"/>
                <a:cs typeface="Microsoft YaHei"/>
              </a:defRPr>
            </a:pPr>
            <a:r>
              <a:rPr sz="4350" b="1">
                <a:solidFill>
                  <a:srgbClr val="F6FBFF"/>
                </a:solidFill>
                <a:latin typeface="Microsoft YaHei"/>
                <a:ea typeface="Microsoft YaHei"/>
                <a:cs typeface="Microsoft YaHei"/>
              </a:rPr>
              <a:t>总结</a:t>
            </a:r>
          </a:p>
        </p:txBody>
      </p:sp>
      <p:sp>
        <p:nvSpPr>
          <p:cNvPr id="7" name="圆角矩形 6">
            <a:extLst>
              <a:ext uri="{FF2B5EF4-FFF2-40B4-BE49-F238E27FC236}">
                <a16:creationId xmlns:a16="http://schemas.microsoft.com/office/drawing/2014/main" id="{EA48CE3B-B30E-4955-A81B-1DF923D33459}"/>
              </a:ext>
            </a:extLst>
          </p:cNvPr>
          <p:cNvSpPr>
            <a:spLocks noGrp="1"/>
          </p:cNvSpPr>
          <p:nvPr/>
        </p:nvSpPr>
        <p:spPr>
          <a:xfrm>
            <a:off x="895350" y="2781300"/>
            <a:ext cx="1143000" cy="47625"/>
          </a:xfrm>
          <a:prstGeom prst="roundRect">
            <a:avLst>
              <a:gd name="adj" fmla="val 50000"/>
            </a:avLst>
          </a:prstGeom>
          <a:gradFill>
            <a:gsLst>
              <a:gs pos="0">
                <a:srgbClr val="19D9FF"/>
              </a:gs>
              <a:gs pos="65000">
                <a:srgbClr val="37E6C4"/>
              </a:gs>
              <a:gs pos="100000">
                <a:srgbClr val="E2B84B"/>
              </a:gs>
            </a:gsLst>
            <a:lin ang="5400000"/>
          </a:gradFill>
          <a:ln w="0">
            <a:noFill/>
            <a:prstDash val="solid"/>
          </a:ln>
        </p:spPr>
        <p:txBody>
          <a:bodyPr/>
          <a:lstStyle/>
          <a:p>
            <a:endParaRPr lang="zh-CN" altLang="en-US"/>
          </a:p>
        </p:txBody>
      </p:sp>
      <p:sp>
        <p:nvSpPr>
          <p:cNvPr id="8" name="矩形 7">
            <a:extLst>
              <a:ext uri="{FF2B5EF4-FFF2-40B4-BE49-F238E27FC236}">
                <a16:creationId xmlns:a16="http://schemas.microsoft.com/office/drawing/2014/main" id="{F303BCAB-9E61-456B-BA3A-BDC1BDE34EED}"/>
              </a:ext>
            </a:extLst>
          </p:cNvPr>
          <p:cNvSpPr>
            <a:spLocks noGrp="1"/>
          </p:cNvSpPr>
          <p:nvPr/>
        </p:nvSpPr>
        <p:spPr>
          <a:xfrm>
            <a:off x="895350" y="3352800"/>
            <a:ext cx="7715250" cy="876300"/>
          </a:xfrm>
          <a:prstGeom prst="rect">
            <a:avLst/>
          </a:prstGeom>
          <a:noFill/>
          <a:ln w="0">
            <a:noFill/>
            <a:prstDash val="solid"/>
          </a:ln>
        </p:spPr>
        <p:txBody>
          <a:bodyPr lIns="0" tIns="0" rIns="0" bIns="0"/>
          <a:lstStyle/>
          <a:p>
            <a:pPr>
              <a:lnSpc>
                <a:spcPct val="112000"/>
              </a:lnSpc>
              <a:buNone/>
              <a:defRPr sz="2100" b="1">
                <a:solidFill>
                  <a:srgbClr val="F6FBFF"/>
                </a:solidFill>
                <a:latin typeface="Microsoft YaHei"/>
                <a:ea typeface="Microsoft YaHei"/>
                <a:cs typeface="Microsoft YaHei"/>
              </a:defRPr>
            </a:pPr>
            <a:r>
              <a:rPr sz="2100" b="1">
                <a:solidFill>
                  <a:srgbClr val="F6FBFF"/>
                </a:solidFill>
                <a:latin typeface="Microsoft YaHei"/>
                <a:ea typeface="Microsoft YaHei"/>
                <a:cs typeface="Microsoft YaHei"/>
              </a:rPr>
              <a:t>本课题以推荐机制校准为核心，将真实传播数据治理、ABM 参数反推、大小模型分层仿真与多指标验证连接为一个可复用的社交仿真平台闭环。</a:t>
            </a:r>
          </a:p>
        </p:txBody>
      </p:sp>
      <p:sp>
        <p:nvSpPr>
          <p:cNvPr id="9" name="圆角矩形 8">
            <a:extLst>
              <a:ext uri="{FF2B5EF4-FFF2-40B4-BE49-F238E27FC236}">
                <a16:creationId xmlns:a16="http://schemas.microsoft.com/office/drawing/2014/main" id="{0E8B35CB-4723-4207-8726-DAF0ED8C5BEC}"/>
              </a:ext>
            </a:extLst>
          </p:cNvPr>
          <p:cNvSpPr>
            <a:spLocks noGrp="1"/>
          </p:cNvSpPr>
          <p:nvPr/>
        </p:nvSpPr>
        <p:spPr>
          <a:xfrm>
            <a:off x="895350" y="4914900"/>
            <a:ext cx="7905750" cy="571500"/>
          </a:xfrm>
          <a:prstGeom prst="roundRect">
            <a:avLst>
              <a:gd name="adj" fmla="val 20000"/>
            </a:avLst>
          </a:prstGeom>
          <a:solidFill>
            <a:srgbClr val="07172B">
              <a:alpha val="78000"/>
            </a:srgbClr>
          </a:solidFill>
          <a:ln w="13335">
            <a:solidFill>
              <a:srgbClr val="26D9FF">
                <a:alpha val="42000"/>
              </a:srgbClr>
            </a:solidFill>
            <a:prstDash val="solid"/>
          </a:ln>
        </p:spPr>
        <p:txBody>
          <a:bodyPr/>
          <a:lstStyle/>
          <a:p>
            <a:endParaRPr lang="zh-CN" altLang="en-US"/>
          </a:p>
        </p:txBody>
      </p:sp>
      <p:sp>
        <p:nvSpPr>
          <p:cNvPr id="10" name="圆角矩形 9">
            <a:extLst>
              <a:ext uri="{FF2B5EF4-FFF2-40B4-BE49-F238E27FC236}">
                <a16:creationId xmlns:a16="http://schemas.microsoft.com/office/drawing/2014/main" id="{C0A99DCD-C830-40BB-84A0-EA237EBD3C04}"/>
              </a:ext>
            </a:extLst>
          </p:cNvPr>
          <p:cNvSpPr>
            <a:spLocks noGrp="1"/>
          </p:cNvSpPr>
          <p:nvPr/>
        </p:nvSpPr>
        <p:spPr>
          <a:xfrm>
            <a:off x="895350" y="4914900"/>
            <a:ext cx="47625" cy="571500"/>
          </a:xfrm>
          <a:prstGeom prst="roundRect">
            <a:avLst>
              <a:gd name="adj" fmla="val 50000"/>
            </a:avLst>
          </a:prstGeom>
          <a:solidFill>
            <a:srgbClr val="E2B84B"/>
          </a:solidFill>
          <a:ln w="0">
            <a:noFill/>
            <a:prstDash val="solid"/>
          </a:ln>
        </p:spPr>
        <p:txBody>
          <a:bodyPr/>
          <a:lstStyle/>
          <a:p>
            <a:endParaRPr lang="zh-CN" altLang="en-US"/>
          </a:p>
        </p:txBody>
      </p:sp>
      <p:sp>
        <p:nvSpPr>
          <p:cNvPr id="11" name="矩形 10">
            <a:extLst>
              <a:ext uri="{FF2B5EF4-FFF2-40B4-BE49-F238E27FC236}">
                <a16:creationId xmlns:a16="http://schemas.microsoft.com/office/drawing/2014/main" id="{703C94D7-2D1A-4747-ADCA-F5CD34850335}"/>
              </a:ext>
            </a:extLst>
          </p:cNvPr>
          <p:cNvSpPr>
            <a:spLocks noGrp="1"/>
          </p:cNvSpPr>
          <p:nvPr/>
        </p:nvSpPr>
        <p:spPr>
          <a:xfrm>
            <a:off x="1257300" y="5086350"/>
            <a:ext cx="7239000" cy="228600"/>
          </a:xfrm>
          <a:prstGeom prst="rect">
            <a:avLst/>
          </a:prstGeom>
          <a:noFill/>
          <a:ln w="0">
            <a:noFill/>
            <a:prstDash val="solid"/>
          </a:ln>
        </p:spPr>
        <p:txBody>
          <a:bodyPr lIns="0" tIns="0" rIns="0" bIns="0"/>
          <a:lstStyle/>
          <a:p>
            <a:pPr algn="ctr">
              <a:lnSpc>
                <a:spcPct val="108000"/>
              </a:lnSpc>
              <a:buNone/>
              <a:defRPr sz="1650" b="1">
                <a:solidFill>
                  <a:srgbClr val="74F0FF"/>
                </a:solidFill>
                <a:latin typeface="Microsoft YaHei"/>
                <a:ea typeface="Microsoft YaHei"/>
                <a:cs typeface="Microsoft YaHei"/>
              </a:defRPr>
            </a:pPr>
            <a:r>
              <a:rPr sz="1650" b="1">
                <a:solidFill>
                  <a:srgbClr val="74F0FF"/>
                </a:solidFill>
                <a:latin typeface="Microsoft YaHei"/>
                <a:ea typeface="Microsoft YaHei"/>
                <a:cs typeface="Microsoft YaHei"/>
              </a:rPr>
              <a:t>预期贡献：提升仿真的现实参照、机制解释力与跨议题复用能力</a:t>
            </a:r>
          </a:p>
        </p:txBody>
      </p:sp>
      <p:sp>
        <p:nvSpPr>
          <p:cNvPr id="12" name="矩形 11">
            <a:extLst>
              <a:ext uri="{FF2B5EF4-FFF2-40B4-BE49-F238E27FC236}">
                <a16:creationId xmlns:a16="http://schemas.microsoft.com/office/drawing/2014/main" id="{A2BDD510-ABA3-4E3A-B122-3FF536D8ECF7}"/>
              </a:ext>
            </a:extLst>
          </p:cNvPr>
          <p:cNvSpPr>
            <a:spLocks noGrp="1"/>
          </p:cNvSpPr>
          <p:nvPr/>
        </p:nvSpPr>
        <p:spPr>
          <a:xfrm>
            <a:off x="7334250" y="5981700"/>
            <a:ext cx="3714750" cy="323850"/>
          </a:xfrm>
          <a:prstGeom prst="rect">
            <a:avLst/>
          </a:prstGeom>
          <a:noFill/>
          <a:ln w="0">
            <a:noFill/>
            <a:prstDash val="solid"/>
          </a:ln>
        </p:spPr>
        <p:txBody>
          <a:bodyPr lIns="0" tIns="0" rIns="0" bIns="0"/>
          <a:lstStyle/>
          <a:p>
            <a:pPr algn="r">
              <a:lnSpc>
                <a:spcPct val="108000"/>
              </a:lnSpc>
              <a:buNone/>
              <a:defRPr sz="1950" b="1">
                <a:solidFill>
                  <a:srgbClr val="F6FBFF"/>
                </a:solidFill>
                <a:latin typeface="Microsoft YaHei"/>
                <a:ea typeface="Microsoft YaHei"/>
                <a:cs typeface="Microsoft YaHei"/>
              </a:defRPr>
            </a:pPr>
            <a:r>
              <a:rPr sz="1950" b="1">
                <a:solidFill>
                  <a:srgbClr val="F6FBFF"/>
                </a:solidFill>
                <a:latin typeface="Microsoft YaHei"/>
                <a:ea typeface="Microsoft YaHei"/>
                <a:cs typeface="Microsoft YaHei"/>
              </a:rPr>
              <a:t>谢谢各位老师，请批评指正</a:t>
            </a:r>
          </a:p>
        </p:txBody>
      </p:sp>
    </p:spTree>
    <p:extLst>
      <p:ext uri="{BB962C8B-B14F-4D97-AF65-F5344CB8AC3E}">
        <p14:creationId xmlns:p14="http://schemas.microsoft.com/office/powerpoint/2010/main" val="120927123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708</Words>
  <Application>Microsoft Macintosh PowerPoint</Application>
  <DocSecurity>0</DocSecurity>
  <PresentationFormat>宽屏</PresentationFormat>
  <Paragraphs>210</Paragraphs>
  <Slides>14</Slides>
  <Notes>14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14</vt:i4>
      </vt:variant>
    </vt:vector>
  </HeadingPairs>
  <TitlesOfParts>
    <vt:vector size="17" baseType="lpstr">
      <vt:lpstr>Microsoft YaHei</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艺鹏 张</cp:lastModifiedBy>
  <cp:revision>1</cp:revision>
  <dcterms:created xsi:type="dcterms:W3CDTF">2026-06-27T03:17:20Z</dcterms:created>
  <dcterms:modified xsi:type="dcterms:W3CDTF">2026-06-27T03:21:22Z</dcterms:modified>
</cp:coreProperties>
</file>