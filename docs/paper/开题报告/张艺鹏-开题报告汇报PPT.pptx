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4" r:id="rId9"/>
    <p:sldId id="265" r:id="rId10"/>
    <p:sldId id="266" r:id="rId11"/>
    <p:sldId id="267" r:id="rId12"/>
    <p:sldId id="269" r:id="rId13"/>
    <p:sldId id="263" r:id="rId14"/>
    <p:sldId id="270" r:id="rId15"/>
    <p:sldId id="271"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108"/>
    <p:restoredTop sz="83008"/>
  </p:normalViewPr>
  <p:slideViewPr>
    <p:cSldViewPr snapToGrid="0" snapToObjects="1" showGuides="1">
      <p:cViewPr varScale="1">
        <p:scale>
          <a:sx n="142" d="100"/>
          <a:sy n="142" d="100"/>
        </p:scale>
        <p:origin x="190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老师好，我是张艺鹏，今天向各位汇报我的学位论文选题报告，题目是《融合推荐机制校准的社交仿真平台设计与实现》。我的责任导师是黄浩程老师，研究方向为数据智能技术与应用，培养单位是媒体融合与传播国家重点实验室。这项工作的核心，是从真实传播数据出发校准推荐机制参数，再注入一个大小模型协同运行的在线社交仿真平台。下面我从六个方面展开。</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整个汇报围绕一个核心问题：如何从真实传播数据校准推荐机制参数，并注入由 LLM Agent  协同运行的社交仿真平台。我将分六章逐层展开——选题背景与研究意义、国内外研究现状、研究目标与创新点、技术路线与方案、可行性分析，最后是进度安排。</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首先是选题背景。为什么要做一个可校准的社交仿真？有三点动因。第一，社交媒体已经成为公共议题扩散、舆论形成与平台治理的重要空间。第二，真实平台存在算法黑箱，曝光日志难以获取，对照实验又受到伦理与监管的限制。第三，也是最关键的——仿真的真正价值不只是复现宏观现象，而是要解释用户行为、网络结构与平台机制如何共同生成传播结果。这意味着研究要从「结果描述」走向「机制解释」，而推荐曝光正是串联信息接触、互动行为与立场变化的关键环节。</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由此引出本课题的研究意义，可以从三个层面看。理论上，我们把推荐曝光从平台背景提升为传播过程中的机制变量，用来解释信息扩散与态度演化的形成链条。方法上，我们以真实传播结果来校准兴趣匹配、内容热度、时间衰减与随机探索这几类推荐参数。工程上，则形成「数据治理—参数校准—配置注入—在线仿真—结果归档」的完整平台闭环。一句话概括这个转向：推荐参数不再由研究者主观设定，而是由真实传播数据校准之后，再进入在线仿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接下来是国内外研究现状。已有工作大致沿三条脉络展开。第一条是规则 ABM 与传播动力学，比如 Bounded Confidence、SIR、Hawkes、元胞自动机，这类模型成本低、可解释，但弱在文本生成与个体行为解释。第二条是 LLM Agent 与混合仿真，像 Generative Agents、HiSim、FDE-LLM、GASim、TopoSim、APS，推动了画像、记忆、信念与混合架构。第三条是平台化系统与推荐机制，如 OASIS、GGBond、POSIM、PolicySim，已经开始纳入平台环境和推荐排序，但参数多依赖预设或离线调参。总体来看，研究基础已经比较充分，但「真实传播数据到推荐参数校准再到在线仿真注入」这条链条仍然不完整。</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把研究空白说得更具体一些。已有系统的常见做法有三种：要么没有显式推荐模块，靠邻居传播、时间线或随机曝光；要么有推荐模块，但用的是兴趣公式、hot-score、人工权重或离线调参；政策优化类工作则更关注干预效果本身。本课题要解决的，是把推荐评分拆解为可解释的维度，用真实传播结果拟合校准参数，再把校准后的参数写入 YAML 去驱动在线 Feed 排序。核心就是这一句：从主观预设，走向数据校准。</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第三部分，研究目标与创新点。总目标是设计并实现一个融合推荐机制校准的 MOSS 社交仿真平台，形成从真实数据到在线推演的可复现闭环。这个闭环包含四个环节：一是画像生成，从 user 和 post 数据生成稳定画像、行为画像和 Agent 运行画像；二是参数校准，拟合真实传播结果，校准推荐权重、时间衰减与层级影响参数；三是在线仿真，通过 Backend 与 Agent 双进程运行发帖、评论、点赞、转发等行为；四是闭环验证，用传播曲线、态度演化、互动分布和消融实验来评估有效性。</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进入第四部分，技术路线与方案。这张图是系统的闭环总览：真实数据经过画像生成，进入参数校准环节，由 EM 加 Optuna 完成；校准结果进入在线仿真，驱动 Feed 排序与 Agent 决策；最后通过 DTW、Pearson、MAE 以及消融实验做验证反馈，再回流到校准。整个系统由一个单一配置中枢 calibration_profile.yaml 串联，它把离线校准与在线推荐服务连接起来。</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下面分别介绍三个核心模块。第一个是用户画像生成。输入是 user 和 post 原始数据，包括发帖、互动、活跃时段、粉丝数，以及帖子与账号的影响力指标，还会筛选高质量证据帖。处理上采用五阶段 LLM 流水线：证据抽取、稳定画像、行为画像、Agent 画像压缩，最后是模拟初始状态。为了控制成本，我们按影响力分层：L4 到 L5 的高影响力用户走完整流水线，L1 到 L3 的用户采用 simple profile mode 与行为库。</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第二个模块是 ABM 推荐参数校准，这也是本课题的方法核心。推荐的可见概率由四类分数加权得到：w_i 兴趣匹配、w_pop 内容热度、w_time 时间衰减、w_rand 随机探索。校准用的是 EMCalibrationEngine：E 步搜索每条内容的 p_base，M 步在 Dirichlet 约束下联合搜索推荐权重和 decay_lambda。最终输出就是 calibration_profile.yaml，可以供在线的 SocialRecSys.configure 直接注入。</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第三个模块是在线模拟与验证。上面这张图是在线社交网络的系统架构。运行时由 main.py 启动 Backend 与 Agent 双进程：Backend 负责 Feed 推荐、内容管理、时间控制与持久化，Agent 通过决策循环执行发帖、评论、点赞、转发。验证方面，我们用功能完整性、参数一致性（DTW 与 Pearson）、MAE 与 MRE、随机种子方差以及参数消融等多个指标。验证的重点是确认：校准后的参数是否真的提升了传播曲线、态度演化与互动行为分布的拟合程度。</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这张图给出 MOSS 平台的系统总体架构，采用四层分层设计。最上面是表示层，由 React 前端单页应用承担交互。第二层是应用层，也就是 Backend FastAPI 服务，包含 REST 路由、SocialRecSys 推荐服务、时间与内容管理，以及 SentenceTransformer 嵌入。第三层是 Agent 层，由 AgentGraph 调度、决策循环加记忆系统、以及 LangChain 大小模型分层驱动构成。最下面是数据与配置层，包括 SQLite 加 sqlite-vec 的向量存储、作为配置中枢的 calibration_profile.yaml，以及 runs 运行归档。旁边的离线分析模块产出画像与校准配置，驱动在线运行。整体上各层解耦，离线产物通过配置驱动在线，职责清晰、易于扩展。</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将创新点收束为一个核心表述：真实数据驱动的关键节点画像与推荐算法参数校准。具体来说，本课题首先从真实用户、内容、互动链路和传播结果中提取仿真输入，识别高影响力关键节点，并形成稳定画像、行为画像和运行画像；其次，将推荐机制拆解为兴趣匹配、内容热度、时间衰减和随机探索等可解释参数，利用真实传播结果进行校准；最后，将关键节点画像和校准后的推荐参数共同注入在线仿真平台，使仿真过程由真实数据、关键用户特征和推荐参数共同驱动，而不是依赖主观设定。</a:t>
            </a:r>
            <a:br>
              <a:rPr lang="zh-CN" dirty="0"/>
            </a:br>
            <a:r>
              <a:rPr lang="zh-CN" altLang="en-US" dirty="0"/>
              <a:t>本课题不是试图还原商业平台的真实推荐系统，而是在社交仿真平台中构建一个可解释、可配置的推荐曝光机制，并利用真实传播观测数据对其参数进行校准，使仿真结果在传播规模、速度、互动分布等统计指标上更接近真实数据。</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第五部分是可行性分析，四个方面都有基础。理论上，HiSim、FDE-LLM、OASIS 等研究已经证明混合仿真与平台化系统可行。方法上，EM、Optuna、贝叶斯优化与相关的奖励建模研究都可以迁移到推荐参数估计。数据与画像方面，用户画像生成和分层建模已有 Two-stage Profiling、TWICE 等研究支撑。工程上，FastAPI、SQLite、向量检索与 LangChain 等工具链足以支撑整个系统的实现。</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dirty="0"/>
              <a:t>最后是进度安排，</a:t>
            </a:r>
            <a:r>
              <a:rPr lang="en-US" altLang="zh-CN" dirty="0"/>
              <a:t>2026 </a:t>
            </a:r>
            <a:r>
              <a:rPr lang="zh-CN" altLang="en-US" dirty="0"/>
              <a:t>年 </a:t>
            </a:r>
            <a:r>
              <a:rPr lang="en-US" altLang="zh-CN" dirty="0"/>
              <a:t>7 </a:t>
            </a:r>
            <a:r>
              <a:rPr lang="zh-CN" altLang="en-US" dirty="0"/>
              <a:t>月至 </a:t>
            </a:r>
            <a:r>
              <a:rPr lang="en-US" altLang="zh-CN" dirty="0"/>
              <a:t>2027 </a:t>
            </a:r>
            <a:r>
              <a:rPr lang="zh-CN" altLang="en-US" dirty="0"/>
              <a:t>年 </a:t>
            </a:r>
            <a:r>
              <a:rPr lang="en-US" altLang="zh-CN" dirty="0"/>
              <a:t>3 </a:t>
            </a:r>
            <a:r>
              <a:rPr lang="zh-CN" altLang="en-US" dirty="0"/>
              <a:t>月</a:t>
            </a:r>
            <a:r>
              <a:rPr lang="zh-CN" dirty="0"/>
              <a:t>，分六个阶段。</a:t>
            </a:r>
            <a:r>
              <a:rPr lang="en-US" altLang="zh-CN" dirty="0"/>
              <a:t>7</a:t>
            </a:r>
            <a:r>
              <a:rPr lang="zh-CN" dirty="0"/>
              <a:t> 到 </a:t>
            </a:r>
            <a:r>
              <a:rPr lang="en-US" altLang="zh-CN" dirty="0"/>
              <a:t>8</a:t>
            </a:r>
            <a:r>
              <a:rPr lang="zh-CN" dirty="0"/>
              <a:t> 月做需求分析与总体方案；</a:t>
            </a:r>
            <a:r>
              <a:rPr lang="en-US" altLang="zh-CN" dirty="0"/>
              <a:t>9</a:t>
            </a:r>
            <a:r>
              <a:rPr lang="zh-CN" altLang="en-US" dirty="0"/>
              <a:t> </a:t>
            </a:r>
            <a:r>
              <a:rPr lang="zh-CN" dirty="0"/>
              <a:t>到 </a:t>
            </a:r>
            <a:r>
              <a:rPr lang="en-US" altLang="zh-CN" dirty="0"/>
              <a:t>10</a:t>
            </a:r>
            <a:r>
              <a:rPr lang="zh-CN" dirty="0"/>
              <a:t> 月做数据准备与画像模块；</a:t>
            </a:r>
            <a:r>
              <a:rPr lang="en-US" altLang="zh-CN" dirty="0"/>
              <a:t>11</a:t>
            </a:r>
            <a:r>
              <a:rPr lang="zh-CN" dirty="0"/>
              <a:t> 开展 ABM 参数校准的初步实验；</a:t>
            </a:r>
            <a:r>
              <a:rPr lang="en-US" altLang="zh-CN" dirty="0"/>
              <a:t>12</a:t>
            </a:r>
            <a:r>
              <a:rPr lang="zh-CN" dirty="0"/>
              <a:t> 月进行在线模拟系统的开发联调；1</a:t>
            </a:r>
            <a:r>
              <a:rPr lang="zh-CN" altLang="en-US" dirty="0"/>
              <a:t> </a:t>
            </a:r>
            <a:r>
              <a:rPr lang="zh-CN" dirty="0"/>
              <a:t>到 </a:t>
            </a:r>
            <a:r>
              <a:rPr lang="en-US" altLang="zh-CN" dirty="0"/>
              <a:t>2</a:t>
            </a:r>
            <a:r>
              <a:rPr lang="zh-CN" dirty="0"/>
              <a:t> 月做系统实验与结果分析； </a:t>
            </a:r>
            <a:r>
              <a:rPr lang="en-US" altLang="zh-CN" dirty="0"/>
              <a:t>3</a:t>
            </a:r>
            <a:r>
              <a:rPr lang="zh-CN" altLang="en-US" dirty="0"/>
              <a:t> </a:t>
            </a:r>
            <a:r>
              <a:rPr lang="zh-CN" dirty="0"/>
              <a:t>月完成系统优化、论文撰写与答辩。整个节奏遵循「先闭环、再优化、再实验」，确保论文写作有稳定的系统和实验结果支撑。</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我的汇报到此结束，谢谢各位老师，请批评指正。</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p:nvPr/>
          </p:nvSpPr>
          <p:spPr>
            <a:xfrm>
              <a:off x="0" y="0"/>
              <a:ext cx="12192000" cy="57150"/>
            </a:xfrm>
            <a:prstGeom prst="rect">
              <a:avLst/>
            </a:prstGeom>
            <a:solidFill>
              <a:srgbClr val="1B3A5B"/>
            </a:solidFill>
            <a:ln>
              <a:noFill/>
            </a:ln>
          </p:spPr>
          <p:txBody>
            <a:bodyPr/>
            <a:lstStyle/>
            <a:p>
              <a:endParaRPr lang="zh-CN" altLang="en-US"/>
            </a:p>
          </p:txBody>
        </p:sp>
      </p:grpSp>
      <p:grpSp>
        <p:nvGrpSpPr>
          <p:cNvPr id="8" name="Group 8"/>
          <p:cNvGrpSpPr/>
          <p:nvPr/>
        </p:nvGrpSpPr>
        <p:grpSpPr>
          <a:xfrm>
            <a:off x="594360" y="899160"/>
            <a:ext cx="10988040" cy="253365"/>
            <a:chOff x="594360" y="899160"/>
            <a:chExt cx="10988040" cy="253365"/>
          </a:xfrm>
        </p:grpSpPr>
        <p:sp>
          <p:nvSpPr>
            <p:cNvPr id="5" name="Line 5"/>
            <p:cNvSpPr/>
            <p:nvPr/>
          </p:nvSpPr>
          <p:spPr>
            <a:xfrm>
              <a:off x="609600" y="11430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6" name="TextBox 6"/>
            <p:cNvSpPr txBox="1"/>
            <p:nvPr/>
          </p:nvSpPr>
          <p:spPr>
            <a:xfrm>
              <a:off x="594360" y="899160"/>
              <a:ext cx="923330" cy="184666"/>
            </a:xfrm>
            <a:prstGeom prst="rect">
              <a:avLst/>
            </a:prstGeom>
            <a:noFill/>
            <a:ln>
              <a:noFill/>
            </a:ln>
          </p:spPr>
          <p:txBody>
            <a:bodyPr wrap="none" lIns="0" tIns="0" rIns="0" bIns="0" anchor="t" anchorCtr="0">
              <a:spAutoFit/>
            </a:bodyPr>
            <a:lstStyle/>
            <a:p>
              <a:pPr algn="l"/>
              <a:r>
                <a:rPr lang="zh-CN" sz="1200" b="1" dirty="0">
                  <a:solidFill>
                    <a:srgbClr val="8C8C82"/>
                  </a:solidFill>
                  <a:latin typeface="Arial" panose="020B0604020202090204"/>
                  <a:ea typeface="微软雅黑"/>
                  <a:cs typeface="Arial" panose="020B0604020202090204"/>
                </a:rPr>
                <a:t>中国传媒大学</a:t>
              </a:r>
            </a:p>
          </p:txBody>
        </p:sp>
      </p:grpSp>
      <p:grpSp>
        <p:nvGrpSpPr>
          <p:cNvPr id="13" name="Group 13"/>
          <p:cNvGrpSpPr/>
          <p:nvPr/>
        </p:nvGrpSpPr>
        <p:grpSpPr>
          <a:xfrm>
            <a:off x="552450" y="1981200"/>
            <a:ext cx="6365525" cy="1768822"/>
            <a:chOff x="552450" y="1981200"/>
            <a:chExt cx="6365525" cy="1768822"/>
          </a:xfrm>
        </p:grpSpPr>
        <p:sp>
          <p:nvSpPr>
            <p:cNvPr id="9" name="Rectangle 9"/>
            <p:cNvSpPr/>
            <p:nvPr/>
          </p:nvSpPr>
          <p:spPr>
            <a:xfrm>
              <a:off x="609600" y="1981200"/>
              <a:ext cx="609600" cy="47625"/>
            </a:xfrm>
            <a:prstGeom prst="rect">
              <a:avLst/>
            </a:prstGeom>
            <a:solidFill>
              <a:srgbClr val="C8A24B"/>
            </a:solidFill>
            <a:ln>
              <a:noFill/>
            </a:ln>
          </p:spPr>
          <p:txBody>
            <a:bodyPr/>
            <a:lstStyle/>
            <a:p>
              <a:endParaRPr lang="zh-CN" altLang="en-US"/>
            </a:p>
          </p:txBody>
        </p:sp>
        <p:sp>
          <p:nvSpPr>
            <p:cNvPr id="10" name="TextBox 10"/>
            <p:cNvSpPr txBox="1"/>
            <p:nvPr/>
          </p:nvSpPr>
          <p:spPr>
            <a:xfrm>
              <a:off x="552450" y="2333625"/>
              <a:ext cx="5785009" cy="914400"/>
            </a:xfrm>
            <a:prstGeom prst="rect">
              <a:avLst/>
            </a:prstGeom>
            <a:noFill/>
            <a:ln>
              <a:noFill/>
            </a:ln>
          </p:spPr>
          <p:txBody>
            <a:bodyPr wrap="none" lIns="0" tIns="0" rIns="0" bIns="0" anchor="t" anchorCtr="0">
              <a:spAutoFit/>
            </a:bodyPr>
            <a:lstStyle/>
            <a:p>
              <a:pPr algn="l"/>
              <a:r>
                <a:rPr lang="zh-CN" sz="4500" b="1" dirty="0">
                  <a:solidFill>
                    <a:srgbClr val="1B3A5B"/>
                  </a:solidFill>
                  <a:latin typeface="Cambria"/>
                  <a:ea typeface="宋体"/>
                  <a:cs typeface="Cambria"/>
                </a:rPr>
                <a:t>融合推荐机制校准的</a:t>
              </a:r>
            </a:p>
          </p:txBody>
        </p:sp>
        <p:sp>
          <p:nvSpPr>
            <p:cNvPr id="11" name="TextBox 11"/>
            <p:cNvSpPr txBox="1"/>
            <p:nvPr/>
          </p:nvSpPr>
          <p:spPr>
            <a:xfrm>
              <a:off x="552450" y="3057525"/>
              <a:ext cx="6365525" cy="692497"/>
            </a:xfrm>
            <a:prstGeom prst="rect">
              <a:avLst/>
            </a:prstGeom>
            <a:noFill/>
            <a:ln>
              <a:noFill/>
            </a:ln>
          </p:spPr>
          <p:txBody>
            <a:bodyPr wrap="none" lIns="0" tIns="0" rIns="0" bIns="0" anchor="t" anchorCtr="0">
              <a:spAutoFit/>
            </a:bodyPr>
            <a:lstStyle/>
            <a:p>
              <a:pPr algn="l"/>
              <a:r>
                <a:rPr lang="zh-CN" sz="4500" b="1" dirty="0">
                  <a:solidFill>
                    <a:srgbClr val="1B3A5B"/>
                  </a:solidFill>
                  <a:latin typeface="Cambria"/>
                  <a:ea typeface="宋体"/>
                  <a:cs typeface="Cambria"/>
                </a:rPr>
                <a:t>社交仿真平台</a:t>
              </a:r>
              <a:r>
                <a:rPr lang="zh-CN" altLang="en-US" sz="4500" b="1" dirty="0">
                  <a:solidFill>
                    <a:srgbClr val="1B3A5B"/>
                  </a:solidFill>
                  <a:latin typeface="Cambria"/>
                  <a:ea typeface="宋体"/>
                </a:rPr>
                <a:t>设计与实现</a:t>
              </a:r>
            </a:p>
          </p:txBody>
        </p:sp>
      </p:grpSp>
      <p:grpSp>
        <p:nvGrpSpPr>
          <p:cNvPr id="20" name="Group 20"/>
          <p:cNvGrpSpPr/>
          <p:nvPr/>
        </p:nvGrpSpPr>
        <p:grpSpPr>
          <a:xfrm>
            <a:off x="609600" y="4629150"/>
            <a:ext cx="10972800" cy="1224349"/>
            <a:chOff x="609600" y="4629150"/>
            <a:chExt cx="10972800" cy="1224349"/>
          </a:xfrm>
        </p:grpSpPr>
        <p:sp>
          <p:nvSpPr>
            <p:cNvPr id="14" name="Line 14"/>
            <p:cNvSpPr/>
            <p:nvPr/>
          </p:nvSpPr>
          <p:spPr>
            <a:xfrm>
              <a:off x="609600" y="462915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16" name="TextBox 16"/>
            <p:cNvSpPr txBox="1"/>
            <p:nvPr/>
          </p:nvSpPr>
          <p:spPr>
            <a:xfrm>
              <a:off x="2076450" y="5038725"/>
              <a:ext cx="5484386"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汇报人 </a:t>
              </a:r>
              <a:r>
                <a:rPr lang="zh-CN" dirty="0">
                  <a:solidFill>
                    <a:srgbClr val="2B2B2B"/>
                  </a:solidFill>
                  <a:latin typeface="Arial" panose="020B0604020202090204"/>
                  <a:ea typeface="微软雅黑"/>
                  <a:cs typeface="Arial" panose="020B0604020202090204"/>
                </a:rPr>
                <a:t>张艺鹏</a:t>
              </a:r>
              <a:r>
                <a:rPr lang="en-US" altLang="zh-CN" dirty="0">
                  <a:solidFill>
                    <a:srgbClr val="2B2B2B"/>
                  </a:solidFill>
                  <a:latin typeface="Arial" panose="020B0604020202090204"/>
                  <a:ea typeface="微软雅黑"/>
                  <a:cs typeface="Arial" panose="020B0604020202090204"/>
                </a:rPr>
                <a:t>                        </a:t>
              </a:r>
              <a:r>
                <a:rPr lang="zh-CN" b="1" dirty="0">
                  <a:solidFill>
                    <a:srgbClr val="1B3A5B"/>
                  </a:solidFill>
                  <a:latin typeface="Arial" panose="020B0604020202090204"/>
                  <a:ea typeface="微软雅黑"/>
                  <a:cs typeface="Arial" panose="020B0604020202090204"/>
                </a:rPr>
                <a:t>学 号 </a:t>
              </a:r>
              <a:r>
                <a:rPr lang="en-US" dirty="0">
                  <a:solidFill>
                    <a:srgbClr val="2B2B2B"/>
                  </a:solidFill>
                  <a:latin typeface="Arial" panose="020B0604020202090204"/>
                  <a:ea typeface="Arial" panose="020B0604020202090204"/>
                  <a:cs typeface="Arial" panose="020B0604020202090204"/>
                </a:rPr>
                <a:t>202520085411016</a:t>
              </a:r>
            </a:p>
          </p:txBody>
        </p:sp>
        <p:sp>
          <p:nvSpPr>
            <p:cNvPr id="17" name="TextBox 17"/>
            <p:cNvSpPr txBox="1"/>
            <p:nvPr/>
          </p:nvSpPr>
          <p:spPr>
            <a:xfrm>
              <a:off x="2076450" y="5576500"/>
              <a:ext cx="5514330"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导</a:t>
              </a:r>
              <a:r>
                <a:rPr lang="zh-CN" altLang="en-US" b="1" dirty="0">
                  <a:solidFill>
                    <a:srgbClr val="1B3A5B"/>
                  </a:solidFill>
                  <a:latin typeface="Arial" panose="020B0604020202090204"/>
                  <a:ea typeface="微软雅黑"/>
                  <a:cs typeface="Arial" panose="020B0604020202090204"/>
                </a:rPr>
                <a:t>    </a:t>
              </a:r>
              <a:r>
                <a:rPr lang="zh-CN" b="1" dirty="0">
                  <a:solidFill>
                    <a:srgbClr val="1B3A5B"/>
                  </a:solidFill>
                  <a:latin typeface="Arial" panose="020B0604020202090204"/>
                  <a:ea typeface="微软雅黑"/>
                  <a:cs typeface="Arial" panose="020B0604020202090204"/>
                </a:rPr>
                <a:t>师 </a:t>
              </a:r>
              <a:r>
                <a:rPr lang="zh-CN" dirty="0">
                  <a:solidFill>
                    <a:srgbClr val="2B2B2B"/>
                  </a:solidFill>
                  <a:latin typeface="Arial" panose="020B0604020202090204"/>
                  <a:ea typeface="微软雅黑"/>
                  <a:cs typeface="Arial" panose="020B0604020202090204"/>
                </a:rPr>
                <a:t>黄浩程</a:t>
              </a:r>
              <a:r>
                <a:rPr lang="en-US" altLang="zh-CN" dirty="0">
                  <a:solidFill>
                    <a:srgbClr val="2B2B2B"/>
                  </a:solidFill>
                  <a:latin typeface="Arial" panose="020B0604020202090204"/>
                  <a:ea typeface="微软雅黑"/>
                  <a:cs typeface="Arial" panose="020B0604020202090204"/>
                </a:rPr>
                <a:t>                        </a:t>
              </a:r>
              <a:r>
                <a:rPr lang="zh-CN" altLang="en-US" b="1" dirty="0">
                  <a:solidFill>
                    <a:srgbClr val="1B3A5B"/>
                  </a:solidFill>
                  <a:latin typeface="Arial" panose="020B0604020202090204"/>
                  <a:ea typeface="微软雅黑"/>
                  <a:cs typeface="Arial" panose="020B0604020202090204"/>
                </a:rPr>
                <a:t>专 业 </a:t>
              </a:r>
              <a:r>
                <a:rPr lang="zh-CN" altLang="en-US" dirty="0">
                  <a:solidFill>
                    <a:srgbClr val="2B2B2B"/>
                  </a:solidFill>
                  <a:latin typeface="Arial" panose="020B0604020202090204"/>
                  <a:ea typeface="微软雅黑"/>
                  <a:cs typeface="Arial" panose="020B0604020202090204"/>
                </a:rPr>
                <a:t>大数据技术与工程</a:t>
              </a:r>
              <a:endParaRPr lang="zh-CN" dirty="0">
                <a:solidFill>
                  <a:srgbClr val="2B2B2B"/>
                </a:solidFill>
                <a:latin typeface="Arial" panose="020B0604020202090204"/>
                <a:ea typeface="微软雅黑"/>
                <a:cs typeface="Arial" panose="020B0604020202090204"/>
              </a:endParaRPr>
            </a:p>
          </p:txBody>
        </p:sp>
      </p:grpSp>
      <p:pic>
        <p:nvPicPr>
          <p:cNvPr id="21" name="Image 15"/>
          <p:cNvPicPr>
            <a:picLocks noChangeAspect="1"/>
          </p:cNvPicPr>
          <p:nvPr/>
        </p:nvPicPr>
        <p:blipFill>
          <a:blip r:embed="rId3"/>
          <a:stretch>
            <a:fillRect/>
          </a:stretch>
        </p:blipFill>
        <p:spPr>
          <a:xfrm>
            <a:off x="10839450" y="-100965"/>
            <a:ext cx="1047750" cy="13335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11906"/>
            <a:ext cx="12192000" cy="6858000"/>
            <a:chOff x="0" y="0"/>
            <a:chExt cx="12192000" cy="6858000"/>
          </a:xfrm>
        </p:grpSpPr>
        <p:sp>
          <p:nvSpPr>
            <p:cNvPr id="2"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0" y="0"/>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a:p>
          </p:txBody>
        </p:sp>
      </p:grpSp>
      <p:grpSp>
        <p:nvGrpSpPr>
          <p:cNvPr id="9" name="Group 9"/>
          <p:cNvGrpSpPr/>
          <p:nvPr/>
        </p:nvGrpSpPr>
        <p:grpSpPr>
          <a:xfrm>
            <a:off x="590550" y="-13055"/>
            <a:ext cx="10991850" cy="936980"/>
            <a:chOff x="590550" y="-13055"/>
            <a:chExt cx="10991850" cy="936980"/>
          </a:xfrm>
        </p:grpSpPr>
        <p:sp>
          <p:nvSpPr>
            <p:cNvPr id="6" name="TextBox 6"/>
            <p:cNvSpPr txBox="1"/>
            <p:nvPr/>
          </p:nvSpPr>
          <p:spPr>
            <a:xfrm>
              <a:off x="590550" y="523875"/>
              <a:ext cx="1487281" cy="304800"/>
            </a:xfrm>
            <a:prstGeom prst="rect">
              <a:avLst/>
            </a:prstGeom>
            <a:noFill/>
            <a:ln>
              <a:noFill/>
            </a:ln>
          </p:spPr>
          <p:txBody>
            <a:bodyPr wrap="none" lIns="0" tIns="0" rIns="0" bIns="0" anchor="t" anchorCtr="0">
              <a:spAutoFit/>
            </a:bodyPr>
            <a:lstStyle/>
            <a:p>
              <a:pPr algn="l"/>
              <a:r>
                <a:rPr lang="zh-CN" sz="1500" b="1" dirty="0">
                  <a:solidFill>
                    <a:srgbClr val="1B3A5B"/>
                  </a:solidFill>
                  <a:latin typeface="Cambria"/>
                  <a:ea typeface="宋体"/>
                  <a:cs typeface="Cambria"/>
                </a:rPr>
                <a:t>目录 </a:t>
              </a:r>
              <a:r>
                <a:rPr lang="en-US" sz="1050" b="1" dirty="0">
                  <a:solidFill>
                    <a:srgbClr val="8C8C82"/>
                  </a:solidFill>
                  <a:latin typeface="Arial" panose="020B0604020202090204"/>
                  <a:ea typeface="Arial" panose="020B0604020202090204"/>
                  <a:cs typeface="Arial" panose="020B0604020202090204"/>
                </a:rPr>
                <a:t>CONTENTS</a:t>
              </a:r>
            </a:p>
          </p:txBody>
        </p:sp>
        <p:pic>
          <p:nvPicPr>
            <p:cNvPr id="7" name="Image 7"/>
            <p:cNvPicPr>
              <a:picLocks noChangeAspect="1"/>
            </p:cNvPicPr>
            <p:nvPr/>
          </p:nvPicPr>
          <p:blipFill>
            <a:blip r:embed="rId3"/>
            <a:stretch>
              <a:fillRect/>
            </a:stretch>
          </p:blipFill>
          <p:spPr>
            <a:xfrm>
              <a:off x="10919012" y="-13055"/>
              <a:ext cx="663388" cy="846763"/>
            </a:xfrm>
            <a:prstGeom prst="rect">
              <a:avLst/>
            </a:prstGeom>
          </p:spPr>
        </p:pic>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19050">
              <a:solidFill>
                <a:srgbClr val="1B3A5B"/>
              </a:solidFill>
            </a:ln>
          </p:spPr>
          <p:txBody>
            <a:bodyPr/>
            <a:lstStyle/>
            <a:p>
              <a:endParaRPr lang="zh-CN" altLang="en-US"/>
            </a:p>
          </p:txBody>
        </p:sp>
      </p:grpSp>
      <p:grpSp>
        <p:nvGrpSpPr>
          <p:cNvPr id="19" name="Group 19"/>
          <p:cNvGrpSpPr/>
          <p:nvPr/>
        </p:nvGrpSpPr>
        <p:grpSpPr>
          <a:xfrm>
            <a:off x="587703" y="1633945"/>
            <a:ext cx="1077957" cy="627696"/>
            <a:chOff x="565785" y="2961322"/>
            <a:chExt cx="1077957" cy="627696"/>
          </a:xfrm>
        </p:grpSpPr>
        <p:sp>
          <p:nvSpPr>
            <p:cNvPr id="11" name="TextBox 11"/>
            <p:cNvSpPr txBox="1"/>
            <p:nvPr/>
          </p:nvSpPr>
          <p:spPr>
            <a:xfrm>
              <a:off x="565785" y="2961322"/>
              <a:ext cx="888064" cy="530915"/>
            </a:xfrm>
            <a:prstGeom prst="rect">
              <a:avLst/>
            </a:prstGeom>
            <a:noFill/>
            <a:ln>
              <a:noFill/>
            </a:ln>
          </p:spPr>
          <p:txBody>
            <a:bodyPr wrap="none" lIns="0" tIns="0" rIns="0" bIns="0" anchor="t" anchorCtr="0">
              <a:spAutoFit/>
            </a:bodyPr>
            <a:lstStyle/>
            <a:p>
              <a:pPr algn="l"/>
              <a:r>
                <a:rPr lang="zh-CN" altLang="en-US" sz="3450" b="1" dirty="0">
                  <a:solidFill>
                    <a:srgbClr val="1B3A5B"/>
                  </a:solidFill>
                  <a:latin typeface="Cambria"/>
                  <a:ea typeface="宋体"/>
                  <a:cs typeface="Cambria"/>
                </a:rPr>
                <a:t>目录</a:t>
              </a:r>
              <a:endParaRPr lang="zh-CN" sz="3450" b="1" dirty="0">
                <a:solidFill>
                  <a:srgbClr val="1B3A5B"/>
                </a:solidFill>
                <a:latin typeface="Cambria"/>
                <a:ea typeface="宋体"/>
                <a:cs typeface="Cambria"/>
              </a:endParaRPr>
            </a:p>
          </p:txBody>
        </p:sp>
        <p:sp>
          <p:nvSpPr>
            <p:cNvPr id="12" name="Rectangle 12"/>
            <p:cNvSpPr/>
            <p:nvPr/>
          </p:nvSpPr>
          <p:spPr>
            <a:xfrm>
              <a:off x="628649" y="3543299"/>
              <a:ext cx="1015093" cy="45719"/>
            </a:xfrm>
            <a:prstGeom prst="rect">
              <a:avLst/>
            </a:prstGeom>
            <a:solidFill>
              <a:srgbClr val="C8A24B"/>
            </a:solidFill>
            <a:ln>
              <a:noFill/>
            </a:ln>
          </p:spPr>
          <p:txBody>
            <a:bodyPr/>
            <a:lstStyle/>
            <a:p>
              <a:endParaRPr lang="zh-CN" altLang="en-US"/>
            </a:p>
          </p:txBody>
        </p:sp>
      </p:grpSp>
      <p:grpSp>
        <p:nvGrpSpPr>
          <p:cNvPr id="44" name="Group 44"/>
          <p:cNvGrpSpPr/>
          <p:nvPr/>
        </p:nvGrpSpPr>
        <p:grpSpPr>
          <a:xfrm>
            <a:off x="3795115" y="1516856"/>
            <a:ext cx="6276975" cy="4195763"/>
            <a:chOff x="5305425" y="1471612"/>
            <a:chExt cx="6276975" cy="4195763"/>
          </a:xfrm>
        </p:grpSpPr>
        <p:grpSp>
          <p:nvGrpSpPr>
            <p:cNvPr id="23" name="Group 23"/>
            <p:cNvGrpSpPr/>
            <p:nvPr/>
          </p:nvGrpSpPr>
          <p:grpSpPr>
            <a:xfrm>
              <a:off x="5305425" y="1471612"/>
              <a:ext cx="6276975" cy="481013"/>
              <a:chOff x="5305425" y="1471612"/>
              <a:chExt cx="6276975" cy="481013"/>
            </a:xfrm>
          </p:grpSpPr>
          <p:sp>
            <p:nvSpPr>
              <p:cNvPr id="20" name="TextBox 20"/>
              <p:cNvSpPr txBox="1"/>
              <p:nvPr/>
            </p:nvSpPr>
            <p:spPr>
              <a:xfrm>
                <a:off x="5305425" y="1471612"/>
                <a:ext cx="403693" cy="457200"/>
              </a:xfrm>
              <a:prstGeom prst="rect">
                <a:avLst/>
              </a:prstGeom>
              <a:noFill/>
              <a:ln>
                <a:noFill/>
              </a:ln>
            </p:spPr>
            <p:txBody>
              <a:bodyPr wrap="none" lIns="0" tIns="0" rIns="0" bIns="0" anchor="t" anchorCtr="0">
                <a:spAutoFit/>
              </a:bodyPr>
              <a:lstStyle/>
              <a:p>
                <a:pPr algn="l"/>
                <a:r>
                  <a:rPr lang="en-US" sz="2250" b="1" dirty="0">
                    <a:solidFill>
                      <a:srgbClr val="C8A24B"/>
                    </a:solidFill>
                    <a:latin typeface="Cambria"/>
                    <a:ea typeface="Cambria"/>
                    <a:cs typeface="Cambria"/>
                  </a:rPr>
                  <a:t>01</a:t>
                </a:r>
              </a:p>
            </p:txBody>
          </p:sp>
          <p:sp>
            <p:nvSpPr>
              <p:cNvPr id="21" name="TextBox 21"/>
              <p:cNvSpPr txBox="1"/>
              <p:nvPr/>
            </p:nvSpPr>
            <p:spPr>
              <a:xfrm>
                <a:off x="5920740" y="1520190"/>
                <a:ext cx="2314004" cy="365760"/>
              </a:xfrm>
              <a:prstGeom prst="rect">
                <a:avLst/>
              </a:prstGeom>
              <a:noFill/>
              <a:ln>
                <a:noFill/>
              </a:ln>
            </p:spPr>
            <p:txBody>
              <a:bodyPr wrap="none" lIns="0" tIns="0" rIns="0" bIns="0" anchor="t" anchorCtr="0">
                <a:spAutoFit/>
              </a:bodyPr>
              <a:lstStyle/>
              <a:p>
                <a:pPr algn="l"/>
                <a:r>
                  <a:rPr lang="zh-CN" sz="1800" b="1" dirty="0">
                    <a:solidFill>
                      <a:srgbClr val="1B3A5B"/>
                    </a:solidFill>
                    <a:latin typeface="Arial" panose="020B0604020202090204"/>
                    <a:ea typeface="微软雅黑"/>
                    <a:cs typeface="Arial" panose="020B0604020202090204"/>
                  </a:rPr>
                  <a:t>选题背景与研究意义</a:t>
                </a:r>
              </a:p>
            </p:txBody>
          </p:sp>
          <p:sp>
            <p:nvSpPr>
              <p:cNvPr id="22" name="Line 22"/>
              <p:cNvSpPr/>
              <p:nvPr/>
            </p:nvSpPr>
            <p:spPr>
              <a:xfrm>
                <a:off x="5334000" y="1943100"/>
                <a:ext cx="6248400" cy="9525"/>
              </a:xfrm>
              <a:custGeom>
                <a:avLst/>
                <a:gdLst/>
                <a:ahLst/>
                <a:cxnLst/>
                <a:rect l="l" t="t" r="r" b="b"/>
                <a:pathLst>
                  <a:path w="6248400" h="9525">
                    <a:moveTo>
                      <a:pt x="0" y="0"/>
                    </a:moveTo>
                    <a:lnTo>
                      <a:pt x="6248400" y="0"/>
                    </a:lnTo>
                  </a:path>
                </a:pathLst>
              </a:custGeom>
              <a:noFill/>
              <a:ln w="9525">
                <a:solidFill>
                  <a:srgbClr val="D8D0C2"/>
                </a:solidFill>
              </a:ln>
            </p:spPr>
            <p:txBody>
              <a:bodyPr/>
              <a:lstStyle/>
              <a:p>
                <a:endParaRPr lang="zh-CN" altLang="en-US"/>
              </a:p>
            </p:txBody>
          </p:sp>
        </p:grpSp>
        <p:grpSp>
          <p:nvGrpSpPr>
            <p:cNvPr id="27" name="Group 27"/>
            <p:cNvGrpSpPr/>
            <p:nvPr/>
          </p:nvGrpSpPr>
          <p:grpSpPr>
            <a:xfrm>
              <a:off x="5305425" y="2214562"/>
              <a:ext cx="6276975" cy="481013"/>
              <a:chOff x="5305425" y="2214562"/>
              <a:chExt cx="6276975" cy="481013"/>
            </a:xfrm>
          </p:grpSpPr>
          <p:sp>
            <p:nvSpPr>
              <p:cNvPr id="24" name="TextBox 24"/>
              <p:cNvSpPr txBox="1"/>
              <p:nvPr/>
            </p:nvSpPr>
            <p:spPr>
              <a:xfrm>
                <a:off x="5305425" y="2214562"/>
                <a:ext cx="403693" cy="457200"/>
              </a:xfrm>
              <a:prstGeom prst="rect">
                <a:avLst/>
              </a:prstGeom>
              <a:noFill/>
              <a:ln>
                <a:noFill/>
              </a:ln>
            </p:spPr>
            <p:txBody>
              <a:bodyPr wrap="none" lIns="0" tIns="0" rIns="0" bIns="0" anchor="t" anchorCtr="0">
                <a:spAutoFit/>
              </a:bodyPr>
              <a:lstStyle/>
              <a:p>
                <a:pPr algn="l"/>
                <a:r>
                  <a:rPr lang="en-US" sz="2250" b="1" dirty="0">
                    <a:solidFill>
                      <a:srgbClr val="C8A24B"/>
                    </a:solidFill>
                    <a:latin typeface="Cambria"/>
                    <a:ea typeface="Cambria"/>
                    <a:cs typeface="Cambria"/>
                  </a:rPr>
                  <a:t>02</a:t>
                </a:r>
              </a:p>
            </p:txBody>
          </p:sp>
          <p:sp>
            <p:nvSpPr>
              <p:cNvPr id="25" name="TextBox 25"/>
              <p:cNvSpPr txBox="1"/>
              <p:nvPr/>
            </p:nvSpPr>
            <p:spPr>
              <a:xfrm>
                <a:off x="5920740" y="2263140"/>
                <a:ext cx="1809941" cy="365760"/>
              </a:xfrm>
              <a:prstGeom prst="rect">
                <a:avLst/>
              </a:prstGeom>
              <a:noFill/>
              <a:ln>
                <a:noFill/>
              </a:ln>
            </p:spPr>
            <p:txBody>
              <a:bodyPr wrap="none" lIns="0" tIns="0" rIns="0" bIns="0" anchor="t" anchorCtr="0">
                <a:spAutoFit/>
              </a:bodyPr>
              <a:lstStyle/>
              <a:p>
                <a:pPr algn="l"/>
                <a:r>
                  <a:rPr lang="zh-CN" sz="1800" b="1" dirty="0">
                    <a:solidFill>
                      <a:srgbClr val="1B3A5B"/>
                    </a:solidFill>
                    <a:latin typeface="Arial" panose="020B0604020202090204"/>
                    <a:ea typeface="微软雅黑"/>
                    <a:cs typeface="Arial" panose="020B0604020202090204"/>
                  </a:rPr>
                  <a:t>国内外研究现状</a:t>
                </a:r>
              </a:p>
            </p:txBody>
          </p:sp>
          <p:sp>
            <p:nvSpPr>
              <p:cNvPr id="26" name="Line 26"/>
              <p:cNvSpPr/>
              <p:nvPr/>
            </p:nvSpPr>
            <p:spPr>
              <a:xfrm>
                <a:off x="5334000" y="2686050"/>
                <a:ext cx="6248400" cy="9525"/>
              </a:xfrm>
              <a:custGeom>
                <a:avLst/>
                <a:gdLst/>
                <a:ahLst/>
                <a:cxnLst/>
                <a:rect l="l" t="t" r="r" b="b"/>
                <a:pathLst>
                  <a:path w="6248400" h="9525">
                    <a:moveTo>
                      <a:pt x="0" y="0"/>
                    </a:moveTo>
                    <a:lnTo>
                      <a:pt x="6248400" y="0"/>
                    </a:lnTo>
                  </a:path>
                </a:pathLst>
              </a:custGeom>
              <a:noFill/>
              <a:ln w="9525">
                <a:solidFill>
                  <a:srgbClr val="D8D0C2"/>
                </a:solidFill>
              </a:ln>
            </p:spPr>
            <p:txBody>
              <a:bodyPr/>
              <a:lstStyle/>
              <a:p>
                <a:endParaRPr lang="zh-CN" altLang="en-US"/>
              </a:p>
            </p:txBody>
          </p:sp>
        </p:grpSp>
        <p:grpSp>
          <p:nvGrpSpPr>
            <p:cNvPr id="31" name="Group 31"/>
            <p:cNvGrpSpPr/>
            <p:nvPr/>
          </p:nvGrpSpPr>
          <p:grpSpPr>
            <a:xfrm>
              <a:off x="5305425" y="2957512"/>
              <a:ext cx="6276975" cy="481013"/>
              <a:chOff x="5305425" y="2957512"/>
              <a:chExt cx="6276975" cy="481013"/>
            </a:xfrm>
          </p:grpSpPr>
          <p:sp>
            <p:nvSpPr>
              <p:cNvPr id="28" name="TextBox 28"/>
              <p:cNvSpPr txBox="1"/>
              <p:nvPr/>
            </p:nvSpPr>
            <p:spPr>
              <a:xfrm>
                <a:off x="5305425" y="2957512"/>
                <a:ext cx="403693" cy="457200"/>
              </a:xfrm>
              <a:prstGeom prst="rect">
                <a:avLst/>
              </a:prstGeom>
              <a:noFill/>
              <a:ln>
                <a:noFill/>
              </a:ln>
            </p:spPr>
            <p:txBody>
              <a:bodyPr wrap="none" lIns="0" tIns="0" rIns="0" bIns="0" anchor="t" anchorCtr="0">
                <a:spAutoFit/>
              </a:bodyPr>
              <a:lstStyle/>
              <a:p>
                <a:pPr algn="l"/>
                <a:r>
                  <a:rPr lang="en-US" sz="2250" b="1" dirty="0">
                    <a:solidFill>
                      <a:srgbClr val="C8A24B"/>
                    </a:solidFill>
                    <a:latin typeface="Cambria"/>
                    <a:ea typeface="Cambria"/>
                    <a:cs typeface="Cambria"/>
                  </a:rPr>
                  <a:t>03</a:t>
                </a:r>
              </a:p>
            </p:txBody>
          </p:sp>
          <p:sp>
            <p:nvSpPr>
              <p:cNvPr id="29" name="TextBox 29"/>
              <p:cNvSpPr txBox="1"/>
              <p:nvPr/>
            </p:nvSpPr>
            <p:spPr>
              <a:xfrm>
                <a:off x="5920740" y="3006090"/>
                <a:ext cx="923330" cy="276999"/>
              </a:xfrm>
              <a:prstGeom prst="rect">
                <a:avLst/>
              </a:prstGeom>
              <a:noFill/>
              <a:ln>
                <a:noFill/>
              </a:ln>
            </p:spPr>
            <p:txBody>
              <a:bodyPr wrap="none" lIns="0" tIns="0" rIns="0" bIns="0" anchor="t" anchorCtr="0">
                <a:spAutoFit/>
              </a:bodyPr>
              <a:lstStyle/>
              <a:p>
                <a:pPr algn="l"/>
                <a:r>
                  <a:rPr lang="zh-CN" sz="1800" b="1" dirty="0">
                    <a:solidFill>
                      <a:srgbClr val="1B3A5B"/>
                    </a:solidFill>
                    <a:latin typeface="Arial" panose="020B0604020202090204"/>
                    <a:ea typeface="微软雅黑"/>
                    <a:cs typeface="Arial" panose="020B0604020202090204"/>
                  </a:rPr>
                  <a:t>研究目标</a:t>
                </a:r>
              </a:p>
            </p:txBody>
          </p:sp>
          <p:sp>
            <p:nvSpPr>
              <p:cNvPr id="30" name="Line 30"/>
              <p:cNvSpPr/>
              <p:nvPr/>
            </p:nvSpPr>
            <p:spPr>
              <a:xfrm>
                <a:off x="5334000" y="3429000"/>
                <a:ext cx="6248400" cy="9525"/>
              </a:xfrm>
              <a:custGeom>
                <a:avLst/>
                <a:gdLst/>
                <a:ahLst/>
                <a:cxnLst/>
                <a:rect l="l" t="t" r="r" b="b"/>
                <a:pathLst>
                  <a:path w="6248400" h="9525">
                    <a:moveTo>
                      <a:pt x="0" y="0"/>
                    </a:moveTo>
                    <a:lnTo>
                      <a:pt x="6248400" y="0"/>
                    </a:lnTo>
                  </a:path>
                </a:pathLst>
              </a:custGeom>
              <a:noFill/>
              <a:ln w="9525">
                <a:solidFill>
                  <a:srgbClr val="D8D0C2"/>
                </a:solidFill>
              </a:ln>
            </p:spPr>
            <p:txBody>
              <a:bodyPr/>
              <a:lstStyle/>
              <a:p>
                <a:endParaRPr lang="zh-CN" altLang="en-US"/>
              </a:p>
            </p:txBody>
          </p:sp>
        </p:grpSp>
        <p:grpSp>
          <p:nvGrpSpPr>
            <p:cNvPr id="35" name="Group 35"/>
            <p:cNvGrpSpPr/>
            <p:nvPr/>
          </p:nvGrpSpPr>
          <p:grpSpPr>
            <a:xfrm>
              <a:off x="5305425" y="3700462"/>
              <a:ext cx="6276975" cy="481013"/>
              <a:chOff x="5305425" y="3700462"/>
              <a:chExt cx="6276975" cy="481013"/>
            </a:xfrm>
          </p:grpSpPr>
          <p:sp>
            <p:nvSpPr>
              <p:cNvPr id="32" name="TextBox 32"/>
              <p:cNvSpPr txBox="1"/>
              <p:nvPr/>
            </p:nvSpPr>
            <p:spPr>
              <a:xfrm>
                <a:off x="5305425" y="3700462"/>
                <a:ext cx="403693" cy="457200"/>
              </a:xfrm>
              <a:prstGeom prst="rect">
                <a:avLst/>
              </a:prstGeom>
              <a:noFill/>
              <a:ln>
                <a:noFill/>
              </a:ln>
            </p:spPr>
            <p:txBody>
              <a:bodyPr wrap="none" lIns="0" tIns="0" rIns="0" bIns="0" anchor="t" anchorCtr="0">
                <a:spAutoFit/>
              </a:bodyPr>
              <a:lstStyle/>
              <a:p>
                <a:pPr algn="l"/>
                <a:r>
                  <a:rPr lang="en-US" sz="2250" b="1" dirty="0">
                    <a:solidFill>
                      <a:srgbClr val="C8A24B"/>
                    </a:solidFill>
                    <a:latin typeface="Cambria"/>
                    <a:ea typeface="Cambria"/>
                    <a:cs typeface="Cambria"/>
                  </a:rPr>
                  <a:t>04</a:t>
                </a:r>
              </a:p>
            </p:txBody>
          </p:sp>
          <p:sp>
            <p:nvSpPr>
              <p:cNvPr id="33" name="TextBox 33"/>
              <p:cNvSpPr txBox="1"/>
              <p:nvPr/>
            </p:nvSpPr>
            <p:spPr>
              <a:xfrm>
                <a:off x="5920740" y="3749040"/>
                <a:ext cx="1809941" cy="365760"/>
              </a:xfrm>
              <a:prstGeom prst="rect">
                <a:avLst/>
              </a:prstGeom>
              <a:noFill/>
              <a:ln>
                <a:noFill/>
              </a:ln>
            </p:spPr>
            <p:txBody>
              <a:bodyPr wrap="none" lIns="0" tIns="0" rIns="0" bIns="0" anchor="t" anchorCtr="0">
                <a:spAutoFit/>
              </a:bodyPr>
              <a:lstStyle/>
              <a:p>
                <a:pPr algn="l"/>
                <a:r>
                  <a:rPr lang="zh-CN" sz="1800" b="1" dirty="0">
                    <a:solidFill>
                      <a:srgbClr val="1B3A5B"/>
                    </a:solidFill>
                    <a:latin typeface="Arial" panose="020B0604020202090204"/>
                    <a:ea typeface="微软雅黑"/>
                    <a:cs typeface="Arial" panose="020B0604020202090204"/>
                  </a:rPr>
                  <a:t>技术路线与方案</a:t>
                </a:r>
              </a:p>
            </p:txBody>
          </p:sp>
          <p:sp>
            <p:nvSpPr>
              <p:cNvPr id="34" name="Line 34"/>
              <p:cNvSpPr/>
              <p:nvPr/>
            </p:nvSpPr>
            <p:spPr>
              <a:xfrm>
                <a:off x="5334000" y="4171950"/>
                <a:ext cx="6248400" cy="9525"/>
              </a:xfrm>
              <a:custGeom>
                <a:avLst/>
                <a:gdLst/>
                <a:ahLst/>
                <a:cxnLst/>
                <a:rect l="l" t="t" r="r" b="b"/>
                <a:pathLst>
                  <a:path w="6248400" h="9525">
                    <a:moveTo>
                      <a:pt x="0" y="0"/>
                    </a:moveTo>
                    <a:lnTo>
                      <a:pt x="6248400" y="0"/>
                    </a:lnTo>
                  </a:path>
                </a:pathLst>
              </a:custGeom>
              <a:noFill/>
              <a:ln w="9525">
                <a:solidFill>
                  <a:srgbClr val="D8D0C2"/>
                </a:solidFill>
              </a:ln>
            </p:spPr>
            <p:txBody>
              <a:bodyPr/>
              <a:lstStyle/>
              <a:p>
                <a:endParaRPr lang="zh-CN" altLang="en-US"/>
              </a:p>
            </p:txBody>
          </p:sp>
        </p:grpSp>
        <p:grpSp>
          <p:nvGrpSpPr>
            <p:cNvPr id="39" name="Group 39"/>
            <p:cNvGrpSpPr/>
            <p:nvPr/>
          </p:nvGrpSpPr>
          <p:grpSpPr>
            <a:xfrm>
              <a:off x="5305425" y="4443412"/>
              <a:ext cx="6276975" cy="481013"/>
              <a:chOff x="5305425" y="4443412"/>
              <a:chExt cx="6276975" cy="481013"/>
            </a:xfrm>
          </p:grpSpPr>
          <p:sp>
            <p:nvSpPr>
              <p:cNvPr id="36" name="TextBox 36"/>
              <p:cNvSpPr txBox="1"/>
              <p:nvPr/>
            </p:nvSpPr>
            <p:spPr>
              <a:xfrm>
                <a:off x="5305425" y="4443412"/>
                <a:ext cx="403693" cy="457200"/>
              </a:xfrm>
              <a:prstGeom prst="rect">
                <a:avLst/>
              </a:prstGeom>
              <a:noFill/>
              <a:ln>
                <a:noFill/>
              </a:ln>
            </p:spPr>
            <p:txBody>
              <a:bodyPr wrap="none" lIns="0" tIns="0" rIns="0" bIns="0" anchor="t" anchorCtr="0">
                <a:spAutoFit/>
              </a:bodyPr>
              <a:lstStyle/>
              <a:p>
                <a:pPr algn="l"/>
                <a:r>
                  <a:rPr lang="en-US" sz="2250" b="1" dirty="0">
                    <a:solidFill>
                      <a:srgbClr val="C8A24B"/>
                    </a:solidFill>
                    <a:latin typeface="Cambria"/>
                    <a:ea typeface="Cambria"/>
                    <a:cs typeface="Cambria"/>
                  </a:rPr>
                  <a:t>05</a:t>
                </a:r>
              </a:p>
            </p:txBody>
          </p:sp>
          <p:sp>
            <p:nvSpPr>
              <p:cNvPr id="37" name="TextBox 37"/>
              <p:cNvSpPr txBox="1"/>
              <p:nvPr/>
            </p:nvSpPr>
            <p:spPr>
              <a:xfrm>
                <a:off x="5920740" y="4491990"/>
                <a:ext cx="1305878" cy="365760"/>
              </a:xfrm>
              <a:prstGeom prst="rect">
                <a:avLst/>
              </a:prstGeom>
              <a:noFill/>
              <a:ln>
                <a:noFill/>
              </a:ln>
            </p:spPr>
            <p:txBody>
              <a:bodyPr wrap="none" lIns="0" tIns="0" rIns="0" bIns="0" anchor="t" anchorCtr="0">
                <a:spAutoFit/>
              </a:bodyPr>
              <a:lstStyle/>
              <a:p>
                <a:pPr algn="l"/>
                <a:r>
                  <a:rPr lang="zh-CN" sz="1800" b="1" dirty="0">
                    <a:solidFill>
                      <a:srgbClr val="1B3A5B"/>
                    </a:solidFill>
                    <a:latin typeface="Arial" panose="020B0604020202090204"/>
                    <a:ea typeface="微软雅黑"/>
                    <a:cs typeface="Arial" panose="020B0604020202090204"/>
                  </a:rPr>
                  <a:t>可行性分析</a:t>
                </a:r>
              </a:p>
            </p:txBody>
          </p:sp>
          <p:sp>
            <p:nvSpPr>
              <p:cNvPr id="38" name="Line 38"/>
              <p:cNvSpPr/>
              <p:nvPr/>
            </p:nvSpPr>
            <p:spPr>
              <a:xfrm>
                <a:off x="5334000" y="4914900"/>
                <a:ext cx="6248400" cy="9525"/>
              </a:xfrm>
              <a:custGeom>
                <a:avLst/>
                <a:gdLst/>
                <a:ahLst/>
                <a:cxnLst/>
                <a:rect l="l" t="t" r="r" b="b"/>
                <a:pathLst>
                  <a:path w="6248400" h="9525">
                    <a:moveTo>
                      <a:pt x="0" y="0"/>
                    </a:moveTo>
                    <a:lnTo>
                      <a:pt x="6248400" y="0"/>
                    </a:lnTo>
                  </a:path>
                </a:pathLst>
              </a:custGeom>
              <a:noFill/>
              <a:ln w="9525">
                <a:solidFill>
                  <a:srgbClr val="D8D0C2"/>
                </a:solidFill>
              </a:ln>
            </p:spPr>
            <p:txBody>
              <a:bodyPr/>
              <a:lstStyle/>
              <a:p>
                <a:endParaRPr lang="zh-CN" altLang="en-US"/>
              </a:p>
            </p:txBody>
          </p:sp>
        </p:grpSp>
        <p:grpSp>
          <p:nvGrpSpPr>
            <p:cNvPr id="43" name="Group 43"/>
            <p:cNvGrpSpPr/>
            <p:nvPr/>
          </p:nvGrpSpPr>
          <p:grpSpPr>
            <a:xfrm>
              <a:off x="5305425" y="5186362"/>
              <a:ext cx="6276975" cy="481013"/>
              <a:chOff x="5305425" y="5186362"/>
              <a:chExt cx="6276975" cy="481013"/>
            </a:xfrm>
          </p:grpSpPr>
          <p:sp>
            <p:nvSpPr>
              <p:cNvPr id="40" name="TextBox 40"/>
              <p:cNvSpPr txBox="1"/>
              <p:nvPr/>
            </p:nvSpPr>
            <p:spPr>
              <a:xfrm>
                <a:off x="5305425" y="5186362"/>
                <a:ext cx="403693" cy="457200"/>
              </a:xfrm>
              <a:prstGeom prst="rect">
                <a:avLst/>
              </a:prstGeom>
              <a:noFill/>
              <a:ln>
                <a:noFill/>
              </a:ln>
            </p:spPr>
            <p:txBody>
              <a:bodyPr wrap="none" lIns="0" tIns="0" rIns="0" bIns="0" anchor="t" anchorCtr="0">
                <a:spAutoFit/>
              </a:bodyPr>
              <a:lstStyle/>
              <a:p>
                <a:pPr algn="l"/>
                <a:r>
                  <a:rPr lang="en-US" sz="2250" b="1" dirty="0">
                    <a:solidFill>
                      <a:srgbClr val="C8A24B"/>
                    </a:solidFill>
                    <a:latin typeface="Cambria"/>
                    <a:ea typeface="Cambria"/>
                    <a:cs typeface="Cambria"/>
                  </a:rPr>
                  <a:t>06</a:t>
                </a:r>
              </a:p>
            </p:txBody>
          </p:sp>
          <p:sp>
            <p:nvSpPr>
              <p:cNvPr id="41" name="TextBox 41"/>
              <p:cNvSpPr txBox="1"/>
              <p:nvPr/>
            </p:nvSpPr>
            <p:spPr>
              <a:xfrm>
                <a:off x="5920740" y="5234940"/>
                <a:ext cx="1053846" cy="365760"/>
              </a:xfrm>
              <a:prstGeom prst="rect">
                <a:avLst/>
              </a:prstGeom>
              <a:noFill/>
              <a:ln>
                <a:noFill/>
              </a:ln>
            </p:spPr>
            <p:txBody>
              <a:bodyPr wrap="none" lIns="0" tIns="0" rIns="0" bIns="0" anchor="t" anchorCtr="0">
                <a:spAutoFit/>
              </a:bodyPr>
              <a:lstStyle/>
              <a:p>
                <a:pPr algn="l"/>
                <a:r>
                  <a:rPr lang="zh-CN" sz="1800" b="1" dirty="0">
                    <a:solidFill>
                      <a:srgbClr val="1B3A5B"/>
                    </a:solidFill>
                    <a:latin typeface="Arial" panose="020B0604020202090204"/>
                    <a:ea typeface="微软雅黑"/>
                    <a:cs typeface="Arial" panose="020B0604020202090204"/>
                  </a:rPr>
                  <a:t>进度安排</a:t>
                </a:r>
              </a:p>
            </p:txBody>
          </p:sp>
          <p:sp>
            <p:nvSpPr>
              <p:cNvPr id="42" name="Line 42"/>
              <p:cNvSpPr/>
              <p:nvPr/>
            </p:nvSpPr>
            <p:spPr>
              <a:xfrm>
                <a:off x="5334000" y="5657850"/>
                <a:ext cx="6248400" cy="9525"/>
              </a:xfrm>
              <a:custGeom>
                <a:avLst/>
                <a:gdLst/>
                <a:ahLst/>
                <a:cxnLst/>
                <a:rect l="l" t="t" r="r" b="b"/>
                <a:pathLst>
                  <a:path w="6248400" h="9525">
                    <a:moveTo>
                      <a:pt x="0" y="0"/>
                    </a:moveTo>
                    <a:lnTo>
                      <a:pt x="6248400" y="0"/>
                    </a:lnTo>
                  </a:path>
                </a:pathLst>
              </a:custGeom>
              <a:noFill/>
              <a:ln w="9525">
                <a:solidFill>
                  <a:srgbClr val="D8D0C2"/>
                </a:solidFill>
              </a:ln>
            </p:spPr>
            <p:txBody>
              <a:bodyPr/>
              <a:lstStyle/>
              <a:p>
                <a:endParaRPr lang="zh-CN" altLang="en-US"/>
              </a:p>
            </p:txBody>
          </p:sp>
        </p:grpSp>
      </p:grpSp>
      <p:grpSp>
        <p:nvGrpSpPr>
          <p:cNvPr id="48" name="Group 48"/>
          <p:cNvGrpSpPr/>
          <p:nvPr/>
        </p:nvGrpSpPr>
        <p:grpSpPr>
          <a:xfrm>
            <a:off x="598170" y="6515100"/>
            <a:ext cx="10995661" cy="276225"/>
            <a:chOff x="598170" y="6515100"/>
            <a:chExt cx="10995661" cy="276225"/>
          </a:xfrm>
        </p:grpSpPr>
        <p:sp>
          <p:nvSpPr>
            <p:cNvPr id="45" name="Line 45"/>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46" name="TextBox 46"/>
            <p:cNvSpPr txBox="1"/>
            <p:nvPr/>
          </p:nvSpPr>
          <p:spPr>
            <a:xfrm>
              <a:off x="598170" y="6608445"/>
              <a:ext cx="1823085" cy="182880"/>
            </a:xfrm>
            <a:prstGeom prst="rect">
              <a:avLst/>
            </a:prstGeom>
            <a:noFill/>
            <a:ln>
              <a:noFill/>
            </a:ln>
          </p:spPr>
          <p:txBody>
            <a:bodyPr wrap="none" lIns="0" tIns="0" rIns="0" bIns="0" anchor="t" anchorCtr="0">
              <a:spAutoFit/>
            </a:bodyPr>
            <a:lstStyle/>
            <a:p>
              <a:pPr algn="l"/>
              <a:r>
                <a:rPr lang="zh-CN" sz="900" dirty="0">
                  <a:solidFill>
                    <a:srgbClr val="8C8C82"/>
                  </a:solidFill>
                  <a:latin typeface="Arial" panose="020B0604020202090204"/>
                  <a:ea typeface="微软雅黑"/>
                  <a:cs typeface="Arial" panose="020B0604020202090204"/>
                </a:rPr>
                <a:t>融合推荐机制校准的社交仿真平台</a:t>
              </a:r>
            </a:p>
          </p:txBody>
        </p:sp>
        <p:sp>
          <p:nvSpPr>
            <p:cNvPr id="47" name="TextBox 47"/>
            <p:cNvSpPr txBox="1"/>
            <p:nvPr/>
          </p:nvSpPr>
          <p:spPr>
            <a:xfrm>
              <a:off x="11438954" y="6608445"/>
              <a:ext cx="154877" cy="182880"/>
            </a:xfrm>
            <a:prstGeom prst="rect">
              <a:avLst/>
            </a:prstGeom>
            <a:noFill/>
            <a:ln>
              <a:noFill/>
            </a:ln>
          </p:spPr>
          <p:txBody>
            <a:bodyPr wrap="none" lIns="0" tIns="0" rIns="0" bIns="0" anchor="t" anchorCtr="0">
              <a:spAutoFit/>
            </a:bodyPr>
            <a:lstStyle/>
            <a:p>
              <a:pPr algn="r"/>
              <a:r>
                <a:rPr lang="en-US" sz="900" dirty="0">
                  <a:solidFill>
                    <a:srgbClr val="8C8C82"/>
                  </a:solidFill>
                  <a:latin typeface="Cambria"/>
                  <a:ea typeface="Cambria"/>
                  <a:cs typeface="Cambria"/>
                </a:rPr>
                <a:t>02</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0" y="0"/>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dirty="0"/>
            </a:p>
          </p:txBody>
        </p:sp>
      </p:grpSp>
      <p:grpSp>
        <p:nvGrpSpPr>
          <p:cNvPr id="80" name="Group 5"/>
          <p:cNvGrpSpPr/>
          <p:nvPr/>
        </p:nvGrpSpPr>
        <p:grpSpPr>
          <a:xfrm>
            <a:off x="0" y="-13055"/>
            <a:ext cx="12192000" cy="6858000"/>
            <a:chOff x="0" y="0"/>
            <a:chExt cx="12192000" cy="6858000"/>
          </a:xfrm>
        </p:grpSpPr>
        <p:sp>
          <p:nvSpPr>
            <p:cNvPr id="81"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82" name="Rectangle 3"/>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83" name="Rectangle 4"/>
            <p:cNvSpPr/>
            <p:nvPr/>
          </p:nvSpPr>
          <p:spPr>
            <a:xfrm>
              <a:off x="0" y="0"/>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a:p>
          </p:txBody>
        </p:sp>
      </p:grpSp>
      <p:grpSp>
        <p:nvGrpSpPr>
          <p:cNvPr id="84" name="Group 12"/>
          <p:cNvGrpSpPr/>
          <p:nvPr/>
        </p:nvGrpSpPr>
        <p:grpSpPr>
          <a:xfrm>
            <a:off x="577215" y="1210628"/>
            <a:ext cx="1314462" cy="484822"/>
            <a:chOff x="577215" y="1210628"/>
            <a:chExt cx="1314462" cy="484822"/>
          </a:xfrm>
        </p:grpSpPr>
        <p:sp>
          <p:nvSpPr>
            <p:cNvPr id="85" name="TextBox 10"/>
            <p:cNvSpPr txBox="1"/>
            <p:nvPr/>
          </p:nvSpPr>
          <p:spPr>
            <a:xfrm>
              <a:off x="577215" y="1210628"/>
              <a:ext cx="1314462" cy="392415"/>
            </a:xfrm>
            <a:prstGeom prst="rect">
              <a:avLst/>
            </a:prstGeom>
            <a:noFill/>
            <a:ln>
              <a:noFill/>
            </a:ln>
          </p:spPr>
          <p:txBody>
            <a:bodyPr wrap="none" lIns="0" tIns="0" rIns="0" bIns="0" anchor="t" anchorCtr="0">
              <a:spAutoFit/>
            </a:bodyPr>
            <a:lstStyle/>
            <a:p>
              <a:pPr algn="l"/>
              <a:r>
                <a:rPr lang="zh-CN" altLang="en-US" sz="2550" b="1" dirty="0">
                  <a:solidFill>
                    <a:srgbClr val="1B3A5B"/>
                  </a:solidFill>
                  <a:latin typeface="Cambria"/>
                  <a:ea typeface="宋体"/>
                  <a:cs typeface="Cambria"/>
                </a:rPr>
                <a:t>选题背景</a:t>
              </a:r>
              <a:endParaRPr lang="zh-CN" sz="2550" b="1" dirty="0">
                <a:solidFill>
                  <a:srgbClr val="1B3A5B"/>
                </a:solidFill>
                <a:latin typeface="Cambria"/>
                <a:ea typeface="宋体"/>
                <a:cs typeface="Cambria"/>
              </a:endParaRPr>
            </a:p>
          </p:txBody>
        </p:sp>
        <p:sp>
          <p:nvSpPr>
            <p:cNvPr id="86" name="Rectangle 11"/>
            <p:cNvSpPr/>
            <p:nvPr/>
          </p:nvSpPr>
          <p:spPr>
            <a:xfrm>
              <a:off x="609600" y="1657350"/>
              <a:ext cx="533400" cy="38100"/>
            </a:xfrm>
            <a:prstGeom prst="rect">
              <a:avLst/>
            </a:prstGeom>
            <a:solidFill>
              <a:srgbClr val="C8A24B"/>
            </a:solidFill>
            <a:ln>
              <a:noFill/>
            </a:ln>
          </p:spPr>
          <p:txBody>
            <a:bodyPr/>
            <a:lstStyle/>
            <a:p>
              <a:endParaRPr lang="zh-CN" altLang="en-US"/>
            </a:p>
          </p:txBody>
        </p:sp>
      </p:grpSp>
      <p:grpSp>
        <p:nvGrpSpPr>
          <p:cNvPr id="9" name="Group 9"/>
          <p:cNvGrpSpPr/>
          <p:nvPr/>
        </p:nvGrpSpPr>
        <p:grpSpPr>
          <a:xfrm>
            <a:off x="590550" y="523875"/>
            <a:ext cx="10991850" cy="400050"/>
            <a:chOff x="590550" y="523875"/>
            <a:chExt cx="10991850" cy="400050"/>
          </a:xfrm>
        </p:grpSpPr>
        <p:sp>
          <p:nvSpPr>
            <p:cNvPr id="6" name="TextBox 6"/>
            <p:cNvSpPr txBox="1"/>
            <p:nvPr/>
          </p:nvSpPr>
          <p:spPr>
            <a:xfrm>
              <a:off x="590550" y="523875"/>
              <a:ext cx="2222373" cy="304800"/>
            </a:xfrm>
            <a:prstGeom prst="rect">
              <a:avLst/>
            </a:prstGeom>
            <a:noFill/>
            <a:ln>
              <a:noFill/>
            </a:ln>
          </p:spPr>
          <p:txBody>
            <a:bodyPr wrap="none" lIns="0" tIns="0" rIns="0" bIns="0" anchor="t" anchorCtr="0">
              <a:spAutoFit/>
            </a:bodyPr>
            <a:lstStyle/>
            <a:p>
              <a:pPr algn="l"/>
              <a:r>
                <a:rPr lang="en-US" sz="1500" b="1" dirty="0">
                  <a:solidFill>
                    <a:srgbClr val="1B3A5B"/>
                  </a:solidFill>
                  <a:latin typeface="Cambria"/>
                  <a:ea typeface="Cambria"/>
                  <a:cs typeface="Cambria"/>
                </a:rPr>
                <a:t>01 </a:t>
              </a:r>
              <a:r>
                <a:rPr lang="zh-CN" sz="1200" b="1" dirty="0">
                  <a:solidFill>
                    <a:srgbClr val="5A5A52"/>
                  </a:solidFill>
                  <a:latin typeface="Arial" panose="020B0604020202090204"/>
                  <a:ea typeface="微软雅黑"/>
                  <a:cs typeface="Arial" panose="020B0604020202090204"/>
                </a:rPr>
                <a:t>选题背景与研究意义</a:t>
              </a:r>
            </a:p>
          </p:txBody>
        </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19050">
              <a:solidFill>
                <a:srgbClr val="1B3A5B"/>
              </a:solidFill>
            </a:ln>
          </p:spPr>
          <p:txBody>
            <a:bodyPr/>
            <a:lstStyle/>
            <a:p>
              <a:endParaRPr lang="zh-CN" altLang="en-US"/>
            </a:p>
          </p:txBody>
        </p:sp>
      </p:grpSp>
      <p:grpSp>
        <p:nvGrpSpPr>
          <p:cNvPr id="38" name="Group 38"/>
          <p:cNvGrpSpPr/>
          <p:nvPr/>
        </p:nvGrpSpPr>
        <p:grpSpPr>
          <a:xfrm>
            <a:off x="658107" y="2335366"/>
            <a:ext cx="4473246" cy="3028067"/>
            <a:chOff x="640092" y="2695575"/>
            <a:chExt cx="4473246" cy="3028067"/>
          </a:xfrm>
        </p:grpSpPr>
        <p:grpSp>
          <p:nvGrpSpPr>
            <p:cNvPr id="23" name="Group 23"/>
            <p:cNvGrpSpPr/>
            <p:nvPr/>
          </p:nvGrpSpPr>
          <p:grpSpPr>
            <a:xfrm>
              <a:off x="645319" y="2695575"/>
              <a:ext cx="4061460" cy="842084"/>
              <a:chOff x="645319" y="2695575"/>
              <a:chExt cx="4061460" cy="842084"/>
            </a:xfrm>
          </p:grpSpPr>
          <p:grpSp>
            <p:nvGrpSpPr>
              <p:cNvPr id="19" name="Group 19"/>
              <p:cNvGrpSpPr/>
              <p:nvPr/>
            </p:nvGrpSpPr>
            <p:grpSpPr>
              <a:xfrm>
                <a:off x="645319" y="2778919"/>
                <a:ext cx="214313" cy="214313"/>
                <a:chOff x="645319" y="2778919"/>
                <a:chExt cx="214313" cy="214313"/>
              </a:xfrm>
            </p:grpSpPr>
            <p:sp>
              <p:nvSpPr>
                <p:cNvPr id="14" name="Freeform 14"/>
                <p:cNvSpPr/>
                <p:nvPr/>
              </p:nvSpPr>
              <p:spPr>
                <a:xfrm>
                  <a:off x="645319" y="2850356"/>
                  <a:ext cx="71438" cy="71438"/>
                </a:xfrm>
                <a:custGeom>
                  <a:avLst/>
                  <a:gdLst/>
                  <a:ahLst/>
                  <a:cxnLst/>
                  <a:rect l="l" t="t" r="r" b="b"/>
                  <a:pathLst>
                    <a:path w="71438" h="71438">
                      <a:moveTo>
                        <a:pt x="0" y="35719"/>
                      </a:moveTo>
                      <a:cubicBezTo>
                        <a:pt x="0" y="55446"/>
                        <a:pt x="15992" y="71438"/>
                        <a:pt x="35719" y="71438"/>
                      </a:cubicBezTo>
                      <a:cubicBezTo>
                        <a:pt x="55446" y="71438"/>
                        <a:pt x="71438" y="55446"/>
                        <a:pt x="71438" y="35719"/>
                      </a:cubicBezTo>
                      <a:cubicBezTo>
                        <a:pt x="71438" y="15992"/>
                        <a:pt x="55446" y="0"/>
                        <a:pt x="35719" y="0"/>
                      </a:cubicBezTo>
                      <a:cubicBezTo>
                        <a:pt x="15992" y="0"/>
                        <a:pt x="0" y="15992"/>
                        <a:pt x="0" y="35719"/>
                      </a:cubicBezTo>
                    </a:path>
                  </a:pathLst>
                </a:custGeom>
                <a:noFill/>
                <a:ln w="19050">
                  <a:solidFill>
                    <a:srgbClr val="1B3A5B"/>
                  </a:solidFill>
                </a:ln>
              </p:spPr>
              <p:txBody>
                <a:bodyPr/>
                <a:lstStyle/>
                <a:p>
                  <a:endParaRPr lang="zh-CN" altLang="en-US"/>
                </a:p>
              </p:txBody>
            </p:sp>
            <p:sp>
              <p:nvSpPr>
                <p:cNvPr id="15" name="Freeform 15"/>
                <p:cNvSpPr/>
                <p:nvPr/>
              </p:nvSpPr>
              <p:spPr>
                <a:xfrm>
                  <a:off x="788194" y="2778919"/>
                  <a:ext cx="71438" cy="71438"/>
                </a:xfrm>
                <a:custGeom>
                  <a:avLst/>
                  <a:gdLst/>
                  <a:ahLst/>
                  <a:cxnLst/>
                  <a:rect l="l" t="t" r="r" b="b"/>
                  <a:pathLst>
                    <a:path w="71438" h="71438">
                      <a:moveTo>
                        <a:pt x="0" y="35719"/>
                      </a:moveTo>
                      <a:cubicBezTo>
                        <a:pt x="0" y="55446"/>
                        <a:pt x="15992" y="71438"/>
                        <a:pt x="35719" y="71438"/>
                      </a:cubicBezTo>
                      <a:cubicBezTo>
                        <a:pt x="55446" y="71438"/>
                        <a:pt x="71438" y="55446"/>
                        <a:pt x="71438" y="35719"/>
                      </a:cubicBezTo>
                      <a:cubicBezTo>
                        <a:pt x="71438" y="15992"/>
                        <a:pt x="55446" y="0"/>
                        <a:pt x="35719" y="0"/>
                      </a:cubicBezTo>
                      <a:cubicBezTo>
                        <a:pt x="15992" y="0"/>
                        <a:pt x="0" y="15992"/>
                        <a:pt x="0" y="35719"/>
                      </a:cubicBezTo>
                    </a:path>
                  </a:pathLst>
                </a:custGeom>
                <a:noFill/>
                <a:ln w="19050">
                  <a:solidFill>
                    <a:srgbClr val="1B3A5B"/>
                  </a:solidFill>
                </a:ln>
              </p:spPr>
              <p:txBody>
                <a:bodyPr/>
                <a:lstStyle/>
                <a:p>
                  <a:endParaRPr lang="zh-CN" altLang="en-US"/>
                </a:p>
              </p:txBody>
            </p:sp>
            <p:sp>
              <p:nvSpPr>
                <p:cNvPr id="16" name="Freeform 16"/>
                <p:cNvSpPr/>
                <p:nvPr/>
              </p:nvSpPr>
              <p:spPr>
                <a:xfrm>
                  <a:off x="788194" y="2921794"/>
                  <a:ext cx="71438" cy="71438"/>
                </a:xfrm>
                <a:custGeom>
                  <a:avLst/>
                  <a:gdLst/>
                  <a:ahLst/>
                  <a:cxnLst/>
                  <a:rect l="l" t="t" r="r" b="b"/>
                  <a:pathLst>
                    <a:path w="71438" h="71438">
                      <a:moveTo>
                        <a:pt x="0" y="35719"/>
                      </a:moveTo>
                      <a:cubicBezTo>
                        <a:pt x="0" y="55446"/>
                        <a:pt x="15992" y="71438"/>
                        <a:pt x="35719" y="71438"/>
                      </a:cubicBezTo>
                      <a:cubicBezTo>
                        <a:pt x="55446" y="71438"/>
                        <a:pt x="71438" y="55446"/>
                        <a:pt x="71438" y="35719"/>
                      </a:cubicBezTo>
                      <a:cubicBezTo>
                        <a:pt x="71438" y="15992"/>
                        <a:pt x="55446" y="0"/>
                        <a:pt x="35719" y="0"/>
                      </a:cubicBezTo>
                      <a:cubicBezTo>
                        <a:pt x="15992" y="0"/>
                        <a:pt x="0" y="15992"/>
                        <a:pt x="0" y="35719"/>
                      </a:cubicBezTo>
                    </a:path>
                  </a:pathLst>
                </a:custGeom>
                <a:noFill/>
                <a:ln w="19050">
                  <a:solidFill>
                    <a:srgbClr val="1B3A5B"/>
                  </a:solidFill>
                </a:ln>
              </p:spPr>
              <p:txBody>
                <a:bodyPr/>
                <a:lstStyle/>
                <a:p>
                  <a:endParaRPr lang="zh-CN" altLang="en-US"/>
                </a:p>
              </p:txBody>
            </p:sp>
            <p:sp>
              <p:nvSpPr>
                <p:cNvPr id="17" name="Freeform 17"/>
                <p:cNvSpPr/>
                <p:nvPr/>
              </p:nvSpPr>
              <p:spPr>
                <a:xfrm>
                  <a:off x="713184" y="2830116"/>
                  <a:ext cx="78581" cy="40481"/>
                </a:xfrm>
                <a:custGeom>
                  <a:avLst/>
                  <a:gdLst/>
                  <a:ahLst/>
                  <a:cxnLst/>
                  <a:rect l="l" t="t" r="r" b="b"/>
                  <a:pathLst>
                    <a:path w="78581" h="40481">
                      <a:moveTo>
                        <a:pt x="0" y="40481"/>
                      </a:moveTo>
                      <a:lnTo>
                        <a:pt x="78581" y="0"/>
                      </a:lnTo>
                    </a:path>
                  </a:pathLst>
                </a:custGeom>
                <a:noFill/>
                <a:ln w="19050">
                  <a:solidFill>
                    <a:srgbClr val="1B3A5B"/>
                  </a:solidFill>
                </a:ln>
              </p:spPr>
              <p:txBody>
                <a:bodyPr/>
                <a:lstStyle/>
                <a:p>
                  <a:endParaRPr lang="zh-CN" altLang="en-US"/>
                </a:p>
              </p:txBody>
            </p:sp>
            <p:sp>
              <p:nvSpPr>
                <p:cNvPr id="18" name="Freeform 18"/>
                <p:cNvSpPr/>
                <p:nvPr/>
              </p:nvSpPr>
              <p:spPr>
                <a:xfrm>
                  <a:off x="713184" y="2901553"/>
                  <a:ext cx="78581" cy="40481"/>
                </a:xfrm>
                <a:custGeom>
                  <a:avLst/>
                  <a:gdLst/>
                  <a:ahLst/>
                  <a:cxnLst/>
                  <a:rect l="l" t="t" r="r" b="b"/>
                  <a:pathLst>
                    <a:path w="78581" h="40481">
                      <a:moveTo>
                        <a:pt x="0" y="0"/>
                      </a:moveTo>
                      <a:lnTo>
                        <a:pt x="78581" y="40481"/>
                      </a:lnTo>
                    </a:path>
                  </a:pathLst>
                </a:custGeom>
                <a:noFill/>
                <a:ln w="19050">
                  <a:solidFill>
                    <a:srgbClr val="1B3A5B"/>
                  </a:solidFill>
                </a:ln>
              </p:spPr>
              <p:txBody>
                <a:bodyPr/>
                <a:lstStyle/>
                <a:p>
                  <a:endParaRPr lang="zh-CN" altLang="en-US"/>
                </a:p>
              </p:txBody>
            </p:sp>
          </p:grpSp>
          <p:sp>
            <p:nvSpPr>
              <p:cNvPr id="20" name="TextBox 20"/>
              <p:cNvSpPr txBox="1"/>
              <p:nvPr/>
            </p:nvSpPr>
            <p:spPr>
              <a:xfrm>
                <a:off x="1009650" y="2695575"/>
                <a:ext cx="2077492"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公共议题的关键空间</a:t>
                </a:r>
              </a:p>
            </p:txBody>
          </p:sp>
          <p:sp>
            <p:nvSpPr>
              <p:cNvPr id="21" name="TextBox 21"/>
              <p:cNvSpPr txBox="1"/>
              <p:nvPr/>
            </p:nvSpPr>
            <p:spPr>
              <a:xfrm>
                <a:off x="1013460" y="3013710"/>
                <a:ext cx="3693319"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社交媒体已成为公共议题扩散、舆论形成</a:t>
                </a:r>
              </a:p>
            </p:txBody>
          </p:sp>
          <p:sp>
            <p:nvSpPr>
              <p:cNvPr id="22" name="TextBox 22"/>
              <p:cNvSpPr txBox="1"/>
              <p:nvPr/>
            </p:nvSpPr>
            <p:spPr>
              <a:xfrm>
                <a:off x="1009650" y="3291438"/>
                <a:ext cx="2257028"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与平台治理的重要空间。</a:t>
                </a:r>
              </a:p>
            </p:txBody>
          </p:sp>
        </p:grpSp>
        <p:grpSp>
          <p:nvGrpSpPr>
            <p:cNvPr id="30" name="Group 30"/>
            <p:cNvGrpSpPr/>
            <p:nvPr/>
          </p:nvGrpSpPr>
          <p:grpSpPr>
            <a:xfrm>
              <a:off x="645319" y="3781425"/>
              <a:ext cx="3856275" cy="857250"/>
              <a:chOff x="645319" y="3781425"/>
              <a:chExt cx="3856275" cy="857250"/>
            </a:xfrm>
          </p:grpSpPr>
          <p:grpSp>
            <p:nvGrpSpPr>
              <p:cNvPr id="26" name="Group 26"/>
              <p:cNvGrpSpPr/>
              <p:nvPr/>
            </p:nvGrpSpPr>
            <p:grpSpPr>
              <a:xfrm>
                <a:off x="645319" y="3900488"/>
                <a:ext cx="214312" cy="142875"/>
                <a:chOff x="645319" y="3900488"/>
                <a:chExt cx="214312" cy="142875"/>
              </a:xfrm>
            </p:grpSpPr>
            <p:sp>
              <p:nvSpPr>
                <p:cNvPr id="24" name="Freeform 24"/>
                <p:cNvSpPr/>
                <p:nvPr/>
              </p:nvSpPr>
              <p:spPr>
                <a:xfrm>
                  <a:off x="728662" y="3948112"/>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19050">
                  <a:solidFill>
                    <a:srgbClr val="1B3A5B"/>
                  </a:solidFill>
                </a:ln>
              </p:spPr>
              <p:txBody>
                <a:bodyPr/>
                <a:lstStyle/>
                <a:p>
                  <a:endParaRPr lang="zh-CN" altLang="en-US"/>
                </a:p>
              </p:txBody>
            </p:sp>
            <p:sp>
              <p:nvSpPr>
                <p:cNvPr id="25" name="Freeform 25"/>
                <p:cNvSpPr/>
                <p:nvPr/>
              </p:nvSpPr>
              <p:spPr>
                <a:xfrm>
                  <a:off x="645319" y="3900488"/>
                  <a:ext cx="214312" cy="142875"/>
                </a:xfrm>
                <a:custGeom>
                  <a:avLst/>
                  <a:gdLst/>
                  <a:ahLst/>
                  <a:cxnLst/>
                  <a:rect l="l" t="t" r="r" b="b"/>
                  <a:pathLst>
                    <a:path w="214312" h="142875">
                      <a:moveTo>
                        <a:pt x="214312" y="71438"/>
                      </a:moveTo>
                      <a:cubicBezTo>
                        <a:pt x="185738" y="119062"/>
                        <a:pt x="150019" y="142875"/>
                        <a:pt x="107156" y="142875"/>
                      </a:cubicBezTo>
                      <a:cubicBezTo>
                        <a:pt x="64294" y="142875"/>
                        <a:pt x="28575" y="119062"/>
                        <a:pt x="0" y="71438"/>
                      </a:cubicBezTo>
                      <a:cubicBezTo>
                        <a:pt x="28575" y="23812"/>
                        <a:pt x="64294" y="0"/>
                        <a:pt x="107156" y="0"/>
                      </a:cubicBezTo>
                      <a:cubicBezTo>
                        <a:pt x="150019" y="0"/>
                        <a:pt x="185738" y="23812"/>
                        <a:pt x="214312" y="71438"/>
                      </a:cubicBezTo>
                    </a:path>
                  </a:pathLst>
                </a:custGeom>
                <a:noFill/>
                <a:ln w="19050">
                  <a:solidFill>
                    <a:srgbClr val="1B3A5B"/>
                  </a:solidFill>
                </a:ln>
              </p:spPr>
              <p:txBody>
                <a:bodyPr/>
                <a:lstStyle/>
                <a:p>
                  <a:endParaRPr lang="zh-CN" altLang="en-US"/>
                </a:p>
              </p:txBody>
            </p:sp>
          </p:grpSp>
          <p:sp>
            <p:nvSpPr>
              <p:cNvPr id="27" name="TextBox 27"/>
              <p:cNvSpPr txBox="1"/>
              <p:nvPr/>
            </p:nvSpPr>
            <p:spPr>
              <a:xfrm>
                <a:off x="1009650" y="3781425"/>
                <a:ext cx="2077492"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真实平台的研究壁垒</a:t>
                </a:r>
              </a:p>
            </p:txBody>
          </p:sp>
          <p:sp>
            <p:nvSpPr>
              <p:cNvPr id="28" name="TextBox 28"/>
              <p:cNvSpPr txBox="1"/>
              <p:nvPr/>
            </p:nvSpPr>
            <p:spPr>
              <a:xfrm>
                <a:off x="1013460" y="4099560"/>
                <a:ext cx="3488134"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算法黑箱、曝光日志难获取、对照实验</a:t>
                </a:r>
              </a:p>
            </p:txBody>
          </p:sp>
          <p:sp>
            <p:nvSpPr>
              <p:cNvPr id="29" name="TextBox 29"/>
              <p:cNvSpPr txBox="1"/>
              <p:nvPr/>
            </p:nvSpPr>
            <p:spPr>
              <a:xfrm>
                <a:off x="1013460" y="4392454"/>
                <a:ext cx="1846659"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受伦理与监管限制。</a:t>
                </a:r>
              </a:p>
            </p:txBody>
          </p:sp>
        </p:grpSp>
        <p:grpSp>
          <p:nvGrpSpPr>
            <p:cNvPr id="37" name="Group 37"/>
            <p:cNvGrpSpPr/>
            <p:nvPr/>
          </p:nvGrpSpPr>
          <p:grpSpPr>
            <a:xfrm>
              <a:off x="640092" y="4867275"/>
              <a:ext cx="4473246" cy="856367"/>
              <a:chOff x="640092" y="4867275"/>
              <a:chExt cx="4473246" cy="856367"/>
            </a:xfrm>
          </p:grpSpPr>
          <p:grpSp>
            <p:nvGrpSpPr>
              <p:cNvPr id="33" name="Group 33"/>
              <p:cNvGrpSpPr/>
              <p:nvPr/>
            </p:nvGrpSpPr>
            <p:grpSpPr>
              <a:xfrm>
                <a:off x="640092" y="4945392"/>
                <a:ext cx="224766" cy="224766"/>
                <a:chOff x="640092" y="4945392"/>
                <a:chExt cx="224766" cy="224766"/>
              </a:xfrm>
            </p:grpSpPr>
            <p:sp>
              <p:nvSpPr>
                <p:cNvPr id="31" name="Freeform 31"/>
                <p:cNvSpPr/>
                <p:nvPr/>
              </p:nvSpPr>
              <p:spPr>
                <a:xfrm>
                  <a:off x="640092" y="4945392"/>
                  <a:ext cx="224766" cy="224766"/>
                </a:xfrm>
                <a:custGeom>
                  <a:avLst/>
                  <a:gdLst/>
                  <a:ahLst/>
                  <a:cxnLst/>
                  <a:rect l="l" t="t" r="r" b="b"/>
                  <a:pathLst>
                    <a:path w="224766" h="224766">
                      <a:moveTo>
                        <a:pt x="92440" y="20907"/>
                      </a:moveTo>
                      <a:cubicBezTo>
                        <a:pt x="97512" y="0"/>
                        <a:pt x="127254" y="0"/>
                        <a:pt x="132326" y="20907"/>
                      </a:cubicBezTo>
                      <a:cubicBezTo>
                        <a:pt x="133870" y="27278"/>
                        <a:pt x="138363" y="32528"/>
                        <a:pt x="144419" y="35037"/>
                      </a:cubicBezTo>
                      <a:cubicBezTo>
                        <a:pt x="150474" y="37546"/>
                        <a:pt x="157364" y="37012"/>
                        <a:pt x="162961" y="33599"/>
                      </a:cubicBezTo>
                      <a:cubicBezTo>
                        <a:pt x="181332" y="22408"/>
                        <a:pt x="202371" y="43434"/>
                        <a:pt x="191179" y="61817"/>
                      </a:cubicBezTo>
                      <a:cubicBezTo>
                        <a:pt x="187771" y="67411"/>
                        <a:pt x="187238" y="74296"/>
                        <a:pt x="189744" y="80348"/>
                      </a:cubicBezTo>
                      <a:cubicBezTo>
                        <a:pt x="192250" y="86400"/>
                        <a:pt x="197494" y="90892"/>
                        <a:pt x="203859" y="92440"/>
                      </a:cubicBezTo>
                      <a:cubicBezTo>
                        <a:pt x="224766" y="97512"/>
                        <a:pt x="224766" y="127254"/>
                        <a:pt x="203859" y="132326"/>
                      </a:cubicBezTo>
                      <a:cubicBezTo>
                        <a:pt x="197488" y="133870"/>
                        <a:pt x="192238" y="138363"/>
                        <a:pt x="189729" y="144419"/>
                      </a:cubicBezTo>
                      <a:cubicBezTo>
                        <a:pt x="187220" y="150474"/>
                        <a:pt x="187754" y="157364"/>
                        <a:pt x="191167" y="162961"/>
                      </a:cubicBezTo>
                      <a:cubicBezTo>
                        <a:pt x="202359" y="181332"/>
                        <a:pt x="181332" y="202371"/>
                        <a:pt x="162949" y="191179"/>
                      </a:cubicBezTo>
                      <a:cubicBezTo>
                        <a:pt x="157355" y="187771"/>
                        <a:pt x="150470" y="187238"/>
                        <a:pt x="144418" y="189744"/>
                      </a:cubicBezTo>
                      <a:cubicBezTo>
                        <a:pt x="138366" y="192250"/>
                        <a:pt x="133874" y="197494"/>
                        <a:pt x="132326" y="203859"/>
                      </a:cubicBezTo>
                      <a:cubicBezTo>
                        <a:pt x="127254" y="224766"/>
                        <a:pt x="97512" y="224766"/>
                        <a:pt x="92440" y="203859"/>
                      </a:cubicBezTo>
                      <a:cubicBezTo>
                        <a:pt x="90897" y="197488"/>
                        <a:pt x="86403" y="192238"/>
                        <a:pt x="80348" y="189729"/>
                      </a:cubicBezTo>
                      <a:cubicBezTo>
                        <a:pt x="74292" y="187220"/>
                        <a:pt x="67402" y="187754"/>
                        <a:pt x="61805" y="191167"/>
                      </a:cubicBezTo>
                      <a:cubicBezTo>
                        <a:pt x="43434" y="202359"/>
                        <a:pt x="22396" y="181332"/>
                        <a:pt x="33588" y="162949"/>
                      </a:cubicBezTo>
                      <a:cubicBezTo>
                        <a:pt x="36995" y="157355"/>
                        <a:pt x="37528" y="150470"/>
                        <a:pt x="35022" y="144418"/>
                      </a:cubicBezTo>
                      <a:cubicBezTo>
                        <a:pt x="32516" y="138366"/>
                        <a:pt x="27272" y="133874"/>
                        <a:pt x="20907" y="132326"/>
                      </a:cubicBezTo>
                      <a:cubicBezTo>
                        <a:pt x="0" y="127254"/>
                        <a:pt x="0" y="97512"/>
                        <a:pt x="20907" y="92440"/>
                      </a:cubicBezTo>
                      <a:cubicBezTo>
                        <a:pt x="27278" y="90897"/>
                        <a:pt x="32528" y="86403"/>
                        <a:pt x="35037" y="80348"/>
                      </a:cubicBezTo>
                      <a:cubicBezTo>
                        <a:pt x="37546" y="74292"/>
                        <a:pt x="37012" y="67402"/>
                        <a:pt x="33599" y="61805"/>
                      </a:cubicBezTo>
                      <a:cubicBezTo>
                        <a:pt x="22408" y="43434"/>
                        <a:pt x="43434" y="22396"/>
                        <a:pt x="61817" y="33588"/>
                      </a:cubicBezTo>
                      <a:cubicBezTo>
                        <a:pt x="73723" y="40827"/>
                        <a:pt x="89154" y="34421"/>
                        <a:pt x="92440" y="20907"/>
                      </a:cubicBezTo>
                    </a:path>
                  </a:pathLst>
                </a:custGeom>
                <a:noFill/>
                <a:ln w="19050">
                  <a:solidFill>
                    <a:srgbClr val="1B3A5B"/>
                  </a:solidFill>
                </a:ln>
              </p:spPr>
              <p:txBody>
                <a:bodyPr/>
                <a:lstStyle/>
                <a:p>
                  <a:endParaRPr lang="zh-CN" altLang="en-US"/>
                </a:p>
              </p:txBody>
            </p:sp>
            <p:sp>
              <p:nvSpPr>
                <p:cNvPr id="32" name="Freeform 32"/>
                <p:cNvSpPr/>
                <p:nvPr/>
              </p:nvSpPr>
              <p:spPr>
                <a:xfrm>
                  <a:off x="716756" y="5022056"/>
                  <a:ext cx="71438" cy="71438"/>
                </a:xfrm>
                <a:custGeom>
                  <a:avLst/>
                  <a:gdLst/>
                  <a:ahLst/>
                  <a:cxnLst/>
                  <a:rect l="l" t="t" r="r" b="b"/>
                  <a:pathLst>
                    <a:path w="71438" h="71438">
                      <a:moveTo>
                        <a:pt x="0" y="35719"/>
                      </a:moveTo>
                      <a:cubicBezTo>
                        <a:pt x="0" y="55446"/>
                        <a:pt x="15992" y="71438"/>
                        <a:pt x="35719" y="71438"/>
                      </a:cubicBezTo>
                      <a:cubicBezTo>
                        <a:pt x="55446" y="71438"/>
                        <a:pt x="71438" y="55446"/>
                        <a:pt x="71438" y="35719"/>
                      </a:cubicBezTo>
                      <a:cubicBezTo>
                        <a:pt x="71438" y="15992"/>
                        <a:pt x="55446" y="0"/>
                        <a:pt x="35719" y="0"/>
                      </a:cubicBezTo>
                      <a:cubicBezTo>
                        <a:pt x="15992" y="0"/>
                        <a:pt x="0" y="15992"/>
                        <a:pt x="0" y="35719"/>
                      </a:cubicBezTo>
                    </a:path>
                  </a:pathLst>
                </a:custGeom>
                <a:noFill/>
                <a:ln w="19050">
                  <a:solidFill>
                    <a:srgbClr val="1B3A5B"/>
                  </a:solidFill>
                </a:ln>
              </p:spPr>
              <p:txBody>
                <a:bodyPr/>
                <a:lstStyle/>
                <a:p>
                  <a:endParaRPr lang="zh-CN" altLang="en-US"/>
                </a:p>
              </p:txBody>
            </p:sp>
          </p:grpSp>
          <p:sp>
            <p:nvSpPr>
              <p:cNvPr id="34" name="TextBox 34"/>
              <p:cNvSpPr txBox="1"/>
              <p:nvPr/>
            </p:nvSpPr>
            <p:spPr>
              <a:xfrm>
                <a:off x="1009650" y="4867275"/>
                <a:ext cx="1615827"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仿真的真正价值</a:t>
                </a:r>
              </a:p>
            </p:txBody>
          </p:sp>
          <p:sp>
            <p:nvSpPr>
              <p:cNvPr id="35" name="TextBox 35"/>
              <p:cNvSpPr txBox="1"/>
              <p:nvPr/>
            </p:nvSpPr>
            <p:spPr>
              <a:xfrm>
                <a:off x="1013460" y="5185410"/>
                <a:ext cx="3898503"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不只是复现宏观现象，而是解释用户行为、</a:t>
                </a:r>
              </a:p>
            </p:txBody>
          </p:sp>
          <p:sp>
            <p:nvSpPr>
              <p:cNvPr id="36" name="TextBox 36"/>
              <p:cNvSpPr txBox="1"/>
              <p:nvPr/>
            </p:nvSpPr>
            <p:spPr>
              <a:xfrm>
                <a:off x="1009650" y="5477421"/>
                <a:ext cx="4103688"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网络结构与平台机制如何共同生成传播结果。</a:t>
                </a:r>
              </a:p>
            </p:txBody>
          </p:sp>
        </p:grpSp>
      </p:grpSp>
      <p:grpSp>
        <p:nvGrpSpPr>
          <p:cNvPr id="65" name="Group 65"/>
          <p:cNvGrpSpPr/>
          <p:nvPr/>
        </p:nvGrpSpPr>
        <p:grpSpPr>
          <a:xfrm>
            <a:off x="6846402" y="2488317"/>
            <a:ext cx="4724400" cy="3162300"/>
            <a:chOff x="6858000" y="2628900"/>
            <a:chExt cx="4724400" cy="3162300"/>
          </a:xfrm>
        </p:grpSpPr>
        <p:sp>
          <p:nvSpPr>
            <p:cNvPr id="39" name="Rectangle 39"/>
            <p:cNvSpPr/>
            <p:nvPr/>
          </p:nvSpPr>
          <p:spPr>
            <a:xfrm>
              <a:off x="6858000" y="2628900"/>
              <a:ext cx="4724400" cy="3162300"/>
            </a:xfrm>
            <a:prstGeom prst="roundRect">
              <a:avLst>
                <a:gd name="adj" fmla="val 1205"/>
              </a:avLst>
            </a:prstGeom>
            <a:solidFill>
              <a:srgbClr val="F1ECE3"/>
            </a:solidFill>
            <a:ln>
              <a:noFill/>
            </a:ln>
          </p:spPr>
          <p:txBody>
            <a:bodyPr/>
            <a:lstStyle/>
            <a:p>
              <a:endParaRPr lang="zh-CN" altLang="en-US"/>
            </a:p>
          </p:txBody>
        </p:sp>
        <p:sp>
          <p:nvSpPr>
            <p:cNvPr id="40" name="TextBox 40"/>
            <p:cNvSpPr txBox="1"/>
            <p:nvPr/>
          </p:nvSpPr>
          <p:spPr>
            <a:xfrm>
              <a:off x="7073265" y="2858452"/>
              <a:ext cx="1665925" cy="213360"/>
            </a:xfrm>
            <a:prstGeom prst="rect">
              <a:avLst/>
            </a:prstGeom>
            <a:noFill/>
            <a:ln>
              <a:noFill/>
            </a:ln>
          </p:spPr>
          <p:txBody>
            <a:bodyPr wrap="none" lIns="0" tIns="0" rIns="0" bIns="0" anchor="t" anchorCtr="0">
              <a:spAutoFit/>
            </a:bodyPr>
            <a:lstStyle/>
            <a:p>
              <a:pPr algn="l"/>
              <a:r>
                <a:rPr lang="zh-CN" sz="1050" b="1" dirty="0">
                  <a:solidFill>
                    <a:srgbClr val="C8A24B"/>
                  </a:solidFill>
                  <a:latin typeface="Arial" panose="020B0604020202090204"/>
                  <a:ea typeface="微软雅黑"/>
                  <a:cs typeface="Arial" panose="020B0604020202090204"/>
                </a:rPr>
                <a:t>关键转向 · 推荐曝光串联</a:t>
              </a:r>
            </a:p>
          </p:txBody>
        </p:sp>
        <p:sp>
          <p:nvSpPr>
            <p:cNvPr id="41" name="Rectangle 41"/>
            <p:cNvSpPr/>
            <p:nvPr/>
          </p:nvSpPr>
          <p:spPr>
            <a:xfrm>
              <a:off x="7620000" y="3276600"/>
              <a:ext cx="3200400" cy="533400"/>
            </a:xfrm>
            <a:prstGeom prst="roundRect">
              <a:avLst>
                <a:gd name="adj" fmla="val 7143"/>
              </a:avLst>
            </a:prstGeom>
            <a:solidFill>
              <a:srgbClr val="FAF8F4"/>
            </a:solidFill>
            <a:ln w="9525">
              <a:solidFill>
                <a:srgbClr val="D8D0C2"/>
              </a:solidFill>
            </a:ln>
          </p:spPr>
          <p:txBody>
            <a:bodyPr/>
            <a:lstStyle/>
            <a:p>
              <a:endParaRPr lang="zh-CN" altLang="en-US"/>
            </a:p>
          </p:txBody>
        </p:sp>
        <p:grpSp>
          <p:nvGrpSpPr>
            <p:cNvPr id="44" name="Group 44"/>
            <p:cNvGrpSpPr/>
            <p:nvPr/>
          </p:nvGrpSpPr>
          <p:grpSpPr>
            <a:xfrm>
              <a:off x="7843838" y="3476625"/>
              <a:ext cx="200026" cy="133350"/>
              <a:chOff x="7843838" y="3476625"/>
              <a:chExt cx="200026" cy="133350"/>
            </a:xfrm>
          </p:grpSpPr>
          <p:sp>
            <p:nvSpPr>
              <p:cNvPr id="42" name="Freeform 42"/>
              <p:cNvSpPr/>
              <p:nvPr/>
            </p:nvSpPr>
            <p:spPr>
              <a:xfrm>
                <a:off x="7921625" y="3521075"/>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19050">
                <a:solidFill>
                  <a:srgbClr val="4A6B8A"/>
                </a:solidFill>
              </a:ln>
            </p:spPr>
            <p:txBody>
              <a:bodyPr/>
              <a:lstStyle/>
              <a:p>
                <a:endParaRPr lang="zh-CN" altLang="en-US"/>
              </a:p>
            </p:txBody>
          </p:sp>
          <p:sp>
            <p:nvSpPr>
              <p:cNvPr id="43" name="Freeform 43"/>
              <p:cNvSpPr/>
              <p:nvPr/>
            </p:nvSpPr>
            <p:spPr>
              <a:xfrm>
                <a:off x="7843838" y="3476625"/>
                <a:ext cx="200026" cy="133350"/>
              </a:xfrm>
              <a:custGeom>
                <a:avLst/>
                <a:gdLst/>
                <a:ahLst/>
                <a:cxnLst/>
                <a:rect l="l" t="t" r="r" b="b"/>
                <a:pathLst>
                  <a:path w="200026" h="133350">
                    <a:moveTo>
                      <a:pt x="200026" y="66675"/>
                    </a:moveTo>
                    <a:cubicBezTo>
                      <a:pt x="173355" y="111125"/>
                      <a:pt x="140018" y="133350"/>
                      <a:pt x="100013" y="133350"/>
                    </a:cubicBezTo>
                    <a:cubicBezTo>
                      <a:pt x="60008" y="133350"/>
                      <a:pt x="26670" y="111125"/>
                      <a:pt x="0" y="66675"/>
                    </a:cubicBezTo>
                    <a:cubicBezTo>
                      <a:pt x="26670" y="22225"/>
                      <a:pt x="60008" y="0"/>
                      <a:pt x="100013" y="0"/>
                    </a:cubicBezTo>
                    <a:cubicBezTo>
                      <a:pt x="140018" y="0"/>
                      <a:pt x="173355" y="22225"/>
                      <a:pt x="200026" y="66675"/>
                    </a:cubicBezTo>
                  </a:path>
                </a:pathLst>
              </a:custGeom>
              <a:noFill/>
              <a:ln w="19050">
                <a:solidFill>
                  <a:srgbClr val="4A6B8A"/>
                </a:solidFill>
              </a:ln>
            </p:spPr>
            <p:txBody>
              <a:bodyPr/>
              <a:lstStyle/>
              <a:p>
                <a:endParaRPr lang="zh-CN" altLang="en-US"/>
              </a:p>
            </p:txBody>
          </p:sp>
        </p:grpSp>
        <p:sp>
          <p:nvSpPr>
            <p:cNvPr id="45" name="TextBox 45"/>
            <p:cNvSpPr txBox="1"/>
            <p:nvPr/>
          </p:nvSpPr>
          <p:spPr>
            <a:xfrm>
              <a:off x="8212455" y="3402639"/>
              <a:ext cx="1025922" cy="307777"/>
            </a:xfrm>
            <a:prstGeom prst="rect">
              <a:avLst/>
            </a:prstGeom>
            <a:noFill/>
            <a:ln>
              <a:noFill/>
            </a:ln>
          </p:spPr>
          <p:txBody>
            <a:bodyPr wrap="none" lIns="0" tIns="0" rIns="0" bIns="0" anchor="t" anchorCtr="0">
              <a:spAutoFit/>
            </a:bodyPr>
            <a:lstStyle/>
            <a:p>
              <a:pPr algn="l"/>
              <a:r>
                <a:rPr lang="zh-CN" sz="2000" b="1" dirty="0">
                  <a:solidFill>
                    <a:srgbClr val="1B3A5B"/>
                  </a:solidFill>
                  <a:latin typeface="Arial" panose="020B0604020202090204"/>
                  <a:ea typeface="微软雅黑"/>
                  <a:cs typeface="Arial" panose="020B0604020202090204"/>
                </a:rPr>
                <a:t>信息接触</a:t>
              </a:r>
            </a:p>
          </p:txBody>
        </p:sp>
        <p:sp>
          <p:nvSpPr>
            <p:cNvPr id="46" name="Line 46"/>
            <p:cNvSpPr/>
            <p:nvPr/>
          </p:nvSpPr>
          <p:spPr>
            <a:xfrm>
              <a:off x="9220200" y="3848100"/>
              <a:ext cx="9525" cy="190500"/>
            </a:xfrm>
            <a:custGeom>
              <a:avLst/>
              <a:gdLst/>
              <a:ahLst/>
              <a:cxnLst/>
              <a:rect l="l" t="t" r="r" b="b"/>
              <a:pathLst>
                <a:path w="9525" h="190500">
                  <a:moveTo>
                    <a:pt x="0" y="0"/>
                  </a:moveTo>
                  <a:lnTo>
                    <a:pt x="0" y="190500"/>
                  </a:lnTo>
                </a:path>
              </a:pathLst>
            </a:custGeom>
            <a:noFill/>
            <a:ln w="19050">
              <a:solidFill>
                <a:srgbClr val="C8A24B"/>
              </a:solidFill>
            </a:ln>
          </p:spPr>
          <p:txBody>
            <a:bodyPr/>
            <a:lstStyle/>
            <a:p>
              <a:endParaRPr lang="zh-CN" altLang="en-US"/>
            </a:p>
          </p:txBody>
        </p:sp>
        <p:sp>
          <p:nvSpPr>
            <p:cNvPr id="47" name="Freeform 47"/>
            <p:cNvSpPr/>
            <p:nvPr/>
          </p:nvSpPr>
          <p:spPr>
            <a:xfrm>
              <a:off x="9163050" y="3981450"/>
              <a:ext cx="114300" cy="76200"/>
            </a:xfrm>
            <a:custGeom>
              <a:avLst/>
              <a:gdLst/>
              <a:ahLst/>
              <a:cxnLst/>
              <a:rect l="l" t="t" r="r" b="b"/>
              <a:pathLst>
                <a:path w="114300" h="76200">
                  <a:moveTo>
                    <a:pt x="0" y="0"/>
                  </a:moveTo>
                  <a:lnTo>
                    <a:pt x="57150" y="76200"/>
                  </a:lnTo>
                  <a:lnTo>
                    <a:pt x="114300" y="0"/>
                  </a:lnTo>
                </a:path>
              </a:pathLst>
            </a:custGeom>
            <a:noFill/>
            <a:ln w="19050">
              <a:solidFill>
                <a:srgbClr val="C8A24B"/>
              </a:solidFill>
            </a:ln>
          </p:spPr>
          <p:txBody>
            <a:bodyPr/>
            <a:lstStyle/>
            <a:p>
              <a:endParaRPr lang="zh-CN" altLang="en-US"/>
            </a:p>
          </p:txBody>
        </p:sp>
        <p:sp>
          <p:nvSpPr>
            <p:cNvPr id="48" name="Rectangle 48"/>
            <p:cNvSpPr/>
            <p:nvPr/>
          </p:nvSpPr>
          <p:spPr>
            <a:xfrm>
              <a:off x="7620000" y="4076700"/>
              <a:ext cx="3200400" cy="533400"/>
            </a:xfrm>
            <a:prstGeom prst="roundRect">
              <a:avLst>
                <a:gd name="adj" fmla="val 7143"/>
              </a:avLst>
            </a:prstGeom>
            <a:solidFill>
              <a:srgbClr val="FAF8F4"/>
            </a:solidFill>
            <a:ln w="9525">
              <a:solidFill>
                <a:srgbClr val="D8D0C2"/>
              </a:solidFill>
            </a:ln>
          </p:spPr>
          <p:txBody>
            <a:bodyPr/>
            <a:lstStyle/>
            <a:p>
              <a:endParaRPr lang="zh-CN" altLang="en-US"/>
            </a:p>
          </p:txBody>
        </p:sp>
        <p:grpSp>
          <p:nvGrpSpPr>
            <p:cNvPr id="53" name="Group 53"/>
            <p:cNvGrpSpPr/>
            <p:nvPr/>
          </p:nvGrpSpPr>
          <p:grpSpPr>
            <a:xfrm>
              <a:off x="7843838" y="4243388"/>
              <a:ext cx="200026" cy="200025"/>
              <a:chOff x="7843838" y="4243388"/>
              <a:chExt cx="200026" cy="200025"/>
            </a:xfrm>
          </p:grpSpPr>
          <p:sp>
            <p:nvSpPr>
              <p:cNvPr id="49" name="Freeform 49"/>
              <p:cNvSpPr/>
              <p:nvPr/>
            </p:nvSpPr>
            <p:spPr>
              <a:xfrm>
                <a:off x="7866063" y="4243388"/>
                <a:ext cx="88900" cy="88900"/>
              </a:xfrm>
              <a:custGeom>
                <a:avLst/>
                <a:gdLst/>
                <a:ahLst/>
                <a:cxnLst/>
                <a:rect l="l" t="t" r="r" b="b"/>
                <a:pathLst>
                  <a:path w="88900" h="88900">
                    <a:moveTo>
                      <a:pt x="0" y="44450"/>
                    </a:moveTo>
                    <a:cubicBezTo>
                      <a:pt x="0" y="68999"/>
                      <a:pt x="19901" y="88900"/>
                      <a:pt x="44450" y="88900"/>
                    </a:cubicBezTo>
                    <a:cubicBezTo>
                      <a:pt x="68999" y="88900"/>
                      <a:pt x="88900" y="68999"/>
                      <a:pt x="88900" y="44450"/>
                    </a:cubicBezTo>
                    <a:cubicBezTo>
                      <a:pt x="88900" y="19901"/>
                      <a:pt x="68999" y="0"/>
                      <a:pt x="44450" y="0"/>
                    </a:cubicBezTo>
                    <a:cubicBezTo>
                      <a:pt x="19901" y="0"/>
                      <a:pt x="0" y="19901"/>
                      <a:pt x="0" y="44450"/>
                    </a:cubicBezTo>
                  </a:path>
                </a:pathLst>
              </a:custGeom>
              <a:noFill/>
              <a:ln w="19050">
                <a:solidFill>
                  <a:srgbClr val="4A6B8A"/>
                </a:solidFill>
              </a:ln>
            </p:spPr>
            <p:txBody>
              <a:bodyPr/>
              <a:lstStyle/>
              <a:p>
                <a:endParaRPr lang="zh-CN" altLang="en-US"/>
              </a:p>
            </p:txBody>
          </p:sp>
          <p:sp>
            <p:nvSpPr>
              <p:cNvPr id="50" name="Freeform 50"/>
              <p:cNvSpPr/>
              <p:nvPr/>
            </p:nvSpPr>
            <p:spPr>
              <a:xfrm>
                <a:off x="7843838" y="4376738"/>
                <a:ext cx="133350" cy="66675"/>
              </a:xfrm>
              <a:custGeom>
                <a:avLst/>
                <a:gdLst/>
                <a:ahLst/>
                <a:cxnLst/>
                <a:rect l="l" t="t" r="r" b="b"/>
                <a:pathLst>
                  <a:path w="133350" h="66675">
                    <a:moveTo>
                      <a:pt x="0" y="66675"/>
                    </a:moveTo>
                    <a:lnTo>
                      <a:pt x="0" y="44450"/>
                    </a:lnTo>
                    <a:cubicBezTo>
                      <a:pt x="0" y="19901"/>
                      <a:pt x="19901" y="0"/>
                      <a:pt x="44450" y="0"/>
                    </a:cubicBezTo>
                    <a:lnTo>
                      <a:pt x="88900" y="0"/>
                    </a:lnTo>
                    <a:cubicBezTo>
                      <a:pt x="113449" y="0"/>
                      <a:pt x="133350" y="19901"/>
                      <a:pt x="133350" y="44450"/>
                    </a:cubicBezTo>
                    <a:lnTo>
                      <a:pt x="133350" y="66675"/>
                    </a:lnTo>
                  </a:path>
                </a:pathLst>
              </a:custGeom>
              <a:noFill/>
              <a:ln w="19050">
                <a:solidFill>
                  <a:srgbClr val="4A6B8A"/>
                </a:solidFill>
              </a:ln>
            </p:spPr>
            <p:txBody>
              <a:bodyPr/>
              <a:lstStyle/>
              <a:p>
                <a:endParaRPr lang="zh-CN" altLang="en-US"/>
              </a:p>
            </p:txBody>
          </p:sp>
          <p:sp>
            <p:nvSpPr>
              <p:cNvPr id="51" name="Freeform 51"/>
              <p:cNvSpPr/>
              <p:nvPr/>
            </p:nvSpPr>
            <p:spPr>
              <a:xfrm>
                <a:off x="7988301" y="4244832"/>
                <a:ext cx="33425" cy="86122"/>
              </a:xfrm>
              <a:custGeom>
                <a:avLst/>
                <a:gdLst/>
                <a:ahLst/>
                <a:cxnLst/>
                <a:rect l="l" t="t" r="r" b="b"/>
                <a:pathLst>
                  <a:path w="33425" h="86122">
                    <a:moveTo>
                      <a:pt x="0" y="0"/>
                    </a:moveTo>
                    <a:cubicBezTo>
                      <a:pt x="19668" y="5036"/>
                      <a:pt x="33425" y="22758"/>
                      <a:pt x="33425" y="43061"/>
                    </a:cubicBezTo>
                    <a:cubicBezTo>
                      <a:pt x="33425" y="63364"/>
                      <a:pt x="19668" y="81086"/>
                      <a:pt x="0" y="86122"/>
                    </a:cubicBezTo>
                  </a:path>
                </a:pathLst>
              </a:custGeom>
              <a:noFill/>
              <a:ln w="19050">
                <a:solidFill>
                  <a:srgbClr val="4A6B8A"/>
                </a:solidFill>
              </a:ln>
            </p:spPr>
            <p:txBody>
              <a:bodyPr/>
              <a:lstStyle/>
              <a:p>
                <a:endParaRPr lang="zh-CN" altLang="en-US"/>
              </a:p>
            </p:txBody>
          </p:sp>
          <p:sp>
            <p:nvSpPr>
              <p:cNvPr id="52" name="Freeform 52"/>
              <p:cNvSpPr/>
              <p:nvPr/>
            </p:nvSpPr>
            <p:spPr>
              <a:xfrm>
                <a:off x="8010526" y="4378405"/>
                <a:ext cx="33338" cy="65008"/>
              </a:xfrm>
              <a:custGeom>
                <a:avLst/>
                <a:gdLst/>
                <a:ahLst/>
                <a:cxnLst/>
                <a:rect l="l" t="t" r="r" b="b"/>
                <a:pathLst>
                  <a:path w="33338" h="65008">
                    <a:moveTo>
                      <a:pt x="33338" y="65008"/>
                    </a:moveTo>
                    <a:lnTo>
                      <a:pt x="33338" y="42783"/>
                    </a:lnTo>
                    <a:cubicBezTo>
                      <a:pt x="33222" y="22609"/>
                      <a:pt x="19534" y="5043"/>
                      <a:pt x="0" y="0"/>
                    </a:cubicBezTo>
                  </a:path>
                </a:pathLst>
              </a:custGeom>
              <a:noFill/>
              <a:ln w="19050">
                <a:solidFill>
                  <a:srgbClr val="4A6B8A"/>
                </a:solidFill>
              </a:ln>
            </p:spPr>
            <p:txBody>
              <a:bodyPr/>
              <a:lstStyle/>
              <a:p>
                <a:endParaRPr lang="zh-CN" altLang="en-US"/>
              </a:p>
            </p:txBody>
          </p:sp>
        </p:grpSp>
        <p:sp>
          <p:nvSpPr>
            <p:cNvPr id="54" name="TextBox 54"/>
            <p:cNvSpPr txBox="1"/>
            <p:nvPr/>
          </p:nvSpPr>
          <p:spPr>
            <a:xfrm>
              <a:off x="8201026" y="4190435"/>
              <a:ext cx="1025922" cy="307777"/>
            </a:xfrm>
            <a:prstGeom prst="rect">
              <a:avLst/>
            </a:prstGeom>
            <a:noFill/>
            <a:ln>
              <a:noFill/>
            </a:ln>
          </p:spPr>
          <p:txBody>
            <a:bodyPr wrap="none" lIns="0" tIns="0" rIns="0" bIns="0" anchor="t" anchorCtr="0">
              <a:spAutoFit/>
            </a:bodyPr>
            <a:lstStyle/>
            <a:p>
              <a:pPr algn="l"/>
              <a:r>
                <a:rPr lang="zh-CN" sz="2000" b="1" dirty="0">
                  <a:solidFill>
                    <a:srgbClr val="1B3A5B"/>
                  </a:solidFill>
                  <a:latin typeface="Arial" panose="020B0604020202090204"/>
                  <a:ea typeface="微软雅黑"/>
                  <a:cs typeface="Arial" panose="020B0604020202090204"/>
                </a:rPr>
                <a:t>互动行为</a:t>
              </a:r>
            </a:p>
          </p:txBody>
        </p:sp>
        <p:sp>
          <p:nvSpPr>
            <p:cNvPr id="55" name="Line 55"/>
            <p:cNvSpPr/>
            <p:nvPr/>
          </p:nvSpPr>
          <p:spPr>
            <a:xfrm>
              <a:off x="9220200" y="4648200"/>
              <a:ext cx="9525" cy="190500"/>
            </a:xfrm>
            <a:custGeom>
              <a:avLst/>
              <a:gdLst/>
              <a:ahLst/>
              <a:cxnLst/>
              <a:rect l="l" t="t" r="r" b="b"/>
              <a:pathLst>
                <a:path w="9525" h="190500">
                  <a:moveTo>
                    <a:pt x="0" y="0"/>
                  </a:moveTo>
                  <a:lnTo>
                    <a:pt x="0" y="190500"/>
                  </a:lnTo>
                </a:path>
              </a:pathLst>
            </a:custGeom>
            <a:noFill/>
            <a:ln w="19050">
              <a:solidFill>
                <a:srgbClr val="C8A24B"/>
              </a:solidFill>
            </a:ln>
          </p:spPr>
          <p:txBody>
            <a:bodyPr/>
            <a:lstStyle/>
            <a:p>
              <a:endParaRPr lang="zh-CN" altLang="en-US"/>
            </a:p>
          </p:txBody>
        </p:sp>
        <p:sp>
          <p:nvSpPr>
            <p:cNvPr id="56" name="Freeform 56"/>
            <p:cNvSpPr/>
            <p:nvPr/>
          </p:nvSpPr>
          <p:spPr>
            <a:xfrm>
              <a:off x="9163050" y="4781550"/>
              <a:ext cx="114300" cy="76200"/>
            </a:xfrm>
            <a:custGeom>
              <a:avLst/>
              <a:gdLst/>
              <a:ahLst/>
              <a:cxnLst/>
              <a:rect l="l" t="t" r="r" b="b"/>
              <a:pathLst>
                <a:path w="114300" h="76200">
                  <a:moveTo>
                    <a:pt x="0" y="0"/>
                  </a:moveTo>
                  <a:lnTo>
                    <a:pt x="57150" y="76200"/>
                  </a:lnTo>
                  <a:lnTo>
                    <a:pt x="114300" y="0"/>
                  </a:lnTo>
                </a:path>
              </a:pathLst>
            </a:custGeom>
            <a:noFill/>
            <a:ln w="19050">
              <a:solidFill>
                <a:srgbClr val="C8A24B"/>
              </a:solidFill>
            </a:ln>
          </p:spPr>
          <p:txBody>
            <a:bodyPr/>
            <a:lstStyle/>
            <a:p>
              <a:endParaRPr lang="zh-CN" altLang="en-US"/>
            </a:p>
          </p:txBody>
        </p:sp>
        <p:sp>
          <p:nvSpPr>
            <p:cNvPr id="57" name="Rectangle 57"/>
            <p:cNvSpPr/>
            <p:nvPr/>
          </p:nvSpPr>
          <p:spPr>
            <a:xfrm>
              <a:off x="7620000" y="4876800"/>
              <a:ext cx="3200400" cy="533400"/>
            </a:xfrm>
            <a:prstGeom prst="roundRect">
              <a:avLst>
                <a:gd name="adj" fmla="val 7143"/>
              </a:avLst>
            </a:prstGeom>
            <a:solidFill>
              <a:srgbClr val="FAF8F4"/>
            </a:solidFill>
            <a:ln w="9525">
              <a:solidFill>
                <a:srgbClr val="D8D0C2"/>
              </a:solidFill>
            </a:ln>
          </p:spPr>
          <p:txBody>
            <a:bodyPr/>
            <a:lstStyle/>
            <a:p>
              <a:endParaRPr lang="zh-CN" altLang="en-US"/>
            </a:p>
          </p:txBody>
        </p:sp>
        <p:grpSp>
          <p:nvGrpSpPr>
            <p:cNvPr id="63" name="Group 63"/>
            <p:cNvGrpSpPr/>
            <p:nvPr/>
          </p:nvGrpSpPr>
          <p:grpSpPr>
            <a:xfrm>
              <a:off x="7843838" y="5043488"/>
              <a:ext cx="200025" cy="198438"/>
              <a:chOff x="7843838" y="5043488"/>
              <a:chExt cx="200025" cy="198438"/>
            </a:xfrm>
          </p:grpSpPr>
          <p:sp>
            <p:nvSpPr>
              <p:cNvPr id="58" name="Freeform 58"/>
              <p:cNvSpPr/>
              <p:nvPr/>
            </p:nvSpPr>
            <p:spPr>
              <a:xfrm>
                <a:off x="7888288" y="5232401"/>
                <a:ext cx="111125" cy="9525"/>
              </a:xfrm>
              <a:custGeom>
                <a:avLst/>
                <a:gdLst/>
                <a:ahLst/>
                <a:cxnLst/>
                <a:rect l="l" t="t" r="r" b="b"/>
                <a:pathLst>
                  <a:path w="111125" h="9525">
                    <a:moveTo>
                      <a:pt x="0" y="0"/>
                    </a:moveTo>
                    <a:lnTo>
                      <a:pt x="111125" y="0"/>
                    </a:lnTo>
                  </a:path>
                </a:pathLst>
              </a:custGeom>
              <a:noFill/>
              <a:ln w="19050">
                <a:solidFill>
                  <a:srgbClr val="4A6B8A"/>
                </a:solidFill>
              </a:ln>
            </p:spPr>
            <p:txBody>
              <a:bodyPr/>
              <a:lstStyle/>
              <a:p>
                <a:endParaRPr lang="zh-CN" altLang="en-US"/>
              </a:p>
            </p:txBody>
          </p:sp>
          <p:sp>
            <p:nvSpPr>
              <p:cNvPr id="59" name="Freeform 59"/>
              <p:cNvSpPr/>
              <p:nvPr/>
            </p:nvSpPr>
            <p:spPr>
              <a:xfrm>
                <a:off x="7877175" y="5065713"/>
                <a:ext cx="133350" cy="11113"/>
              </a:xfrm>
              <a:custGeom>
                <a:avLst/>
                <a:gdLst/>
                <a:ahLst/>
                <a:cxnLst/>
                <a:rect l="l" t="t" r="r" b="b"/>
                <a:pathLst>
                  <a:path w="133350" h="11113">
                    <a:moveTo>
                      <a:pt x="0" y="11113"/>
                    </a:moveTo>
                    <a:lnTo>
                      <a:pt x="66675" y="0"/>
                    </a:lnTo>
                    <a:lnTo>
                      <a:pt x="133350" y="11113"/>
                    </a:lnTo>
                  </a:path>
                </a:pathLst>
              </a:custGeom>
              <a:noFill/>
              <a:ln w="19050">
                <a:solidFill>
                  <a:srgbClr val="4A6B8A"/>
                </a:solidFill>
              </a:ln>
            </p:spPr>
            <p:txBody>
              <a:bodyPr/>
              <a:lstStyle/>
              <a:p>
                <a:endParaRPr lang="zh-CN" altLang="en-US"/>
              </a:p>
            </p:txBody>
          </p:sp>
          <p:sp>
            <p:nvSpPr>
              <p:cNvPr id="60" name="Freeform 60"/>
              <p:cNvSpPr/>
              <p:nvPr/>
            </p:nvSpPr>
            <p:spPr>
              <a:xfrm>
                <a:off x="7943850" y="5043488"/>
                <a:ext cx="9525" cy="188913"/>
              </a:xfrm>
              <a:custGeom>
                <a:avLst/>
                <a:gdLst/>
                <a:ahLst/>
                <a:cxnLst/>
                <a:rect l="l" t="t" r="r" b="b"/>
                <a:pathLst>
                  <a:path w="9525" h="188913">
                    <a:moveTo>
                      <a:pt x="0" y="0"/>
                    </a:moveTo>
                    <a:lnTo>
                      <a:pt x="0" y="188913"/>
                    </a:lnTo>
                  </a:path>
                </a:pathLst>
              </a:custGeom>
              <a:noFill/>
              <a:ln w="19050">
                <a:solidFill>
                  <a:srgbClr val="4A6B8A"/>
                </a:solidFill>
              </a:ln>
            </p:spPr>
            <p:txBody>
              <a:bodyPr/>
              <a:lstStyle/>
              <a:p>
                <a:endParaRPr lang="zh-CN" altLang="en-US"/>
              </a:p>
            </p:txBody>
          </p:sp>
          <p:sp>
            <p:nvSpPr>
              <p:cNvPr id="61" name="Freeform 61"/>
              <p:cNvSpPr/>
              <p:nvPr/>
            </p:nvSpPr>
            <p:spPr>
              <a:xfrm>
                <a:off x="7843838" y="5076825"/>
                <a:ext cx="66675" cy="100013"/>
              </a:xfrm>
              <a:custGeom>
                <a:avLst/>
                <a:gdLst/>
                <a:ahLst/>
                <a:cxnLst/>
                <a:rect l="l" t="t" r="r" b="b"/>
                <a:pathLst>
                  <a:path w="66675" h="100013">
                    <a:moveTo>
                      <a:pt x="66675" y="66675"/>
                    </a:moveTo>
                    <a:lnTo>
                      <a:pt x="33338" y="0"/>
                    </a:lnTo>
                    <a:lnTo>
                      <a:pt x="0" y="66675"/>
                    </a:lnTo>
                    <a:cubicBezTo>
                      <a:pt x="0" y="85087"/>
                      <a:pt x="14926" y="100013"/>
                      <a:pt x="33338" y="100013"/>
                    </a:cubicBezTo>
                    <a:cubicBezTo>
                      <a:pt x="51749" y="100013"/>
                      <a:pt x="66675" y="85087"/>
                      <a:pt x="66675" y="66675"/>
                    </a:cubicBezTo>
                  </a:path>
                </a:pathLst>
              </a:custGeom>
              <a:noFill/>
              <a:ln w="19050">
                <a:solidFill>
                  <a:srgbClr val="4A6B8A"/>
                </a:solidFill>
              </a:ln>
            </p:spPr>
            <p:txBody>
              <a:bodyPr/>
              <a:lstStyle/>
              <a:p>
                <a:endParaRPr lang="zh-CN" altLang="en-US"/>
              </a:p>
            </p:txBody>
          </p:sp>
          <p:sp>
            <p:nvSpPr>
              <p:cNvPr id="62" name="Freeform 62"/>
              <p:cNvSpPr/>
              <p:nvPr/>
            </p:nvSpPr>
            <p:spPr>
              <a:xfrm>
                <a:off x="7977188" y="5076825"/>
                <a:ext cx="66675" cy="100013"/>
              </a:xfrm>
              <a:custGeom>
                <a:avLst/>
                <a:gdLst/>
                <a:ahLst/>
                <a:cxnLst/>
                <a:rect l="l" t="t" r="r" b="b"/>
                <a:pathLst>
                  <a:path w="66675" h="100013">
                    <a:moveTo>
                      <a:pt x="66675" y="66675"/>
                    </a:moveTo>
                    <a:lnTo>
                      <a:pt x="33338" y="0"/>
                    </a:lnTo>
                    <a:lnTo>
                      <a:pt x="0" y="66675"/>
                    </a:lnTo>
                    <a:cubicBezTo>
                      <a:pt x="0" y="85087"/>
                      <a:pt x="14926" y="100013"/>
                      <a:pt x="33338" y="100013"/>
                    </a:cubicBezTo>
                    <a:cubicBezTo>
                      <a:pt x="51749" y="100013"/>
                      <a:pt x="66675" y="85087"/>
                      <a:pt x="66675" y="66675"/>
                    </a:cubicBezTo>
                  </a:path>
                </a:pathLst>
              </a:custGeom>
              <a:noFill/>
              <a:ln w="19050">
                <a:solidFill>
                  <a:srgbClr val="4A6B8A"/>
                </a:solidFill>
              </a:ln>
            </p:spPr>
            <p:txBody>
              <a:bodyPr/>
              <a:lstStyle/>
              <a:p>
                <a:endParaRPr lang="zh-CN" altLang="en-US"/>
              </a:p>
            </p:txBody>
          </p:sp>
        </p:grpSp>
        <p:sp>
          <p:nvSpPr>
            <p:cNvPr id="64" name="TextBox 64"/>
            <p:cNvSpPr txBox="1"/>
            <p:nvPr/>
          </p:nvSpPr>
          <p:spPr>
            <a:xfrm>
              <a:off x="8212455" y="4991100"/>
              <a:ext cx="1025922" cy="307777"/>
            </a:xfrm>
            <a:prstGeom prst="rect">
              <a:avLst/>
            </a:prstGeom>
            <a:noFill/>
            <a:ln>
              <a:noFill/>
            </a:ln>
          </p:spPr>
          <p:txBody>
            <a:bodyPr wrap="none" lIns="0" tIns="0" rIns="0" bIns="0" anchor="t" anchorCtr="0">
              <a:spAutoFit/>
            </a:bodyPr>
            <a:lstStyle/>
            <a:p>
              <a:pPr algn="l"/>
              <a:r>
                <a:rPr lang="zh-CN" sz="2000" b="1" dirty="0">
                  <a:solidFill>
                    <a:srgbClr val="1B3A5B"/>
                  </a:solidFill>
                  <a:latin typeface="Arial" panose="020B0604020202090204"/>
                  <a:ea typeface="微软雅黑"/>
                  <a:cs typeface="Arial" panose="020B0604020202090204"/>
                </a:rPr>
                <a:t>立场变化</a:t>
              </a:r>
            </a:p>
          </p:txBody>
        </p:sp>
      </p:grpSp>
      <p:grpSp>
        <p:nvGrpSpPr>
          <p:cNvPr id="69" name="Group 69"/>
          <p:cNvGrpSpPr/>
          <p:nvPr/>
        </p:nvGrpSpPr>
        <p:grpSpPr>
          <a:xfrm>
            <a:off x="598170" y="6515100"/>
            <a:ext cx="10995661" cy="276225"/>
            <a:chOff x="598170" y="6515100"/>
            <a:chExt cx="10995661" cy="276225"/>
          </a:xfrm>
        </p:grpSpPr>
        <p:sp>
          <p:nvSpPr>
            <p:cNvPr id="66" name="Line 66"/>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67" name="TextBox 67"/>
            <p:cNvSpPr txBox="1"/>
            <p:nvPr/>
          </p:nvSpPr>
          <p:spPr>
            <a:xfrm>
              <a:off x="598170" y="6608445"/>
              <a:ext cx="1823085" cy="182880"/>
            </a:xfrm>
            <a:prstGeom prst="rect">
              <a:avLst/>
            </a:prstGeom>
            <a:noFill/>
            <a:ln>
              <a:noFill/>
            </a:ln>
          </p:spPr>
          <p:txBody>
            <a:bodyPr wrap="none" lIns="0" tIns="0" rIns="0" bIns="0" anchor="t" anchorCtr="0">
              <a:spAutoFit/>
            </a:bodyPr>
            <a:lstStyle/>
            <a:p>
              <a:pPr algn="l"/>
              <a:r>
                <a:rPr lang="zh-CN" sz="900" dirty="0">
                  <a:solidFill>
                    <a:srgbClr val="8C8C82"/>
                  </a:solidFill>
                  <a:latin typeface="Arial" panose="020B0604020202090204"/>
                  <a:ea typeface="微软雅黑"/>
                  <a:cs typeface="Arial" panose="020B0604020202090204"/>
                </a:rPr>
                <a:t>融合推荐机制校准的社交仿真平台</a:t>
              </a:r>
            </a:p>
          </p:txBody>
        </p:sp>
        <p:sp>
          <p:nvSpPr>
            <p:cNvPr id="68" name="TextBox 68"/>
            <p:cNvSpPr txBox="1"/>
            <p:nvPr/>
          </p:nvSpPr>
          <p:spPr>
            <a:xfrm>
              <a:off x="11438954" y="6608445"/>
              <a:ext cx="154877" cy="182880"/>
            </a:xfrm>
            <a:prstGeom prst="rect">
              <a:avLst/>
            </a:prstGeom>
            <a:noFill/>
            <a:ln>
              <a:noFill/>
            </a:ln>
          </p:spPr>
          <p:txBody>
            <a:bodyPr wrap="none" lIns="0" tIns="0" rIns="0" bIns="0" anchor="t" anchorCtr="0">
              <a:spAutoFit/>
            </a:bodyPr>
            <a:lstStyle/>
            <a:p>
              <a:pPr algn="r"/>
              <a:r>
                <a:rPr lang="en-US" sz="900" dirty="0">
                  <a:solidFill>
                    <a:srgbClr val="8C8C82"/>
                  </a:solidFill>
                  <a:latin typeface="Cambria"/>
                  <a:ea typeface="Cambria"/>
                  <a:cs typeface="Cambria"/>
                </a:rPr>
                <a:t>03</a:t>
              </a:r>
            </a:p>
          </p:txBody>
        </p:sp>
      </p:grpSp>
      <p:pic>
        <p:nvPicPr>
          <p:cNvPr id="70" name="Image 7"/>
          <p:cNvPicPr>
            <a:picLocks noChangeAspect="1"/>
          </p:cNvPicPr>
          <p:nvPr/>
        </p:nvPicPr>
        <p:blipFill>
          <a:blip r:embed="rId3"/>
          <a:stretch>
            <a:fillRect/>
          </a:stretch>
        </p:blipFill>
        <p:spPr>
          <a:xfrm>
            <a:off x="10919012" y="-13055"/>
            <a:ext cx="663388" cy="84676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0" y="0"/>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a:p>
          </p:txBody>
        </p:sp>
      </p:grpSp>
      <p:grpSp>
        <p:nvGrpSpPr>
          <p:cNvPr id="9" name="Group 9"/>
          <p:cNvGrpSpPr/>
          <p:nvPr/>
        </p:nvGrpSpPr>
        <p:grpSpPr>
          <a:xfrm>
            <a:off x="590550" y="523875"/>
            <a:ext cx="10991850" cy="400050"/>
            <a:chOff x="590550" y="523875"/>
            <a:chExt cx="10991850" cy="400050"/>
          </a:xfrm>
        </p:grpSpPr>
        <p:sp>
          <p:nvSpPr>
            <p:cNvPr id="6" name="TextBox 6"/>
            <p:cNvSpPr txBox="1"/>
            <p:nvPr/>
          </p:nvSpPr>
          <p:spPr>
            <a:xfrm>
              <a:off x="590550" y="523875"/>
              <a:ext cx="2222373" cy="304800"/>
            </a:xfrm>
            <a:prstGeom prst="rect">
              <a:avLst/>
            </a:prstGeom>
            <a:noFill/>
            <a:ln>
              <a:noFill/>
            </a:ln>
          </p:spPr>
          <p:txBody>
            <a:bodyPr wrap="none" lIns="0" tIns="0" rIns="0" bIns="0" anchor="t" anchorCtr="0">
              <a:spAutoFit/>
            </a:bodyPr>
            <a:lstStyle/>
            <a:p>
              <a:pPr algn="l"/>
              <a:r>
                <a:rPr lang="en-US" sz="1500" b="1" dirty="0">
                  <a:solidFill>
                    <a:srgbClr val="1B3A5B"/>
                  </a:solidFill>
                  <a:latin typeface="Cambria"/>
                  <a:ea typeface="Cambria"/>
                  <a:cs typeface="Cambria"/>
                </a:rPr>
                <a:t>01 </a:t>
              </a:r>
              <a:r>
                <a:rPr lang="zh-CN" sz="1200" b="1" dirty="0">
                  <a:solidFill>
                    <a:srgbClr val="5A5A52"/>
                  </a:solidFill>
                  <a:latin typeface="Arial" panose="020B0604020202090204"/>
                  <a:ea typeface="微软雅黑"/>
                  <a:cs typeface="Arial" panose="020B0604020202090204"/>
                </a:rPr>
                <a:t>选题背景与研究意义</a:t>
              </a:r>
            </a:p>
          </p:txBody>
        </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19050">
              <a:solidFill>
                <a:srgbClr val="1B3A5B"/>
              </a:solidFill>
            </a:ln>
          </p:spPr>
          <p:txBody>
            <a:bodyPr/>
            <a:lstStyle/>
            <a:p>
              <a:endParaRPr lang="zh-CN" altLang="en-US"/>
            </a:p>
          </p:txBody>
        </p:sp>
      </p:grpSp>
      <p:grpSp>
        <p:nvGrpSpPr>
          <p:cNvPr id="12" name="Group 12"/>
          <p:cNvGrpSpPr/>
          <p:nvPr/>
        </p:nvGrpSpPr>
        <p:grpSpPr>
          <a:xfrm>
            <a:off x="577215" y="1210628"/>
            <a:ext cx="1314462" cy="484822"/>
            <a:chOff x="577215" y="1210628"/>
            <a:chExt cx="1314462" cy="484822"/>
          </a:xfrm>
        </p:grpSpPr>
        <p:sp>
          <p:nvSpPr>
            <p:cNvPr id="10" name="TextBox 10"/>
            <p:cNvSpPr txBox="1"/>
            <p:nvPr/>
          </p:nvSpPr>
          <p:spPr>
            <a:xfrm>
              <a:off x="577215" y="1210628"/>
              <a:ext cx="1314462" cy="392415"/>
            </a:xfrm>
            <a:prstGeom prst="rect">
              <a:avLst/>
            </a:prstGeom>
            <a:noFill/>
            <a:ln>
              <a:noFill/>
            </a:ln>
          </p:spPr>
          <p:txBody>
            <a:bodyPr wrap="none" lIns="0" tIns="0" rIns="0" bIns="0" anchor="t" anchorCtr="0">
              <a:spAutoFit/>
            </a:bodyPr>
            <a:lstStyle/>
            <a:p>
              <a:pPr algn="l"/>
              <a:r>
                <a:rPr lang="zh-CN" sz="2550" b="1" dirty="0">
                  <a:solidFill>
                    <a:srgbClr val="1B3A5B"/>
                  </a:solidFill>
                  <a:latin typeface="Cambria"/>
                  <a:ea typeface="宋体"/>
                  <a:cs typeface="Cambria"/>
                </a:rPr>
                <a:t>研究意义</a:t>
              </a:r>
            </a:p>
          </p:txBody>
        </p:sp>
        <p:sp>
          <p:nvSpPr>
            <p:cNvPr id="11" name="Rectangle 11"/>
            <p:cNvSpPr/>
            <p:nvPr/>
          </p:nvSpPr>
          <p:spPr>
            <a:xfrm>
              <a:off x="609600" y="1657350"/>
              <a:ext cx="533400" cy="38100"/>
            </a:xfrm>
            <a:prstGeom prst="rect">
              <a:avLst/>
            </a:prstGeom>
            <a:solidFill>
              <a:srgbClr val="C8A24B"/>
            </a:solidFill>
            <a:ln>
              <a:noFill/>
            </a:ln>
          </p:spPr>
          <p:txBody>
            <a:bodyPr/>
            <a:lstStyle/>
            <a:p>
              <a:endParaRPr lang="zh-CN" altLang="en-US"/>
            </a:p>
          </p:txBody>
        </p:sp>
      </p:grpSp>
      <p:grpSp>
        <p:nvGrpSpPr>
          <p:cNvPr id="49" name="Group 49"/>
          <p:cNvGrpSpPr/>
          <p:nvPr/>
        </p:nvGrpSpPr>
        <p:grpSpPr>
          <a:xfrm>
            <a:off x="609600" y="2019300"/>
            <a:ext cx="10972800" cy="2743200"/>
            <a:chOff x="609600" y="2019300"/>
            <a:chExt cx="10972800" cy="2743200"/>
          </a:xfrm>
        </p:grpSpPr>
        <p:grpSp>
          <p:nvGrpSpPr>
            <p:cNvPr id="23" name="Group 23"/>
            <p:cNvGrpSpPr/>
            <p:nvPr/>
          </p:nvGrpSpPr>
          <p:grpSpPr>
            <a:xfrm>
              <a:off x="609600" y="2019300"/>
              <a:ext cx="3448050" cy="2743200"/>
              <a:chOff x="609600" y="2019300"/>
              <a:chExt cx="3448050" cy="2743200"/>
            </a:xfrm>
          </p:grpSpPr>
          <p:sp>
            <p:nvSpPr>
              <p:cNvPr id="13" name="Rectangle 13"/>
              <p:cNvSpPr/>
              <p:nvPr/>
            </p:nvSpPr>
            <p:spPr>
              <a:xfrm>
                <a:off x="609600" y="2019300"/>
                <a:ext cx="3448050" cy="2743200"/>
              </a:xfrm>
              <a:prstGeom prst="roundRect">
                <a:avLst>
                  <a:gd name="adj" fmla="val 1389"/>
                </a:avLst>
              </a:prstGeom>
              <a:solidFill>
                <a:srgbClr val="F1ECE3"/>
              </a:solidFill>
              <a:ln>
                <a:noFill/>
              </a:ln>
            </p:spPr>
            <p:txBody>
              <a:bodyPr/>
              <a:lstStyle/>
              <a:p>
                <a:endParaRPr lang="zh-CN" altLang="en-US"/>
              </a:p>
            </p:txBody>
          </p:sp>
          <p:sp>
            <p:nvSpPr>
              <p:cNvPr id="14" name="Rectangle 14"/>
              <p:cNvSpPr/>
              <p:nvPr/>
            </p:nvSpPr>
            <p:spPr>
              <a:xfrm>
                <a:off x="609600" y="2019300"/>
                <a:ext cx="3448050" cy="57150"/>
              </a:xfrm>
              <a:prstGeom prst="rect">
                <a:avLst/>
              </a:prstGeom>
              <a:solidFill>
                <a:srgbClr val="1B3A5B"/>
              </a:solidFill>
              <a:ln>
                <a:noFill/>
              </a:ln>
            </p:spPr>
            <p:txBody>
              <a:bodyPr/>
              <a:lstStyle/>
              <a:p>
                <a:endParaRPr lang="zh-CN" altLang="en-US"/>
              </a:p>
            </p:txBody>
          </p:sp>
          <p:grpSp>
            <p:nvGrpSpPr>
              <p:cNvPr id="20" name="Group 20"/>
              <p:cNvGrpSpPr/>
              <p:nvPr/>
            </p:nvGrpSpPr>
            <p:grpSpPr>
              <a:xfrm>
                <a:off x="919162" y="2405062"/>
                <a:ext cx="257175" cy="252413"/>
                <a:chOff x="919162" y="2405062"/>
                <a:chExt cx="257175" cy="252413"/>
              </a:xfrm>
            </p:grpSpPr>
            <p:sp>
              <p:nvSpPr>
                <p:cNvPr id="15" name="Freeform 15"/>
                <p:cNvSpPr/>
                <p:nvPr/>
              </p:nvSpPr>
              <p:spPr>
                <a:xfrm>
                  <a:off x="976312" y="2647950"/>
                  <a:ext cx="142875" cy="9525"/>
                </a:xfrm>
                <a:custGeom>
                  <a:avLst/>
                  <a:gdLst/>
                  <a:ahLst/>
                  <a:cxnLst/>
                  <a:rect l="l" t="t" r="r" b="b"/>
                  <a:pathLst>
                    <a:path w="142875" h="9525">
                      <a:moveTo>
                        <a:pt x="0" y="0"/>
                      </a:moveTo>
                      <a:lnTo>
                        <a:pt x="142875" y="0"/>
                      </a:lnTo>
                    </a:path>
                  </a:pathLst>
                </a:custGeom>
                <a:noFill/>
                <a:ln w="19050">
                  <a:solidFill>
                    <a:srgbClr val="1B3A5B"/>
                  </a:solidFill>
                </a:ln>
              </p:spPr>
              <p:txBody>
                <a:bodyPr/>
                <a:lstStyle/>
                <a:p>
                  <a:endParaRPr lang="zh-CN" altLang="en-US"/>
                </a:p>
              </p:txBody>
            </p:sp>
            <p:sp>
              <p:nvSpPr>
                <p:cNvPr id="16" name="Freeform 16"/>
                <p:cNvSpPr/>
                <p:nvPr/>
              </p:nvSpPr>
              <p:spPr>
                <a:xfrm>
                  <a:off x="962025" y="2433638"/>
                  <a:ext cx="171450" cy="14288"/>
                </a:xfrm>
                <a:custGeom>
                  <a:avLst/>
                  <a:gdLst/>
                  <a:ahLst/>
                  <a:cxnLst/>
                  <a:rect l="l" t="t" r="r" b="b"/>
                  <a:pathLst>
                    <a:path w="171450" h="14288">
                      <a:moveTo>
                        <a:pt x="0" y="14288"/>
                      </a:moveTo>
                      <a:lnTo>
                        <a:pt x="85725" y="0"/>
                      </a:lnTo>
                      <a:lnTo>
                        <a:pt x="171450" y="14288"/>
                      </a:lnTo>
                    </a:path>
                  </a:pathLst>
                </a:custGeom>
                <a:noFill/>
                <a:ln w="19050">
                  <a:solidFill>
                    <a:srgbClr val="1B3A5B"/>
                  </a:solidFill>
                </a:ln>
              </p:spPr>
              <p:txBody>
                <a:bodyPr/>
                <a:lstStyle/>
                <a:p>
                  <a:endParaRPr lang="zh-CN" altLang="en-US"/>
                </a:p>
              </p:txBody>
            </p:sp>
            <p:sp>
              <p:nvSpPr>
                <p:cNvPr id="17" name="Freeform 17"/>
                <p:cNvSpPr/>
                <p:nvPr/>
              </p:nvSpPr>
              <p:spPr>
                <a:xfrm>
                  <a:off x="1047750" y="2405062"/>
                  <a:ext cx="9525" cy="242888"/>
                </a:xfrm>
                <a:custGeom>
                  <a:avLst/>
                  <a:gdLst/>
                  <a:ahLst/>
                  <a:cxnLst/>
                  <a:rect l="l" t="t" r="r" b="b"/>
                  <a:pathLst>
                    <a:path w="9525" h="242888">
                      <a:moveTo>
                        <a:pt x="0" y="0"/>
                      </a:moveTo>
                      <a:lnTo>
                        <a:pt x="0" y="242888"/>
                      </a:lnTo>
                    </a:path>
                  </a:pathLst>
                </a:custGeom>
                <a:noFill/>
                <a:ln w="19050">
                  <a:solidFill>
                    <a:srgbClr val="1B3A5B"/>
                  </a:solidFill>
                </a:ln>
              </p:spPr>
              <p:txBody>
                <a:bodyPr/>
                <a:lstStyle/>
                <a:p>
                  <a:endParaRPr lang="zh-CN" altLang="en-US"/>
                </a:p>
              </p:txBody>
            </p:sp>
            <p:sp>
              <p:nvSpPr>
                <p:cNvPr id="18" name="Freeform 18"/>
                <p:cNvSpPr/>
                <p:nvPr/>
              </p:nvSpPr>
              <p:spPr>
                <a:xfrm>
                  <a:off x="919162" y="2447925"/>
                  <a:ext cx="85725" cy="128588"/>
                </a:xfrm>
                <a:custGeom>
                  <a:avLst/>
                  <a:gdLst/>
                  <a:ahLst/>
                  <a:cxnLst/>
                  <a:rect l="l" t="t" r="r" b="b"/>
                  <a:pathLst>
                    <a:path w="85725" h="128588">
                      <a:moveTo>
                        <a:pt x="85725" y="85725"/>
                      </a:moveTo>
                      <a:lnTo>
                        <a:pt x="42862" y="0"/>
                      </a:lnTo>
                      <a:lnTo>
                        <a:pt x="0" y="85725"/>
                      </a:lnTo>
                      <a:cubicBezTo>
                        <a:pt x="0" y="109397"/>
                        <a:pt x="19190" y="128588"/>
                        <a:pt x="42862" y="128588"/>
                      </a:cubicBezTo>
                      <a:cubicBezTo>
                        <a:pt x="66535" y="128588"/>
                        <a:pt x="85725" y="109397"/>
                        <a:pt x="85725" y="85725"/>
                      </a:cubicBezTo>
                    </a:path>
                  </a:pathLst>
                </a:custGeom>
                <a:noFill/>
                <a:ln w="19050">
                  <a:solidFill>
                    <a:srgbClr val="1B3A5B"/>
                  </a:solidFill>
                </a:ln>
              </p:spPr>
              <p:txBody>
                <a:bodyPr/>
                <a:lstStyle/>
                <a:p>
                  <a:endParaRPr lang="zh-CN" altLang="en-US"/>
                </a:p>
              </p:txBody>
            </p:sp>
            <p:sp>
              <p:nvSpPr>
                <p:cNvPr id="19" name="Freeform 19"/>
                <p:cNvSpPr/>
                <p:nvPr/>
              </p:nvSpPr>
              <p:spPr>
                <a:xfrm>
                  <a:off x="1090612" y="2447925"/>
                  <a:ext cx="85725" cy="128588"/>
                </a:xfrm>
                <a:custGeom>
                  <a:avLst/>
                  <a:gdLst/>
                  <a:ahLst/>
                  <a:cxnLst/>
                  <a:rect l="l" t="t" r="r" b="b"/>
                  <a:pathLst>
                    <a:path w="85725" h="128588">
                      <a:moveTo>
                        <a:pt x="85725" y="85725"/>
                      </a:moveTo>
                      <a:lnTo>
                        <a:pt x="42862" y="0"/>
                      </a:lnTo>
                      <a:lnTo>
                        <a:pt x="0" y="85725"/>
                      </a:lnTo>
                      <a:cubicBezTo>
                        <a:pt x="0" y="109397"/>
                        <a:pt x="19190" y="128588"/>
                        <a:pt x="42862" y="128588"/>
                      </a:cubicBezTo>
                      <a:cubicBezTo>
                        <a:pt x="66535" y="128588"/>
                        <a:pt x="85725" y="109397"/>
                        <a:pt x="85725" y="85725"/>
                      </a:cubicBezTo>
                    </a:path>
                  </a:pathLst>
                </a:custGeom>
                <a:noFill/>
                <a:ln w="19050">
                  <a:solidFill>
                    <a:srgbClr val="1B3A5B"/>
                  </a:solidFill>
                </a:ln>
              </p:spPr>
              <p:txBody>
                <a:bodyPr/>
                <a:lstStyle/>
                <a:p>
                  <a:endParaRPr lang="zh-CN" altLang="en-US"/>
                </a:p>
              </p:txBody>
            </p:sp>
          </p:grpSp>
          <p:sp>
            <p:nvSpPr>
              <p:cNvPr id="21" name="TextBox 21"/>
              <p:cNvSpPr txBox="1"/>
              <p:nvPr/>
            </p:nvSpPr>
            <p:spPr>
              <a:xfrm>
                <a:off x="855345" y="2869882"/>
                <a:ext cx="923330"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理论意义</a:t>
                </a:r>
              </a:p>
            </p:txBody>
          </p:sp>
          <p:sp>
            <p:nvSpPr>
              <p:cNvPr id="22" name="TextBox 22"/>
              <p:cNvSpPr txBox="1"/>
              <p:nvPr/>
            </p:nvSpPr>
            <p:spPr>
              <a:xfrm>
                <a:off x="861060" y="3299460"/>
                <a:ext cx="2504440" cy="1043940"/>
              </a:xfrm>
              <a:prstGeom prst="rect">
                <a:avLst/>
              </a:prstGeom>
              <a:noFill/>
              <a:ln>
                <a:noFill/>
              </a:ln>
            </p:spPr>
            <p:txBody>
              <a:bodyPr wrap="square" lIns="0" tIns="0" rIns="0" bIns="0" anchor="t" anchorCtr="0"/>
              <a:lstStyle/>
              <a:p>
                <a:pPr algn="l">
                  <a:lnSpc>
                    <a:spcPts val="2100"/>
                  </a:lnSpc>
                </a:pPr>
                <a:r>
                  <a:rPr lang="zh-CN" sz="1600" dirty="0">
                    <a:solidFill>
                      <a:srgbClr val="2B2B2B"/>
                    </a:solidFill>
                    <a:latin typeface="Arial" panose="020B0604020202090204"/>
                    <a:ea typeface="微软雅黑"/>
                    <a:cs typeface="Arial" panose="020B0604020202090204"/>
                  </a:rPr>
                  <a:t>把推荐曝光从平台背景提升为传播过程中的</a:t>
                </a:r>
                <a:r>
                  <a:rPr lang="zh-CN" sz="1600" b="1" dirty="0">
                    <a:solidFill>
                      <a:srgbClr val="1B3A5B"/>
                    </a:solidFill>
                    <a:latin typeface="Arial" panose="020B0604020202090204"/>
                    <a:ea typeface="微软雅黑"/>
                    <a:cs typeface="Arial" panose="020B0604020202090204"/>
                  </a:rPr>
                  <a:t>机制变量</a:t>
                </a:r>
                <a:r>
                  <a:rPr lang="zh-CN" sz="1600" dirty="0">
                    <a:solidFill>
                      <a:srgbClr val="2B2B2B"/>
                    </a:solidFill>
                    <a:latin typeface="Arial" panose="020B0604020202090204"/>
                    <a:ea typeface="微软雅黑"/>
                    <a:cs typeface="Arial" panose="020B0604020202090204"/>
                  </a:rPr>
                  <a:t>，解释信息扩散与态度演化的形成链条。</a:t>
                </a:r>
              </a:p>
            </p:txBody>
          </p:sp>
        </p:grpSp>
        <p:grpSp>
          <p:nvGrpSpPr>
            <p:cNvPr id="38" name="Group 38"/>
            <p:cNvGrpSpPr/>
            <p:nvPr/>
          </p:nvGrpSpPr>
          <p:grpSpPr>
            <a:xfrm>
              <a:off x="4371975" y="2019300"/>
              <a:ext cx="3448050" cy="2743200"/>
              <a:chOff x="4371975" y="2019300"/>
              <a:chExt cx="3448050" cy="2743200"/>
            </a:xfrm>
          </p:grpSpPr>
          <p:sp>
            <p:nvSpPr>
              <p:cNvPr id="24" name="Rectangle 24"/>
              <p:cNvSpPr/>
              <p:nvPr/>
            </p:nvSpPr>
            <p:spPr>
              <a:xfrm>
                <a:off x="4371975" y="2019300"/>
                <a:ext cx="3448050" cy="2743200"/>
              </a:xfrm>
              <a:prstGeom prst="roundRect">
                <a:avLst>
                  <a:gd name="adj" fmla="val 1389"/>
                </a:avLst>
              </a:prstGeom>
              <a:solidFill>
                <a:srgbClr val="F1ECE3"/>
              </a:solidFill>
              <a:ln>
                <a:noFill/>
              </a:ln>
            </p:spPr>
            <p:txBody>
              <a:bodyPr/>
              <a:lstStyle/>
              <a:p>
                <a:endParaRPr lang="zh-CN" altLang="en-US"/>
              </a:p>
            </p:txBody>
          </p:sp>
          <p:sp>
            <p:nvSpPr>
              <p:cNvPr id="25" name="Rectangle 25"/>
              <p:cNvSpPr/>
              <p:nvPr/>
            </p:nvSpPr>
            <p:spPr>
              <a:xfrm>
                <a:off x="4371975" y="2019300"/>
                <a:ext cx="3448050" cy="57150"/>
              </a:xfrm>
              <a:prstGeom prst="rect">
                <a:avLst/>
              </a:prstGeom>
              <a:solidFill>
                <a:srgbClr val="C8A24B"/>
              </a:solidFill>
              <a:ln>
                <a:noFill/>
              </a:ln>
            </p:spPr>
            <p:txBody>
              <a:bodyPr/>
              <a:lstStyle/>
              <a:p>
                <a:endParaRPr lang="zh-CN" altLang="en-US"/>
              </a:p>
            </p:txBody>
          </p:sp>
          <p:grpSp>
            <p:nvGrpSpPr>
              <p:cNvPr id="35" name="Group 35"/>
              <p:cNvGrpSpPr/>
              <p:nvPr/>
            </p:nvGrpSpPr>
            <p:grpSpPr>
              <a:xfrm>
                <a:off x="4695825" y="2419350"/>
                <a:ext cx="228600" cy="228600"/>
                <a:chOff x="4695825" y="2419350"/>
                <a:chExt cx="228600" cy="228600"/>
              </a:xfrm>
            </p:grpSpPr>
            <p:sp>
              <p:nvSpPr>
                <p:cNvPr id="26" name="Freeform 26"/>
                <p:cNvSpPr/>
                <p:nvPr/>
              </p:nvSpPr>
              <p:spPr>
                <a:xfrm>
                  <a:off x="4695825" y="2476500"/>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C8A24B"/>
                  </a:solidFill>
                </a:ln>
              </p:spPr>
              <p:txBody>
                <a:bodyPr/>
                <a:lstStyle/>
                <a:p>
                  <a:endParaRPr lang="zh-CN" altLang="en-US"/>
                </a:p>
              </p:txBody>
            </p:sp>
            <p:sp>
              <p:nvSpPr>
                <p:cNvPr id="27" name="Freeform 27"/>
                <p:cNvSpPr/>
                <p:nvPr/>
              </p:nvSpPr>
              <p:spPr>
                <a:xfrm>
                  <a:off x="4724400" y="2419350"/>
                  <a:ext cx="9525" cy="57150"/>
                </a:xfrm>
                <a:custGeom>
                  <a:avLst/>
                  <a:gdLst/>
                  <a:ahLst/>
                  <a:cxnLst/>
                  <a:rect l="l" t="t" r="r" b="b"/>
                  <a:pathLst>
                    <a:path w="9525" h="57150">
                      <a:moveTo>
                        <a:pt x="0" y="0"/>
                      </a:moveTo>
                      <a:lnTo>
                        <a:pt x="0" y="57150"/>
                      </a:lnTo>
                    </a:path>
                  </a:pathLst>
                </a:custGeom>
                <a:noFill/>
                <a:ln w="19050">
                  <a:solidFill>
                    <a:srgbClr val="C8A24B"/>
                  </a:solidFill>
                </a:ln>
              </p:spPr>
              <p:txBody>
                <a:bodyPr/>
                <a:lstStyle/>
                <a:p>
                  <a:endParaRPr lang="zh-CN" altLang="en-US"/>
                </a:p>
              </p:txBody>
            </p:sp>
            <p:sp>
              <p:nvSpPr>
                <p:cNvPr id="28" name="Freeform 28"/>
                <p:cNvSpPr/>
                <p:nvPr/>
              </p:nvSpPr>
              <p:spPr>
                <a:xfrm>
                  <a:off x="4724400" y="2533650"/>
                  <a:ext cx="9525" cy="114300"/>
                </a:xfrm>
                <a:custGeom>
                  <a:avLst/>
                  <a:gdLst/>
                  <a:ahLst/>
                  <a:cxnLst/>
                  <a:rect l="l" t="t" r="r" b="b"/>
                  <a:pathLst>
                    <a:path w="9525" h="114300">
                      <a:moveTo>
                        <a:pt x="0" y="0"/>
                      </a:moveTo>
                      <a:lnTo>
                        <a:pt x="0" y="114300"/>
                      </a:lnTo>
                    </a:path>
                  </a:pathLst>
                </a:custGeom>
                <a:noFill/>
                <a:ln w="19050">
                  <a:solidFill>
                    <a:srgbClr val="C8A24B"/>
                  </a:solidFill>
                </a:ln>
              </p:spPr>
              <p:txBody>
                <a:bodyPr/>
                <a:lstStyle/>
                <a:p>
                  <a:endParaRPr lang="zh-CN" altLang="en-US"/>
                </a:p>
              </p:txBody>
            </p:sp>
            <p:sp>
              <p:nvSpPr>
                <p:cNvPr id="29" name="Freeform 29"/>
                <p:cNvSpPr/>
                <p:nvPr/>
              </p:nvSpPr>
              <p:spPr>
                <a:xfrm>
                  <a:off x="4781550" y="256222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C8A24B"/>
                  </a:solidFill>
                </a:ln>
              </p:spPr>
              <p:txBody>
                <a:bodyPr/>
                <a:lstStyle/>
                <a:p>
                  <a:endParaRPr lang="zh-CN" altLang="en-US"/>
                </a:p>
              </p:txBody>
            </p:sp>
            <p:sp>
              <p:nvSpPr>
                <p:cNvPr id="30" name="Freeform 30"/>
                <p:cNvSpPr/>
                <p:nvPr/>
              </p:nvSpPr>
              <p:spPr>
                <a:xfrm>
                  <a:off x="4810125" y="2419350"/>
                  <a:ext cx="9525" cy="142875"/>
                </a:xfrm>
                <a:custGeom>
                  <a:avLst/>
                  <a:gdLst/>
                  <a:ahLst/>
                  <a:cxnLst/>
                  <a:rect l="l" t="t" r="r" b="b"/>
                  <a:pathLst>
                    <a:path w="9525" h="142875">
                      <a:moveTo>
                        <a:pt x="0" y="0"/>
                      </a:moveTo>
                      <a:lnTo>
                        <a:pt x="0" y="142875"/>
                      </a:lnTo>
                    </a:path>
                  </a:pathLst>
                </a:custGeom>
                <a:noFill/>
                <a:ln w="19050">
                  <a:solidFill>
                    <a:srgbClr val="C8A24B"/>
                  </a:solidFill>
                </a:ln>
              </p:spPr>
              <p:txBody>
                <a:bodyPr/>
                <a:lstStyle/>
                <a:p>
                  <a:endParaRPr lang="zh-CN" altLang="en-US"/>
                </a:p>
              </p:txBody>
            </p:sp>
            <p:sp>
              <p:nvSpPr>
                <p:cNvPr id="31" name="Freeform 31"/>
                <p:cNvSpPr/>
                <p:nvPr/>
              </p:nvSpPr>
              <p:spPr>
                <a:xfrm>
                  <a:off x="4810125" y="2619375"/>
                  <a:ext cx="9525" cy="28575"/>
                </a:xfrm>
                <a:custGeom>
                  <a:avLst/>
                  <a:gdLst/>
                  <a:ahLst/>
                  <a:cxnLst/>
                  <a:rect l="l" t="t" r="r" b="b"/>
                  <a:pathLst>
                    <a:path w="9525" h="28575">
                      <a:moveTo>
                        <a:pt x="0" y="0"/>
                      </a:moveTo>
                      <a:lnTo>
                        <a:pt x="0" y="28575"/>
                      </a:lnTo>
                    </a:path>
                  </a:pathLst>
                </a:custGeom>
                <a:noFill/>
                <a:ln w="19050">
                  <a:solidFill>
                    <a:srgbClr val="C8A24B"/>
                  </a:solidFill>
                </a:ln>
              </p:spPr>
              <p:txBody>
                <a:bodyPr/>
                <a:lstStyle/>
                <a:p>
                  <a:endParaRPr lang="zh-CN" altLang="en-US"/>
                </a:p>
              </p:txBody>
            </p:sp>
            <p:sp>
              <p:nvSpPr>
                <p:cNvPr id="32" name="Freeform 32"/>
                <p:cNvSpPr/>
                <p:nvPr/>
              </p:nvSpPr>
              <p:spPr>
                <a:xfrm>
                  <a:off x="4867275" y="2433638"/>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C8A24B"/>
                  </a:solidFill>
                </a:ln>
              </p:spPr>
              <p:txBody>
                <a:bodyPr/>
                <a:lstStyle/>
                <a:p>
                  <a:endParaRPr lang="zh-CN" altLang="en-US"/>
                </a:p>
              </p:txBody>
            </p:sp>
            <p:sp>
              <p:nvSpPr>
                <p:cNvPr id="33" name="Freeform 33"/>
                <p:cNvSpPr/>
                <p:nvPr/>
              </p:nvSpPr>
              <p:spPr>
                <a:xfrm>
                  <a:off x="4895850" y="2419350"/>
                  <a:ext cx="9525" cy="14288"/>
                </a:xfrm>
                <a:custGeom>
                  <a:avLst/>
                  <a:gdLst/>
                  <a:ahLst/>
                  <a:cxnLst/>
                  <a:rect l="l" t="t" r="r" b="b"/>
                  <a:pathLst>
                    <a:path w="9525" h="14288">
                      <a:moveTo>
                        <a:pt x="0" y="0"/>
                      </a:moveTo>
                      <a:lnTo>
                        <a:pt x="0" y="14288"/>
                      </a:lnTo>
                    </a:path>
                  </a:pathLst>
                </a:custGeom>
                <a:noFill/>
                <a:ln w="19050">
                  <a:solidFill>
                    <a:srgbClr val="C8A24B"/>
                  </a:solidFill>
                </a:ln>
              </p:spPr>
              <p:txBody>
                <a:bodyPr/>
                <a:lstStyle/>
                <a:p>
                  <a:endParaRPr lang="zh-CN" altLang="en-US"/>
                </a:p>
              </p:txBody>
            </p:sp>
            <p:sp>
              <p:nvSpPr>
                <p:cNvPr id="34" name="Freeform 34"/>
                <p:cNvSpPr/>
                <p:nvPr/>
              </p:nvSpPr>
              <p:spPr>
                <a:xfrm>
                  <a:off x="4895850" y="2490788"/>
                  <a:ext cx="9525" cy="157162"/>
                </a:xfrm>
                <a:custGeom>
                  <a:avLst/>
                  <a:gdLst/>
                  <a:ahLst/>
                  <a:cxnLst/>
                  <a:rect l="l" t="t" r="r" b="b"/>
                  <a:pathLst>
                    <a:path w="9525" h="157162">
                      <a:moveTo>
                        <a:pt x="0" y="0"/>
                      </a:moveTo>
                      <a:lnTo>
                        <a:pt x="0" y="157162"/>
                      </a:lnTo>
                    </a:path>
                  </a:pathLst>
                </a:custGeom>
                <a:noFill/>
                <a:ln w="19050">
                  <a:solidFill>
                    <a:srgbClr val="C8A24B"/>
                  </a:solidFill>
                </a:ln>
              </p:spPr>
              <p:txBody>
                <a:bodyPr/>
                <a:lstStyle/>
                <a:p>
                  <a:endParaRPr lang="zh-CN" altLang="en-US"/>
                </a:p>
              </p:txBody>
            </p:sp>
          </p:grpSp>
          <p:sp>
            <p:nvSpPr>
              <p:cNvPr id="36" name="TextBox 36"/>
              <p:cNvSpPr txBox="1"/>
              <p:nvPr/>
            </p:nvSpPr>
            <p:spPr>
              <a:xfrm>
                <a:off x="4617720" y="2869882"/>
                <a:ext cx="923330"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方法意义</a:t>
                </a:r>
              </a:p>
            </p:txBody>
          </p:sp>
          <p:sp>
            <p:nvSpPr>
              <p:cNvPr id="37" name="TextBox 37"/>
              <p:cNvSpPr txBox="1"/>
              <p:nvPr/>
            </p:nvSpPr>
            <p:spPr>
              <a:xfrm>
                <a:off x="4623434" y="3299460"/>
                <a:ext cx="2165985" cy="1043940"/>
              </a:xfrm>
              <a:prstGeom prst="rect">
                <a:avLst/>
              </a:prstGeom>
              <a:noFill/>
              <a:ln>
                <a:noFill/>
              </a:ln>
            </p:spPr>
            <p:txBody>
              <a:bodyPr wrap="square" lIns="0" tIns="0" rIns="0" bIns="0" anchor="t" anchorCtr="0"/>
              <a:lstStyle/>
              <a:p>
                <a:pPr algn="l">
                  <a:lnSpc>
                    <a:spcPts val="2100"/>
                  </a:lnSpc>
                </a:pPr>
                <a:r>
                  <a:rPr lang="zh-CN" sz="1600" dirty="0">
                    <a:solidFill>
                      <a:srgbClr val="2B2B2B"/>
                    </a:solidFill>
                    <a:latin typeface="Arial" panose="020B0604020202090204"/>
                    <a:ea typeface="微软雅黑"/>
                    <a:cs typeface="Arial" panose="020B0604020202090204"/>
                  </a:rPr>
                  <a:t>以真实传播结果</a:t>
                </a:r>
                <a:r>
                  <a:rPr lang="zh-CN" sz="1600" b="1" dirty="0">
                    <a:solidFill>
                      <a:srgbClr val="1B3A5B"/>
                    </a:solidFill>
                    <a:latin typeface="Arial" panose="020B0604020202090204"/>
                    <a:ea typeface="微软雅黑"/>
                    <a:cs typeface="Arial" panose="020B0604020202090204"/>
                  </a:rPr>
                  <a:t>校准</a:t>
                </a:r>
                <a:r>
                  <a:rPr lang="zh-CN" sz="1600" dirty="0">
                    <a:solidFill>
                      <a:srgbClr val="2B2B2B"/>
                    </a:solidFill>
                    <a:latin typeface="Arial" panose="020B0604020202090204"/>
                    <a:ea typeface="微软雅黑"/>
                    <a:cs typeface="Arial" panose="020B0604020202090204"/>
                  </a:rPr>
                  <a:t>兴趣匹配、内容热度、时间衰减与随机探索等推荐参数。</a:t>
                </a:r>
              </a:p>
            </p:txBody>
          </p:sp>
        </p:grpSp>
        <p:grpSp>
          <p:nvGrpSpPr>
            <p:cNvPr id="48" name="Group 48"/>
            <p:cNvGrpSpPr/>
            <p:nvPr/>
          </p:nvGrpSpPr>
          <p:grpSpPr>
            <a:xfrm>
              <a:off x="8134350" y="2019300"/>
              <a:ext cx="3448050" cy="2743200"/>
              <a:chOff x="8134350" y="2019300"/>
              <a:chExt cx="3448050" cy="2743200"/>
            </a:xfrm>
          </p:grpSpPr>
          <p:sp>
            <p:nvSpPr>
              <p:cNvPr id="39" name="Rectangle 39"/>
              <p:cNvSpPr/>
              <p:nvPr/>
            </p:nvSpPr>
            <p:spPr>
              <a:xfrm>
                <a:off x="8134350" y="2019300"/>
                <a:ext cx="3448050" cy="2743200"/>
              </a:xfrm>
              <a:prstGeom prst="roundRect">
                <a:avLst>
                  <a:gd name="adj" fmla="val 1389"/>
                </a:avLst>
              </a:prstGeom>
              <a:solidFill>
                <a:srgbClr val="F1ECE3"/>
              </a:solidFill>
              <a:ln>
                <a:noFill/>
              </a:ln>
            </p:spPr>
            <p:txBody>
              <a:bodyPr/>
              <a:lstStyle/>
              <a:p>
                <a:endParaRPr lang="zh-CN" altLang="en-US"/>
              </a:p>
            </p:txBody>
          </p:sp>
          <p:sp>
            <p:nvSpPr>
              <p:cNvPr id="40" name="Rectangle 40"/>
              <p:cNvSpPr/>
              <p:nvPr/>
            </p:nvSpPr>
            <p:spPr>
              <a:xfrm>
                <a:off x="8134350" y="2019300"/>
                <a:ext cx="3448050" cy="57150"/>
              </a:xfrm>
              <a:prstGeom prst="rect">
                <a:avLst/>
              </a:prstGeom>
              <a:solidFill>
                <a:srgbClr val="4A6B8A"/>
              </a:solidFill>
              <a:ln>
                <a:noFill/>
              </a:ln>
            </p:spPr>
            <p:txBody>
              <a:bodyPr/>
              <a:lstStyle/>
              <a:p>
                <a:endParaRPr lang="zh-CN" altLang="en-US"/>
              </a:p>
            </p:txBody>
          </p:sp>
          <p:grpSp>
            <p:nvGrpSpPr>
              <p:cNvPr id="45" name="Group 45"/>
              <p:cNvGrpSpPr/>
              <p:nvPr/>
            </p:nvGrpSpPr>
            <p:grpSpPr>
              <a:xfrm>
                <a:off x="8443912" y="2419350"/>
                <a:ext cx="257175" cy="228600"/>
                <a:chOff x="8443912" y="2419350"/>
                <a:chExt cx="257175" cy="228600"/>
              </a:xfrm>
            </p:grpSpPr>
            <p:sp>
              <p:nvSpPr>
                <p:cNvPr id="41" name="Freeform 41"/>
                <p:cNvSpPr/>
                <p:nvPr/>
              </p:nvSpPr>
              <p:spPr>
                <a:xfrm>
                  <a:off x="8443912" y="2419350"/>
                  <a:ext cx="257175" cy="114300"/>
                </a:xfrm>
                <a:custGeom>
                  <a:avLst/>
                  <a:gdLst/>
                  <a:ahLst/>
                  <a:cxnLst/>
                  <a:rect l="l" t="t" r="r" b="b"/>
                  <a:pathLst>
                    <a:path w="257175" h="114300">
                      <a:moveTo>
                        <a:pt x="0" y="42862"/>
                      </a:moveTo>
                      <a:cubicBezTo>
                        <a:pt x="0" y="19190"/>
                        <a:pt x="19190" y="0"/>
                        <a:pt x="42862" y="0"/>
                      </a:cubicBezTo>
                      <a:lnTo>
                        <a:pt x="214312" y="0"/>
                      </a:lnTo>
                      <a:cubicBezTo>
                        <a:pt x="237985" y="0"/>
                        <a:pt x="257175" y="19190"/>
                        <a:pt x="257175" y="42862"/>
                      </a:cubicBezTo>
                      <a:lnTo>
                        <a:pt x="257175" y="71438"/>
                      </a:lnTo>
                      <a:cubicBezTo>
                        <a:pt x="257175" y="95110"/>
                        <a:pt x="237985" y="114300"/>
                        <a:pt x="214312" y="114300"/>
                      </a:cubicBezTo>
                      <a:lnTo>
                        <a:pt x="42862" y="114300"/>
                      </a:lnTo>
                      <a:cubicBezTo>
                        <a:pt x="19190" y="114300"/>
                        <a:pt x="0" y="95110"/>
                        <a:pt x="0" y="71438"/>
                      </a:cubicBezTo>
                    </a:path>
                  </a:pathLst>
                </a:custGeom>
                <a:noFill/>
                <a:ln w="19050">
                  <a:solidFill>
                    <a:srgbClr val="4A6B8A"/>
                  </a:solidFill>
                </a:ln>
              </p:spPr>
              <p:txBody>
                <a:bodyPr/>
                <a:lstStyle/>
                <a:p>
                  <a:endParaRPr lang="zh-CN" altLang="en-US"/>
                </a:p>
              </p:txBody>
            </p:sp>
            <p:sp>
              <p:nvSpPr>
                <p:cNvPr id="42" name="Freeform 42"/>
                <p:cNvSpPr/>
                <p:nvPr/>
              </p:nvSpPr>
              <p:spPr>
                <a:xfrm>
                  <a:off x="8443912" y="2533650"/>
                  <a:ext cx="257175" cy="114300"/>
                </a:xfrm>
                <a:custGeom>
                  <a:avLst/>
                  <a:gdLst/>
                  <a:ahLst/>
                  <a:cxnLst/>
                  <a:rect l="l" t="t" r="r" b="b"/>
                  <a:pathLst>
                    <a:path w="257175" h="114300">
                      <a:moveTo>
                        <a:pt x="0" y="42862"/>
                      </a:moveTo>
                      <a:cubicBezTo>
                        <a:pt x="0" y="19190"/>
                        <a:pt x="19190" y="0"/>
                        <a:pt x="42862" y="0"/>
                      </a:cubicBezTo>
                      <a:lnTo>
                        <a:pt x="214312" y="0"/>
                      </a:lnTo>
                      <a:cubicBezTo>
                        <a:pt x="237985" y="0"/>
                        <a:pt x="257175" y="19190"/>
                        <a:pt x="257175" y="42862"/>
                      </a:cubicBezTo>
                      <a:lnTo>
                        <a:pt x="257175" y="71438"/>
                      </a:lnTo>
                      <a:cubicBezTo>
                        <a:pt x="257175" y="95110"/>
                        <a:pt x="237985" y="114300"/>
                        <a:pt x="214312" y="114300"/>
                      </a:cubicBezTo>
                      <a:lnTo>
                        <a:pt x="42862" y="114300"/>
                      </a:lnTo>
                      <a:cubicBezTo>
                        <a:pt x="19190" y="114300"/>
                        <a:pt x="0" y="95110"/>
                        <a:pt x="0" y="71438"/>
                      </a:cubicBezTo>
                      <a:lnTo>
                        <a:pt x="0" y="42862"/>
                      </a:lnTo>
                    </a:path>
                  </a:pathLst>
                </a:custGeom>
                <a:noFill/>
                <a:ln w="19050">
                  <a:solidFill>
                    <a:srgbClr val="4A6B8A"/>
                  </a:solidFill>
                </a:ln>
              </p:spPr>
              <p:txBody>
                <a:bodyPr/>
                <a:lstStyle/>
                <a:p>
                  <a:endParaRPr lang="zh-CN" altLang="en-US"/>
                </a:p>
              </p:txBody>
            </p:sp>
            <p:sp>
              <p:nvSpPr>
                <p:cNvPr id="43" name="Freeform 43"/>
                <p:cNvSpPr/>
                <p:nvPr/>
              </p:nvSpPr>
              <p:spPr>
                <a:xfrm>
                  <a:off x="8501062" y="2476500"/>
                  <a:ext cx="9525" cy="9525"/>
                </a:xfrm>
                <a:custGeom>
                  <a:avLst/>
                  <a:gdLst/>
                  <a:ahLst/>
                  <a:cxnLst/>
                  <a:rect l="l" t="t" r="r" b="b"/>
                  <a:pathLst>
                    <a:path w="9525" h="9525">
                      <a:moveTo>
                        <a:pt x="0" y="0"/>
                      </a:moveTo>
                      <a:lnTo>
                        <a:pt x="0" y="143"/>
                      </a:lnTo>
                    </a:path>
                  </a:pathLst>
                </a:custGeom>
                <a:noFill/>
                <a:ln w="19050">
                  <a:solidFill>
                    <a:srgbClr val="4A6B8A"/>
                  </a:solidFill>
                </a:ln>
              </p:spPr>
              <p:txBody>
                <a:bodyPr/>
                <a:lstStyle/>
                <a:p>
                  <a:endParaRPr lang="zh-CN" altLang="en-US"/>
                </a:p>
              </p:txBody>
            </p:sp>
            <p:sp>
              <p:nvSpPr>
                <p:cNvPr id="44" name="Freeform 44"/>
                <p:cNvSpPr/>
                <p:nvPr/>
              </p:nvSpPr>
              <p:spPr>
                <a:xfrm>
                  <a:off x="8501062" y="2590800"/>
                  <a:ext cx="9525" cy="9525"/>
                </a:xfrm>
                <a:custGeom>
                  <a:avLst/>
                  <a:gdLst/>
                  <a:ahLst/>
                  <a:cxnLst/>
                  <a:rect l="l" t="t" r="r" b="b"/>
                  <a:pathLst>
                    <a:path w="9525" h="9525">
                      <a:moveTo>
                        <a:pt x="0" y="0"/>
                      </a:moveTo>
                      <a:lnTo>
                        <a:pt x="0" y="143"/>
                      </a:lnTo>
                    </a:path>
                  </a:pathLst>
                </a:custGeom>
                <a:noFill/>
                <a:ln w="19050">
                  <a:solidFill>
                    <a:srgbClr val="4A6B8A"/>
                  </a:solidFill>
                </a:ln>
              </p:spPr>
              <p:txBody>
                <a:bodyPr/>
                <a:lstStyle/>
                <a:p>
                  <a:endParaRPr lang="zh-CN" altLang="en-US"/>
                </a:p>
              </p:txBody>
            </p:sp>
          </p:grpSp>
          <p:sp>
            <p:nvSpPr>
              <p:cNvPr id="46" name="TextBox 46"/>
              <p:cNvSpPr txBox="1"/>
              <p:nvPr/>
            </p:nvSpPr>
            <p:spPr>
              <a:xfrm>
                <a:off x="8380095" y="2869882"/>
                <a:ext cx="923330"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工程意义</a:t>
                </a:r>
              </a:p>
            </p:txBody>
          </p:sp>
          <p:sp>
            <p:nvSpPr>
              <p:cNvPr id="47" name="TextBox 47"/>
              <p:cNvSpPr txBox="1"/>
              <p:nvPr/>
            </p:nvSpPr>
            <p:spPr>
              <a:xfrm>
                <a:off x="8385810" y="3299460"/>
                <a:ext cx="2155190" cy="1043940"/>
              </a:xfrm>
              <a:prstGeom prst="rect">
                <a:avLst/>
              </a:prstGeom>
              <a:noFill/>
              <a:ln>
                <a:noFill/>
              </a:ln>
            </p:spPr>
            <p:txBody>
              <a:bodyPr wrap="square" lIns="0" tIns="0" rIns="0" bIns="0" anchor="t" anchorCtr="0"/>
              <a:lstStyle/>
              <a:p>
                <a:pPr algn="l">
                  <a:lnSpc>
                    <a:spcPts val="2100"/>
                  </a:lnSpc>
                </a:pPr>
                <a:r>
                  <a:rPr lang="zh-CN" sz="1600" dirty="0">
                    <a:solidFill>
                      <a:srgbClr val="2B2B2B"/>
                    </a:solidFill>
                    <a:latin typeface="Arial" panose="020B0604020202090204"/>
                    <a:ea typeface="微软雅黑"/>
                    <a:cs typeface="Arial" panose="020B0604020202090204"/>
                  </a:rPr>
                  <a:t>形成「数据</a:t>
                </a:r>
                <a:r>
                  <a:rPr lang="zh-CN" altLang="en-US" sz="1600" dirty="0">
                    <a:solidFill>
                      <a:srgbClr val="2B2B2B"/>
                    </a:solidFill>
                    <a:latin typeface="Arial" panose="020B0604020202090204"/>
                    <a:ea typeface="微软雅黑"/>
                    <a:cs typeface="Arial" panose="020B0604020202090204"/>
                  </a:rPr>
                  <a:t>处理</a:t>
                </a:r>
                <a:r>
                  <a:rPr lang="zh-CN" sz="1600" dirty="0">
                    <a:solidFill>
                      <a:srgbClr val="2B2B2B"/>
                    </a:solidFill>
                    <a:latin typeface="Arial" panose="020B0604020202090204"/>
                    <a:ea typeface="微软雅黑"/>
                    <a:cs typeface="Arial" panose="020B0604020202090204"/>
                  </a:rPr>
                  <a:t> — 参数校准 — 配置注入 — 在线仿真 — 结果归档」的平台</a:t>
                </a:r>
                <a:r>
                  <a:rPr lang="zh-CN" sz="1600" b="1" dirty="0">
                    <a:solidFill>
                      <a:srgbClr val="1B3A5B"/>
                    </a:solidFill>
                    <a:latin typeface="Arial" panose="020B0604020202090204"/>
                    <a:ea typeface="微软雅黑"/>
                    <a:cs typeface="Arial" panose="020B0604020202090204"/>
                  </a:rPr>
                  <a:t>闭环</a:t>
                </a:r>
                <a:r>
                  <a:rPr lang="zh-CN" sz="1600" dirty="0">
                    <a:solidFill>
                      <a:srgbClr val="2B2B2B"/>
                    </a:solidFill>
                    <a:latin typeface="Arial" panose="020B0604020202090204"/>
                    <a:ea typeface="微软雅黑"/>
                    <a:cs typeface="Arial" panose="020B0604020202090204"/>
                  </a:rPr>
                  <a:t>。</a:t>
                </a:r>
              </a:p>
            </p:txBody>
          </p:sp>
        </p:grpSp>
      </p:grpSp>
      <p:grpSp>
        <p:nvGrpSpPr>
          <p:cNvPr id="54" name="Group 54"/>
          <p:cNvGrpSpPr/>
          <p:nvPr/>
        </p:nvGrpSpPr>
        <p:grpSpPr>
          <a:xfrm>
            <a:off x="609600" y="5143500"/>
            <a:ext cx="10972800" cy="914400"/>
            <a:chOff x="609600" y="5143500"/>
            <a:chExt cx="10972800" cy="914400"/>
          </a:xfrm>
        </p:grpSpPr>
        <p:sp>
          <p:nvSpPr>
            <p:cNvPr id="50" name="Rectangle 50"/>
            <p:cNvSpPr/>
            <p:nvPr/>
          </p:nvSpPr>
          <p:spPr>
            <a:xfrm>
              <a:off x="609600" y="5143500"/>
              <a:ext cx="10972800" cy="914400"/>
            </a:xfrm>
            <a:prstGeom prst="roundRect">
              <a:avLst>
                <a:gd name="adj" fmla="val 4167"/>
              </a:avLst>
            </a:prstGeom>
            <a:solidFill>
              <a:srgbClr val="1B3A5B"/>
            </a:solidFill>
            <a:ln>
              <a:noFill/>
            </a:ln>
          </p:spPr>
          <p:txBody>
            <a:bodyPr/>
            <a:lstStyle/>
            <a:p>
              <a:endParaRPr lang="zh-CN" altLang="en-US"/>
            </a:p>
          </p:txBody>
        </p:sp>
        <p:sp>
          <p:nvSpPr>
            <p:cNvPr id="51" name="Rectangle 51"/>
            <p:cNvSpPr/>
            <p:nvPr/>
          </p:nvSpPr>
          <p:spPr>
            <a:xfrm>
              <a:off x="609600" y="5143500"/>
              <a:ext cx="57150" cy="914400"/>
            </a:xfrm>
            <a:prstGeom prst="rect">
              <a:avLst/>
            </a:prstGeom>
            <a:solidFill>
              <a:srgbClr val="C8A24B"/>
            </a:solidFill>
            <a:ln>
              <a:noFill/>
            </a:ln>
          </p:spPr>
          <p:txBody>
            <a:bodyPr/>
            <a:lstStyle/>
            <a:p>
              <a:endParaRPr lang="zh-CN" altLang="en-US"/>
            </a:p>
          </p:txBody>
        </p:sp>
        <p:sp>
          <p:nvSpPr>
            <p:cNvPr id="53" name="TextBox 53"/>
            <p:cNvSpPr txBox="1"/>
            <p:nvPr/>
          </p:nvSpPr>
          <p:spPr>
            <a:xfrm>
              <a:off x="934896" y="5514976"/>
              <a:ext cx="6976269" cy="246221"/>
            </a:xfrm>
            <a:prstGeom prst="rect">
              <a:avLst/>
            </a:prstGeom>
            <a:noFill/>
            <a:ln>
              <a:noFill/>
            </a:ln>
          </p:spPr>
          <p:txBody>
            <a:bodyPr wrap="none" lIns="0" tIns="0" rIns="0" bIns="0" anchor="t" anchorCtr="0">
              <a:spAutoFit/>
            </a:bodyPr>
            <a:lstStyle/>
            <a:p>
              <a:pPr algn="l"/>
              <a:r>
                <a:rPr lang="zh-CN" sz="1600" dirty="0">
                  <a:solidFill>
                    <a:srgbClr val="FAF8F4"/>
                  </a:solidFill>
                  <a:latin typeface="Arial" panose="020B0604020202090204"/>
                  <a:ea typeface="微软雅黑"/>
                  <a:cs typeface="Arial" panose="020B0604020202090204"/>
                </a:rPr>
                <a:t>推荐参数不再由研究者主观设定，而是</a:t>
              </a:r>
              <a:r>
                <a:rPr lang="zh-CN" sz="1600" b="1" dirty="0">
                  <a:solidFill>
                    <a:srgbClr val="C8A24B"/>
                  </a:solidFill>
                  <a:latin typeface="Arial" panose="020B0604020202090204"/>
                  <a:ea typeface="微软雅黑"/>
                  <a:cs typeface="Arial" panose="020B0604020202090204"/>
                </a:rPr>
                <a:t>由真实传播数据校准</a:t>
              </a:r>
              <a:r>
                <a:rPr lang="zh-CN" sz="1600" dirty="0">
                  <a:solidFill>
                    <a:srgbClr val="FAF8F4"/>
                  </a:solidFill>
                  <a:latin typeface="Arial" panose="020B0604020202090204"/>
                  <a:ea typeface="微软雅黑"/>
                  <a:cs typeface="Arial" panose="020B0604020202090204"/>
                </a:rPr>
                <a:t>后进入在线仿真。</a:t>
              </a:r>
            </a:p>
          </p:txBody>
        </p:sp>
      </p:grpSp>
      <p:grpSp>
        <p:nvGrpSpPr>
          <p:cNvPr id="58" name="Group 58"/>
          <p:cNvGrpSpPr/>
          <p:nvPr/>
        </p:nvGrpSpPr>
        <p:grpSpPr>
          <a:xfrm>
            <a:off x="598170" y="6515100"/>
            <a:ext cx="10995661" cy="276225"/>
            <a:chOff x="598170" y="6515100"/>
            <a:chExt cx="10995661" cy="276225"/>
          </a:xfrm>
        </p:grpSpPr>
        <p:sp>
          <p:nvSpPr>
            <p:cNvPr id="55" name="Line 55"/>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56" name="TextBox 56"/>
            <p:cNvSpPr txBox="1"/>
            <p:nvPr/>
          </p:nvSpPr>
          <p:spPr>
            <a:xfrm>
              <a:off x="598170" y="6608445"/>
              <a:ext cx="1823085" cy="182880"/>
            </a:xfrm>
            <a:prstGeom prst="rect">
              <a:avLst/>
            </a:prstGeom>
            <a:noFill/>
            <a:ln>
              <a:noFill/>
            </a:ln>
          </p:spPr>
          <p:txBody>
            <a:bodyPr wrap="none" lIns="0" tIns="0" rIns="0" bIns="0" anchor="t" anchorCtr="0">
              <a:spAutoFit/>
            </a:bodyPr>
            <a:lstStyle/>
            <a:p>
              <a:pPr algn="l"/>
              <a:r>
                <a:rPr lang="zh-CN" sz="900" dirty="0">
                  <a:solidFill>
                    <a:srgbClr val="8C8C82"/>
                  </a:solidFill>
                  <a:latin typeface="Arial" panose="020B0604020202090204"/>
                  <a:ea typeface="微软雅黑"/>
                  <a:cs typeface="Arial" panose="020B0604020202090204"/>
                </a:rPr>
                <a:t>融合推荐机制校准的社交仿真平台</a:t>
              </a:r>
            </a:p>
          </p:txBody>
        </p:sp>
        <p:sp>
          <p:nvSpPr>
            <p:cNvPr id="57" name="TextBox 57"/>
            <p:cNvSpPr txBox="1"/>
            <p:nvPr/>
          </p:nvSpPr>
          <p:spPr>
            <a:xfrm>
              <a:off x="11438954" y="6608445"/>
              <a:ext cx="154877" cy="182880"/>
            </a:xfrm>
            <a:prstGeom prst="rect">
              <a:avLst/>
            </a:prstGeom>
            <a:noFill/>
            <a:ln>
              <a:noFill/>
            </a:ln>
          </p:spPr>
          <p:txBody>
            <a:bodyPr wrap="none" lIns="0" tIns="0" rIns="0" bIns="0" anchor="t" anchorCtr="0">
              <a:spAutoFit/>
            </a:bodyPr>
            <a:lstStyle/>
            <a:p>
              <a:pPr algn="r"/>
              <a:r>
                <a:rPr lang="en-US" sz="900" dirty="0">
                  <a:solidFill>
                    <a:srgbClr val="8C8C82"/>
                  </a:solidFill>
                  <a:latin typeface="Cambria"/>
                  <a:ea typeface="Cambria"/>
                  <a:cs typeface="Cambria"/>
                </a:rPr>
                <a:t>04</a:t>
              </a:r>
            </a:p>
          </p:txBody>
        </p:sp>
      </p:grpSp>
      <p:pic>
        <p:nvPicPr>
          <p:cNvPr id="59" name="Image 7"/>
          <p:cNvPicPr>
            <a:picLocks noChangeAspect="1"/>
          </p:cNvPicPr>
          <p:nvPr/>
        </p:nvPicPr>
        <p:blipFill>
          <a:blip r:embed="rId3"/>
          <a:stretch>
            <a:fillRect/>
          </a:stretch>
        </p:blipFill>
        <p:spPr>
          <a:xfrm>
            <a:off x="10919012" y="-13055"/>
            <a:ext cx="663388" cy="84676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0" y="0"/>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a:p>
          </p:txBody>
        </p:sp>
      </p:grpSp>
      <p:grpSp>
        <p:nvGrpSpPr>
          <p:cNvPr id="9" name="Group 9"/>
          <p:cNvGrpSpPr/>
          <p:nvPr/>
        </p:nvGrpSpPr>
        <p:grpSpPr>
          <a:xfrm>
            <a:off x="590550" y="523875"/>
            <a:ext cx="10991850" cy="400050"/>
            <a:chOff x="590550" y="523875"/>
            <a:chExt cx="10991850" cy="400050"/>
          </a:xfrm>
        </p:grpSpPr>
        <p:sp>
          <p:nvSpPr>
            <p:cNvPr id="6" name="TextBox 6"/>
            <p:cNvSpPr txBox="1"/>
            <p:nvPr/>
          </p:nvSpPr>
          <p:spPr>
            <a:xfrm>
              <a:off x="590550" y="523875"/>
              <a:ext cx="1802321" cy="304800"/>
            </a:xfrm>
            <a:prstGeom prst="rect">
              <a:avLst/>
            </a:prstGeom>
            <a:noFill/>
            <a:ln>
              <a:noFill/>
            </a:ln>
          </p:spPr>
          <p:txBody>
            <a:bodyPr wrap="none" lIns="0" tIns="0" rIns="0" bIns="0" anchor="t" anchorCtr="0">
              <a:spAutoFit/>
            </a:bodyPr>
            <a:lstStyle/>
            <a:p>
              <a:pPr algn="l"/>
              <a:r>
                <a:rPr lang="en-US" sz="1500" b="1" dirty="0">
                  <a:solidFill>
                    <a:srgbClr val="1B3A5B"/>
                  </a:solidFill>
                  <a:latin typeface="Cambria"/>
                  <a:ea typeface="Cambria"/>
                  <a:cs typeface="Cambria"/>
                </a:rPr>
                <a:t>02 </a:t>
              </a:r>
              <a:r>
                <a:rPr lang="zh-CN" sz="1200" b="1" dirty="0">
                  <a:solidFill>
                    <a:srgbClr val="5A5A52"/>
                  </a:solidFill>
                  <a:latin typeface="Arial" panose="020B0604020202090204"/>
                  <a:ea typeface="微软雅黑"/>
                  <a:cs typeface="Arial" panose="020B0604020202090204"/>
                </a:rPr>
                <a:t>国内外研究现状</a:t>
              </a:r>
            </a:p>
          </p:txBody>
        </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19050">
              <a:solidFill>
                <a:srgbClr val="1B3A5B"/>
              </a:solidFill>
            </a:ln>
          </p:spPr>
          <p:txBody>
            <a:bodyPr/>
            <a:lstStyle/>
            <a:p>
              <a:endParaRPr lang="zh-CN" altLang="en-US"/>
            </a:p>
          </p:txBody>
        </p:sp>
      </p:grpSp>
      <p:grpSp>
        <p:nvGrpSpPr>
          <p:cNvPr id="12" name="Group 12"/>
          <p:cNvGrpSpPr/>
          <p:nvPr/>
        </p:nvGrpSpPr>
        <p:grpSpPr>
          <a:xfrm>
            <a:off x="577215" y="1210628"/>
            <a:ext cx="2595880" cy="484822"/>
            <a:chOff x="577215" y="1210628"/>
            <a:chExt cx="2595880" cy="484822"/>
          </a:xfrm>
        </p:grpSpPr>
        <p:sp>
          <p:nvSpPr>
            <p:cNvPr id="10" name="TextBox 10"/>
            <p:cNvSpPr txBox="1"/>
            <p:nvPr/>
          </p:nvSpPr>
          <p:spPr>
            <a:xfrm>
              <a:off x="577215" y="1210628"/>
              <a:ext cx="2595880" cy="391795"/>
            </a:xfrm>
            <a:prstGeom prst="rect">
              <a:avLst/>
            </a:prstGeom>
            <a:noFill/>
            <a:ln>
              <a:noFill/>
            </a:ln>
          </p:spPr>
          <p:txBody>
            <a:bodyPr wrap="none" lIns="0" tIns="0" rIns="0" bIns="0" anchor="t" anchorCtr="0">
              <a:spAutoFit/>
            </a:bodyPr>
            <a:lstStyle/>
            <a:p>
              <a:pPr algn="l"/>
              <a:r>
                <a:rPr lang="zh-CN" sz="2550" b="1" dirty="0">
                  <a:solidFill>
                    <a:srgbClr val="1B3A5B"/>
                  </a:solidFill>
                  <a:latin typeface="Cambria"/>
                  <a:ea typeface="宋体"/>
                  <a:cs typeface="Cambria"/>
                </a:rPr>
                <a:t>社交仿真主流方法</a:t>
              </a:r>
            </a:p>
          </p:txBody>
        </p:sp>
        <p:sp>
          <p:nvSpPr>
            <p:cNvPr id="11" name="Rectangle 11"/>
            <p:cNvSpPr/>
            <p:nvPr/>
          </p:nvSpPr>
          <p:spPr>
            <a:xfrm>
              <a:off x="609600" y="1657350"/>
              <a:ext cx="533400" cy="38100"/>
            </a:xfrm>
            <a:prstGeom prst="rect">
              <a:avLst/>
            </a:prstGeom>
            <a:solidFill>
              <a:srgbClr val="C8A24B"/>
            </a:solidFill>
            <a:ln>
              <a:noFill/>
            </a:ln>
          </p:spPr>
          <p:txBody>
            <a:bodyPr/>
            <a:lstStyle/>
            <a:p>
              <a:endParaRPr lang="zh-CN" altLang="en-US"/>
            </a:p>
          </p:txBody>
        </p:sp>
      </p:grpSp>
      <p:grpSp>
        <p:nvGrpSpPr>
          <p:cNvPr id="55" name="Group 55"/>
          <p:cNvGrpSpPr/>
          <p:nvPr/>
        </p:nvGrpSpPr>
        <p:grpSpPr>
          <a:xfrm>
            <a:off x="609600" y="1962150"/>
            <a:ext cx="10972800" cy="3009900"/>
            <a:chOff x="609600" y="1962150"/>
            <a:chExt cx="10972800" cy="3009900"/>
          </a:xfrm>
        </p:grpSpPr>
        <p:grpSp>
          <p:nvGrpSpPr>
            <p:cNvPr id="25" name="Group 25"/>
            <p:cNvGrpSpPr/>
            <p:nvPr/>
          </p:nvGrpSpPr>
          <p:grpSpPr>
            <a:xfrm>
              <a:off x="609600" y="1962150"/>
              <a:ext cx="3448050" cy="3009900"/>
              <a:chOff x="609600" y="1962150"/>
              <a:chExt cx="3448050" cy="3009900"/>
            </a:xfrm>
          </p:grpSpPr>
          <p:sp>
            <p:nvSpPr>
              <p:cNvPr id="13" name="Rectangle 13"/>
              <p:cNvSpPr/>
              <p:nvPr/>
            </p:nvSpPr>
            <p:spPr>
              <a:xfrm>
                <a:off x="609600" y="1962150"/>
                <a:ext cx="3448050" cy="3009900"/>
              </a:xfrm>
              <a:prstGeom prst="roundRect">
                <a:avLst>
                  <a:gd name="adj" fmla="val 1266"/>
                </a:avLst>
              </a:prstGeom>
              <a:solidFill>
                <a:srgbClr val="FFFFFF"/>
              </a:solidFill>
              <a:ln w="9525">
                <a:solidFill>
                  <a:srgbClr val="D8D0C2"/>
                </a:solidFill>
              </a:ln>
            </p:spPr>
            <p:txBody>
              <a:bodyPr/>
              <a:lstStyle/>
              <a:p>
                <a:endParaRPr lang="zh-CN" altLang="en-US"/>
              </a:p>
            </p:txBody>
          </p:sp>
          <p:sp>
            <p:nvSpPr>
              <p:cNvPr id="14" name="Rectangle 14"/>
              <p:cNvSpPr/>
              <p:nvPr/>
            </p:nvSpPr>
            <p:spPr>
              <a:xfrm>
                <a:off x="609600" y="1962150"/>
                <a:ext cx="3448050" cy="609600"/>
              </a:xfrm>
              <a:prstGeom prst="roundRect">
                <a:avLst>
                  <a:gd name="adj" fmla="val 6250"/>
                </a:avLst>
              </a:prstGeom>
              <a:solidFill>
                <a:srgbClr val="1B3A5B"/>
              </a:solidFill>
              <a:ln>
                <a:noFill/>
              </a:ln>
            </p:spPr>
            <p:txBody>
              <a:bodyPr/>
              <a:lstStyle/>
              <a:p>
                <a:endParaRPr lang="zh-CN" altLang="en-US"/>
              </a:p>
            </p:txBody>
          </p:sp>
          <p:sp>
            <p:nvSpPr>
              <p:cNvPr id="15" name="Rectangle 15"/>
              <p:cNvSpPr/>
              <p:nvPr/>
            </p:nvSpPr>
            <p:spPr>
              <a:xfrm>
                <a:off x="609600" y="2381250"/>
                <a:ext cx="3448050" cy="190500"/>
              </a:xfrm>
              <a:prstGeom prst="rect">
                <a:avLst/>
              </a:prstGeom>
              <a:solidFill>
                <a:srgbClr val="1B3A5B"/>
              </a:solidFill>
              <a:ln>
                <a:noFill/>
              </a:ln>
            </p:spPr>
            <p:txBody>
              <a:bodyPr/>
              <a:lstStyle/>
              <a:p>
                <a:endParaRPr lang="zh-CN" altLang="en-US"/>
              </a:p>
            </p:txBody>
          </p:sp>
          <p:grpSp>
            <p:nvGrpSpPr>
              <p:cNvPr id="20" name="Group 20"/>
              <p:cNvGrpSpPr/>
              <p:nvPr/>
            </p:nvGrpSpPr>
            <p:grpSpPr>
              <a:xfrm>
                <a:off x="876300" y="2152650"/>
                <a:ext cx="228600" cy="228599"/>
                <a:chOff x="876300" y="2152650"/>
                <a:chExt cx="228600" cy="228599"/>
              </a:xfrm>
            </p:grpSpPr>
            <p:sp>
              <p:nvSpPr>
                <p:cNvPr id="16" name="Freeform 16"/>
                <p:cNvSpPr/>
                <p:nvPr/>
              </p:nvSpPr>
              <p:spPr>
                <a:xfrm>
                  <a:off x="876300" y="2152650"/>
                  <a:ext cx="127000" cy="228599"/>
                </a:xfrm>
                <a:custGeom>
                  <a:avLst/>
                  <a:gdLst/>
                  <a:ahLst/>
                  <a:cxnLst/>
                  <a:rect l="l" t="t" r="r" b="b"/>
                  <a:pathLst>
                    <a:path w="127000" h="228599">
                      <a:moveTo>
                        <a:pt x="0" y="203199"/>
                      </a:moveTo>
                      <a:cubicBezTo>
                        <a:pt x="0" y="217227"/>
                        <a:pt x="11372" y="228599"/>
                        <a:pt x="25400" y="228599"/>
                      </a:cubicBezTo>
                      <a:cubicBezTo>
                        <a:pt x="50800" y="228599"/>
                        <a:pt x="50800" y="177800"/>
                        <a:pt x="63500" y="114300"/>
                      </a:cubicBezTo>
                      <a:cubicBezTo>
                        <a:pt x="76200" y="50800"/>
                        <a:pt x="76200" y="0"/>
                        <a:pt x="101600" y="0"/>
                      </a:cubicBezTo>
                      <a:cubicBezTo>
                        <a:pt x="115628" y="0"/>
                        <a:pt x="127000" y="11372"/>
                        <a:pt x="127000" y="25400"/>
                      </a:cubicBezTo>
                    </a:path>
                  </a:pathLst>
                </a:custGeom>
                <a:noFill/>
                <a:ln w="19050">
                  <a:solidFill>
                    <a:srgbClr val="FAF8F4"/>
                  </a:solidFill>
                </a:ln>
              </p:spPr>
              <p:txBody>
                <a:bodyPr/>
                <a:lstStyle/>
                <a:p>
                  <a:endParaRPr lang="zh-CN" altLang="en-US"/>
                </a:p>
              </p:txBody>
            </p:sp>
            <p:sp>
              <p:nvSpPr>
                <p:cNvPr id="17" name="Freeform 17"/>
                <p:cNvSpPr/>
                <p:nvPr/>
              </p:nvSpPr>
              <p:spPr>
                <a:xfrm>
                  <a:off x="901700" y="2266950"/>
                  <a:ext cx="76200" cy="9525"/>
                </a:xfrm>
                <a:custGeom>
                  <a:avLst/>
                  <a:gdLst/>
                  <a:ahLst/>
                  <a:cxnLst/>
                  <a:rect l="l" t="t" r="r" b="b"/>
                  <a:pathLst>
                    <a:path w="76200" h="9525">
                      <a:moveTo>
                        <a:pt x="0" y="0"/>
                      </a:moveTo>
                      <a:lnTo>
                        <a:pt x="76200" y="0"/>
                      </a:lnTo>
                    </a:path>
                  </a:pathLst>
                </a:custGeom>
                <a:noFill/>
                <a:ln w="19050">
                  <a:solidFill>
                    <a:srgbClr val="FAF8F4"/>
                  </a:solidFill>
                </a:ln>
              </p:spPr>
              <p:txBody>
                <a:bodyPr/>
                <a:lstStyle/>
                <a:p>
                  <a:endParaRPr lang="zh-CN" altLang="en-US"/>
                </a:p>
              </p:txBody>
            </p:sp>
            <p:sp>
              <p:nvSpPr>
                <p:cNvPr id="18" name="Freeform 18"/>
                <p:cNvSpPr/>
                <p:nvPr/>
              </p:nvSpPr>
              <p:spPr>
                <a:xfrm>
                  <a:off x="1028700" y="2266950"/>
                  <a:ext cx="76200" cy="76200"/>
                </a:xfrm>
                <a:custGeom>
                  <a:avLst/>
                  <a:gdLst/>
                  <a:ahLst/>
                  <a:cxnLst/>
                  <a:rect l="l" t="t" r="r" b="b"/>
                  <a:pathLst>
                    <a:path w="76200" h="76200">
                      <a:moveTo>
                        <a:pt x="0" y="0"/>
                      </a:moveTo>
                      <a:lnTo>
                        <a:pt x="76200" y="76200"/>
                      </a:lnTo>
                    </a:path>
                  </a:pathLst>
                </a:custGeom>
                <a:noFill/>
                <a:ln w="19050">
                  <a:solidFill>
                    <a:srgbClr val="FAF8F4"/>
                  </a:solidFill>
                </a:ln>
              </p:spPr>
              <p:txBody>
                <a:bodyPr/>
                <a:lstStyle/>
                <a:p>
                  <a:endParaRPr lang="zh-CN" altLang="en-US"/>
                </a:p>
              </p:txBody>
            </p:sp>
            <p:sp>
              <p:nvSpPr>
                <p:cNvPr id="19" name="Freeform 19"/>
                <p:cNvSpPr/>
                <p:nvPr/>
              </p:nvSpPr>
              <p:spPr>
                <a:xfrm>
                  <a:off x="1028700" y="2266950"/>
                  <a:ext cx="76200" cy="76200"/>
                </a:xfrm>
                <a:custGeom>
                  <a:avLst/>
                  <a:gdLst/>
                  <a:ahLst/>
                  <a:cxnLst/>
                  <a:rect l="l" t="t" r="r" b="b"/>
                  <a:pathLst>
                    <a:path w="76200" h="76200">
                      <a:moveTo>
                        <a:pt x="0" y="76200"/>
                      </a:moveTo>
                      <a:lnTo>
                        <a:pt x="76200" y="0"/>
                      </a:lnTo>
                    </a:path>
                  </a:pathLst>
                </a:custGeom>
                <a:noFill/>
                <a:ln w="19050">
                  <a:solidFill>
                    <a:srgbClr val="FAF8F4"/>
                  </a:solidFill>
                </a:ln>
              </p:spPr>
              <p:txBody>
                <a:bodyPr/>
                <a:lstStyle/>
                <a:p>
                  <a:endParaRPr lang="zh-CN" altLang="en-US"/>
                </a:p>
              </p:txBody>
            </p:sp>
          </p:grpSp>
          <p:sp>
            <p:nvSpPr>
              <p:cNvPr id="21" name="TextBox 21"/>
              <p:cNvSpPr txBox="1"/>
              <p:nvPr/>
            </p:nvSpPr>
            <p:spPr>
              <a:xfrm>
                <a:off x="1225413" y="2151489"/>
                <a:ext cx="2492092" cy="276999"/>
              </a:xfrm>
              <a:prstGeom prst="rect">
                <a:avLst/>
              </a:prstGeom>
              <a:noFill/>
              <a:ln>
                <a:noFill/>
              </a:ln>
            </p:spPr>
            <p:txBody>
              <a:bodyPr wrap="none" lIns="0" tIns="0" rIns="0" bIns="0" anchor="t" anchorCtr="0">
                <a:spAutoFit/>
              </a:bodyPr>
              <a:lstStyle/>
              <a:p>
                <a:pPr algn="l"/>
                <a:r>
                  <a:rPr lang="zh-CN" b="1" dirty="0">
                    <a:solidFill>
                      <a:srgbClr val="FAF8F4"/>
                    </a:solidFill>
                    <a:latin typeface="Arial" panose="020B0604020202090204"/>
                    <a:ea typeface="微软雅黑"/>
                    <a:cs typeface="Arial" panose="020B0604020202090204"/>
                  </a:rPr>
                  <a:t>规则 ABM 与传播动力学</a:t>
                </a:r>
              </a:p>
            </p:txBody>
          </p:sp>
          <p:sp>
            <p:nvSpPr>
              <p:cNvPr id="22" name="TextBox 22"/>
              <p:cNvSpPr txBox="1"/>
              <p:nvPr/>
            </p:nvSpPr>
            <p:spPr>
              <a:xfrm>
                <a:off x="861059" y="2842260"/>
                <a:ext cx="2585085" cy="510540"/>
              </a:xfrm>
              <a:prstGeom prst="rect">
                <a:avLst/>
              </a:prstGeom>
              <a:noFill/>
              <a:ln>
                <a:noFill/>
              </a:ln>
            </p:spPr>
            <p:txBody>
              <a:bodyPr wrap="square" lIns="0" tIns="0" rIns="0" bIns="0" anchor="t" anchorCtr="0"/>
              <a:lstStyle/>
              <a:p>
                <a:pPr algn="l">
                  <a:lnSpc>
                    <a:spcPts val="2100"/>
                  </a:lnSpc>
                </a:pPr>
                <a:r>
                  <a:rPr lang="zh-CN" sz="1600" dirty="0">
                    <a:solidFill>
                      <a:srgbClr val="2B2B2B"/>
                    </a:solidFill>
                    <a:latin typeface="Arial" panose="020B0604020202090204"/>
                    <a:ea typeface="微软雅黑"/>
                    <a:cs typeface="Arial" panose="020B0604020202090204"/>
                  </a:rPr>
                  <a:t>Bounded Confidence、SIR、Hawkes、元胞自动机等模型。</a:t>
                </a:r>
              </a:p>
            </p:txBody>
          </p:sp>
          <p:sp>
            <p:nvSpPr>
              <p:cNvPr id="23" name="TextBox 23"/>
              <p:cNvSpPr txBox="1"/>
              <p:nvPr/>
            </p:nvSpPr>
            <p:spPr>
              <a:xfrm>
                <a:off x="862012" y="3612356"/>
                <a:ext cx="1441100" cy="215444"/>
              </a:xfrm>
              <a:prstGeom prst="rect">
                <a:avLst/>
              </a:prstGeom>
              <a:noFill/>
              <a:ln>
                <a:noFill/>
              </a:ln>
            </p:spPr>
            <p:txBody>
              <a:bodyPr wrap="none" lIns="0" tIns="0" rIns="0" bIns="0" anchor="t" anchorCtr="0">
                <a:spAutoFit/>
              </a:bodyPr>
              <a:lstStyle/>
              <a:p>
                <a:pPr algn="l"/>
                <a:r>
                  <a:rPr lang="zh-CN" sz="1400" dirty="0">
                    <a:solidFill>
                      <a:srgbClr val="3C7A5A"/>
                    </a:solidFill>
                    <a:latin typeface="Arial" panose="020B0604020202090204"/>
                    <a:ea typeface="微软雅黑"/>
                    <a:cs typeface="Arial" panose="020B0604020202090204"/>
                  </a:rPr>
                  <a:t>✓ 成本低、可解释</a:t>
                </a:r>
              </a:p>
            </p:txBody>
          </p:sp>
          <p:sp>
            <p:nvSpPr>
              <p:cNvPr id="24" name="TextBox 24"/>
              <p:cNvSpPr txBox="1"/>
              <p:nvPr/>
            </p:nvSpPr>
            <p:spPr>
              <a:xfrm>
                <a:off x="862012" y="3917156"/>
                <a:ext cx="2584132" cy="476250"/>
              </a:xfrm>
              <a:prstGeom prst="rect">
                <a:avLst/>
              </a:prstGeom>
              <a:noFill/>
              <a:ln>
                <a:noFill/>
              </a:ln>
            </p:spPr>
            <p:txBody>
              <a:bodyPr wrap="square" lIns="0" tIns="0" rIns="0" bIns="0" anchor="t" anchorCtr="0"/>
              <a:lstStyle/>
              <a:p>
                <a:pPr algn="l">
                  <a:lnSpc>
                    <a:spcPts val="1950"/>
                  </a:lnSpc>
                </a:pPr>
                <a:r>
                  <a:rPr lang="zh-CN" sz="1400" dirty="0">
                    <a:solidFill>
                      <a:srgbClr val="B24A38"/>
                    </a:solidFill>
                    <a:latin typeface="Arial" panose="020B0604020202090204"/>
                    <a:ea typeface="微软雅黑"/>
                    <a:cs typeface="Arial" panose="020B0604020202090204"/>
                  </a:rPr>
                  <a:t>弱在文本生成与个体行为解释。</a:t>
                </a:r>
              </a:p>
            </p:txBody>
          </p:sp>
        </p:grpSp>
        <p:grpSp>
          <p:nvGrpSpPr>
            <p:cNvPr id="42" name="Group 42"/>
            <p:cNvGrpSpPr/>
            <p:nvPr/>
          </p:nvGrpSpPr>
          <p:grpSpPr>
            <a:xfrm>
              <a:off x="4371975" y="1962150"/>
              <a:ext cx="3448050" cy="3009900"/>
              <a:chOff x="4371975" y="1962150"/>
              <a:chExt cx="3448050" cy="3009900"/>
            </a:xfrm>
          </p:grpSpPr>
          <p:sp>
            <p:nvSpPr>
              <p:cNvPr id="26" name="Rectangle 26"/>
              <p:cNvSpPr/>
              <p:nvPr/>
            </p:nvSpPr>
            <p:spPr>
              <a:xfrm>
                <a:off x="4371975" y="1962150"/>
                <a:ext cx="3448050" cy="3009900"/>
              </a:xfrm>
              <a:prstGeom prst="roundRect">
                <a:avLst>
                  <a:gd name="adj" fmla="val 1266"/>
                </a:avLst>
              </a:prstGeom>
              <a:solidFill>
                <a:srgbClr val="FFFFFF"/>
              </a:solidFill>
              <a:ln w="9525">
                <a:solidFill>
                  <a:srgbClr val="D8D0C2"/>
                </a:solidFill>
              </a:ln>
            </p:spPr>
            <p:txBody>
              <a:bodyPr/>
              <a:lstStyle/>
              <a:p>
                <a:endParaRPr lang="zh-CN" altLang="en-US"/>
              </a:p>
            </p:txBody>
          </p:sp>
          <p:sp>
            <p:nvSpPr>
              <p:cNvPr id="27" name="Rectangle 27"/>
              <p:cNvSpPr/>
              <p:nvPr/>
            </p:nvSpPr>
            <p:spPr>
              <a:xfrm>
                <a:off x="4371975" y="1962150"/>
                <a:ext cx="3448050" cy="609600"/>
              </a:xfrm>
              <a:prstGeom prst="roundRect">
                <a:avLst>
                  <a:gd name="adj" fmla="val 6250"/>
                </a:avLst>
              </a:prstGeom>
              <a:solidFill>
                <a:srgbClr val="C8A24B"/>
              </a:solidFill>
              <a:ln>
                <a:noFill/>
              </a:ln>
            </p:spPr>
            <p:txBody>
              <a:bodyPr/>
              <a:lstStyle/>
              <a:p>
                <a:endParaRPr lang="zh-CN" altLang="en-US"/>
              </a:p>
            </p:txBody>
          </p:sp>
          <p:sp>
            <p:nvSpPr>
              <p:cNvPr id="28" name="Rectangle 28"/>
              <p:cNvSpPr/>
              <p:nvPr/>
            </p:nvSpPr>
            <p:spPr>
              <a:xfrm>
                <a:off x="4371975" y="2381250"/>
                <a:ext cx="3448050" cy="190500"/>
              </a:xfrm>
              <a:prstGeom prst="rect">
                <a:avLst/>
              </a:prstGeom>
              <a:solidFill>
                <a:srgbClr val="C8A24B"/>
              </a:solidFill>
              <a:ln>
                <a:noFill/>
              </a:ln>
            </p:spPr>
            <p:txBody>
              <a:bodyPr/>
              <a:lstStyle/>
              <a:p>
                <a:endParaRPr lang="zh-CN" altLang="en-US"/>
              </a:p>
            </p:txBody>
          </p:sp>
          <p:grpSp>
            <p:nvGrpSpPr>
              <p:cNvPr id="38" name="Group 38"/>
              <p:cNvGrpSpPr/>
              <p:nvPr/>
            </p:nvGrpSpPr>
            <p:grpSpPr>
              <a:xfrm>
                <a:off x="4664075" y="2139950"/>
                <a:ext cx="177800" cy="241300"/>
                <a:chOff x="4664075" y="2139950"/>
                <a:chExt cx="177800" cy="241300"/>
              </a:xfrm>
            </p:grpSpPr>
            <p:sp>
              <p:nvSpPr>
                <p:cNvPr id="29" name="Freeform 29"/>
                <p:cNvSpPr/>
                <p:nvPr/>
              </p:nvSpPr>
              <p:spPr>
                <a:xfrm>
                  <a:off x="4676775" y="2165350"/>
                  <a:ext cx="152400" cy="101600"/>
                </a:xfrm>
                <a:custGeom>
                  <a:avLst/>
                  <a:gdLst/>
                  <a:ahLst/>
                  <a:cxnLst/>
                  <a:rect l="l" t="t" r="r" b="b"/>
                  <a:pathLst>
                    <a:path w="152400" h="101600">
                      <a:moveTo>
                        <a:pt x="0" y="25400"/>
                      </a:moveTo>
                      <a:cubicBezTo>
                        <a:pt x="0" y="11372"/>
                        <a:pt x="11372" y="0"/>
                        <a:pt x="25400" y="0"/>
                      </a:cubicBezTo>
                      <a:lnTo>
                        <a:pt x="127000" y="0"/>
                      </a:lnTo>
                      <a:cubicBezTo>
                        <a:pt x="141028" y="0"/>
                        <a:pt x="152400" y="11372"/>
                        <a:pt x="152400" y="25400"/>
                      </a:cubicBezTo>
                      <a:lnTo>
                        <a:pt x="152400" y="76200"/>
                      </a:lnTo>
                      <a:cubicBezTo>
                        <a:pt x="152400" y="90228"/>
                        <a:pt x="141028" y="101600"/>
                        <a:pt x="127000" y="101600"/>
                      </a:cubicBezTo>
                      <a:lnTo>
                        <a:pt x="25400" y="101600"/>
                      </a:lnTo>
                      <a:cubicBezTo>
                        <a:pt x="11372" y="101600"/>
                        <a:pt x="0" y="90228"/>
                        <a:pt x="0" y="76200"/>
                      </a:cubicBezTo>
                      <a:lnTo>
                        <a:pt x="0" y="25400"/>
                      </a:lnTo>
                    </a:path>
                  </a:pathLst>
                </a:custGeom>
                <a:noFill/>
                <a:ln w="19050">
                  <a:solidFill>
                    <a:srgbClr val="FFFFFF"/>
                  </a:solidFill>
                </a:ln>
              </p:spPr>
              <p:txBody>
                <a:bodyPr/>
                <a:lstStyle/>
                <a:p>
                  <a:endParaRPr lang="zh-CN" altLang="en-US"/>
                </a:p>
              </p:txBody>
            </p:sp>
            <p:sp>
              <p:nvSpPr>
                <p:cNvPr id="30" name="Freeform 30"/>
                <p:cNvSpPr/>
                <p:nvPr/>
              </p:nvSpPr>
              <p:spPr>
                <a:xfrm>
                  <a:off x="4752975" y="2139950"/>
                  <a:ext cx="9525" cy="25400"/>
                </a:xfrm>
                <a:custGeom>
                  <a:avLst/>
                  <a:gdLst/>
                  <a:ahLst/>
                  <a:cxnLst/>
                  <a:rect l="l" t="t" r="r" b="b"/>
                  <a:pathLst>
                    <a:path w="9525" h="25400">
                      <a:moveTo>
                        <a:pt x="0" y="0"/>
                      </a:moveTo>
                      <a:lnTo>
                        <a:pt x="0" y="25400"/>
                      </a:lnTo>
                    </a:path>
                  </a:pathLst>
                </a:custGeom>
                <a:noFill/>
                <a:ln w="19050">
                  <a:solidFill>
                    <a:srgbClr val="FFFFFF"/>
                  </a:solidFill>
                </a:ln>
              </p:spPr>
              <p:txBody>
                <a:bodyPr/>
                <a:lstStyle/>
                <a:p>
                  <a:endParaRPr lang="zh-CN" altLang="en-US"/>
                </a:p>
              </p:txBody>
            </p:sp>
            <p:sp>
              <p:nvSpPr>
                <p:cNvPr id="31" name="Freeform 31"/>
                <p:cNvSpPr/>
                <p:nvPr/>
              </p:nvSpPr>
              <p:spPr>
                <a:xfrm>
                  <a:off x="4714875" y="2266950"/>
                  <a:ext cx="9525" cy="114300"/>
                </a:xfrm>
                <a:custGeom>
                  <a:avLst/>
                  <a:gdLst/>
                  <a:ahLst/>
                  <a:cxnLst/>
                  <a:rect l="l" t="t" r="r" b="b"/>
                  <a:pathLst>
                    <a:path w="9525" h="114300">
                      <a:moveTo>
                        <a:pt x="0" y="0"/>
                      </a:moveTo>
                      <a:lnTo>
                        <a:pt x="0" y="114300"/>
                      </a:lnTo>
                    </a:path>
                  </a:pathLst>
                </a:custGeom>
                <a:noFill/>
                <a:ln w="19050">
                  <a:solidFill>
                    <a:srgbClr val="FFFFFF"/>
                  </a:solidFill>
                </a:ln>
              </p:spPr>
              <p:txBody>
                <a:bodyPr/>
                <a:lstStyle/>
                <a:p>
                  <a:endParaRPr lang="zh-CN" altLang="en-US"/>
                </a:p>
              </p:txBody>
            </p:sp>
            <p:sp>
              <p:nvSpPr>
                <p:cNvPr id="32" name="Freeform 32"/>
                <p:cNvSpPr/>
                <p:nvPr/>
              </p:nvSpPr>
              <p:spPr>
                <a:xfrm>
                  <a:off x="4791075" y="2266950"/>
                  <a:ext cx="9525" cy="114300"/>
                </a:xfrm>
                <a:custGeom>
                  <a:avLst/>
                  <a:gdLst/>
                  <a:ahLst/>
                  <a:cxnLst/>
                  <a:rect l="l" t="t" r="r" b="b"/>
                  <a:pathLst>
                    <a:path w="9525" h="114300">
                      <a:moveTo>
                        <a:pt x="0" y="0"/>
                      </a:moveTo>
                      <a:lnTo>
                        <a:pt x="0" y="114300"/>
                      </a:lnTo>
                    </a:path>
                  </a:pathLst>
                </a:custGeom>
                <a:noFill/>
                <a:ln w="19050">
                  <a:solidFill>
                    <a:srgbClr val="FFFFFF"/>
                  </a:solidFill>
                </a:ln>
              </p:spPr>
              <p:txBody>
                <a:bodyPr/>
                <a:lstStyle/>
                <a:p>
                  <a:endParaRPr lang="zh-CN" altLang="en-US"/>
                </a:p>
              </p:txBody>
            </p:sp>
            <p:sp>
              <p:nvSpPr>
                <p:cNvPr id="33" name="Freeform 33"/>
                <p:cNvSpPr/>
                <p:nvPr/>
              </p:nvSpPr>
              <p:spPr>
                <a:xfrm>
                  <a:off x="4664075" y="2292350"/>
                  <a:ext cx="50800" cy="25400"/>
                </a:xfrm>
                <a:custGeom>
                  <a:avLst/>
                  <a:gdLst/>
                  <a:ahLst/>
                  <a:cxnLst/>
                  <a:rect l="l" t="t" r="r" b="b"/>
                  <a:pathLst>
                    <a:path w="50800" h="25400">
                      <a:moveTo>
                        <a:pt x="0" y="25400"/>
                      </a:moveTo>
                      <a:lnTo>
                        <a:pt x="50800" y="0"/>
                      </a:lnTo>
                    </a:path>
                  </a:pathLst>
                </a:custGeom>
                <a:noFill/>
                <a:ln w="19050">
                  <a:solidFill>
                    <a:srgbClr val="FFFFFF"/>
                  </a:solidFill>
                </a:ln>
              </p:spPr>
              <p:txBody>
                <a:bodyPr/>
                <a:lstStyle/>
                <a:p>
                  <a:endParaRPr lang="zh-CN" altLang="en-US"/>
                </a:p>
              </p:txBody>
            </p:sp>
            <p:sp>
              <p:nvSpPr>
                <p:cNvPr id="34" name="Freeform 34"/>
                <p:cNvSpPr/>
                <p:nvPr/>
              </p:nvSpPr>
              <p:spPr>
                <a:xfrm>
                  <a:off x="4791075" y="2292350"/>
                  <a:ext cx="50800" cy="25400"/>
                </a:xfrm>
                <a:custGeom>
                  <a:avLst/>
                  <a:gdLst/>
                  <a:ahLst/>
                  <a:cxnLst/>
                  <a:rect l="l" t="t" r="r" b="b"/>
                  <a:pathLst>
                    <a:path w="50800" h="25400">
                      <a:moveTo>
                        <a:pt x="0" y="0"/>
                      </a:moveTo>
                      <a:lnTo>
                        <a:pt x="50800" y="25400"/>
                      </a:lnTo>
                    </a:path>
                  </a:pathLst>
                </a:custGeom>
                <a:noFill/>
                <a:ln w="19050">
                  <a:solidFill>
                    <a:srgbClr val="FFFFFF"/>
                  </a:solidFill>
                </a:ln>
              </p:spPr>
              <p:txBody>
                <a:bodyPr/>
                <a:lstStyle/>
                <a:p>
                  <a:endParaRPr lang="zh-CN" altLang="en-US"/>
                </a:p>
              </p:txBody>
            </p:sp>
            <p:sp>
              <p:nvSpPr>
                <p:cNvPr id="35" name="Freeform 35"/>
                <p:cNvSpPr/>
                <p:nvPr/>
              </p:nvSpPr>
              <p:spPr>
                <a:xfrm>
                  <a:off x="4714875" y="2343149"/>
                  <a:ext cx="76200" cy="9525"/>
                </a:xfrm>
                <a:custGeom>
                  <a:avLst/>
                  <a:gdLst/>
                  <a:ahLst/>
                  <a:cxnLst/>
                  <a:rect l="l" t="t" r="r" b="b"/>
                  <a:pathLst>
                    <a:path w="76200" h="9525">
                      <a:moveTo>
                        <a:pt x="0" y="0"/>
                      </a:moveTo>
                      <a:lnTo>
                        <a:pt x="76200" y="0"/>
                      </a:lnTo>
                    </a:path>
                  </a:pathLst>
                </a:custGeom>
                <a:noFill/>
                <a:ln w="19050">
                  <a:solidFill>
                    <a:srgbClr val="FFFFFF"/>
                  </a:solidFill>
                </a:ln>
              </p:spPr>
              <p:txBody>
                <a:bodyPr/>
                <a:lstStyle/>
                <a:p>
                  <a:endParaRPr lang="zh-CN" altLang="en-US"/>
                </a:p>
              </p:txBody>
            </p:sp>
            <p:sp>
              <p:nvSpPr>
                <p:cNvPr id="36" name="Freeform 36"/>
                <p:cNvSpPr/>
                <p:nvPr/>
              </p:nvSpPr>
              <p:spPr>
                <a:xfrm>
                  <a:off x="4727575" y="2216150"/>
                  <a:ext cx="9525" cy="9525"/>
                </a:xfrm>
                <a:custGeom>
                  <a:avLst/>
                  <a:gdLst/>
                  <a:ahLst/>
                  <a:cxnLst/>
                  <a:rect l="l" t="t" r="r" b="b"/>
                  <a:pathLst>
                    <a:path w="9525" h="9525">
                      <a:moveTo>
                        <a:pt x="0" y="0"/>
                      </a:moveTo>
                      <a:lnTo>
                        <a:pt x="0" y="127"/>
                      </a:lnTo>
                    </a:path>
                  </a:pathLst>
                </a:custGeom>
                <a:noFill/>
                <a:ln w="19050">
                  <a:solidFill>
                    <a:srgbClr val="FFFFFF"/>
                  </a:solidFill>
                </a:ln>
              </p:spPr>
              <p:txBody>
                <a:bodyPr/>
                <a:lstStyle/>
                <a:p>
                  <a:endParaRPr lang="zh-CN" altLang="en-US"/>
                </a:p>
              </p:txBody>
            </p:sp>
            <p:sp>
              <p:nvSpPr>
                <p:cNvPr id="37" name="Freeform 37"/>
                <p:cNvSpPr/>
                <p:nvPr/>
              </p:nvSpPr>
              <p:spPr>
                <a:xfrm>
                  <a:off x="4778375" y="2216150"/>
                  <a:ext cx="9525" cy="9525"/>
                </a:xfrm>
                <a:custGeom>
                  <a:avLst/>
                  <a:gdLst/>
                  <a:ahLst/>
                  <a:cxnLst/>
                  <a:rect l="l" t="t" r="r" b="b"/>
                  <a:pathLst>
                    <a:path w="9525" h="9525">
                      <a:moveTo>
                        <a:pt x="0" y="0"/>
                      </a:moveTo>
                      <a:lnTo>
                        <a:pt x="0" y="127"/>
                      </a:lnTo>
                    </a:path>
                  </a:pathLst>
                </a:custGeom>
                <a:noFill/>
                <a:ln w="19050">
                  <a:solidFill>
                    <a:srgbClr val="FFFFFF"/>
                  </a:solidFill>
                </a:ln>
              </p:spPr>
              <p:txBody>
                <a:bodyPr/>
                <a:lstStyle/>
                <a:p>
                  <a:endParaRPr lang="zh-CN" altLang="en-US"/>
                </a:p>
              </p:txBody>
            </p:sp>
          </p:grpSp>
          <p:sp>
            <p:nvSpPr>
              <p:cNvPr id="39" name="TextBox 39"/>
              <p:cNvSpPr txBox="1"/>
              <p:nvPr/>
            </p:nvSpPr>
            <p:spPr>
              <a:xfrm>
                <a:off x="4975226" y="2126853"/>
                <a:ext cx="2402324" cy="276999"/>
              </a:xfrm>
              <a:prstGeom prst="rect">
                <a:avLst/>
              </a:prstGeom>
              <a:noFill/>
              <a:ln>
                <a:noFill/>
              </a:ln>
            </p:spPr>
            <p:txBody>
              <a:bodyPr wrap="none" lIns="0" tIns="0" rIns="0" bIns="0" anchor="t" anchorCtr="0">
                <a:spAutoFit/>
              </a:bodyPr>
              <a:lstStyle/>
              <a:p>
                <a:pPr algn="l"/>
                <a:r>
                  <a:rPr lang="zh-CN" b="1" dirty="0">
                    <a:solidFill>
                      <a:srgbClr val="FFFFFF"/>
                    </a:solidFill>
                    <a:latin typeface="Arial" panose="020B0604020202090204"/>
                    <a:ea typeface="微软雅黑"/>
                    <a:cs typeface="Arial" panose="020B0604020202090204"/>
                  </a:rPr>
                  <a:t>LLM Agent 与混合仿真</a:t>
                </a:r>
              </a:p>
            </p:txBody>
          </p:sp>
          <p:sp>
            <p:nvSpPr>
              <p:cNvPr id="40" name="TextBox 40"/>
              <p:cNvSpPr txBox="1"/>
              <p:nvPr/>
            </p:nvSpPr>
            <p:spPr>
              <a:xfrm>
                <a:off x="4623435" y="2842260"/>
                <a:ext cx="2499360" cy="510540"/>
              </a:xfrm>
              <a:prstGeom prst="rect">
                <a:avLst/>
              </a:prstGeom>
              <a:noFill/>
              <a:ln>
                <a:noFill/>
              </a:ln>
            </p:spPr>
            <p:txBody>
              <a:bodyPr wrap="square" lIns="0" tIns="0" rIns="0" bIns="0" anchor="t" anchorCtr="0"/>
              <a:lstStyle/>
              <a:p>
                <a:pPr algn="l">
                  <a:lnSpc>
                    <a:spcPts val="2100"/>
                  </a:lnSpc>
                </a:pPr>
                <a:r>
                  <a:rPr lang="zh-CN" sz="1600" dirty="0">
                    <a:solidFill>
                      <a:srgbClr val="2B2B2B"/>
                    </a:solidFill>
                    <a:latin typeface="Arial" panose="020B0604020202090204"/>
                    <a:ea typeface="微软雅黑"/>
                    <a:cs typeface="Arial" panose="020B0604020202090204"/>
                  </a:rPr>
                  <a:t>HiSim、FDE-LLM</a:t>
                </a:r>
                <a:r>
                  <a:rPr lang="zh-CN" altLang="en-US" sz="1600" dirty="0">
                    <a:solidFill>
                      <a:srgbClr val="2B2B2B"/>
                    </a:solidFill>
                    <a:latin typeface="Arial" panose="020B0604020202090204"/>
                    <a:ea typeface="微软雅黑"/>
                    <a:cs typeface="Arial" panose="020B0604020202090204"/>
                  </a:rPr>
                  <a:t>。</a:t>
                </a:r>
                <a:endParaRPr lang="zh-CN" sz="1600" dirty="0">
                  <a:solidFill>
                    <a:srgbClr val="2B2B2B"/>
                  </a:solidFill>
                  <a:latin typeface="Arial" panose="020B0604020202090204"/>
                  <a:ea typeface="微软雅黑"/>
                  <a:cs typeface="Arial" panose="020B0604020202090204"/>
                </a:endParaRPr>
              </a:p>
            </p:txBody>
          </p:sp>
          <p:sp>
            <p:nvSpPr>
              <p:cNvPr id="41" name="TextBox 41"/>
              <p:cNvSpPr txBox="1"/>
              <p:nvPr/>
            </p:nvSpPr>
            <p:spPr>
              <a:xfrm>
                <a:off x="4624388" y="3612356"/>
                <a:ext cx="2900362" cy="476250"/>
              </a:xfrm>
              <a:prstGeom prst="rect">
                <a:avLst/>
              </a:prstGeom>
              <a:noFill/>
              <a:ln>
                <a:noFill/>
              </a:ln>
            </p:spPr>
            <p:txBody>
              <a:bodyPr wrap="square" lIns="0" tIns="0" rIns="0" bIns="0" anchor="t" anchorCtr="0"/>
              <a:lstStyle/>
              <a:p>
                <a:pPr algn="l">
                  <a:lnSpc>
                    <a:spcPts val="1950"/>
                  </a:lnSpc>
                </a:pPr>
                <a:r>
                  <a:rPr lang="zh-CN" sz="1400" dirty="0">
                    <a:solidFill>
                      <a:srgbClr val="3C7A5A"/>
                    </a:solidFill>
                    <a:latin typeface="Arial" panose="020B0604020202090204"/>
                    <a:ea typeface="微软雅黑"/>
                    <a:cs typeface="Arial" panose="020B0604020202090204"/>
                  </a:rPr>
                  <a:t>✓ 推动画像、记忆、信念与混合架构。</a:t>
                </a:r>
              </a:p>
            </p:txBody>
          </p:sp>
        </p:grpSp>
        <p:grpSp>
          <p:nvGrpSpPr>
            <p:cNvPr id="54" name="Group 54"/>
            <p:cNvGrpSpPr/>
            <p:nvPr/>
          </p:nvGrpSpPr>
          <p:grpSpPr>
            <a:xfrm>
              <a:off x="8134350" y="1962150"/>
              <a:ext cx="3448050" cy="3009900"/>
              <a:chOff x="8134350" y="1962150"/>
              <a:chExt cx="3448050" cy="3009900"/>
            </a:xfrm>
          </p:grpSpPr>
          <p:sp>
            <p:nvSpPr>
              <p:cNvPr id="43" name="Rectangle 43"/>
              <p:cNvSpPr/>
              <p:nvPr/>
            </p:nvSpPr>
            <p:spPr>
              <a:xfrm>
                <a:off x="8134350" y="1962150"/>
                <a:ext cx="3448050" cy="3009900"/>
              </a:xfrm>
              <a:prstGeom prst="roundRect">
                <a:avLst>
                  <a:gd name="adj" fmla="val 1266"/>
                </a:avLst>
              </a:prstGeom>
              <a:solidFill>
                <a:srgbClr val="FFFFFF"/>
              </a:solidFill>
              <a:ln w="9525">
                <a:solidFill>
                  <a:srgbClr val="D8D0C2"/>
                </a:solidFill>
              </a:ln>
            </p:spPr>
            <p:txBody>
              <a:bodyPr/>
              <a:lstStyle/>
              <a:p>
                <a:endParaRPr lang="zh-CN" altLang="en-US"/>
              </a:p>
            </p:txBody>
          </p:sp>
          <p:sp>
            <p:nvSpPr>
              <p:cNvPr id="44" name="Rectangle 44"/>
              <p:cNvSpPr/>
              <p:nvPr/>
            </p:nvSpPr>
            <p:spPr>
              <a:xfrm>
                <a:off x="8134350" y="1962150"/>
                <a:ext cx="3448050" cy="609600"/>
              </a:xfrm>
              <a:prstGeom prst="roundRect">
                <a:avLst>
                  <a:gd name="adj" fmla="val 6250"/>
                </a:avLst>
              </a:prstGeom>
              <a:solidFill>
                <a:srgbClr val="4A6B8A"/>
              </a:solidFill>
              <a:ln>
                <a:noFill/>
              </a:ln>
            </p:spPr>
            <p:txBody>
              <a:bodyPr/>
              <a:lstStyle/>
              <a:p>
                <a:endParaRPr lang="zh-CN" altLang="en-US"/>
              </a:p>
            </p:txBody>
          </p:sp>
          <p:sp>
            <p:nvSpPr>
              <p:cNvPr id="45" name="Rectangle 45"/>
              <p:cNvSpPr/>
              <p:nvPr/>
            </p:nvSpPr>
            <p:spPr>
              <a:xfrm>
                <a:off x="8134350" y="2381250"/>
                <a:ext cx="3448050" cy="190500"/>
              </a:xfrm>
              <a:prstGeom prst="rect">
                <a:avLst/>
              </a:prstGeom>
              <a:solidFill>
                <a:srgbClr val="4A6B8A"/>
              </a:solidFill>
              <a:ln>
                <a:noFill/>
              </a:ln>
            </p:spPr>
            <p:txBody>
              <a:bodyPr/>
              <a:lstStyle/>
              <a:p>
                <a:endParaRPr lang="zh-CN" altLang="en-US"/>
              </a:p>
            </p:txBody>
          </p:sp>
          <p:grpSp>
            <p:nvGrpSpPr>
              <p:cNvPr id="50" name="Group 50"/>
              <p:cNvGrpSpPr/>
              <p:nvPr/>
            </p:nvGrpSpPr>
            <p:grpSpPr>
              <a:xfrm>
                <a:off x="8401050" y="2165350"/>
                <a:ext cx="228599" cy="203200"/>
                <a:chOff x="8401050" y="2165350"/>
                <a:chExt cx="228599" cy="203200"/>
              </a:xfrm>
            </p:grpSpPr>
            <p:sp>
              <p:nvSpPr>
                <p:cNvPr id="46" name="Freeform 46"/>
                <p:cNvSpPr/>
                <p:nvPr/>
              </p:nvSpPr>
              <p:spPr>
                <a:xfrm>
                  <a:off x="8401050" y="2165350"/>
                  <a:ext cx="228599" cy="101600"/>
                </a:xfrm>
                <a:custGeom>
                  <a:avLst/>
                  <a:gdLst/>
                  <a:ahLst/>
                  <a:cxnLst/>
                  <a:rect l="l" t="t" r="r" b="b"/>
                  <a:pathLst>
                    <a:path w="228599" h="101600">
                      <a:moveTo>
                        <a:pt x="0" y="38100"/>
                      </a:moveTo>
                      <a:cubicBezTo>
                        <a:pt x="0" y="17058"/>
                        <a:pt x="17058" y="0"/>
                        <a:pt x="38100" y="0"/>
                      </a:cubicBezTo>
                      <a:lnTo>
                        <a:pt x="190500" y="0"/>
                      </a:lnTo>
                      <a:cubicBezTo>
                        <a:pt x="211542" y="0"/>
                        <a:pt x="228599" y="17058"/>
                        <a:pt x="228599" y="38100"/>
                      </a:cubicBezTo>
                      <a:lnTo>
                        <a:pt x="228599" y="63500"/>
                      </a:lnTo>
                      <a:cubicBezTo>
                        <a:pt x="228599" y="84542"/>
                        <a:pt x="211542" y="101600"/>
                        <a:pt x="190500" y="101600"/>
                      </a:cubicBezTo>
                      <a:lnTo>
                        <a:pt x="38100" y="101600"/>
                      </a:lnTo>
                      <a:cubicBezTo>
                        <a:pt x="17058" y="101600"/>
                        <a:pt x="0" y="84542"/>
                        <a:pt x="0" y="63500"/>
                      </a:cubicBezTo>
                    </a:path>
                  </a:pathLst>
                </a:custGeom>
                <a:noFill/>
                <a:ln w="19050">
                  <a:solidFill>
                    <a:srgbClr val="FFFFFF"/>
                  </a:solidFill>
                </a:ln>
              </p:spPr>
              <p:txBody>
                <a:bodyPr/>
                <a:lstStyle/>
                <a:p>
                  <a:endParaRPr lang="zh-CN" altLang="en-US"/>
                </a:p>
              </p:txBody>
            </p:sp>
            <p:sp>
              <p:nvSpPr>
                <p:cNvPr id="47" name="Freeform 47"/>
                <p:cNvSpPr/>
                <p:nvPr/>
              </p:nvSpPr>
              <p:spPr>
                <a:xfrm>
                  <a:off x="8401050" y="2266950"/>
                  <a:ext cx="228599" cy="101600"/>
                </a:xfrm>
                <a:custGeom>
                  <a:avLst/>
                  <a:gdLst/>
                  <a:ahLst/>
                  <a:cxnLst/>
                  <a:rect l="l" t="t" r="r" b="b"/>
                  <a:pathLst>
                    <a:path w="228599" h="101600">
                      <a:moveTo>
                        <a:pt x="0" y="38100"/>
                      </a:moveTo>
                      <a:cubicBezTo>
                        <a:pt x="0" y="17058"/>
                        <a:pt x="17058" y="0"/>
                        <a:pt x="38100" y="0"/>
                      </a:cubicBezTo>
                      <a:lnTo>
                        <a:pt x="190500" y="0"/>
                      </a:lnTo>
                      <a:cubicBezTo>
                        <a:pt x="211542" y="0"/>
                        <a:pt x="228599" y="17058"/>
                        <a:pt x="228599" y="38100"/>
                      </a:cubicBezTo>
                      <a:lnTo>
                        <a:pt x="228599" y="63500"/>
                      </a:lnTo>
                      <a:cubicBezTo>
                        <a:pt x="228599" y="84542"/>
                        <a:pt x="211542" y="101600"/>
                        <a:pt x="190500" y="101600"/>
                      </a:cubicBezTo>
                      <a:lnTo>
                        <a:pt x="38100" y="101600"/>
                      </a:lnTo>
                      <a:cubicBezTo>
                        <a:pt x="17058" y="101600"/>
                        <a:pt x="0" y="84542"/>
                        <a:pt x="0" y="63500"/>
                      </a:cubicBezTo>
                      <a:lnTo>
                        <a:pt x="0" y="38100"/>
                      </a:lnTo>
                    </a:path>
                  </a:pathLst>
                </a:custGeom>
                <a:noFill/>
                <a:ln w="19050">
                  <a:solidFill>
                    <a:srgbClr val="FFFFFF"/>
                  </a:solidFill>
                </a:ln>
              </p:spPr>
              <p:txBody>
                <a:bodyPr/>
                <a:lstStyle/>
                <a:p>
                  <a:endParaRPr lang="zh-CN" altLang="en-US"/>
                </a:p>
              </p:txBody>
            </p:sp>
            <p:sp>
              <p:nvSpPr>
                <p:cNvPr id="48" name="Freeform 48"/>
                <p:cNvSpPr/>
                <p:nvPr/>
              </p:nvSpPr>
              <p:spPr>
                <a:xfrm>
                  <a:off x="8451850" y="2216150"/>
                  <a:ext cx="9525" cy="9525"/>
                </a:xfrm>
                <a:custGeom>
                  <a:avLst/>
                  <a:gdLst/>
                  <a:ahLst/>
                  <a:cxnLst/>
                  <a:rect l="l" t="t" r="r" b="b"/>
                  <a:pathLst>
                    <a:path w="9525" h="9525">
                      <a:moveTo>
                        <a:pt x="0" y="0"/>
                      </a:moveTo>
                      <a:lnTo>
                        <a:pt x="0" y="127"/>
                      </a:lnTo>
                    </a:path>
                  </a:pathLst>
                </a:custGeom>
                <a:noFill/>
                <a:ln w="19050">
                  <a:solidFill>
                    <a:srgbClr val="FFFFFF"/>
                  </a:solidFill>
                </a:ln>
              </p:spPr>
              <p:txBody>
                <a:bodyPr/>
                <a:lstStyle/>
                <a:p>
                  <a:endParaRPr lang="zh-CN" altLang="en-US"/>
                </a:p>
              </p:txBody>
            </p:sp>
            <p:sp>
              <p:nvSpPr>
                <p:cNvPr id="49" name="Freeform 49"/>
                <p:cNvSpPr/>
                <p:nvPr/>
              </p:nvSpPr>
              <p:spPr>
                <a:xfrm>
                  <a:off x="8451850" y="2317749"/>
                  <a:ext cx="9525" cy="9525"/>
                </a:xfrm>
                <a:custGeom>
                  <a:avLst/>
                  <a:gdLst/>
                  <a:ahLst/>
                  <a:cxnLst/>
                  <a:rect l="l" t="t" r="r" b="b"/>
                  <a:pathLst>
                    <a:path w="9525" h="9525">
                      <a:moveTo>
                        <a:pt x="0" y="0"/>
                      </a:moveTo>
                      <a:lnTo>
                        <a:pt x="0" y="127"/>
                      </a:lnTo>
                    </a:path>
                  </a:pathLst>
                </a:custGeom>
                <a:noFill/>
                <a:ln w="19050">
                  <a:solidFill>
                    <a:srgbClr val="FFFFFF"/>
                  </a:solidFill>
                </a:ln>
              </p:spPr>
              <p:txBody>
                <a:bodyPr/>
                <a:lstStyle/>
                <a:p>
                  <a:endParaRPr lang="zh-CN" altLang="en-US"/>
                </a:p>
              </p:txBody>
            </p:sp>
          </p:grpSp>
          <p:sp>
            <p:nvSpPr>
              <p:cNvPr id="51" name="TextBox 51"/>
              <p:cNvSpPr txBox="1"/>
              <p:nvPr/>
            </p:nvSpPr>
            <p:spPr>
              <a:xfrm>
                <a:off x="8750152" y="2126853"/>
                <a:ext cx="2308324" cy="276999"/>
              </a:xfrm>
              <a:prstGeom prst="rect">
                <a:avLst/>
              </a:prstGeom>
              <a:noFill/>
              <a:ln>
                <a:noFill/>
              </a:ln>
            </p:spPr>
            <p:txBody>
              <a:bodyPr wrap="none" lIns="0" tIns="0" rIns="0" bIns="0" anchor="t" anchorCtr="0">
                <a:spAutoFit/>
              </a:bodyPr>
              <a:lstStyle/>
              <a:p>
                <a:pPr algn="l"/>
                <a:r>
                  <a:rPr lang="zh-CN" b="1" dirty="0">
                    <a:solidFill>
                      <a:srgbClr val="FFFFFF"/>
                    </a:solidFill>
                    <a:latin typeface="Arial" panose="020B0604020202090204"/>
                    <a:ea typeface="微软雅黑"/>
                    <a:cs typeface="Arial" panose="020B0604020202090204"/>
                  </a:rPr>
                  <a:t>平台化系统与推荐机制</a:t>
                </a:r>
              </a:p>
            </p:txBody>
          </p:sp>
          <p:sp>
            <p:nvSpPr>
              <p:cNvPr id="52" name="TextBox 52"/>
              <p:cNvSpPr txBox="1"/>
              <p:nvPr/>
            </p:nvSpPr>
            <p:spPr>
              <a:xfrm>
                <a:off x="8385810" y="2842260"/>
                <a:ext cx="2802890" cy="510540"/>
              </a:xfrm>
              <a:prstGeom prst="rect">
                <a:avLst/>
              </a:prstGeom>
              <a:noFill/>
              <a:ln>
                <a:noFill/>
              </a:ln>
            </p:spPr>
            <p:txBody>
              <a:bodyPr wrap="square" lIns="0" tIns="0" rIns="0" bIns="0" anchor="t" anchorCtr="0"/>
              <a:lstStyle/>
              <a:p>
                <a:pPr algn="l">
                  <a:lnSpc>
                    <a:spcPts val="2100"/>
                  </a:lnSpc>
                </a:pPr>
                <a:r>
                  <a:rPr lang="zh-CN" sz="1600" dirty="0">
                    <a:solidFill>
                      <a:srgbClr val="2B2B2B"/>
                    </a:solidFill>
                    <a:latin typeface="Arial" panose="020B0604020202090204"/>
                    <a:ea typeface="微软雅黑"/>
                    <a:cs typeface="Arial" panose="020B0604020202090204"/>
                  </a:rPr>
                  <a:t>OASIS、GGBond、POSIM、PolicySim 纳入平台环境与排序。</a:t>
                </a:r>
              </a:p>
            </p:txBody>
          </p:sp>
          <p:sp>
            <p:nvSpPr>
              <p:cNvPr id="53" name="TextBox 53"/>
              <p:cNvSpPr txBox="1"/>
              <p:nvPr/>
            </p:nvSpPr>
            <p:spPr>
              <a:xfrm>
                <a:off x="8386762" y="3612356"/>
                <a:ext cx="2395538" cy="476250"/>
              </a:xfrm>
              <a:prstGeom prst="rect">
                <a:avLst/>
              </a:prstGeom>
              <a:noFill/>
              <a:ln>
                <a:noFill/>
              </a:ln>
            </p:spPr>
            <p:txBody>
              <a:bodyPr wrap="square" lIns="0" tIns="0" rIns="0" bIns="0" anchor="t" anchorCtr="0"/>
              <a:lstStyle/>
              <a:p>
                <a:pPr algn="l">
                  <a:lnSpc>
                    <a:spcPts val="1950"/>
                  </a:lnSpc>
                </a:pPr>
                <a:r>
                  <a:rPr lang="zh-CN" sz="1400" dirty="0">
                    <a:solidFill>
                      <a:srgbClr val="B24A38"/>
                    </a:solidFill>
                    <a:latin typeface="Arial" panose="020B0604020202090204"/>
                    <a:ea typeface="微软雅黑"/>
                    <a:cs typeface="Arial" panose="020B0604020202090204"/>
                  </a:rPr>
                  <a:t>参数多依赖预设或离线调参。</a:t>
                </a:r>
              </a:p>
            </p:txBody>
          </p:sp>
        </p:grpSp>
      </p:grpSp>
      <p:grpSp>
        <p:nvGrpSpPr>
          <p:cNvPr id="60" name="Group 60"/>
          <p:cNvGrpSpPr/>
          <p:nvPr/>
        </p:nvGrpSpPr>
        <p:grpSpPr>
          <a:xfrm>
            <a:off x="609600" y="5181600"/>
            <a:ext cx="10972800" cy="876300"/>
            <a:chOff x="609600" y="5181600"/>
            <a:chExt cx="10972800" cy="876300"/>
          </a:xfrm>
        </p:grpSpPr>
        <p:sp>
          <p:nvSpPr>
            <p:cNvPr id="56" name="Rectangle 56"/>
            <p:cNvSpPr/>
            <p:nvPr/>
          </p:nvSpPr>
          <p:spPr>
            <a:xfrm>
              <a:off x="609600" y="5181600"/>
              <a:ext cx="10972800" cy="876300"/>
            </a:xfrm>
            <a:prstGeom prst="roundRect">
              <a:avLst>
                <a:gd name="adj" fmla="val 4348"/>
              </a:avLst>
            </a:prstGeom>
            <a:solidFill>
              <a:srgbClr val="1B3A5B"/>
            </a:solidFill>
            <a:ln>
              <a:noFill/>
            </a:ln>
          </p:spPr>
          <p:txBody>
            <a:bodyPr/>
            <a:lstStyle/>
            <a:p>
              <a:endParaRPr lang="zh-CN" altLang="en-US"/>
            </a:p>
          </p:txBody>
        </p:sp>
        <p:sp>
          <p:nvSpPr>
            <p:cNvPr id="57" name="Rectangle 57"/>
            <p:cNvSpPr/>
            <p:nvPr/>
          </p:nvSpPr>
          <p:spPr>
            <a:xfrm>
              <a:off x="609600" y="5181600"/>
              <a:ext cx="57150" cy="876300"/>
            </a:xfrm>
            <a:prstGeom prst="rect">
              <a:avLst/>
            </a:prstGeom>
            <a:solidFill>
              <a:srgbClr val="C8A24B"/>
            </a:solidFill>
            <a:ln>
              <a:noFill/>
            </a:ln>
          </p:spPr>
          <p:txBody>
            <a:bodyPr/>
            <a:lstStyle/>
            <a:p>
              <a:endParaRPr lang="zh-CN" altLang="en-US"/>
            </a:p>
          </p:txBody>
        </p:sp>
        <p:sp>
          <p:nvSpPr>
            <p:cNvPr id="59" name="TextBox 59"/>
            <p:cNvSpPr txBox="1"/>
            <p:nvPr/>
          </p:nvSpPr>
          <p:spPr>
            <a:xfrm>
              <a:off x="930591" y="5492353"/>
              <a:ext cx="8027839" cy="246221"/>
            </a:xfrm>
            <a:prstGeom prst="rect">
              <a:avLst/>
            </a:prstGeom>
            <a:noFill/>
            <a:ln>
              <a:noFill/>
            </a:ln>
          </p:spPr>
          <p:txBody>
            <a:bodyPr wrap="none" lIns="0" tIns="0" rIns="0" bIns="0" anchor="t" anchorCtr="0">
              <a:spAutoFit/>
            </a:bodyPr>
            <a:lstStyle/>
            <a:p>
              <a:pPr algn="l"/>
              <a:r>
                <a:rPr lang="zh-CN" sz="1600" dirty="0">
                  <a:solidFill>
                    <a:srgbClr val="FAF8F4"/>
                  </a:solidFill>
                  <a:latin typeface="Arial" panose="020B0604020202090204"/>
                  <a:ea typeface="微软雅黑"/>
                  <a:cs typeface="Arial" panose="020B0604020202090204"/>
                </a:rPr>
                <a:t>研究基础充分，但</a:t>
              </a:r>
              <a:r>
                <a:rPr lang="zh-CN" sz="1600" b="1" dirty="0">
                  <a:solidFill>
                    <a:srgbClr val="C8A24B"/>
                  </a:solidFill>
                  <a:latin typeface="Arial" panose="020B0604020202090204"/>
                  <a:ea typeface="微软雅黑"/>
                  <a:cs typeface="Arial" panose="020B0604020202090204"/>
                </a:rPr>
                <a:t>「真实传播数据 → 推荐参数校准 → 在线仿真注入」</a:t>
              </a:r>
              <a:r>
                <a:rPr lang="zh-CN" sz="1600" dirty="0">
                  <a:solidFill>
                    <a:srgbClr val="FAF8F4"/>
                  </a:solidFill>
                  <a:latin typeface="Arial" panose="020B0604020202090204"/>
                  <a:ea typeface="微软雅黑"/>
                  <a:cs typeface="Arial" panose="020B0604020202090204"/>
                </a:rPr>
                <a:t>的链条仍不完整。</a:t>
              </a:r>
            </a:p>
          </p:txBody>
        </p:sp>
      </p:grpSp>
      <p:grpSp>
        <p:nvGrpSpPr>
          <p:cNvPr id="64" name="Group 64"/>
          <p:cNvGrpSpPr/>
          <p:nvPr/>
        </p:nvGrpSpPr>
        <p:grpSpPr>
          <a:xfrm>
            <a:off x="598170" y="6515100"/>
            <a:ext cx="10995661" cy="276225"/>
            <a:chOff x="598170" y="6515100"/>
            <a:chExt cx="10995661" cy="276225"/>
          </a:xfrm>
        </p:grpSpPr>
        <p:sp>
          <p:nvSpPr>
            <p:cNvPr id="61" name="Line 61"/>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62" name="TextBox 62"/>
            <p:cNvSpPr txBox="1"/>
            <p:nvPr/>
          </p:nvSpPr>
          <p:spPr>
            <a:xfrm>
              <a:off x="598170" y="6608445"/>
              <a:ext cx="1823085" cy="182880"/>
            </a:xfrm>
            <a:prstGeom prst="rect">
              <a:avLst/>
            </a:prstGeom>
            <a:noFill/>
            <a:ln>
              <a:noFill/>
            </a:ln>
          </p:spPr>
          <p:txBody>
            <a:bodyPr wrap="none" lIns="0" tIns="0" rIns="0" bIns="0" anchor="t" anchorCtr="0">
              <a:spAutoFit/>
            </a:bodyPr>
            <a:lstStyle/>
            <a:p>
              <a:pPr algn="l"/>
              <a:r>
                <a:rPr lang="zh-CN" sz="900" dirty="0">
                  <a:solidFill>
                    <a:srgbClr val="8C8C82"/>
                  </a:solidFill>
                  <a:latin typeface="Arial" panose="020B0604020202090204"/>
                  <a:ea typeface="微软雅黑"/>
                  <a:cs typeface="Arial" panose="020B0604020202090204"/>
                </a:rPr>
                <a:t>融合推荐机制校准的社交仿真平台</a:t>
              </a:r>
            </a:p>
          </p:txBody>
        </p:sp>
        <p:sp>
          <p:nvSpPr>
            <p:cNvPr id="63" name="TextBox 63"/>
            <p:cNvSpPr txBox="1"/>
            <p:nvPr/>
          </p:nvSpPr>
          <p:spPr>
            <a:xfrm>
              <a:off x="11438954" y="6608445"/>
              <a:ext cx="154877" cy="182880"/>
            </a:xfrm>
            <a:prstGeom prst="rect">
              <a:avLst/>
            </a:prstGeom>
            <a:noFill/>
            <a:ln>
              <a:noFill/>
            </a:ln>
          </p:spPr>
          <p:txBody>
            <a:bodyPr wrap="none" lIns="0" tIns="0" rIns="0" bIns="0" anchor="t" anchorCtr="0">
              <a:spAutoFit/>
            </a:bodyPr>
            <a:lstStyle/>
            <a:p>
              <a:pPr algn="r"/>
              <a:r>
                <a:rPr lang="en-US" sz="900" dirty="0">
                  <a:solidFill>
                    <a:srgbClr val="8C8C82"/>
                  </a:solidFill>
                  <a:latin typeface="Cambria"/>
                  <a:ea typeface="Cambria"/>
                  <a:cs typeface="Cambria"/>
                </a:rPr>
                <a:t>05</a:t>
              </a:r>
            </a:p>
          </p:txBody>
        </p:sp>
      </p:grpSp>
      <p:pic>
        <p:nvPicPr>
          <p:cNvPr id="65" name="Image 7"/>
          <p:cNvPicPr>
            <a:picLocks noChangeAspect="1"/>
          </p:cNvPicPr>
          <p:nvPr/>
        </p:nvPicPr>
        <p:blipFill>
          <a:blip r:embed="rId3"/>
          <a:stretch>
            <a:fillRect/>
          </a:stretch>
        </p:blipFill>
        <p:spPr>
          <a:xfrm>
            <a:off x="10919012" y="-13055"/>
            <a:ext cx="663388" cy="84676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0" y="0"/>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a:p>
          </p:txBody>
        </p:sp>
      </p:grpSp>
      <p:grpSp>
        <p:nvGrpSpPr>
          <p:cNvPr id="9" name="Group 9"/>
          <p:cNvGrpSpPr/>
          <p:nvPr/>
        </p:nvGrpSpPr>
        <p:grpSpPr>
          <a:xfrm>
            <a:off x="590550" y="523875"/>
            <a:ext cx="10991850" cy="400050"/>
            <a:chOff x="590550" y="523875"/>
            <a:chExt cx="10991850" cy="400050"/>
          </a:xfrm>
        </p:grpSpPr>
        <p:sp>
          <p:nvSpPr>
            <p:cNvPr id="6" name="TextBox 6"/>
            <p:cNvSpPr txBox="1"/>
            <p:nvPr/>
          </p:nvSpPr>
          <p:spPr>
            <a:xfrm>
              <a:off x="590550" y="523875"/>
              <a:ext cx="1802321" cy="304800"/>
            </a:xfrm>
            <a:prstGeom prst="rect">
              <a:avLst/>
            </a:prstGeom>
            <a:noFill/>
            <a:ln>
              <a:noFill/>
            </a:ln>
          </p:spPr>
          <p:txBody>
            <a:bodyPr wrap="none" lIns="0" tIns="0" rIns="0" bIns="0" anchor="t" anchorCtr="0">
              <a:spAutoFit/>
            </a:bodyPr>
            <a:lstStyle/>
            <a:p>
              <a:pPr algn="l"/>
              <a:r>
                <a:rPr lang="en-US" sz="1500" b="1" dirty="0">
                  <a:solidFill>
                    <a:srgbClr val="1B3A5B"/>
                  </a:solidFill>
                  <a:latin typeface="Cambria"/>
                  <a:ea typeface="Cambria"/>
                  <a:cs typeface="Cambria"/>
                </a:rPr>
                <a:t>02 </a:t>
              </a:r>
              <a:r>
                <a:rPr lang="zh-CN" sz="1200" b="1" dirty="0">
                  <a:solidFill>
                    <a:srgbClr val="5A5A52"/>
                  </a:solidFill>
                  <a:latin typeface="Arial" panose="020B0604020202090204"/>
                  <a:ea typeface="微软雅黑"/>
                  <a:cs typeface="Arial" panose="020B0604020202090204"/>
                </a:rPr>
                <a:t>国内外研究现状</a:t>
              </a:r>
            </a:p>
          </p:txBody>
        </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19050">
              <a:solidFill>
                <a:srgbClr val="1B3A5B"/>
              </a:solidFill>
            </a:ln>
          </p:spPr>
          <p:txBody>
            <a:bodyPr/>
            <a:lstStyle/>
            <a:p>
              <a:endParaRPr lang="zh-CN" altLang="en-US"/>
            </a:p>
          </p:txBody>
        </p:sp>
      </p:grpSp>
      <p:grpSp>
        <p:nvGrpSpPr>
          <p:cNvPr id="12" name="Group 12"/>
          <p:cNvGrpSpPr/>
          <p:nvPr/>
        </p:nvGrpSpPr>
        <p:grpSpPr>
          <a:xfrm>
            <a:off x="577215" y="1210628"/>
            <a:ext cx="5420439" cy="518160"/>
            <a:chOff x="577215" y="1210628"/>
            <a:chExt cx="5420439" cy="518160"/>
          </a:xfrm>
        </p:grpSpPr>
        <p:sp>
          <p:nvSpPr>
            <p:cNvPr id="10" name="TextBox 10"/>
            <p:cNvSpPr txBox="1"/>
            <p:nvPr/>
          </p:nvSpPr>
          <p:spPr>
            <a:xfrm>
              <a:off x="577215" y="1210628"/>
              <a:ext cx="5420439" cy="518160"/>
            </a:xfrm>
            <a:prstGeom prst="rect">
              <a:avLst/>
            </a:prstGeom>
            <a:noFill/>
            <a:ln>
              <a:noFill/>
            </a:ln>
          </p:spPr>
          <p:txBody>
            <a:bodyPr wrap="none" lIns="0" tIns="0" rIns="0" bIns="0" anchor="t" anchorCtr="0">
              <a:spAutoFit/>
            </a:bodyPr>
            <a:lstStyle/>
            <a:p>
              <a:pPr algn="l"/>
              <a:r>
                <a:rPr lang="zh-CN" sz="2550" b="1" dirty="0">
                  <a:solidFill>
                    <a:srgbClr val="1B3A5B"/>
                  </a:solidFill>
                  <a:latin typeface="Cambria"/>
                  <a:ea typeface="宋体"/>
                  <a:cs typeface="Cambria"/>
                </a:rPr>
                <a:t>研究空白：推荐机制缺少实证校准</a:t>
              </a:r>
            </a:p>
          </p:txBody>
        </p:sp>
        <p:sp>
          <p:nvSpPr>
            <p:cNvPr id="11" name="Rectangle 11"/>
            <p:cNvSpPr/>
            <p:nvPr/>
          </p:nvSpPr>
          <p:spPr>
            <a:xfrm>
              <a:off x="609600" y="1657350"/>
              <a:ext cx="533400" cy="38100"/>
            </a:xfrm>
            <a:prstGeom prst="rect">
              <a:avLst/>
            </a:prstGeom>
            <a:solidFill>
              <a:srgbClr val="C8A24B"/>
            </a:solidFill>
            <a:ln>
              <a:noFill/>
            </a:ln>
          </p:spPr>
          <p:txBody>
            <a:bodyPr/>
            <a:lstStyle/>
            <a:p>
              <a:endParaRPr lang="zh-CN" altLang="en-US"/>
            </a:p>
          </p:txBody>
        </p:sp>
      </p:grpSp>
      <p:grpSp>
        <p:nvGrpSpPr>
          <p:cNvPr id="43" name="Group 43"/>
          <p:cNvGrpSpPr/>
          <p:nvPr/>
        </p:nvGrpSpPr>
        <p:grpSpPr>
          <a:xfrm>
            <a:off x="609600" y="1962150"/>
            <a:ext cx="10972800" cy="3181350"/>
            <a:chOff x="609600" y="1962150"/>
            <a:chExt cx="10972800" cy="3181350"/>
          </a:xfrm>
        </p:grpSpPr>
        <p:grpSp>
          <p:nvGrpSpPr>
            <p:cNvPr id="24" name="Group 24"/>
            <p:cNvGrpSpPr/>
            <p:nvPr/>
          </p:nvGrpSpPr>
          <p:grpSpPr>
            <a:xfrm>
              <a:off x="609600" y="1962150"/>
              <a:ext cx="5334000" cy="3181350"/>
              <a:chOff x="609600" y="1962150"/>
              <a:chExt cx="5334000" cy="3181350"/>
            </a:xfrm>
          </p:grpSpPr>
          <p:sp>
            <p:nvSpPr>
              <p:cNvPr id="13" name="Rectangle 13"/>
              <p:cNvSpPr/>
              <p:nvPr/>
            </p:nvSpPr>
            <p:spPr>
              <a:xfrm>
                <a:off x="609600" y="1962150"/>
                <a:ext cx="5334000" cy="3181350"/>
              </a:xfrm>
              <a:prstGeom prst="roundRect">
                <a:avLst>
                  <a:gd name="adj" fmla="val 1198"/>
                </a:avLst>
              </a:prstGeom>
              <a:solidFill>
                <a:srgbClr val="F1ECE3"/>
              </a:solidFill>
              <a:ln>
                <a:noFill/>
              </a:ln>
            </p:spPr>
            <p:txBody>
              <a:bodyPr/>
              <a:lstStyle/>
              <a:p>
                <a:endParaRPr lang="zh-CN" altLang="en-US"/>
              </a:p>
            </p:txBody>
          </p:sp>
          <p:sp>
            <p:nvSpPr>
              <p:cNvPr id="14" name="Freeform 14"/>
              <p:cNvSpPr/>
              <p:nvPr/>
            </p:nvSpPr>
            <p:spPr>
              <a:xfrm>
                <a:off x="912019" y="2226469"/>
                <a:ext cx="214312" cy="214312"/>
              </a:xfrm>
              <a:custGeom>
                <a:avLst/>
                <a:gdLst/>
                <a:ahLst/>
                <a:cxnLst/>
                <a:rect l="l" t="t" r="r" b="b"/>
                <a:pathLst>
                  <a:path w="214312" h="214312">
                    <a:moveTo>
                      <a:pt x="11906" y="47625"/>
                    </a:moveTo>
                    <a:lnTo>
                      <a:pt x="47625" y="47625"/>
                    </a:lnTo>
                    <a:cubicBezTo>
                      <a:pt x="54201" y="47625"/>
                      <a:pt x="59531" y="42294"/>
                      <a:pt x="59531" y="35719"/>
                    </a:cubicBezTo>
                    <a:lnTo>
                      <a:pt x="59531" y="23812"/>
                    </a:lnTo>
                    <a:cubicBezTo>
                      <a:pt x="59531" y="10661"/>
                      <a:pt x="70192" y="0"/>
                      <a:pt x="83344" y="0"/>
                    </a:cubicBezTo>
                    <a:cubicBezTo>
                      <a:pt x="96495" y="0"/>
                      <a:pt x="107156" y="10661"/>
                      <a:pt x="107156" y="23812"/>
                    </a:cubicBezTo>
                    <a:lnTo>
                      <a:pt x="107156" y="35719"/>
                    </a:lnTo>
                    <a:cubicBezTo>
                      <a:pt x="107156" y="42294"/>
                      <a:pt x="112487" y="47625"/>
                      <a:pt x="119062" y="47625"/>
                    </a:cubicBezTo>
                    <a:lnTo>
                      <a:pt x="154781" y="47625"/>
                    </a:lnTo>
                    <a:cubicBezTo>
                      <a:pt x="161357" y="47625"/>
                      <a:pt x="166688" y="52956"/>
                      <a:pt x="166688" y="59531"/>
                    </a:cubicBezTo>
                    <a:lnTo>
                      <a:pt x="166688" y="95250"/>
                    </a:lnTo>
                    <a:cubicBezTo>
                      <a:pt x="166688" y="101826"/>
                      <a:pt x="172018" y="107156"/>
                      <a:pt x="178594" y="107156"/>
                    </a:cubicBezTo>
                    <a:lnTo>
                      <a:pt x="190500" y="107156"/>
                    </a:lnTo>
                    <a:cubicBezTo>
                      <a:pt x="203651" y="107156"/>
                      <a:pt x="214312" y="117817"/>
                      <a:pt x="214312" y="130969"/>
                    </a:cubicBezTo>
                    <a:cubicBezTo>
                      <a:pt x="214312" y="144120"/>
                      <a:pt x="203651" y="154781"/>
                      <a:pt x="190500" y="154781"/>
                    </a:cubicBezTo>
                    <a:lnTo>
                      <a:pt x="178594" y="154781"/>
                    </a:lnTo>
                    <a:cubicBezTo>
                      <a:pt x="172018" y="154781"/>
                      <a:pt x="166688" y="160112"/>
                      <a:pt x="166688" y="166688"/>
                    </a:cubicBezTo>
                    <a:lnTo>
                      <a:pt x="166688" y="202406"/>
                    </a:lnTo>
                    <a:cubicBezTo>
                      <a:pt x="166688" y="208982"/>
                      <a:pt x="161357" y="214312"/>
                      <a:pt x="154781" y="214312"/>
                    </a:cubicBezTo>
                    <a:lnTo>
                      <a:pt x="119062" y="214312"/>
                    </a:lnTo>
                    <a:cubicBezTo>
                      <a:pt x="112487" y="214312"/>
                      <a:pt x="107156" y="208982"/>
                      <a:pt x="107156" y="202406"/>
                    </a:cubicBezTo>
                    <a:lnTo>
                      <a:pt x="107156" y="190500"/>
                    </a:lnTo>
                    <a:cubicBezTo>
                      <a:pt x="107156" y="177349"/>
                      <a:pt x="96495" y="166688"/>
                      <a:pt x="83344" y="166688"/>
                    </a:cubicBezTo>
                    <a:cubicBezTo>
                      <a:pt x="70192" y="166688"/>
                      <a:pt x="59531" y="177349"/>
                      <a:pt x="59531" y="190500"/>
                    </a:cubicBezTo>
                    <a:lnTo>
                      <a:pt x="59531" y="202406"/>
                    </a:lnTo>
                    <a:cubicBezTo>
                      <a:pt x="59531" y="208982"/>
                      <a:pt x="54201" y="214312"/>
                      <a:pt x="47625" y="214312"/>
                    </a:cubicBezTo>
                    <a:lnTo>
                      <a:pt x="11906" y="214312"/>
                    </a:lnTo>
                    <a:cubicBezTo>
                      <a:pt x="5331" y="214312"/>
                      <a:pt x="0" y="208982"/>
                      <a:pt x="0" y="202406"/>
                    </a:cubicBezTo>
                    <a:lnTo>
                      <a:pt x="0" y="166688"/>
                    </a:lnTo>
                    <a:cubicBezTo>
                      <a:pt x="0" y="160112"/>
                      <a:pt x="5331" y="154781"/>
                      <a:pt x="11906" y="154781"/>
                    </a:cubicBezTo>
                    <a:lnTo>
                      <a:pt x="23812" y="154781"/>
                    </a:lnTo>
                    <a:cubicBezTo>
                      <a:pt x="36964" y="154781"/>
                      <a:pt x="47625" y="144120"/>
                      <a:pt x="47625" y="130969"/>
                    </a:cubicBezTo>
                    <a:cubicBezTo>
                      <a:pt x="47625" y="117817"/>
                      <a:pt x="36964" y="107156"/>
                      <a:pt x="23812" y="107156"/>
                    </a:cubicBezTo>
                    <a:lnTo>
                      <a:pt x="11906" y="107156"/>
                    </a:lnTo>
                    <a:cubicBezTo>
                      <a:pt x="5331" y="107156"/>
                      <a:pt x="0" y="101826"/>
                      <a:pt x="0" y="95250"/>
                    </a:cubicBezTo>
                    <a:lnTo>
                      <a:pt x="0" y="59531"/>
                    </a:lnTo>
                    <a:cubicBezTo>
                      <a:pt x="0" y="52956"/>
                      <a:pt x="5331" y="47625"/>
                      <a:pt x="11906" y="47625"/>
                    </a:cubicBezTo>
                  </a:path>
                </a:pathLst>
              </a:custGeom>
              <a:noFill/>
              <a:ln w="19050">
                <a:solidFill>
                  <a:srgbClr val="B24A38"/>
                </a:solidFill>
              </a:ln>
            </p:spPr>
            <p:txBody>
              <a:bodyPr/>
              <a:lstStyle/>
              <a:p>
                <a:endParaRPr lang="zh-CN" altLang="en-US"/>
              </a:p>
            </p:txBody>
          </p:sp>
          <p:sp>
            <p:nvSpPr>
              <p:cNvPr id="15" name="TextBox 15"/>
              <p:cNvSpPr txBox="1"/>
              <p:nvPr/>
            </p:nvSpPr>
            <p:spPr>
              <a:xfrm>
                <a:off x="1236345" y="2241232"/>
                <a:ext cx="2077492" cy="276999"/>
              </a:xfrm>
              <a:prstGeom prst="rect">
                <a:avLst/>
              </a:prstGeom>
              <a:noFill/>
              <a:ln>
                <a:noFill/>
              </a:ln>
            </p:spPr>
            <p:txBody>
              <a:bodyPr wrap="none" lIns="0" tIns="0" rIns="0" bIns="0" anchor="t" anchorCtr="0">
                <a:spAutoFit/>
              </a:bodyPr>
              <a:lstStyle/>
              <a:p>
                <a:pPr algn="l"/>
                <a:r>
                  <a:rPr lang="zh-CN" b="1" dirty="0">
                    <a:solidFill>
                      <a:srgbClr val="B24A38"/>
                    </a:solidFill>
                    <a:latin typeface="Arial" panose="020B0604020202090204"/>
                    <a:ea typeface="微软雅黑"/>
                    <a:cs typeface="Arial" panose="020B0604020202090204"/>
                  </a:rPr>
                  <a:t>已有系统的常见做法</a:t>
                </a:r>
              </a:p>
            </p:txBody>
          </p:sp>
          <p:sp>
            <p:nvSpPr>
              <p:cNvPr id="16" name="Ellipse 16"/>
              <p:cNvSpPr/>
              <p:nvPr/>
            </p:nvSpPr>
            <p:spPr>
              <a:xfrm>
                <a:off x="914400" y="2933700"/>
                <a:ext cx="76200" cy="76200"/>
              </a:xfrm>
              <a:prstGeom prst="ellipse">
                <a:avLst/>
              </a:prstGeom>
              <a:solidFill>
                <a:srgbClr val="5A5A52"/>
              </a:solidFill>
              <a:ln>
                <a:noFill/>
              </a:ln>
            </p:spPr>
            <p:txBody>
              <a:bodyPr/>
              <a:lstStyle/>
              <a:p>
                <a:endParaRPr lang="zh-CN" altLang="en-US"/>
              </a:p>
            </p:txBody>
          </p:sp>
          <p:sp>
            <p:nvSpPr>
              <p:cNvPr id="17" name="TextBox 17"/>
              <p:cNvSpPr txBox="1"/>
              <p:nvPr/>
            </p:nvSpPr>
            <p:spPr>
              <a:xfrm>
                <a:off x="1089660" y="2899410"/>
                <a:ext cx="3693319"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无显式推荐模块——邻居传播、时间线或</a:t>
                </a:r>
              </a:p>
            </p:txBody>
          </p:sp>
          <p:sp>
            <p:nvSpPr>
              <p:cNvPr id="18" name="TextBox 18"/>
              <p:cNvSpPr txBox="1"/>
              <p:nvPr/>
            </p:nvSpPr>
            <p:spPr>
              <a:xfrm>
                <a:off x="1089660" y="3147060"/>
                <a:ext cx="1025922"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随机曝光。</a:t>
                </a:r>
              </a:p>
            </p:txBody>
          </p:sp>
          <p:sp>
            <p:nvSpPr>
              <p:cNvPr id="19" name="Ellipse 19"/>
              <p:cNvSpPr/>
              <p:nvPr/>
            </p:nvSpPr>
            <p:spPr>
              <a:xfrm>
                <a:off x="914400" y="3695700"/>
                <a:ext cx="76200" cy="76200"/>
              </a:xfrm>
              <a:prstGeom prst="ellipse">
                <a:avLst/>
              </a:prstGeom>
              <a:solidFill>
                <a:srgbClr val="5A5A52"/>
              </a:solidFill>
              <a:ln>
                <a:noFill/>
              </a:ln>
            </p:spPr>
            <p:txBody>
              <a:bodyPr/>
              <a:lstStyle/>
              <a:p>
                <a:endParaRPr lang="zh-CN" altLang="en-US"/>
              </a:p>
            </p:txBody>
          </p:sp>
          <p:sp>
            <p:nvSpPr>
              <p:cNvPr id="20" name="TextBox 20"/>
              <p:cNvSpPr txBox="1"/>
              <p:nvPr/>
            </p:nvSpPr>
            <p:spPr>
              <a:xfrm>
                <a:off x="1089660" y="3661410"/>
                <a:ext cx="3523400"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有推荐模块者用兴趣公式、hot-score、</a:t>
                </a:r>
              </a:p>
            </p:txBody>
          </p:sp>
          <p:sp>
            <p:nvSpPr>
              <p:cNvPr id="21" name="TextBox 21"/>
              <p:cNvSpPr txBox="1"/>
              <p:nvPr/>
            </p:nvSpPr>
            <p:spPr>
              <a:xfrm>
                <a:off x="1089660" y="3909060"/>
                <a:ext cx="2051844"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人工权重或离线调参。</a:t>
                </a:r>
              </a:p>
            </p:txBody>
          </p:sp>
          <p:sp>
            <p:nvSpPr>
              <p:cNvPr id="22" name="Ellipse 22"/>
              <p:cNvSpPr/>
              <p:nvPr/>
            </p:nvSpPr>
            <p:spPr>
              <a:xfrm>
                <a:off x="914400" y="4457700"/>
                <a:ext cx="76200" cy="76200"/>
              </a:xfrm>
              <a:prstGeom prst="ellipse">
                <a:avLst/>
              </a:prstGeom>
              <a:solidFill>
                <a:srgbClr val="5A5A52"/>
              </a:solidFill>
              <a:ln>
                <a:noFill/>
              </a:ln>
            </p:spPr>
            <p:txBody>
              <a:bodyPr/>
              <a:lstStyle/>
              <a:p>
                <a:endParaRPr lang="zh-CN" altLang="en-US"/>
              </a:p>
            </p:txBody>
          </p:sp>
          <p:sp>
            <p:nvSpPr>
              <p:cNvPr id="23" name="TextBox 23"/>
              <p:cNvSpPr txBox="1"/>
              <p:nvPr/>
            </p:nvSpPr>
            <p:spPr>
              <a:xfrm>
                <a:off x="1089660" y="4423410"/>
                <a:ext cx="3077766"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政策优化类工作更关注干预效果。</a:t>
                </a:r>
              </a:p>
            </p:txBody>
          </p:sp>
        </p:grpSp>
        <p:grpSp>
          <p:nvGrpSpPr>
            <p:cNvPr id="27" name="Group 27"/>
            <p:cNvGrpSpPr/>
            <p:nvPr/>
          </p:nvGrpSpPr>
          <p:grpSpPr>
            <a:xfrm>
              <a:off x="6076950" y="3476625"/>
              <a:ext cx="495300" cy="152400"/>
              <a:chOff x="6076950" y="3476625"/>
              <a:chExt cx="495300" cy="152400"/>
            </a:xfrm>
          </p:grpSpPr>
          <p:sp>
            <p:nvSpPr>
              <p:cNvPr id="25" name="Line 25"/>
              <p:cNvSpPr/>
              <p:nvPr/>
            </p:nvSpPr>
            <p:spPr>
              <a:xfrm>
                <a:off x="6076950" y="3552825"/>
                <a:ext cx="476250" cy="9525"/>
              </a:xfrm>
              <a:custGeom>
                <a:avLst/>
                <a:gdLst/>
                <a:ahLst/>
                <a:cxnLst/>
                <a:rect l="l" t="t" r="r" b="b"/>
                <a:pathLst>
                  <a:path w="476250" h="9525">
                    <a:moveTo>
                      <a:pt x="0" y="0"/>
                    </a:moveTo>
                    <a:lnTo>
                      <a:pt x="476250" y="0"/>
                    </a:lnTo>
                  </a:path>
                </a:pathLst>
              </a:custGeom>
              <a:noFill/>
              <a:ln w="28575">
                <a:solidFill>
                  <a:srgbClr val="C8A24B"/>
                </a:solidFill>
              </a:ln>
            </p:spPr>
            <p:txBody>
              <a:bodyPr/>
              <a:lstStyle/>
              <a:p>
                <a:endParaRPr lang="zh-CN" altLang="en-US"/>
              </a:p>
            </p:txBody>
          </p:sp>
          <p:sp>
            <p:nvSpPr>
              <p:cNvPr id="26" name="Freeform 26"/>
              <p:cNvSpPr/>
              <p:nvPr/>
            </p:nvSpPr>
            <p:spPr>
              <a:xfrm>
                <a:off x="6477000" y="3476625"/>
                <a:ext cx="95250" cy="152400"/>
              </a:xfrm>
              <a:custGeom>
                <a:avLst/>
                <a:gdLst/>
                <a:ahLst/>
                <a:cxnLst/>
                <a:rect l="l" t="t" r="r" b="b"/>
                <a:pathLst>
                  <a:path w="95250" h="152400">
                    <a:moveTo>
                      <a:pt x="0" y="0"/>
                    </a:moveTo>
                    <a:lnTo>
                      <a:pt x="95250" y="76200"/>
                    </a:lnTo>
                    <a:lnTo>
                      <a:pt x="0" y="152400"/>
                    </a:lnTo>
                  </a:path>
                </a:pathLst>
              </a:custGeom>
              <a:noFill/>
              <a:ln w="28575">
                <a:solidFill>
                  <a:srgbClr val="C8A24B"/>
                </a:solidFill>
              </a:ln>
            </p:spPr>
            <p:txBody>
              <a:bodyPr/>
              <a:lstStyle/>
              <a:p>
                <a:endParaRPr lang="zh-CN" altLang="en-US"/>
              </a:p>
            </p:txBody>
          </p:sp>
        </p:grpSp>
        <p:grpSp>
          <p:nvGrpSpPr>
            <p:cNvPr id="42" name="Group 42"/>
            <p:cNvGrpSpPr/>
            <p:nvPr/>
          </p:nvGrpSpPr>
          <p:grpSpPr>
            <a:xfrm>
              <a:off x="6686550" y="1962150"/>
              <a:ext cx="4895850" cy="3181350"/>
              <a:chOff x="6686550" y="1962150"/>
              <a:chExt cx="4895850" cy="3181350"/>
            </a:xfrm>
          </p:grpSpPr>
          <p:sp>
            <p:nvSpPr>
              <p:cNvPr id="28" name="Rectangle 28"/>
              <p:cNvSpPr/>
              <p:nvPr/>
            </p:nvSpPr>
            <p:spPr>
              <a:xfrm>
                <a:off x="6686550" y="1962150"/>
                <a:ext cx="4895850" cy="3181350"/>
              </a:xfrm>
              <a:prstGeom prst="roundRect">
                <a:avLst>
                  <a:gd name="adj" fmla="val 1198"/>
                </a:avLst>
              </a:prstGeom>
              <a:solidFill>
                <a:srgbClr val="1B3A5B"/>
              </a:solidFill>
              <a:ln>
                <a:noFill/>
              </a:ln>
            </p:spPr>
            <p:txBody>
              <a:bodyPr/>
              <a:lstStyle/>
              <a:p>
                <a:endParaRPr lang="zh-CN" altLang="en-US"/>
              </a:p>
            </p:txBody>
          </p:sp>
          <p:sp>
            <p:nvSpPr>
              <p:cNvPr id="29" name="Rectangle 29"/>
              <p:cNvSpPr/>
              <p:nvPr/>
            </p:nvSpPr>
            <p:spPr>
              <a:xfrm>
                <a:off x="6686550" y="1962150"/>
                <a:ext cx="57150" cy="3181350"/>
              </a:xfrm>
              <a:prstGeom prst="rect">
                <a:avLst/>
              </a:prstGeom>
              <a:solidFill>
                <a:srgbClr val="C8A24B"/>
              </a:solidFill>
              <a:ln>
                <a:noFill/>
              </a:ln>
            </p:spPr>
            <p:txBody>
              <a:bodyPr/>
              <a:lstStyle/>
              <a:p>
                <a:endParaRPr lang="zh-CN" altLang="en-US"/>
              </a:p>
            </p:txBody>
          </p:sp>
          <p:grpSp>
            <p:nvGrpSpPr>
              <p:cNvPr id="33" name="Group 33"/>
              <p:cNvGrpSpPr/>
              <p:nvPr/>
            </p:nvGrpSpPr>
            <p:grpSpPr>
              <a:xfrm>
                <a:off x="6988969" y="2226469"/>
                <a:ext cx="214312" cy="214312"/>
                <a:chOff x="6988969" y="2226469"/>
                <a:chExt cx="214312" cy="214312"/>
              </a:xfrm>
            </p:grpSpPr>
            <p:sp>
              <p:nvSpPr>
                <p:cNvPr id="30" name="Freeform 30"/>
                <p:cNvSpPr/>
                <p:nvPr/>
              </p:nvSpPr>
              <p:spPr>
                <a:xfrm>
                  <a:off x="7084219" y="2321719"/>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9050">
                  <a:solidFill>
                    <a:srgbClr val="C8A24B"/>
                  </a:solidFill>
                </a:ln>
              </p:spPr>
              <p:txBody>
                <a:bodyPr/>
                <a:lstStyle/>
                <a:p>
                  <a:endParaRPr lang="zh-CN" altLang="en-US"/>
                </a:p>
              </p:txBody>
            </p:sp>
            <p:sp>
              <p:nvSpPr>
                <p:cNvPr id="31" name="Freeform 31"/>
                <p:cNvSpPr/>
                <p:nvPr/>
              </p:nvSpPr>
              <p:spPr>
                <a:xfrm>
                  <a:off x="7036594" y="2274094"/>
                  <a:ext cx="119062" cy="119062"/>
                </a:xfrm>
                <a:custGeom>
                  <a:avLst/>
                  <a:gdLst/>
                  <a:ahLst/>
                  <a:cxnLst/>
                  <a:rect l="l" t="t" r="r" b="b"/>
                  <a:pathLst>
                    <a:path w="119062" h="119062">
                      <a:moveTo>
                        <a:pt x="0" y="59531"/>
                      </a:moveTo>
                      <a:cubicBezTo>
                        <a:pt x="0" y="92409"/>
                        <a:pt x="26653" y="119062"/>
                        <a:pt x="59531" y="119062"/>
                      </a:cubicBezTo>
                      <a:cubicBezTo>
                        <a:pt x="92409" y="119062"/>
                        <a:pt x="119062" y="92409"/>
                        <a:pt x="119062" y="59531"/>
                      </a:cubicBezTo>
                      <a:cubicBezTo>
                        <a:pt x="119062" y="26653"/>
                        <a:pt x="92409" y="0"/>
                        <a:pt x="59531" y="0"/>
                      </a:cubicBezTo>
                      <a:cubicBezTo>
                        <a:pt x="26653" y="0"/>
                        <a:pt x="0" y="26653"/>
                        <a:pt x="0" y="59531"/>
                      </a:cubicBezTo>
                    </a:path>
                  </a:pathLst>
                </a:custGeom>
                <a:noFill/>
                <a:ln w="19050">
                  <a:solidFill>
                    <a:srgbClr val="C8A24B"/>
                  </a:solidFill>
                </a:ln>
              </p:spPr>
              <p:txBody>
                <a:bodyPr/>
                <a:lstStyle/>
                <a:p>
                  <a:endParaRPr lang="zh-CN" altLang="en-US"/>
                </a:p>
              </p:txBody>
            </p:sp>
            <p:sp>
              <p:nvSpPr>
                <p:cNvPr id="32" name="Freeform 32"/>
                <p:cNvSpPr/>
                <p:nvPr/>
              </p:nvSpPr>
              <p:spPr>
                <a:xfrm>
                  <a:off x="6988969" y="2226469"/>
                  <a:ext cx="214312" cy="214312"/>
                </a:xfrm>
                <a:custGeom>
                  <a:avLst/>
                  <a:gdLst/>
                  <a:ahLst/>
                  <a:cxnLst/>
                  <a:rect l="l" t="t" r="r" b="b"/>
                  <a:pathLst>
                    <a:path w="214312" h="214312">
                      <a:moveTo>
                        <a:pt x="0" y="107156"/>
                      </a:moveTo>
                      <a:cubicBezTo>
                        <a:pt x="0" y="166337"/>
                        <a:pt x="47975" y="214312"/>
                        <a:pt x="107156" y="214312"/>
                      </a:cubicBezTo>
                      <a:cubicBezTo>
                        <a:pt x="166337" y="214312"/>
                        <a:pt x="214312" y="166337"/>
                        <a:pt x="214312" y="107156"/>
                      </a:cubicBezTo>
                      <a:cubicBezTo>
                        <a:pt x="214312" y="47975"/>
                        <a:pt x="166337" y="0"/>
                        <a:pt x="107156" y="0"/>
                      </a:cubicBezTo>
                      <a:cubicBezTo>
                        <a:pt x="47975" y="0"/>
                        <a:pt x="0" y="47975"/>
                        <a:pt x="0" y="107156"/>
                      </a:cubicBezTo>
                    </a:path>
                  </a:pathLst>
                </a:custGeom>
                <a:noFill/>
                <a:ln w="19050">
                  <a:solidFill>
                    <a:srgbClr val="C8A24B"/>
                  </a:solidFill>
                </a:ln>
              </p:spPr>
              <p:txBody>
                <a:bodyPr/>
                <a:lstStyle/>
                <a:p>
                  <a:endParaRPr lang="zh-CN" altLang="en-US"/>
                </a:p>
              </p:txBody>
            </p:sp>
          </p:grpSp>
          <p:sp>
            <p:nvSpPr>
              <p:cNvPr id="34" name="TextBox 34"/>
              <p:cNvSpPr txBox="1"/>
              <p:nvPr/>
            </p:nvSpPr>
            <p:spPr>
              <a:xfrm>
                <a:off x="7313295" y="2241232"/>
                <a:ext cx="1538883" cy="307777"/>
              </a:xfrm>
              <a:prstGeom prst="rect">
                <a:avLst/>
              </a:prstGeom>
              <a:noFill/>
              <a:ln>
                <a:noFill/>
              </a:ln>
            </p:spPr>
            <p:txBody>
              <a:bodyPr wrap="none" lIns="0" tIns="0" rIns="0" bIns="0" anchor="t" anchorCtr="0">
                <a:spAutoFit/>
              </a:bodyPr>
              <a:lstStyle/>
              <a:p>
                <a:pPr algn="l"/>
                <a:r>
                  <a:rPr lang="zh-CN" sz="2000" b="1" dirty="0">
                    <a:solidFill>
                      <a:srgbClr val="C8A24B"/>
                    </a:solidFill>
                    <a:latin typeface="Arial" panose="020B0604020202090204"/>
                    <a:ea typeface="微软雅黑"/>
                    <a:cs typeface="Arial" panose="020B0604020202090204"/>
                  </a:rPr>
                  <a:t>本课题拟解决</a:t>
                </a:r>
              </a:p>
            </p:txBody>
          </p:sp>
          <p:sp>
            <p:nvSpPr>
              <p:cNvPr id="35" name="Ellipse 35"/>
              <p:cNvSpPr/>
              <p:nvPr/>
            </p:nvSpPr>
            <p:spPr>
              <a:xfrm>
                <a:off x="7010400" y="2933700"/>
                <a:ext cx="76200" cy="76200"/>
              </a:xfrm>
              <a:prstGeom prst="ellipse">
                <a:avLst/>
              </a:prstGeom>
              <a:solidFill>
                <a:srgbClr val="C8A24B"/>
              </a:solidFill>
              <a:ln>
                <a:noFill/>
              </a:ln>
            </p:spPr>
            <p:txBody>
              <a:bodyPr/>
              <a:lstStyle/>
              <a:p>
                <a:endParaRPr lang="zh-CN" altLang="en-US"/>
              </a:p>
            </p:txBody>
          </p:sp>
          <p:sp>
            <p:nvSpPr>
              <p:cNvPr id="36" name="TextBox 36"/>
              <p:cNvSpPr txBox="1"/>
              <p:nvPr/>
            </p:nvSpPr>
            <p:spPr>
              <a:xfrm>
                <a:off x="7185660" y="2899410"/>
                <a:ext cx="2872581" cy="246221"/>
              </a:xfrm>
              <a:prstGeom prst="rect">
                <a:avLst/>
              </a:prstGeom>
              <a:noFill/>
              <a:ln>
                <a:noFill/>
              </a:ln>
            </p:spPr>
            <p:txBody>
              <a:bodyPr wrap="none" lIns="0" tIns="0" rIns="0" bIns="0" anchor="t" anchorCtr="0">
                <a:spAutoFit/>
              </a:bodyPr>
              <a:lstStyle/>
              <a:p>
                <a:pPr algn="l"/>
                <a:r>
                  <a:rPr lang="zh-CN" sz="1600" dirty="0">
                    <a:solidFill>
                      <a:srgbClr val="FAF8F4"/>
                    </a:solidFill>
                    <a:latin typeface="Arial" panose="020B0604020202090204"/>
                    <a:ea typeface="微软雅黑"/>
                    <a:cs typeface="Arial" panose="020B0604020202090204"/>
                  </a:rPr>
                  <a:t>将推荐评分拆解为可解释维度。</a:t>
                </a:r>
              </a:p>
            </p:txBody>
          </p:sp>
          <p:sp>
            <p:nvSpPr>
              <p:cNvPr id="37" name="Ellipse 37"/>
              <p:cNvSpPr/>
              <p:nvPr/>
            </p:nvSpPr>
            <p:spPr>
              <a:xfrm>
                <a:off x="7010400" y="3505200"/>
                <a:ext cx="76200" cy="76200"/>
              </a:xfrm>
              <a:prstGeom prst="ellipse">
                <a:avLst/>
              </a:prstGeom>
              <a:solidFill>
                <a:srgbClr val="C8A24B"/>
              </a:solidFill>
              <a:ln>
                <a:noFill/>
              </a:ln>
            </p:spPr>
            <p:txBody>
              <a:bodyPr/>
              <a:lstStyle/>
              <a:p>
                <a:endParaRPr lang="zh-CN" altLang="en-US"/>
              </a:p>
            </p:txBody>
          </p:sp>
          <p:sp>
            <p:nvSpPr>
              <p:cNvPr id="38" name="TextBox 38"/>
              <p:cNvSpPr txBox="1"/>
              <p:nvPr/>
            </p:nvSpPr>
            <p:spPr>
              <a:xfrm>
                <a:off x="7185660" y="3470910"/>
                <a:ext cx="2872581" cy="246221"/>
              </a:xfrm>
              <a:prstGeom prst="rect">
                <a:avLst/>
              </a:prstGeom>
              <a:noFill/>
              <a:ln>
                <a:noFill/>
              </a:ln>
            </p:spPr>
            <p:txBody>
              <a:bodyPr wrap="none" lIns="0" tIns="0" rIns="0" bIns="0" anchor="t" anchorCtr="0">
                <a:spAutoFit/>
              </a:bodyPr>
              <a:lstStyle/>
              <a:p>
                <a:pPr algn="l"/>
                <a:r>
                  <a:rPr lang="zh-CN" sz="1600" dirty="0">
                    <a:solidFill>
                      <a:srgbClr val="FAF8F4"/>
                    </a:solidFill>
                    <a:latin typeface="Arial" panose="020B0604020202090204"/>
                    <a:ea typeface="微软雅黑"/>
                    <a:cs typeface="Arial" panose="020B0604020202090204"/>
                  </a:rPr>
                  <a:t>用真实传播结果</a:t>
                </a:r>
                <a:r>
                  <a:rPr lang="zh-CN" sz="1600" b="1" dirty="0">
                    <a:solidFill>
                      <a:srgbClr val="C8A24B"/>
                    </a:solidFill>
                    <a:latin typeface="Arial" panose="020B0604020202090204"/>
                    <a:ea typeface="微软雅黑"/>
                    <a:cs typeface="Arial" panose="020B0604020202090204"/>
                  </a:rPr>
                  <a:t>拟合校准</a:t>
                </a:r>
                <a:r>
                  <a:rPr lang="zh-CN" sz="1600" dirty="0">
                    <a:solidFill>
                      <a:srgbClr val="FAF8F4"/>
                    </a:solidFill>
                    <a:latin typeface="Arial" panose="020B0604020202090204"/>
                    <a:ea typeface="微软雅黑"/>
                    <a:cs typeface="Arial" panose="020B0604020202090204"/>
                  </a:rPr>
                  <a:t>参数。</a:t>
                </a:r>
              </a:p>
            </p:txBody>
          </p:sp>
          <p:sp>
            <p:nvSpPr>
              <p:cNvPr id="39" name="Ellipse 39"/>
              <p:cNvSpPr/>
              <p:nvPr/>
            </p:nvSpPr>
            <p:spPr>
              <a:xfrm>
                <a:off x="7010400" y="4076700"/>
                <a:ext cx="76200" cy="76200"/>
              </a:xfrm>
              <a:prstGeom prst="ellipse">
                <a:avLst/>
              </a:prstGeom>
              <a:solidFill>
                <a:srgbClr val="C8A24B"/>
              </a:solidFill>
              <a:ln>
                <a:noFill/>
              </a:ln>
            </p:spPr>
            <p:txBody>
              <a:bodyPr/>
              <a:lstStyle/>
              <a:p>
                <a:endParaRPr lang="zh-CN" altLang="en-US"/>
              </a:p>
            </p:txBody>
          </p:sp>
          <p:sp>
            <p:nvSpPr>
              <p:cNvPr id="40" name="TextBox 40"/>
              <p:cNvSpPr txBox="1"/>
              <p:nvPr/>
            </p:nvSpPr>
            <p:spPr>
              <a:xfrm>
                <a:off x="7185660" y="4042410"/>
                <a:ext cx="2698496" cy="246221"/>
              </a:xfrm>
              <a:prstGeom prst="rect">
                <a:avLst/>
              </a:prstGeom>
              <a:noFill/>
              <a:ln>
                <a:noFill/>
              </a:ln>
            </p:spPr>
            <p:txBody>
              <a:bodyPr wrap="none" lIns="0" tIns="0" rIns="0" bIns="0" anchor="t" anchorCtr="0">
                <a:spAutoFit/>
              </a:bodyPr>
              <a:lstStyle/>
              <a:p>
                <a:pPr algn="l"/>
                <a:r>
                  <a:rPr lang="zh-CN" sz="1600" dirty="0">
                    <a:solidFill>
                      <a:srgbClr val="FAF8F4"/>
                    </a:solidFill>
                    <a:latin typeface="Arial" panose="020B0604020202090204"/>
                    <a:ea typeface="微软雅黑"/>
                    <a:cs typeface="Arial" panose="020B0604020202090204"/>
                  </a:rPr>
                  <a:t>把校准参数写入 YAML 并驱动</a:t>
                </a:r>
              </a:p>
            </p:txBody>
          </p:sp>
          <p:sp>
            <p:nvSpPr>
              <p:cNvPr id="41" name="TextBox 41"/>
              <p:cNvSpPr txBox="1"/>
              <p:nvPr/>
            </p:nvSpPr>
            <p:spPr>
              <a:xfrm>
                <a:off x="7185660" y="4290060"/>
                <a:ext cx="1607812" cy="246221"/>
              </a:xfrm>
              <a:prstGeom prst="rect">
                <a:avLst/>
              </a:prstGeom>
              <a:noFill/>
              <a:ln>
                <a:noFill/>
              </a:ln>
            </p:spPr>
            <p:txBody>
              <a:bodyPr wrap="none" lIns="0" tIns="0" rIns="0" bIns="0" anchor="t" anchorCtr="0">
                <a:spAutoFit/>
              </a:bodyPr>
              <a:lstStyle/>
              <a:p>
                <a:pPr algn="l"/>
                <a:r>
                  <a:rPr lang="zh-CN" sz="1600" dirty="0">
                    <a:solidFill>
                      <a:srgbClr val="FAF8F4"/>
                    </a:solidFill>
                    <a:latin typeface="Arial" panose="020B0604020202090204"/>
                    <a:ea typeface="微软雅黑"/>
                    <a:cs typeface="Arial" panose="020B0604020202090204"/>
                  </a:rPr>
                  <a:t>在线 Feed 排序。</a:t>
                </a:r>
              </a:p>
            </p:txBody>
          </p:sp>
        </p:grpSp>
      </p:grpSp>
      <p:grpSp>
        <p:nvGrpSpPr>
          <p:cNvPr id="47" name="Group 47"/>
          <p:cNvGrpSpPr/>
          <p:nvPr/>
        </p:nvGrpSpPr>
        <p:grpSpPr>
          <a:xfrm>
            <a:off x="609600" y="5410200"/>
            <a:ext cx="10972800" cy="647700"/>
            <a:chOff x="609600" y="5410200"/>
            <a:chExt cx="10972800" cy="647700"/>
          </a:xfrm>
        </p:grpSpPr>
        <p:sp>
          <p:nvSpPr>
            <p:cNvPr id="44" name="Rectangle 44"/>
            <p:cNvSpPr/>
            <p:nvPr/>
          </p:nvSpPr>
          <p:spPr>
            <a:xfrm>
              <a:off x="609600" y="5410200"/>
              <a:ext cx="10972800" cy="647700"/>
            </a:xfrm>
            <a:prstGeom prst="roundRect">
              <a:avLst>
                <a:gd name="adj" fmla="val 5882"/>
              </a:avLst>
            </a:prstGeom>
            <a:solidFill>
              <a:srgbClr val="F1ECE3"/>
            </a:solidFill>
            <a:ln>
              <a:noFill/>
            </a:ln>
          </p:spPr>
          <p:txBody>
            <a:bodyPr/>
            <a:lstStyle/>
            <a:p>
              <a:endParaRPr lang="zh-CN" altLang="en-US"/>
            </a:p>
          </p:txBody>
        </p:sp>
        <p:sp>
          <p:nvSpPr>
            <p:cNvPr id="45" name="Rectangle 45"/>
            <p:cNvSpPr/>
            <p:nvPr/>
          </p:nvSpPr>
          <p:spPr>
            <a:xfrm>
              <a:off x="609600" y="5410200"/>
              <a:ext cx="57150" cy="647700"/>
            </a:xfrm>
            <a:prstGeom prst="rect">
              <a:avLst/>
            </a:prstGeom>
            <a:solidFill>
              <a:srgbClr val="C8A24B"/>
            </a:solidFill>
            <a:ln>
              <a:noFill/>
            </a:ln>
          </p:spPr>
          <p:txBody>
            <a:bodyPr/>
            <a:lstStyle/>
            <a:p>
              <a:endParaRPr lang="zh-CN" altLang="en-US"/>
            </a:p>
          </p:txBody>
        </p:sp>
        <p:sp>
          <p:nvSpPr>
            <p:cNvPr id="46" name="TextBox 46"/>
            <p:cNvSpPr txBox="1"/>
            <p:nvPr/>
          </p:nvSpPr>
          <p:spPr>
            <a:xfrm>
              <a:off x="876300" y="5580161"/>
              <a:ext cx="2962349" cy="307777"/>
            </a:xfrm>
            <a:prstGeom prst="rect">
              <a:avLst/>
            </a:prstGeom>
            <a:noFill/>
            <a:ln>
              <a:noFill/>
            </a:ln>
          </p:spPr>
          <p:txBody>
            <a:bodyPr wrap="none" lIns="0" tIns="0" rIns="0" bIns="0" anchor="t" anchorCtr="0">
              <a:spAutoFit/>
            </a:bodyPr>
            <a:lstStyle/>
            <a:p>
              <a:pPr algn="l"/>
              <a:r>
                <a:rPr lang="zh-CN" sz="2000" b="1" dirty="0">
                  <a:solidFill>
                    <a:srgbClr val="1B3A5B"/>
                  </a:solidFill>
                  <a:latin typeface="Arial" panose="020B0604020202090204"/>
                  <a:ea typeface="微软雅黑"/>
                  <a:cs typeface="Arial" panose="020B0604020202090204"/>
                </a:rPr>
                <a:t>从主观预设 </a:t>
              </a:r>
              <a:r>
                <a:rPr lang="en-US" sz="2000" b="1" dirty="0">
                  <a:solidFill>
                    <a:srgbClr val="C8A24B"/>
                  </a:solidFill>
                  <a:latin typeface="Arial" panose="020B0604020202090204"/>
                  <a:ea typeface="Arial" panose="020B0604020202090204"/>
                  <a:cs typeface="Arial" panose="020B0604020202090204"/>
                </a:rPr>
                <a:t>→</a:t>
              </a:r>
              <a:r>
                <a:rPr lang="zh-CN" sz="2000" b="1" dirty="0">
                  <a:solidFill>
                    <a:srgbClr val="1B3A5B"/>
                  </a:solidFill>
                  <a:latin typeface="Arial" panose="020B0604020202090204"/>
                  <a:ea typeface="微软雅黑"/>
                  <a:cs typeface="Arial" panose="020B0604020202090204"/>
                </a:rPr>
                <a:t> 数据校准。</a:t>
              </a:r>
            </a:p>
          </p:txBody>
        </p:sp>
      </p:grpSp>
      <p:grpSp>
        <p:nvGrpSpPr>
          <p:cNvPr id="51" name="Group 51"/>
          <p:cNvGrpSpPr/>
          <p:nvPr/>
        </p:nvGrpSpPr>
        <p:grpSpPr>
          <a:xfrm>
            <a:off x="598170" y="6515100"/>
            <a:ext cx="10995661" cy="276225"/>
            <a:chOff x="598170" y="6515100"/>
            <a:chExt cx="10995661" cy="276225"/>
          </a:xfrm>
        </p:grpSpPr>
        <p:sp>
          <p:nvSpPr>
            <p:cNvPr id="48" name="Line 48"/>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49" name="TextBox 49"/>
            <p:cNvSpPr txBox="1"/>
            <p:nvPr/>
          </p:nvSpPr>
          <p:spPr>
            <a:xfrm>
              <a:off x="598170" y="6608445"/>
              <a:ext cx="1823085" cy="182880"/>
            </a:xfrm>
            <a:prstGeom prst="rect">
              <a:avLst/>
            </a:prstGeom>
            <a:noFill/>
            <a:ln>
              <a:noFill/>
            </a:ln>
          </p:spPr>
          <p:txBody>
            <a:bodyPr wrap="none" lIns="0" tIns="0" rIns="0" bIns="0" anchor="t" anchorCtr="0">
              <a:spAutoFit/>
            </a:bodyPr>
            <a:lstStyle/>
            <a:p>
              <a:pPr algn="l"/>
              <a:r>
                <a:rPr lang="zh-CN" sz="900" dirty="0">
                  <a:solidFill>
                    <a:srgbClr val="8C8C82"/>
                  </a:solidFill>
                  <a:latin typeface="Arial" panose="020B0604020202090204"/>
                  <a:ea typeface="微软雅黑"/>
                  <a:cs typeface="Arial" panose="020B0604020202090204"/>
                </a:rPr>
                <a:t>融合推荐机制校准的社交仿真平台</a:t>
              </a:r>
            </a:p>
          </p:txBody>
        </p:sp>
        <p:sp>
          <p:nvSpPr>
            <p:cNvPr id="50" name="TextBox 50"/>
            <p:cNvSpPr txBox="1"/>
            <p:nvPr/>
          </p:nvSpPr>
          <p:spPr>
            <a:xfrm>
              <a:off x="11438954" y="6608445"/>
              <a:ext cx="154877" cy="182880"/>
            </a:xfrm>
            <a:prstGeom prst="rect">
              <a:avLst/>
            </a:prstGeom>
            <a:noFill/>
            <a:ln>
              <a:noFill/>
            </a:ln>
          </p:spPr>
          <p:txBody>
            <a:bodyPr wrap="none" lIns="0" tIns="0" rIns="0" bIns="0" anchor="t" anchorCtr="0">
              <a:spAutoFit/>
            </a:bodyPr>
            <a:lstStyle/>
            <a:p>
              <a:pPr algn="r"/>
              <a:r>
                <a:rPr lang="en-US" sz="900" dirty="0">
                  <a:solidFill>
                    <a:srgbClr val="8C8C82"/>
                  </a:solidFill>
                  <a:latin typeface="Cambria"/>
                  <a:ea typeface="Cambria"/>
                  <a:cs typeface="Cambria"/>
                </a:rPr>
                <a:t>06</a:t>
              </a:r>
            </a:p>
          </p:txBody>
        </p:sp>
      </p:grpSp>
      <p:pic>
        <p:nvPicPr>
          <p:cNvPr id="52" name="Image 7"/>
          <p:cNvPicPr>
            <a:picLocks noChangeAspect="1"/>
          </p:cNvPicPr>
          <p:nvPr/>
        </p:nvPicPr>
        <p:blipFill>
          <a:blip r:embed="rId3"/>
          <a:stretch>
            <a:fillRect/>
          </a:stretch>
        </p:blipFill>
        <p:spPr>
          <a:xfrm>
            <a:off x="10919012" y="-13055"/>
            <a:ext cx="663388" cy="84676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1587" y="-173957"/>
            <a:ext cx="12193587" cy="7031957"/>
            <a:chOff x="-1587" y="-173957"/>
            <a:chExt cx="12193587" cy="7031957"/>
          </a:xfrm>
        </p:grpSpPr>
        <p:sp>
          <p:nvSpPr>
            <p:cNvPr id="2"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1587" y="-173957"/>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dirty="0"/>
            </a:p>
          </p:txBody>
        </p:sp>
      </p:grpSp>
      <p:grpSp>
        <p:nvGrpSpPr>
          <p:cNvPr id="9" name="Group 9"/>
          <p:cNvGrpSpPr/>
          <p:nvPr/>
        </p:nvGrpSpPr>
        <p:grpSpPr>
          <a:xfrm>
            <a:off x="590550" y="523875"/>
            <a:ext cx="10991850" cy="400050"/>
            <a:chOff x="590550" y="523875"/>
            <a:chExt cx="10991850" cy="400050"/>
          </a:xfrm>
        </p:grpSpPr>
        <p:sp>
          <p:nvSpPr>
            <p:cNvPr id="6" name="TextBox 6"/>
            <p:cNvSpPr txBox="1"/>
            <p:nvPr/>
          </p:nvSpPr>
          <p:spPr>
            <a:xfrm>
              <a:off x="590550" y="523875"/>
              <a:ext cx="884858" cy="230832"/>
            </a:xfrm>
            <a:prstGeom prst="rect">
              <a:avLst/>
            </a:prstGeom>
            <a:noFill/>
            <a:ln>
              <a:noFill/>
            </a:ln>
          </p:spPr>
          <p:txBody>
            <a:bodyPr wrap="none" lIns="0" tIns="0" rIns="0" bIns="0" anchor="t" anchorCtr="0">
              <a:spAutoFit/>
            </a:bodyPr>
            <a:lstStyle/>
            <a:p>
              <a:pPr algn="l"/>
              <a:r>
                <a:rPr lang="en-US" sz="1500" b="1" dirty="0">
                  <a:solidFill>
                    <a:srgbClr val="1B3A5B"/>
                  </a:solidFill>
                  <a:latin typeface="Cambria"/>
                  <a:ea typeface="Cambria"/>
                  <a:cs typeface="Cambria"/>
                </a:rPr>
                <a:t>03 </a:t>
              </a:r>
              <a:r>
                <a:rPr lang="zh-CN" sz="1200" b="1" dirty="0">
                  <a:solidFill>
                    <a:srgbClr val="5A5A52"/>
                  </a:solidFill>
                  <a:latin typeface="Arial" panose="020B0604020202090204"/>
                  <a:ea typeface="微软雅黑"/>
                  <a:cs typeface="Arial" panose="020B0604020202090204"/>
                </a:rPr>
                <a:t>研究目标</a:t>
              </a:r>
            </a:p>
          </p:txBody>
        </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19050">
              <a:solidFill>
                <a:srgbClr val="1B3A5B"/>
              </a:solidFill>
            </a:ln>
          </p:spPr>
          <p:txBody>
            <a:bodyPr/>
            <a:lstStyle/>
            <a:p>
              <a:endParaRPr lang="zh-CN" altLang="en-US"/>
            </a:p>
          </p:txBody>
        </p:sp>
      </p:grpSp>
      <p:grpSp>
        <p:nvGrpSpPr>
          <p:cNvPr id="12" name="Group 12"/>
          <p:cNvGrpSpPr/>
          <p:nvPr/>
        </p:nvGrpSpPr>
        <p:grpSpPr>
          <a:xfrm>
            <a:off x="577215" y="1210628"/>
            <a:ext cx="657231" cy="484822"/>
            <a:chOff x="577215" y="1210628"/>
            <a:chExt cx="657231" cy="484822"/>
          </a:xfrm>
        </p:grpSpPr>
        <p:sp>
          <p:nvSpPr>
            <p:cNvPr id="10" name="TextBox 10"/>
            <p:cNvSpPr txBox="1"/>
            <p:nvPr/>
          </p:nvSpPr>
          <p:spPr>
            <a:xfrm>
              <a:off x="577215" y="1210628"/>
              <a:ext cx="657231" cy="392415"/>
            </a:xfrm>
            <a:prstGeom prst="rect">
              <a:avLst/>
            </a:prstGeom>
            <a:noFill/>
            <a:ln>
              <a:noFill/>
            </a:ln>
          </p:spPr>
          <p:txBody>
            <a:bodyPr wrap="none" lIns="0" tIns="0" rIns="0" bIns="0" anchor="t" anchorCtr="0">
              <a:spAutoFit/>
            </a:bodyPr>
            <a:lstStyle/>
            <a:p>
              <a:pPr algn="l"/>
              <a:r>
                <a:rPr lang="zh-CN" sz="2550" b="1" dirty="0">
                  <a:solidFill>
                    <a:srgbClr val="1B3A5B"/>
                  </a:solidFill>
                  <a:latin typeface="Cambria"/>
                  <a:ea typeface="宋体"/>
                  <a:cs typeface="Cambria"/>
                </a:rPr>
                <a:t>目标</a:t>
              </a:r>
            </a:p>
          </p:txBody>
        </p:sp>
        <p:sp>
          <p:nvSpPr>
            <p:cNvPr id="11" name="Rectangle 11"/>
            <p:cNvSpPr/>
            <p:nvPr/>
          </p:nvSpPr>
          <p:spPr>
            <a:xfrm>
              <a:off x="609600" y="1657350"/>
              <a:ext cx="533400" cy="38100"/>
            </a:xfrm>
            <a:prstGeom prst="rect">
              <a:avLst/>
            </a:prstGeom>
            <a:solidFill>
              <a:srgbClr val="C8A24B"/>
            </a:solidFill>
            <a:ln>
              <a:noFill/>
            </a:ln>
          </p:spPr>
          <p:txBody>
            <a:bodyPr/>
            <a:lstStyle/>
            <a:p>
              <a:endParaRPr lang="zh-CN" altLang="en-US"/>
            </a:p>
          </p:txBody>
        </p:sp>
      </p:grpSp>
      <p:grpSp>
        <p:nvGrpSpPr>
          <p:cNvPr id="16" name="Group 16"/>
          <p:cNvGrpSpPr/>
          <p:nvPr/>
        </p:nvGrpSpPr>
        <p:grpSpPr>
          <a:xfrm>
            <a:off x="609600" y="1962150"/>
            <a:ext cx="10972800" cy="685800"/>
            <a:chOff x="609600" y="1962150"/>
            <a:chExt cx="10972800" cy="685800"/>
          </a:xfrm>
        </p:grpSpPr>
        <p:sp>
          <p:nvSpPr>
            <p:cNvPr id="13" name="Rectangle 13"/>
            <p:cNvSpPr/>
            <p:nvPr/>
          </p:nvSpPr>
          <p:spPr>
            <a:xfrm>
              <a:off x="609600" y="1962150"/>
              <a:ext cx="10972800" cy="685800"/>
            </a:xfrm>
            <a:prstGeom prst="roundRect">
              <a:avLst>
                <a:gd name="adj" fmla="val 5556"/>
              </a:avLst>
            </a:prstGeom>
            <a:solidFill>
              <a:srgbClr val="F1ECE3"/>
            </a:solidFill>
            <a:ln>
              <a:noFill/>
            </a:ln>
          </p:spPr>
          <p:txBody>
            <a:bodyPr/>
            <a:lstStyle/>
            <a:p>
              <a:endParaRPr lang="zh-CN" altLang="en-US"/>
            </a:p>
          </p:txBody>
        </p:sp>
        <p:sp>
          <p:nvSpPr>
            <p:cNvPr id="14" name="Rectangle 14"/>
            <p:cNvSpPr/>
            <p:nvPr/>
          </p:nvSpPr>
          <p:spPr>
            <a:xfrm>
              <a:off x="609600" y="1962150"/>
              <a:ext cx="57150" cy="685800"/>
            </a:xfrm>
            <a:prstGeom prst="rect">
              <a:avLst/>
            </a:prstGeom>
            <a:solidFill>
              <a:srgbClr val="C8A24B"/>
            </a:solidFill>
            <a:ln>
              <a:noFill/>
            </a:ln>
          </p:spPr>
          <p:txBody>
            <a:bodyPr/>
            <a:lstStyle/>
            <a:p>
              <a:endParaRPr lang="zh-CN" altLang="en-US"/>
            </a:p>
          </p:txBody>
        </p:sp>
        <p:sp>
          <p:nvSpPr>
            <p:cNvPr id="15" name="TextBox 15"/>
            <p:cNvSpPr txBox="1"/>
            <p:nvPr/>
          </p:nvSpPr>
          <p:spPr>
            <a:xfrm>
              <a:off x="732879" y="2182603"/>
              <a:ext cx="8924925" cy="276860"/>
            </a:xfrm>
            <a:prstGeom prst="rect">
              <a:avLst/>
            </a:prstGeom>
            <a:noFill/>
            <a:ln>
              <a:noFill/>
            </a:ln>
          </p:spPr>
          <p:txBody>
            <a:bodyPr wrap="none" lIns="0" tIns="0" rIns="0" bIns="0" anchor="t" anchorCtr="0">
              <a:spAutoFit/>
            </a:bodyPr>
            <a:lstStyle/>
            <a:p>
              <a:pPr algn="l"/>
              <a:r>
                <a:rPr lang="zh-CN" dirty="0">
                  <a:solidFill>
                    <a:srgbClr val="2B2B2B"/>
                  </a:solidFill>
                  <a:latin typeface="Arial" panose="020B0604020202090204"/>
                  <a:ea typeface="微软雅黑"/>
                  <a:cs typeface="Arial" panose="020B0604020202090204"/>
                </a:rPr>
                <a:t>设计并实现一个</a:t>
              </a:r>
              <a:r>
                <a:rPr lang="zh-CN" b="1" dirty="0">
                  <a:solidFill>
                    <a:srgbClr val="1B3A5B"/>
                  </a:solidFill>
                  <a:latin typeface="Arial" panose="020B0604020202090204"/>
                  <a:ea typeface="微软雅黑"/>
                  <a:cs typeface="Arial" panose="020B0604020202090204"/>
                </a:rPr>
                <a:t>融合推荐机制校准的社交仿真平台</a:t>
              </a:r>
              <a:r>
                <a:rPr lang="zh-CN" dirty="0">
                  <a:solidFill>
                    <a:srgbClr val="2B2B2B"/>
                  </a:solidFill>
                  <a:latin typeface="Arial" panose="020B0604020202090204"/>
                  <a:ea typeface="微软雅黑"/>
                  <a:cs typeface="Arial" panose="020B0604020202090204"/>
                </a:rPr>
                <a:t>，形成从真实数据到在线推演的闭环。</a:t>
              </a:r>
            </a:p>
          </p:txBody>
        </p:sp>
      </p:grpSp>
      <p:grpSp>
        <p:nvGrpSpPr>
          <p:cNvPr id="71" name="Group 71"/>
          <p:cNvGrpSpPr/>
          <p:nvPr/>
        </p:nvGrpSpPr>
        <p:grpSpPr>
          <a:xfrm>
            <a:off x="2552700" y="2893401"/>
            <a:ext cx="7086600" cy="3141909"/>
            <a:chOff x="2552700" y="2893401"/>
            <a:chExt cx="7086600" cy="3141909"/>
          </a:xfrm>
        </p:grpSpPr>
        <p:sp>
          <p:nvSpPr>
            <p:cNvPr id="17" name="Ellipse 17"/>
            <p:cNvSpPr/>
            <p:nvPr/>
          </p:nvSpPr>
          <p:spPr>
            <a:xfrm>
              <a:off x="5503863" y="3837520"/>
              <a:ext cx="1181100" cy="1181100"/>
            </a:xfrm>
            <a:prstGeom prst="ellipse">
              <a:avLst/>
            </a:prstGeom>
            <a:solidFill>
              <a:srgbClr val="1B3A5B"/>
            </a:solidFill>
            <a:ln>
              <a:noFill/>
            </a:ln>
          </p:spPr>
          <p:txBody>
            <a:bodyPr/>
            <a:lstStyle/>
            <a:p>
              <a:endParaRPr lang="zh-CN" altLang="en-US" dirty="0"/>
            </a:p>
          </p:txBody>
        </p:sp>
        <p:sp>
          <p:nvSpPr>
            <p:cNvPr id="22" name="Freeform 22"/>
            <p:cNvSpPr/>
            <p:nvPr/>
          </p:nvSpPr>
          <p:spPr>
            <a:xfrm>
              <a:off x="6096000" y="3429000"/>
              <a:ext cx="1028700" cy="1028700"/>
            </a:xfrm>
            <a:custGeom>
              <a:avLst/>
              <a:gdLst/>
              <a:ahLst/>
              <a:cxnLst/>
              <a:rect l="l" t="t" r="r" b="b"/>
              <a:pathLst>
                <a:path w="1028700" h="1028700">
                  <a:moveTo>
                    <a:pt x="0" y="0"/>
                  </a:moveTo>
                  <a:cubicBezTo>
                    <a:pt x="568135" y="0"/>
                    <a:pt x="1028700" y="460565"/>
                    <a:pt x="1028700" y="1028700"/>
                  </a:cubicBezTo>
                </a:path>
              </a:pathLst>
            </a:custGeom>
            <a:noFill/>
            <a:ln w="19050">
              <a:solidFill>
                <a:srgbClr val="C8A24B"/>
              </a:solidFill>
              <a:prstDash val="dash"/>
            </a:ln>
          </p:spPr>
          <p:txBody>
            <a:bodyPr/>
            <a:lstStyle/>
            <a:p>
              <a:endParaRPr lang="zh-CN" altLang="en-US"/>
            </a:p>
          </p:txBody>
        </p:sp>
        <p:sp>
          <p:nvSpPr>
            <p:cNvPr id="23" name="Freeform 23"/>
            <p:cNvSpPr/>
            <p:nvPr/>
          </p:nvSpPr>
          <p:spPr>
            <a:xfrm>
              <a:off x="6096000" y="4457700"/>
              <a:ext cx="1028700" cy="1028700"/>
            </a:xfrm>
            <a:custGeom>
              <a:avLst/>
              <a:gdLst/>
              <a:ahLst/>
              <a:cxnLst/>
              <a:rect l="l" t="t" r="r" b="b"/>
              <a:pathLst>
                <a:path w="1028700" h="1028700">
                  <a:moveTo>
                    <a:pt x="1028700" y="0"/>
                  </a:moveTo>
                  <a:cubicBezTo>
                    <a:pt x="1028700" y="568135"/>
                    <a:pt x="568135" y="1028700"/>
                    <a:pt x="0" y="1028700"/>
                  </a:cubicBezTo>
                </a:path>
              </a:pathLst>
            </a:custGeom>
            <a:noFill/>
            <a:ln w="19050">
              <a:solidFill>
                <a:srgbClr val="C8A24B"/>
              </a:solidFill>
              <a:prstDash val="dash"/>
            </a:ln>
          </p:spPr>
          <p:txBody>
            <a:bodyPr/>
            <a:lstStyle/>
            <a:p>
              <a:endParaRPr lang="zh-CN" altLang="en-US"/>
            </a:p>
          </p:txBody>
        </p:sp>
        <p:sp>
          <p:nvSpPr>
            <p:cNvPr id="24" name="Freeform 24"/>
            <p:cNvSpPr/>
            <p:nvPr/>
          </p:nvSpPr>
          <p:spPr>
            <a:xfrm>
              <a:off x="5067300" y="4457700"/>
              <a:ext cx="1028700" cy="1028700"/>
            </a:xfrm>
            <a:custGeom>
              <a:avLst/>
              <a:gdLst/>
              <a:ahLst/>
              <a:cxnLst/>
              <a:rect l="l" t="t" r="r" b="b"/>
              <a:pathLst>
                <a:path w="1028700" h="1028700">
                  <a:moveTo>
                    <a:pt x="1028700" y="1028700"/>
                  </a:moveTo>
                  <a:cubicBezTo>
                    <a:pt x="460565" y="1028700"/>
                    <a:pt x="0" y="568135"/>
                    <a:pt x="0" y="0"/>
                  </a:cubicBezTo>
                </a:path>
              </a:pathLst>
            </a:custGeom>
            <a:noFill/>
            <a:ln w="19050">
              <a:solidFill>
                <a:srgbClr val="C8A24B"/>
              </a:solidFill>
              <a:prstDash val="dash"/>
            </a:ln>
          </p:spPr>
          <p:txBody>
            <a:bodyPr/>
            <a:lstStyle/>
            <a:p>
              <a:endParaRPr lang="zh-CN" altLang="en-US"/>
            </a:p>
          </p:txBody>
        </p:sp>
        <p:sp>
          <p:nvSpPr>
            <p:cNvPr id="25" name="Freeform 25"/>
            <p:cNvSpPr/>
            <p:nvPr/>
          </p:nvSpPr>
          <p:spPr>
            <a:xfrm>
              <a:off x="5067300" y="3429000"/>
              <a:ext cx="1028700" cy="1028700"/>
            </a:xfrm>
            <a:custGeom>
              <a:avLst/>
              <a:gdLst/>
              <a:ahLst/>
              <a:cxnLst/>
              <a:rect l="l" t="t" r="r" b="b"/>
              <a:pathLst>
                <a:path w="1028700" h="1028700">
                  <a:moveTo>
                    <a:pt x="0" y="1028700"/>
                  </a:moveTo>
                  <a:cubicBezTo>
                    <a:pt x="0" y="460565"/>
                    <a:pt x="460565" y="0"/>
                    <a:pt x="1028700" y="0"/>
                  </a:cubicBezTo>
                </a:path>
              </a:pathLst>
            </a:custGeom>
            <a:noFill/>
            <a:ln w="19050">
              <a:solidFill>
                <a:srgbClr val="C8A24B"/>
              </a:solidFill>
              <a:prstDash val="dash"/>
            </a:ln>
          </p:spPr>
          <p:txBody>
            <a:bodyPr/>
            <a:lstStyle/>
            <a:p>
              <a:endParaRPr lang="zh-CN" altLang="en-US"/>
            </a:p>
          </p:txBody>
        </p:sp>
        <p:grpSp>
          <p:nvGrpSpPr>
            <p:cNvPr id="35" name="Group 35"/>
            <p:cNvGrpSpPr/>
            <p:nvPr/>
          </p:nvGrpSpPr>
          <p:grpSpPr>
            <a:xfrm>
              <a:off x="4119451" y="2893401"/>
              <a:ext cx="2262299" cy="611799"/>
              <a:chOff x="4119451" y="2893401"/>
              <a:chExt cx="2262299" cy="611799"/>
            </a:xfrm>
          </p:grpSpPr>
          <p:sp>
            <p:nvSpPr>
              <p:cNvPr id="26" name="Ellipse 26"/>
              <p:cNvSpPr/>
              <p:nvPr/>
            </p:nvSpPr>
            <p:spPr>
              <a:xfrm>
                <a:off x="5810250" y="2933700"/>
                <a:ext cx="571500" cy="571500"/>
              </a:xfrm>
              <a:prstGeom prst="ellipse">
                <a:avLst/>
              </a:prstGeom>
              <a:solidFill>
                <a:srgbClr val="FFFFFF"/>
              </a:solidFill>
              <a:ln w="28575">
                <a:solidFill>
                  <a:srgbClr val="1B3A5B"/>
                </a:solidFill>
              </a:ln>
            </p:spPr>
            <p:txBody>
              <a:bodyPr/>
              <a:lstStyle/>
              <a:p>
                <a:endParaRPr lang="zh-CN" altLang="en-US"/>
              </a:p>
            </p:txBody>
          </p:sp>
          <p:grpSp>
            <p:nvGrpSpPr>
              <p:cNvPr id="31" name="Group 31"/>
              <p:cNvGrpSpPr/>
              <p:nvPr/>
            </p:nvGrpSpPr>
            <p:grpSpPr>
              <a:xfrm>
                <a:off x="5981700" y="3105150"/>
                <a:ext cx="228599" cy="228600"/>
                <a:chOff x="5981700" y="3105150"/>
                <a:chExt cx="228599" cy="228600"/>
              </a:xfrm>
            </p:grpSpPr>
            <p:sp>
              <p:nvSpPr>
                <p:cNvPr id="27" name="Freeform 27"/>
                <p:cNvSpPr/>
                <p:nvPr/>
              </p:nvSpPr>
              <p:spPr>
                <a:xfrm>
                  <a:off x="6007100" y="3105150"/>
                  <a:ext cx="101600" cy="101600"/>
                </a:xfrm>
                <a:custGeom>
                  <a:avLst/>
                  <a:gdLst/>
                  <a:ahLst/>
                  <a:cxnLst/>
                  <a:rect l="l" t="t" r="r" b="b"/>
                  <a:pathLst>
                    <a:path w="101600" h="101600">
                      <a:moveTo>
                        <a:pt x="0" y="50800"/>
                      </a:moveTo>
                      <a:cubicBezTo>
                        <a:pt x="0" y="78856"/>
                        <a:pt x="22744" y="101600"/>
                        <a:pt x="50800" y="101600"/>
                      </a:cubicBezTo>
                      <a:cubicBezTo>
                        <a:pt x="78856" y="101600"/>
                        <a:pt x="101600" y="78856"/>
                        <a:pt x="101600" y="50800"/>
                      </a:cubicBezTo>
                      <a:cubicBezTo>
                        <a:pt x="101600" y="22744"/>
                        <a:pt x="78856" y="0"/>
                        <a:pt x="50800" y="0"/>
                      </a:cubicBezTo>
                      <a:cubicBezTo>
                        <a:pt x="22744" y="0"/>
                        <a:pt x="0" y="22744"/>
                        <a:pt x="0" y="50800"/>
                      </a:cubicBezTo>
                    </a:path>
                  </a:pathLst>
                </a:custGeom>
                <a:noFill/>
                <a:ln w="19050">
                  <a:solidFill>
                    <a:srgbClr val="1B3A5B"/>
                  </a:solidFill>
                </a:ln>
              </p:spPr>
              <p:txBody>
                <a:bodyPr/>
                <a:lstStyle/>
                <a:p>
                  <a:endParaRPr lang="zh-CN" altLang="en-US"/>
                </a:p>
              </p:txBody>
            </p:sp>
            <p:sp>
              <p:nvSpPr>
                <p:cNvPr id="28" name="Freeform 28"/>
                <p:cNvSpPr/>
                <p:nvPr/>
              </p:nvSpPr>
              <p:spPr>
                <a:xfrm>
                  <a:off x="5981700" y="3257550"/>
                  <a:ext cx="152400" cy="76200"/>
                </a:xfrm>
                <a:custGeom>
                  <a:avLst/>
                  <a:gdLst/>
                  <a:ahLst/>
                  <a:cxnLst/>
                  <a:rect l="l" t="t" r="r" b="b"/>
                  <a:pathLst>
                    <a:path w="152400" h="76200">
                      <a:moveTo>
                        <a:pt x="0" y="76200"/>
                      </a:moveTo>
                      <a:lnTo>
                        <a:pt x="0" y="50800"/>
                      </a:lnTo>
                      <a:cubicBezTo>
                        <a:pt x="0" y="22744"/>
                        <a:pt x="22744" y="0"/>
                        <a:pt x="50800" y="0"/>
                      </a:cubicBezTo>
                      <a:lnTo>
                        <a:pt x="101600" y="0"/>
                      </a:lnTo>
                      <a:cubicBezTo>
                        <a:pt x="129656" y="0"/>
                        <a:pt x="152400" y="22744"/>
                        <a:pt x="152400" y="50800"/>
                      </a:cubicBezTo>
                      <a:lnTo>
                        <a:pt x="152400" y="76200"/>
                      </a:lnTo>
                    </a:path>
                  </a:pathLst>
                </a:custGeom>
                <a:noFill/>
                <a:ln w="19050">
                  <a:solidFill>
                    <a:srgbClr val="1B3A5B"/>
                  </a:solidFill>
                </a:ln>
              </p:spPr>
              <p:txBody>
                <a:bodyPr/>
                <a:lstStyle/>
                <a:p>
                  <a:endParaRPr lang="zh-CN" altLang="en-US"/>
                </a:p>
              </p:txBody>
            </p:sp>
            <p:sp>
              <p:nvSpPr>
                <p:cNvPr id="29" name="Freeform 29"/>
                <p:cNvSpPr/>
                <p:nvPr/>
              </p:nvSpPr>
              <p:spPr>
                <a:xfrm>
                  <a:off x="6146799" y="3106801"/>
                  <a:ext cx="38200" cy="98425"/>
                </a:xfrm>
                <a:custGeom>
                  <a:avLst/>
                  <a:gdLst/>
                  <a:ahLst/>
                  <a:cxnLst/>
                  <a:rect l="l" t="t" r="r" b="b"/>
                  <a:pathLst>
                    <a:path w="38200" h="98425">
                      <a:moveTo>
                        <a:pt x="0" y="0"/>
                      </a:moveTo>
                      <a:cubicBezTo>
                        <a:pt x="22478" y="5755"/>
                        <a:pt x="38200" y="26009"/>
                        <a:pt x="38200" y="49212"/>
                      </a:cubicBezTo>
                      <a:cubicBezTo>
                        <a:pt x="38200" y="72415"/>
                        <a:pt x="22478" y="92670"/>
                        <a:pt x="0" y="98425"/>
                      </a:cubicBezTo>
                    </a:path>
                  </a:pathLst>
                </a:custGeom>
                <a:noFill/>
                <a:ln w="19050">
                  <a:solidFill>
                    <a:srgbClr val="1B3A5B"/>
                  </a:solidFill>
                </a:ln>
              </p:spPr>
              <p:txBody>
                <a:bodyPr/>
                <a:lstStyle/>
                <a:p>
                  <a:endParaRPr lang="zh-CN" altLang="en-US"/>
                </a:p>
              </p:txBody>
            </p:sp>
            <p:sp>
              <p:nvSpPr>
                <p:cNvPr id="30" name="Freeform 30"/>
                <p:cNvSpPr/>
                <p:nvPr/>
              </p:nvSpPr>
              <p:spPr>
                <a:xfrm>
                  <a:off x="6172199" y="3259455"/>
                  <a:ext cx="38100" cy="74295"/>
                </a:xfrm>
                <a:custGeom>
                  <a:avLst/>
                  <a:gdLst/>
                  <a:ahLst/>
                  <a:cxnLst/>
                  <a:rect l="l" t="t" r="r" b="b"/>
                  <a:pathLst>
                    <a:path w="38100" h="74295">
                      <a:moveTo>
                        <a:pt x="38100" y="74295"/>
                      </a:moveTo>
                      <a:lnTo>
                        <a:pt x="38100" y="48895"/>
                      </a:lnTo>
                      <a:cubicBezTo>
                        <a:pt x="37967" y="25839"/>
                        <a:pt x="22324" y="5764"/>
                        <a:pt x="0" y="0"/>
                      </a:cubicBezTo>
                    </a:path>
                  </a:pathLst>
                </a:custGeom>
                <a:noFill/>
                <a:ln w="19050">
                  <a:solidFill>
                    <a:srgbClr val="1B3A5B"/>
                  </a:solidFill>
                </a:ln>
              </p:spPr>
              <p:txBody>
                <a:bodyPr/>
                <a:lstStyle/>
                <a:p>
                  <a:endParaRPr lang="zh-CN" altLang="en-US"/>
                </a:p>
              </p:txBody>
            </p:sp>
          </p:grpSp>
          <p:sp>
            <p:nvSpPr>
              <p:cNvPr id="32" name="Rectangle 32"/>
              <p:cNvSpPr/>
              <p:nvPr/>
            </p:nvSpPr>
            <p:spPr>
              <a:xfrm>
                <a:off x="4119451" y="2893401"/>
                <a:ext cx="1638300" cy="609600"/>
              </a:xfrm>
              <a:prstGeom prst="roundRect">
                <a:avLst>
                  <a:gd name="adj" fmla="val 6250"/>
                </a:avLst>
              </a:prstGeom>
              <a:solidFill>
                <a:srgbClr val="FFFFFF"/>
              </a:solidFill>
              <a:ln w="9525">
                <a:solidFill>
                  <a:srgbClr val="D8D0C2"/>
                </a:solidFill>
              </a:ln>
            </p:spPr>
            <p:txBody>
              <a:bodyPr/>
              <a:lstStyle/>
              <a:p>
                <a:endParaRPr lang="zh-CN" altLang="en-US"/>
              </a:p>
            </p:txBody>
          </p:sp>
          <p:sp>
            <p:nvSpPr>
              <p:cNvPr id="33" name="TextBox 33"/>
              <p:cNvSpPr txBox="1"/>
              <p:nvPr/>
            </p:nvSpPr>
            <p:spPr>
              <a:xfrm>
                <a:off x="4255659" y="3003415"/>
                <a:ext cx="898218" cy="259080"/>
              </a:xfrm>
              <a:prstGeom prst="rect">
                <a:avLst/>
              </a:prstGeom>
              <a:noFill/>
              <a:ln>
                <a:noFill/>
              </a:ln>
            </p:spPr>
            <p:txBody>
              <a:bodyPr wrap="none" lIns="0" tIns="0" rIns="0" bIns="0" anchor="t" anchorCtr="0">
                <a:spAutoFit/>
              </a:bodyPr>
              <a:lstStyle/>
              <a:p>
                <a:pPr algn="l"/>
                <a:r>
                  <a:rPr lang="zh-CN" sz="1275" b="1" dirty="0">
                    <a:solidFill>
                      <a:srgbClr val="1B3A5B"/>
                    </a:solidFill>
                    <a:latin typeface="Arial" panose="020B0604020202090204"/>
                    <a:ea typeface="微软雅黑"/>
                    <a:cs typeface="Arial" panose="020B0604020202090204"/>
                  </a:rPr>
                  <a:t>① 画像生成</a:t>
                </a:r>
              </a:p>
            </p:txBody>
          </p:sp>
          <p:sp>
            <p:nvSpPr>
              <p:cNvPr id="34" name="TextBox 34"/>
              <p:cNvSpPr txBox="1"/>
              <p:nvPr/>
            </p:nvSpPr>
            <p:spPr>
              <a:xfrm>
                <a:off x="4259469" y="3264400"/>
                <a:ext cx="1363932" cy="198120"/>
              </a:xfrm>
              <a:prstGeom prst="rect">
                <a:avLst/>
              </a:prstGeom>
              <a:noFill/>
              <a:ln>
                <a:noFill/>
              </a:ln>
            </p:spPr>
            <p:txBody>
              <a:bodyPr wrap="none" lIns="0" tIns="0" rIns="0" bIns="0" anchor="t" anchorCtr="0">
                <a:spAutoFit/>
              </a:bodyPr>
              <a:lstStyle/>
              <a:p>
                <a:pPr algn="l"/>
                <a:r>
                  <a:rPr lang="zh-CN" sz="975" dirty="0">
                    <a:solidFill>
                      <a:srgbClr val="5A5A52"/>
                    </a:solidFill>
                    <a:latin typeface="Arial" panose="020B0604020202090204"/>
                    <a:ea typeface="微软雅黑"/>
                    <a:cs typeface="Arial" panose="020B0604020202090204"/>
                  </a:rPr>
                  <a:t>稳定 / 行为 / 运行画像</a:t>
                </a:r>
              </a:p>
            </p:txBody>
          </p:sp>
        </p:grpSp>
        <p:grpSp>
          <p:nvGrpSpPr>
            <p:cNvPr id="50" name="Group 50"/>
            <p:cNvGrpSpPr/>
            <p:nvPr/>
          </p:nvGrpSpPr>
          <p:grpSpPr>
            <a:xfrm>
              <a:off x="7048500" y="4152900"/>
              <a:ext cx="2590800" cy="609600"/>
              <a:chOff x="7048500" y="4152900"/>
              <a:chExt cx="2590800" cy="609600"/>
            </a:xfrm>
          </p:grpSpPr>
          <p:sp>
            <p:nvSpPr>
              <p:cNvPr id="36" name="Ellipse 36"/>
              <p:cNvSpPr/>
              <p:nvPr/>
            </p:nvSpPr>
            <p:spPr>
              <a:xfrm>
                <a:off x="7048500" y="4171950"/>
                <a:ext cx="571500" cy="571500"/>
              </a:xfrm>
              <a:prstGeom prst="ellipse">
                <a:avLst/>
              </a:prstGeom>
              <a:solidFill>
                <a:srgbClr val="FFFFFF"/>
              </a:solidFill>
              <a:ln w="28575">
                <a:solidFill>
                  <a:srgbClr val="C8A24B"/>
                </a:solidFill>
              </a:ln>
            </p:spPr>
            <p:txBody>
              <a:bodyPr/>
              <a:lstStyle/>
              <a:p>
                <a:endParaRPr lang="zh-CN" altLang="en-US"/>
              </a:p>
            </p:txBody>
          </p:sp>
          <p:grpSp>
            <p:nvGrpSpPr>
              <p:cNvPr id="46" name="Group 46"/>
              <p:cNvGrpSpPr/>
              <p:nvPr/>
            </p:nvGrpSpPr>
            <p:grpSpPr>
              <a:xfrm>
                <a:off x="7232650" y="4356100"/>
                <a:ext cx="203199" cy="203200"/>
                <a:chOff x="7232650" y="4356100"/>
                <a:chExt cx="203199" cy="203200"/>
              </a:xfrm>
            </p:grpSpPr>
            <p:sp>
              <p:nvSpPr>
                <p:cNvPr id="37" name="Freeform 37"/>
                <p:cNvSpPr/>
                <p:nvPr/>
              </p:nvSpPr>
              <p:spPr>
                <a:xfrm>
                  <a:off x="7232650" y="44069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C8A24B"/>
                  </a:solidFill>
                </a:ln>
              </p:spPr>
              <p:txBody>
                <a:bodyPr/>
                <a:lstStyle/>
                <a:p>
                  <a:endParaRPr lang="zh-CN" altLang="en-US"/>
                </a:p>
              </p:txBody>
            </p:sp>
            <p:sp>
              <p:nvSpPr>
                <p:cNvPr id="38" name="Freeform 38"/>
                <p:cNvSpPr/>
                <p:nvPr/>
              </p:nvSpPr>
              <p:spPr>
                <a:xfrm>
                  <a:off x="7258050" y="4356100"/>
                  <a:ext cx="9525" cy="50800"/>
                </a:xfrm>
                <a:custGeom>
                  <a:avLst/>
                  <a:gdLst/>
                  <a:ahLst/>
                  <a:cxnLst/>
                  <a:rect l="l" t="t" r="r" b="b"/>
                  <a:pathLst>
                    <a:path w="9525" h="50800">
                      <a:moveTo>
                        <a:pt x="0" y="0"/>
                      </a:moveTo>
                      <a:lnTo>
                        <a:pt x="0" y="50800"/>
                      </a:lnTo>
                    </a:path>
                  </a:pathLst>
                </a:custGeom>
                <a:noFill/>
                <a:ln w="19050">
                  <a:solidFill>
                    <a:srgbClr val="C8A24B"/>
                  </a:solidFill>
                </a:ln>
              </p:spPr>
              <p:txBody>
                <a:bodyPr/>
                <a:lstStyle/>
                <a:p>
                  <a:endParaRPr lang="zh-CN" altLang="en-US"/>
                </a:p>
              </p:txBody>
            </p:sp>
            <p:sp>
              <p:nvSpPr>
                <p:cNvPr id="39" name="Freeform 39"/>
                <p:cNvSpPr/>
                <p:nvPr/>
              </p:nvSpPr>
              <p:spPr>
                <a:xfrm>
                  <a:off x="7258050" y="4457700"/>
                  <a:ext cx="9525" cy="101600"/>
                </a:xfrm>
                <a:custGeom>
                  <a:avLst/>
                  <a:gdLst/>
                  <a:ahLst/>
                  <a:cxnLst/>
                  <a:rect l="l" t="t" r="r" b="b"/>
                  <a:pathLst>
                    <a:path w="9525" h="101600">
                      <a:moveTo>
                        <a:pt x="0" y="0"/>
                      </a:moveTo>
                      <a:lnTo>
                        <a:pt x="0" y="101600"/>
                      </a:lnTo>
                    </a:path>
                  </a:pathLst>
                </a:custGeom>
                <a:noFill/>
                <a:ln w="19050">
                  <a:solidFill>
                    <a:srgbClr val="C8A24B"/>
                  </a:solidFill>
                </a:ln>
              </p:spPr>
              <p:txBody>
                <a:bodyPr/>
                <a:lstStyle/>
                <a:p>
                  <a:endParaRPr lang="zh-CN" altLang="en-US"/>
                </a:p>
              </p:txBody>
            </p:sp>
            <p:sp>
              <p:nvSpPr>
                <p:cNvPr id="40" name="Freeform 40"/>
                <p:cNvSpPr/>
                <p:nvPr/>
              </p:nvSpPr>
              <p:spPr>
                <a:xfrm>
                  <a:off x="7308850" y="44831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C8A24B"/>
                  </a:solidFill>
                </a:ln>
              </p:spPr>
              <p:txBody>
                <a:bodyPr/>
                <a:lstStyle/>
                <a:p>
                  <a:endParaRPr lang="zh-CN" altLang="en-US"/>
                </a:p>
              </p:txBody>
            </p:sp>
            <p:sp>
              <p:nvSpPr>
                <p:cNvPr id="41" name="Freeform 41"/>
                <p:cNvSpPr/>
                <p:nvPr/>
              </p:nvSpPr>
              <p:spPr>
                <a:xfrm>
                  <a:off x="7334250" y="4356100"/>
                  <a:ext cx="9525" cy="127000"/>
                </a:xfrm>
                <a:custGeom>
                  <a:avLst/>
                  <a:gdLst/>
                  <a:ahLst/>
                  <a:cxnLst/>
                  <a:rect l="l" t="t" r="r" b="b"/>
                  <a:pathLst>
                    <a:path w="9525" h="127000">
                      <a:moveTo>
                        <a:pt x="0" y="0"/>
                      </a:moveTo>
                      <a:lnTo>
                        <a:pt x="0" y="127000"/>
                      </a:lnTo>
                    </a:path>
                  </a:pathLst>
                </a:custGeom>
                <a:noFill/>
                <a:ln w="19050">
                  <a:solidFill>
                    <a:srgbClr val="C8A24B"/>
                  </a:solidFill>
                </a:ln>
              </p:spPr>
              <p:txBody>
                <a:bodyPr/>
                <a:lstStyle/>
                <a:p>
                  <a:endParaRPr lang="zh-CN" altLang="en-US"/>
                </a:p>
              </p:txBody>
            </p:sp>
            <p:sp>
              <p:nvSpPr>
                <p:cNvPr id="42" name="Freeform 42"/>
                <p:cNvSpPr/>
                <p:nvPr/>
              </p:nvSpPr>
              <p:spPr>
                <a:xfrm>
                  <a:off x="7334250" y="4533899"/>
                  <a:ext cx="9525" cy="25400"/>
                </a:xfrm>
                <a:custGeom>
                  <a:avLst/>
                  <a:gdLst/>
                  <a:ahLst/>
                  <a:cxnLst/>
                  <a:rect l="l" t="t" r="r" b="b"/>
                  <a:pathLst>
                    <a:path w="9525" h="25400">
                      <a:moveTo>
                        <a:pt x="0" y="0"/>
                      </a:moveTo>
                      <a:lnTo>
                        <a:pt x="0" y="25400"/>
                      </a:lnTo>
                    </a:path>
                  </a:pathLst>
                </a:custGeom>
                <a:noFill/>
                <a:ln w="19050">
                  <a:solidFill>
                    <a:srgbClr val="C8A24B"/>
                  </a:solidFill>
                </a:ln>
              </p:spPr>
              <p:txBody>
                <a:bodyPr/>
                <a:lstStyle/>
                <a:p>
                  <a:endParaRPr lang="zh-CN" altLang="en-US"/>
                </a:p>
              </p:txBody>
            </p:sp>
            <p:sp>
              <p:nvSpPr>
                <p:cNvPr id="43" name="Freeform 43"/>
                <p:cNvSpPr/>
                <p:nvPr/>
              </p:nvSpPr>
              <p:spPr>
                <a:xfrm>
                  <a:off x="7385049" y="43688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C8A24B"/>
                  </a:solidFill>
                </a:ln>
              </p:spPr>
              <p:txBody>
                <a:bodyPr/>
                <a:lstStyle/>
                <a:p>
                  <a:endParaRPr lang="zh-CN" altLang="en-US"/>
                </a:p>
              </p:txBody>
            </p:sp>
            <p:sp>
              <p:nvSpPr>
                <p:cNvPr id="44" name="Freeform 44"/>
                <p:cNvSpPr/>
                <p:nvPr/>
              </p:nvSpPr>
              <p:spPr>
                <a:xfrm>
                  <a:off x="7410449" y="4356100"/>
                  <a:ext cx="9525" cy="12700"/>
                </a:xfrm>
                <a:custGeom>
                  <a:avLst/>
                  <a:gdLst/>
                  <a:ahLst/>
                  <a:cxnLst/>
                  <a:rect l="l" t="t" r="r" b="b"/>
                  <a:pathLst>
                    <a:path w="9525" h="12700">
                      <a:moveTo>
                        <a:pt x="0" y="0"/>
                      </a:moveTo>
                      <a:lnTo>
                        <a:pt x="0" y="12700"/>
                      </a:lnTo>
                    </a:path>
                  </a:pathLst>
                </a:custGeom>
                <a:noFill/>
                <a:ln w="19050">
                  <a:solidFill>
                    <a:srgbClr val="C8A24B"/>
                  </a:solidFill>
                </a:ln>
              </p:spPr>
              <p:txBody>
                <a:bodyPr/>
                <a:lstStyle/>
                <a:p>
                  <a:endParaRPr lang="zh-CN" altLang="en-US"/>
                </a:p>
              </p:txBody>
            </p:sp>
            <p:sp>
              <p:nvSpPr>
                <p:cNvPr id="45" name="Freeform 45"/>
                <p:cNvSpPr/>
                <p:nvPr/>
              </p:nvSpPr>
              <p:spPr>
                <a:xfrm>
                  <a:off x="7410449" y="4419600"/>
                  <a:ext cx="9525" cy="139700"/>
                </a:xfrm>
                <a:custGeom>
                  <a:avLst/>
                  <a:gdLst/>
                  <a:ahLst/>
                  <a:cxnLst/>
                  <a:rect l="l" t="t" r="r" b="b"/>
                  <a:pathLst>
                    <a:path w="9525" h="139700">
                      <a:moveTo>
                        <a:pt x="0" y="0"/>
                      </a:moveTo>
                      <a:lnTo>
                        <a:pt x="0" y="139700"/>
                      </a:lnTo>
                    </a:path>
                  </a:pathLst>
                </a:custGeom>
                <a:noFill/>
                <a:ln w="19050">
                  <a:solidFill>
                    <a:srgbClr val="C8A24B"/>
                  </a:solidFill>
                </a:ln>
              </p:spPr>
              <p:txBody>
                <a:bodyPr/>
                <a:lstStyle/>
                <a:p>
                  <a:endParaRPr lang="zh-CN" altLang="en-US"/>
                </a:p>
              </p:txBody>
            </p:sp>
          </p:grpSp>
          <p:sp>
            <p:nvSpPr>
              <p:cNvPr id="47" name="Rectangle 47"/>
              <p:cNvSpPr/>
              <p:nvPr/>
            </p:nvSpPr>
            <p:spPr>
              <a:xfrm>
                <a:off x="7734300" y="4152900"/>
                <a:ext cx="1905000" cy="609600"/>
              </a:xfrm>
              <a:prstGeom prst="roundRect">
                <a:avLst>
                  <a:gd name="adj" fmla="val 6250"/>
                </a:avLst>
              </a:prstGeom>
              <a:solidFill>
                <a:srgbClr val="FFFFFF"/>
              </a:solidFill>
              <a:ln w="9525">
                <a:solidFill>
                  <a:srgbClr val="D8D0C2"/>
                </a:solidFill>
              </a:ln>
            </p:spPr>
            <p:txBody>
              <a:bodyPr/>
              <a:lstStyle/>
              <a:p>
                <a:endParaRPr lang="zh-CN" altLang="en-US"/>
              </a:p>
            </p:txBody>
          </p:sp>
          <p:sp>
            <p:nvSpPr>
              <p:cNvPr id="48" name="TextBox 48"/>
              <p:cNvSpPr txBox="1"/>
              <p:nvPr/>
            </p:nvSpPr>
            <p:spPr>
              <a:xfrm>
                <a:off x="7870508" y="4262914"/>
                <a:ext cx="898218" cy="259080"/>
              </a:xfrm>
              <a:prstGeom prst="rect">
                <a:avLst/>
              </a:prstGeom>
              <a:noFill/>
              <a:ln>
                <a:noFill/>
              </a:ln>
            </p:spPr>
            <p:txBody>
              <a:bodyPr wrap="none" lIns="0" tIns="0" rIns="0" bIns="0" anchor="t" anchorCtr="0">
                <a:spAutoFit/>
              </a:bodyPr>
              <a:lstStyle/>
              <a:p>
                <a:pPr algn="l"/>
                <a:r>
                  <a:rPr lang="zh-CN" sz="1275" b="1" dirty="0">
                    <a:solidFill>
                      <a:srgbClr val="1B3A5B"/>
                    </a:solidFill>
                    <a:latin typeface="Arial" panose="020B0604020202090204"/>
                    <a:ea typeface="微软雅黑"/>
                    <a:cs typeface="Arial" panose="020B0604020202090204"/>
                  </a:rPr>
                  <a:t>② 参数校准</a:t>
                </a:r>
              </a:p>
            </p:txBody>
          </p:sp>
          <p:sp>
            <p:nvSpPr>
              <p:cNvPr id="49" name="TextBox 49"/>
              <p:cNvSpPr txBox="1"/>
              <p:nvPr/>
            </p:nvSpPr>
            <p:spPr>
              <a:xfrm>
                <a:off x="7874318" y="4523899"/>
                <a:ext cx="1363932" cy="198120"/>
              </a:xfrm>
              <a:prstGeom prst="rect">
                <a:avLst/>
              </a:prstGeom>
              <a:noFill/>
              <a:ln>
                <a:noFill/>
              </a:ln>
            </p:spPr>
            <p:txBody>
              <a:bodyPr wrap="none" lIns="0" tIns="0" rIns="0" bIns="0" anchor="t" anchorCtr="0">
                <a:spAutoFit/>
              </a:bodyPr>
              <a:lstStyle/>
              <a:p>
                <a:pPr algn="l"/>
                <a:r>
                  <a:rPr lang="zh-CN" sz="975" dirty="0">
                    <a:solidFill>
                      <a:srgbClr val="5A5A52"/>
                    </a:solidFill>
                    <a:latin typeface="Arial" panose="020B0604020202090204"/>
                    <a:ea typeface="微软雅黑"/>
                    <a:cs typeface="Arial" panose="020B0604020202090204"/>
                  </a:rPr>
                  <a:t>权重 / 衰减 / 层级影响</a:t>
                </a:r>
              </a:p>
            </p:txBody>
          </p:sp>
        </p:grpSp>
        <p:grpSp>
          <p:nvGrpSpPr>
            <p:cNvPr id="60" name="Group 60"/>
            <p:cNvGrpSpPr/>
            <p:nvPr/>
          </p:nvGrpSpPr>
          <p:grpSpPr>
            <a:xfrm>
              <a:off x="5810250" y="5410200"/>
              <a:ext cx="2256719" cy="625110"/>
              <a:chOff x="5810250" y="5410200"/>
              <a:chExt cx="2256719" cy="625110"/>
            </a:xfrm>
          </p:grpSpPr>
          <p:sp>
            <p:nvSpPr>
              <p:cNvPr id="51" name="Ellipse 51"/>
              <p:cNvSpPr/>
              <p:nvPr/>
            </p:nvSpPr>
            <p:spPr>
              <a:xfrm>
                <a:off x="5810250" y="5410200"/>
                <a:ext cx="571500" cy="571500"/>
              </a:xfrm>
              <a:prstGeom prst="ellipse">
                <a:avLst/>
              </a:prstGeom>
              <a:solidFill>
                <a:srgbClr val="FFFFFF"/>
              </a:solidFill>
              <a:ln w="28575">
                <a:solidFill>
                  <a:srgbClr val="4A6B8A"/>
                </a:solidFill>
              </a:ln>
            </p:spPr>
            <p:txBody>
              <a:bodyPr/>
              <a:lstStyle/>
              <a:p>
                <a:endParaRPr lang="zh-CN" altLang="en-US"/>
              </a:p>
            </p:txBody>
          </p:sp>
          <p:grpSp>
            <p:nvGrpSpPr>
              <p:cNvPr id="56" name="Group 56"/>
              <p:cNvGrpSpPr/>
              <p:nvPr/>
            </p:nvGrpSpPr>
            <p:grpSpPr>
              <a:xfrm>
                <a:off x="5981700" y="5594350"/>
                <a:ext cx="228599" cy="203200"/>
                <a:chOff x="5981700" y="5594350"/>
                <a:chExt cx="228599" cy="203200"/>
              </a:xfrm>
            </p:grpSpPr>
            <p:sp>
              <p:nvSpPr>
                <p:cNvPr id="52" name="Freeform 52"/>
                <p:cNvSpPr/>
                <p:nvPr/>
              </p:nvSpPr>
              <p:spPr>
                <a:xfrm>
                  <a:off x="5981700" y="5594350"/>
                  <a:ext cx="228599" cy="101600"/>
                </a:xfrm>
                <a:custGeom>
                  <a:avLst/>
                  <a:gdLst/>
                  <a:ahLst/>
                  <a:cxnLst/>
                  <a:rect l="l" t="t" r="r" b="b"/>
                  <a:pathLst>
                    <a:path w="228599" h="101600">
                      <a:moveTo>
                        <a:pt x="0" y="38100"/>
                      </a:moveTo>
                      <a:cubicBezTo>
                        <a:pt x="0" y="17058"/>
                        <a:pt x="17058" y="0"/>
                        <a:pt x="38100" y="0"/>
                      </a:cubicBezTo>
                      <a:lnTo>
                        <a:pt x="190500" y="0"/>
                      </a:lnTo>
                      <a:cubicBezTo>
                        <a:pt x="211542" y="0"/>
                        <a:pt x="228599" y="17058"/>
                        <a:pt x="228599" y="38100"/>
                      </a:cubicBezTo>
                      <a:lnTo>
                        <a:pt x="228599" y="63500"/>
                      </a:lnTo>
                      <a:cubicBezTo>
                        <a:pt x="228599" y="84542"/>
                        <a:pt x="211542" y="101600"/>
                        <a:pt x="190500" y="101600"/>
                      </a:cubicBezTo>
                      <a:lnTo>
                        <a:pt x="38100" y="101600"/>
                      </a:lnTo>
                      <a:cubicBezTo>
                        <a:pt x="17058" y="101600"/>
                        <a:pt x="0" y="84542"/>
                        <a:pt x="0" y="63500"/>
                      </a:cubicBezTo>
                    </a:path>
                  </a:pathLst>
                </a:custGeom>
                <a:noFill/>
                <a:ln w="19050">
                  <a:solidFill>
                    <a:srgbClr val="4A6B8A"/>
                  </a:solidFill>
                </a:ln>
              </p:spPr>
              <p:txBody>
                <a:bodyPr/>
                <a:lstStyle/>
                <a:p>
                  <a:endParaRPr lang="zh-CN" altLang="en-US"/>
                </a:p>
              </p:txBody>
            </p:sp>
            <p:sp>
              <p:nvSpPr>
                <p:cNvPr id="53" name="Freeform 53"/>
                <p:cNvSpPr/>
                <p:nvPr/>
              </p:nvSpPr>
              <p:spPr>
                <a:xfrm>
                  <a:off x="5981700" y="5695950"/>
                  <a:ext cx="228599" cy="101600"/>
                </a:xfrm>
                <a:custGeom>
                  <a:avLst/>
                  <a:gdLst/>
                  <a:ahLst/>
                  <a:cxnLst/>
                  <a:rect l="l" t="t" r="r" b="b"/>
                  <a:pathLst>
                    <a:path w="228599" h="101600">
                      <a:moveTo>
                        <a:pt x="0" y="38100"/>
                      </a:moveTo>
                      <a:cubicBezTo>
                        <a:pt x="0" y="17058"/>
                        <a:pt x="17058" y="0"/>
                        <a:pt x="38100" y="0"/>
                      </a:cubicBezTo>
                      <a:lnTo>
                        <a:pt x="190500" y="0"/>
                      </a:lnTo>
                      <a:cubicBezTo>
                        <a:pt x="211542" y="0"/>
                        <a:pt x="228599" y="17058"/>
                        <a:pt x="228599" y="38100"/>
                      </a:cubicBezTo>
                      <a:lnTo>
                        <a:pt x="228599" y="63500"/>
                      </a:lnTo>
                      <a:cubicBezTo>
                        <a:pt x="228599" y="84542"/>
                        <a:pt x="211542" y="101600"/>
                        <a:pt x="190500" y="101600"/>
                      </a:cubicBezTo>
                      <a:lnTo>
                        <a:pt x="38100" y="101600"/>
                      </a:lnTo>
                      <a:cubicBezTo>
                        <a:pt x="17058" y="101600"/>
                        <a:pt x="0" y="84542"/>
                        <a:pt x="0" y="63500"/>
                      </a:cubicBezTo>
                      <a:lnTo>
                        <a:pt x="0" y="38100"/>
                      </a:lnTo>
                    </a:path>
                  </a:pathLst>
                </a:custGeom>
                <a:noFill/>
                <a:ln w="19050">
                  <a:solidFill>
                    <a:srgbClr val="4A6B8A"/>
                  </a:solidFill>
                </a:ln>
              </p:spPr>
              <p:txBody>
                <a:bodyPr/>
                <a:lstStyle/>
                <a:p>
                  <a:endParaRPr lang="zh-CN" altLang="en-US"/>
                </a:p>
              </p:txBody>
            </p:sp>
            <p:sp>
              <p:nvSpPr>
                <p:cNvPr id="54" name="Freeform 54"/>
                <p:cNvSpPr/>
                <p:nvPr/>
              </p:nvSpPr>
              <p:spPr>
                <a:xfrm>
                  <a:off x="6032500" y="5645150"/>
                  <a:ext cx="9525" cy="9525"/>
                </a:xfrm>
                <a:custGeom>
                  <a:avLst/>
                  <a:gdLst/>
                  <a:ahLst/>
                  <a:cxnLst/>
                  <a:rect l="l" t="t" r="r" b="b"/>
                  <a:pathLst>
                    <a:path w="9525" h="9525">
                      <a:moveTo>
                        <a:pt x="0" y="0"/>
                      </a:moveTo>
                      <a:lnTo>
                        <a:pt x="0" y="127"/>
                      </a:lnTo>
                    </a:path>
                  </a:pathLst>
                </a:custGeom>
                <a:noFill/>
                <a:ln w="19050">
                  <a:solidFill>
                    <a:srgbClr val="4A6B8A"/>
                  </a:solidFill>
                </a:ln>
              </p:spPr>
              <p:txBody>
                <a:bodyPr/>
                <a:lstStyle/>
                <a:p>
                  <a:endParaRPr lang="zh-CN" altLang="en-US"/>
                </a:p>
              </p:txBody>
            </p:sp>
            <p:sp>
              <p:nvSpPr>
                <p:cNvPr id="55" name="Freeform 55"/>
                <p:cNvSpPr/>
                <p:nvPr/>
              </p:nvSpPr>
              <p:spPr>
                <a:xfrm>
                  <a:off x="6032500" y="5746749"/>
                  <a:ext cx="9525" cy="9525"/>
                </a:xfrm>
                <a:custGeom>
                  <a:avLst/>
                  <a:gdLst/>
                  <a:ahLst/>
                  <a:cxnLst/>
                  <a:rect l="l" t="t" r="r" b="b"/>
                  <a:pathLst>
                    <a:path w="9525" h="9525">
                      <a:moveTo>
                        <a:pt x="0" y="0"/>
                      </a:moveTo>
                      <a:lnTo>
                        <a:pt x="0" y="127"/>
                      </a:lnTo>
                    </a:path>
                  </a:pathLst>
                </a:custGeom>
                <a:noFill/>
                <a:ln w="19050">
                  <a:solidFill>
                    <a:srgbClr val="4A6B8A"/>
                  </a:solidFill>
                </a:ln>
              </p:spPr>
              <p:txBody>
                <a:bodyPr/>
                <a:lstStyle/>
                <a:p>
                  <a:endParaRPr lang="zh-CN" altLang="en-US"/>
                </a:p>
              </p:txBody>
            </p:sp>
          </p:grpSp>
          <p:sp>
            <p:nvSpPr>
              <p:cNvPr id="57" name="Rectangle 57"/>
              <p:cNvSpPr/>
              <p:nvPr/>
            </p:nvSpPr>
            <p:spPr>
              <a:xfrm>
                <a:off x="6413500" y="5425710"/>
                <a:ext cx="1638300" cy="609600"/>
              </a:xfrm>
              <a:prstGeom prst="roundRect">
                <a:avLst>
                  <a:gd name="adj" fmla="val 6250"/>
                </a:avLst>
              </a:prstGeom>
              <a:solidFill>
                <a:srgbClr val="FFFFFF"/>
              </a:solidFill>
              <a:ln w="9525">
                <a:solidFill>
                  <a:srgbClr val="D8D0C2"/>
                </a:solidFill>
              </a:ln>
            </p:spPr>
            <p:txBody>
              <a:bodyPr/>
              <a:lstStyle/>
              <a:p>
                <a:endParaRPr lang="zh-CN" altLang="en-US"/>
              </a:p>
            </p:txBody>
          </p:sp>
          <p:sp>
            <p:nvSpPr>
              <p:cNvPr id="58" name="TextBox 58"/>
              <p:cNvSpPr txBox="1"/>
              <p:nvPr/>
            </p:nvSpPr>
            <p:spPr>
              <a:xfrm>
                <a:off x="6549708" y="5535724"/>
                <a:ext cx="898218" cy="259080"/>
              </a:xfrm>
              <a:prstGeom prst="rect">
                <a:avLst/>
              </a:prstGeom>
              <a:noFill/>
              <a:ln>
                <a:noFill/>
              </a:ln>
            </p:spPr>
            <p:txBody>
              <a:bodyPr wrap="none" lIns="0" tIns="0" rIns="0" bIns="0" anchor="t" anchorCtr="0">
                <a:spAutoFit/>
              </a:bodyPr>
              <a:lstStyle/>
              <a:p>
                <a:pPr algn="l"/>
                <a:r>
                  <a:rPr lang="zh-CN" sz="1275" b="1" dirty="0">
                    <a:solidFill>
                      <a:srgbClr val="1B3A5B"/>
                    </a:solidFill>
                    <a:latin typeface="Arial" panose="020B0604020202090204"/>
                    <a:ea typeface="微软雅黑"/>
                    <a:cs typeface="Arial" panose="020B0604020202090204"/>
                  </a:rPr>
                  <a:t>③ 在线仿真</a:t>
                </a:r>
              </a:p>
            </p:txBody>
          </p:sp>
          <p:sp>
            <p:nvSpPr>
              <p:cNvPr id="59" name="TextBox 59"/>
              <p:cNvSpPr txBox="1"/>
              <p:nvPr/>
            </p:nvSpPr>
            <p:spPr>
              <a:xfrm>
                <a:off x="6553518" y="5796709"/>
                <a:ext cx="1513451" cy="198120"/>
              </a:xfrm>
              <a:prstGeom prst="rect">
                <a:avLst/>
              </a:prstGeom>
              <a:noFill/>
              <a:ln>
                <a:noFill/>
              </a:ln>
            </p:spPr>
            <p:txBody>
              <a:bodyPr wrap="none" lIns="0" tIns="0" rIns="0" bIns="0" anchor="t" anchorCtr="0">
                <a:spAutoFit/>
              </a:bodyPr>
              <a:lstStyle/>
              <a:p>
                <a:pPr algn="l"/>
                <a:r>
                  <a:rPr lang="zh-CN" sz="975" dirty="0">
                    <a:solidFill>
                      <a:srgbClr val="5A5A52"/>
                    </a:solidFill>
                    <a:latin typeface="Arial" panose="020B0604020202090204"/>
                    <a:ea typeface="微软雅黑"/>
                    <a:cs typeface="Arial" panose="020B0604020202090204"/>
                  </a:rPr>
                  <a:t>发帖 / 评论 / 点赞 / 转发</a:t>
                </a:r>
              </a:p>
            </p:txBody>
          </p:sp>
        </p:grpSp>
        <p:grpSp>
          <p:nvGrpSpPr>
            <p:cNvPr id="70" name="Group 70"/>
            <p:cNvGrpSpPr/>
            <p:nvPr/>
          </p:nvGrpSpPr>
          <p:grpSpPr>
            <a:xfrm>
              <a:off x="2552700" y="4152900"/>
              <a:ext cx="2590800" cy="609600"/>
              <a:chOff x="2552700" y="4152900"/>
              <a:chExt cx="2590800" cy="609600"/>
            </a:xfrm>
          </p:grpSpPr>
          <p:sp>
            <p:nvSpPr>
              <p:cNvPr id="61" name="Ellipse 61"/>
              <p:cNvSpPr/>
              <p:nvPr/>
            </p:nvSpPr>
            <p:spPr>
              <a:xfrm>
                <a:off x="4572000" y="4171950"/>
                <a:ext cx="571500" cy="571500"/>
              </a:xfrm>
              <a:prstGeom prst="ellipse">
                <a:avLst/>
              </a:prstGeom>
              <a:solidFill>
                <a:srgbClr val="FFFFFF"/>
              </a:solidFill>
              <a:ln w="28575">
                <a:solidFill>
                  <a:srgbClr val="3C7A5A"/>
                </a:solidFill>
              </a:ln>
            </p:spPr>
            <p:txBody>
              <a:bodyPr/>
              <a:lstStyle/>
              <a:p>
                <a:endParaRPr lang="zh-CN" altLang="en-US"/>
              </a:p>
            </p:txBody>
          </p:sp>
          <p:grpSp>
            <p:nvGrpSpPr>
              <p:cNvPr id="66" name="Group 66"/>
              <p:cNvGrpSpPr/>
              <p:nvPr/>
            </p:nvGrpSpPr>
            <p:grpSpPr>
              <a:xfrm>
                <a:off x="4768850" y="4356100"/>
                <a:ext cx="190500" cy="215899"/>
                <a:chOff x="4768850" y="4356100"/>
                <a:chExt cx="190500" cy="215899"/>
              </a:xfrm>
            </p:grpSpPr>
            <p:sp>
              <p:nvSpPr>
                <p:cNvPr id="62" name="Freeform 62"/>
                <p:cNvSpPr/>
                <p:nvPr/>
              </p:nvSpPr>
              <p:spPr>
                <a:xfrm>
                  <a:off x="4768850" y="4356100"/>
                  <a:ext cx="152400" cy="203199"/>
                </a:xfrm>
                <a:custGeom>
                  <a:avLst/>
                  <a:gdLst/>
                  <a:ahLst/>
                  <a:cxnLst/>
                  <a:rect l="l" t="t" r="r" b="b"/>
                  <a:pathLst>
                    <a:path w="152400" h="203199">
                      <a:moveTo>
                        <a:pt x="58610" y="203199"/>
                      </a:moveTo>
                      <a:lnTo>
                        <a:pt x="25400" y="203199"/>
                      </a:lnTo>
                      <a:cubicBezTo>
                        <a:pt x="11372" y="203199"/>
                        <a:pt x="0" y="191828"/>
                        <a:pt x="0" y="177800"/>
                      </a:cubicBezTo>
                      <a:lnTo>
                        <a:pt x="0" y="25400"/>
                      </a:lnTo>
                      <a:cubicBezTo>
                        <a:pt x="0" y="11372"/>
                        <a:pt x="11372" y="0"/>
                        <a:pt x="25400" y="0"/>
                      </a:cubicBezTo>
                      <a:lnTo>
                        <a:pt x="127000" y="0"/>
                      </a:lnTo>
                      <a:cubicBezTo>
                        <a:pt x="141028" y="0"/>
                        <a:pt x="152400" y="11372"/>
                        <a:pt x="152400" y="25400"/>
                      </a:cubicBezTo>
                      <a:lnTo>
                        <a:pt x="152400" y="127000"/>
                      </a:lnTo>
                    </a:path>
                  </a:pathLst>
                </a:custGeom>
                <a:noFill/>
                <a:ln w="19050">
                  <a:solidFill>
                    <a:srgbClr val="3C7A5A"/>
                  </a:solidFill>
                </a:ln>
              </p:spPr>
              <p:txBody>
                <a:bodyPr/>
                <a:lstStyle/>
                <a:p>
                  <a:endParaRPr lang="zh-CN" altLang="en-US"/>
                </a:p>
              </p:txBody>
            </p:sp>
            <p:sp>
              <p:nvSpPr>
                <p:cNvPr id="63" name="Freeform 63"/>
                <p:cNvSpPr/>
                <p:nvPr/>
              </p:nvSpPr>
              <p:spPr>
                <a:xfrm>
                  <a:off x="4883150" y="4521199"/>
                  <a:ext cx="76200" cy="50800"/>
                </a:xfrm>
                <a:custGeom>
                  <a:avLst/>
                  <a:gdLst/>
                  <a:ahLst/>
                  <a:cxnLst/>
                  <a:rect l="l" t="t" r="r" b="b"/>
                  <a:pathLst>
                    <a:path w="76200" h="50800">
                      <a:moveTo>
                        <a:pt x="0" y="25400"/>
                      </a:moveTo>
                      <a:lnTo>
                        <a:pt x="25400" y="50800"/>
                      </a:lnTo>
                      <a:lnTo>
                        <a:pt x="76200" y="0"/>
                      </a:lnTo>
                    </a:path>
                  </a:pathLst>
                </a:custGeom>
                <a:noFill/>
                <a:ln w="19050">
                  <a:solidFill>
                    <a:srgbClr val="3C7A5A"/>
                  </a:solidFill>
                </a:ln>
              </p:spPr>
              <p:txBody>
                <a:bodyPr/>
                <a:lstStyle/>
                <a:p>
                  <a:endParaRPr lang="zh-CN" altLang="en-US"/>
                </a:p>
              </p:txBody>
            </p:sp>
            <p:sp>
              <p:nvSpPr>
                <p:cNvPr id="64" name="Freeform 64"/>
                <p:cNvSpPr/>
                <p:nvPr/>
              </p:nvSpPr>
              <p:spPr>
                <a:xfrm>
                  <a:off x="4819650" y="4406900"/>
                  <a:ext cx="50800" cy="9525"/>
                </a:xfrm>
                <a:custGeom>
                  <a:avLst/>
                  <a:gdLst/>
                  <a:ahLst/>
                  <a:cxnLst/>
                  <a:rect l="l" t="t" r="r" b="b"/>
                  <a:pathLst>
                    <a:path w="50800" h="9525">
                      <a:moveTo>
                        <a:pt x="0" y="0"/>
                      </a:moveTo>
                      <a:lnTo>
                        <a:pt x="50800" y="0"/>
                      </a:lnTo>
                    </a:path>
                  </a:pathLst>
                </a:custGeom>
                <a:noFill/>
                <a:ln w="19050">
                  <a:solidFill>
                    <a:srgbClr val="3C7A5A"/>
                  </a:solidFill>
                </a:ln>
              </p:spPr>
              <p:txBody>
                <a:bodyPr/>
                <a:lstStyle/>
                <a:p>
                  <a:endParaRPr lang="zh-CN" altLang="en-US"/>
                </a:p>
              </p:txBody>
            </p:sp>
            <p:sp>
              <p:nvSpPr>
                <p:cNvPr id="65" name="Freeform 65"/>
                <p:cNvSpPr/>
                <p:nvPr/>
              </p:nvSpPr>
              <p:spPr>
                <a:xfrm>
                  <a:off x="4819650" y="4457700"/>
                  <a:ext cx="25400" cy="9525"/>
                </a:xfrm>
                <a:custGeom>
                  <a:avLst/>
                  <a:gdLst/>
                  <a:ahLst/>
                  <a:cxnLst/>
                  <a:rect l="l" t="t" r="r" b="b"/>
                  <a:pathLst>
                    <a:path w="25400" h="9525">
                      <a:moveTo>
                        <a:pt x="0" y="0"/>
                      </a:moveTo>
                      <a:lnTo>
                        <a:pt x="25400" y="0"/>
                      </a:lnTo>
                    </a:path>
                  </a:pathLst>
                </a:custGeom>
                <a:noFill/>
                <a:ln w="19050">
                  <a:solidFill>
                    <a:srgbClr val="3C7A5A"/>
                  </a:solidFill>
                </a:ln>
              </p:spPr>
              <p:txBody>
                <a:bodyPr/>
                <a:lstStyle/>
                <a:p>
                  <a:endParaRPr lang="zh-CN" altLang="en-US"/>
                </a:p>
              </p:txBody>
            </p:sp>
          </p:grpSp>
          <p:sp>
            <p:nvSpPr>
              <p:cNvPr id="67" name="Rectangle 67"/>
              <p:cNvSpPr/>
              <p:nvPr/>
            </p:nvSpPr>
            <p:spPr>
              <a:xfrm>
                <a:off x="2552700" y="4152900"/>
                <a:ext cx="1905000" cy="609600"/>
              </a:xfrm>
              <a:prstGeom prst="roundRect">
                <a:avLst>
                  <a:gd name="adj" fmla="val 6250"/>
                </a:avLst>
              </a:prstGeom>
              <a:solidFill>
                <a:srgbClr val="FFFFFF"/>
              </a:solidFill>
              <a:ln w="9525">
                <a:solidFill>
                  <a:srgbClr val="D8D0C2"/>
                </a:solidFill>
              </a:ln>
            </p:spPr>
            <p:txBody>
              <a:bodyPr/>
              <a:lstStyle/>
              <a:p>
                <a:endParaRPr lang="zh-CN" altLang="en-US"/>
              </a:p>
            </p:txBody>
          </p:sp>
          <p:sp>
            <p:nvSpPr>
              <p:cNvPr id="68" name="TextBox 68"/>
              <p:cNvSpPr txBox="1"/>
              <p:nvPr/>
            </p:nvSpPr>
            <p:spPr>
              <a:xfrm>
                <a:off x="2688908" y="4262914"/>
                <a:ext cx="898218" cy="259080"/>
              </a:xfrm>
              <a:prstGeom prst="rect">
                <a:avLst/>
              </a:prstGeom>
              <a:noFill/>
              <a:ln>
                <a:noFill/>
              </a:ln>
            </p:spPr>
            <p:txBody>
              <a:bodyPr wrap="none" lIns="0" tIns="0" rIns="0" bIns="0" anchor="t" anchorCtr="0">
                <a:spAutoFit/>
              </a:bodyPr>
              <a:lstStyle/>
              <a:p>
                <a:pPr algn="l"/>
                <a:r>
                  <a:rPr lang="zh-CN" sz="1275" b="1" dirty="0">
                    <a:solidFill>
                      <a:srgbClr val="1B3A5B"/>
                    </a:solidFill>
                    <a:latin typeface="Arial" panose="020B0604020202090204"/>
                    <a:ea typeface="微软雅黑"/>
                    <a:cs typeface="Arial" panose="020B0604020202090204"/>
                  </a:rPr>
                  <a:t>④ 闭环验证</a:t>
                </a:r>
              </a:p>
            </p:txBody>
          </p:sp>
          <p:sp>
            <p:nvSpPr>
              <p:cNvPr id="69" name="TextBox 69"/>
              <p:cNvSpPr txBox="1"/>
              <p:nvPr/>
            </p:nvSpPr>
            <p:spPr>
              <a:xfrm>
                <a:off x="2692718" y="4523899"/>
                <a:ext cx="1363932" cy="198120"/>
              </a:xfrm>
              <a:prstGeom prst="rect">
                <a:avLst/>
              </a:prstGeom>
              <a:noFill/>
              <a:ln>
                <a:noFill/>
              </a:ln>
            </p:spPr>
            <p:txBody>
              <a:bodyPr wrap="none" lIns="0" tIns="0" rIns="0" bIns="0" anchor="t" anchorCtr="0">
                <a:spAutoFit/>
              </a:bodyPr>
              <a:lstStyle/>
              <a:p>
                <a:pPr algn="l"/>
                <a:r>
                  <a:rPr lang="zh-CN" sz="975" dirty="0">
                    <a:solidFill>
                      <a:srgbClr val="5A5A52"/>
                    </a:solidFill>
                    <a:latin typeface="Arial" panose="020B0604020202090204"/>
                    <a:ea typeface="微软雅黑"/>
                    <a:cs typeface="Arial" panose="020B0604020202090204"/>
                  </a:rPr>
                  <a:t>传播曲线 / 态度 / 消融</a:t>
                </a:r>
              </a:p>
            </p:txBody>
          </p:sp>
        </p:grpSp>
      </p:grpSp>
      <p:grpSp>
        <p:nvGrpSpPr>
          <p:cNvPr id="75" name="Group 75"/>
          <p:cNvGrpSpPr/>
          <p:nvPr/>
        </p:nvGrpSpPr>
        <p:grpSpPr>
          <a:xfrm>
            <a:off x="598170" y="6515100"/>
            <a:ext cx="10995661" cy="276225"/>
            <a:chOff x="598170" y="6515100"/>
            <a:chExt cx="10995661" cy="276225"/>
          </a:xfrm>
        </p:grpSpPr>
        <p:sp>
          <p:nvSpPr>
            <p:cNvPr id="72" name="Line 72"/>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73" name="TextBox 73"/>
            <p:cNvSpPr txBox="1"/>
            <p:nvPr/>
          </p:nvSpPr>
          <p:spPr>
            <a:xfrm>
              <a:off x="598170" y="6608445"/>
              <a:ext cx="1823085" cy="182880"/>
            </a:xfrm>
            <a:prstGeom prst="rect">
              <a:avLst/>
            </a:prstGeom>
            <a:noFill/>
            <a:ln>
              <a:noFill/>
            </a:ln>
          </p:spPr>
          <p:txBody>
            <a:bodyPr wrap="none" lIns="0" tIns="0" rIns="0" bIns="0" anchor="t" anchorCtr="0">
              <a:spAutoFit/>
            </a:bodyPr>
            <a:lstStyle/>
            <a:p>
              <a:pPr algn="l"/>
              <a:r>
                <a:rPr lang="zh-CN" sz="900" dirty="0">
                  <a:solidFill>
                    <a:srgbClr val="8C8C82"/>
                  </a:solidFill>
                  <a:latin typeface="Arial" panose="020B0604020202090204"/>
                  <a:ea typeface="微软雅黑"/>
                  <a:cs typeface="Arial" panose="020B0604020202090204"/>
                </a:rPr>
                <a:t>融合推荐机制校准的社交仿真平台</a:t>
              </a:r>
            </a:p>
          </p:txBody>
        </p:sp>
        <p:sp>
          <p:nvSpPr>
            <p:cNvPr id="74" name="TextBox 74"/>
            <p:cNvSpPr txBox="1"/>
            <p:nvPr/>
          </p:nvSpPr>
          <p:spPr>
            <a:xfrm>
              <a:off x="11438954" y="6608445"/>
              <a:ext cx="154877" cy="182880"/>
            </a:xfrm>
            <a:prstGeom prst="rect">
              <a:avLst/>
            </a:prstGeom>
            <a:noFill/>
            <a:ln>
              <a:noFill/>
            </a:ln>
          </p:spPr>
          <p:txBody>
            <a:bodyPr wrap="none" lIns="0" tIns="0" rIns="0" bIns="0" anchor="t" anchorCtr="0">
              <a:spAutoFit/>
            </a:bodyPr>
            <a:lstStyle/>
            <a:p>
              <a:pPr algn="r"/>
              <a:r>
                <a:rPr lang="en-US" sz="900" dirty="0">
                  <a:solidFill>
                    <a:srgbClr val="8C8C82"/>
                  </a:solidFill>
                  <a:latin typeface="Cambria"/>
                  <a:ea typeface="Cambria"/>
                  <a:cs typeface="Cambria"/>
                </a:rPr>
                <a:t>07</a:t>
              </a:r>
            </a:p>
          </p:txBody>
        </p:sp>
      </p:grpSp>
      <p:pic>
        <p:nvPicPr>
          <p:cNvPr id="76" name="Image 7"/>
          <p:cNvPicPr>
            <a:picLocks noChangeAspect="1"/>
          </p:cNvPicPr>
          <p:nvPr/>
        </p:nvPicPr>
        <p:blipFill>
          <a:blip r:embed="rId3"/>
          <a:stretch>
            <a:fillRect/>
          </a:stretch>
        </p:blipFill>
        <p:spPr>
          <a:xfrm>
            <a:off x="10919012" y="-13055"/>
            <a:ext cx="663388" cy="84676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21739" y="-171450"/>
            <a:ext cx="12192000" cy="7029450"/>
            <a:chOff x="0" y="-171450"/>
            <a:chExt cx="12192000" cy="7029450"/>
          </a:xfrm>
        </p:grpSpPr>
        <p:sp>
          <p:nvSpPr>
            <p:cNvPr id="2"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0" y="-171450"/>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dirty="0"/>
            </a:p>
          </p:txBody>
        </p:sp>
      </p:grpSp>
      <p:grpSp>
        <p:nvGrpSpPr>
          <p:cNvPr id="9" name="Group 9"/>
          <p:cNvGrpSpPr/>
          <p:nvPr/>
        </p:nvGrpSpPr>
        <p:grpSpPr>
          <a:xfrm>
            <a:off x="590550" y="523875"/>
            <a:ext cx="10991850" cy="400050"/>
            <a:chOff x="590550" y="523875"/>
            <a:chExt cx="10991850" cy="400050"/>
          </a:xfrm>
        </p:grpSpPr>
        <p:sp>
          <p:nvSpPr>
            <p:cNvPr id="6" name="TextBox 6"/>
            <p:cNvSpPr txBox="1"/>
            <p:nvPr/>
          </p:nvSpPr>
          <p:spPr>
            <a:xfrm>
              <a:off x="590550" y="523875"/>
              <a:ext cx="1802321" cy="304800"/>
            </a:xfrm>
            <a:prstGeom prst="rect">
              <a:avLst/>
            </a:prstGeom>
            <a:noFill/>
            <a:ln>
              <a:noFill/>
            </a:ln>
          </p:spPr>
          <p:txBody>
            <a:bodyPr wrap="none" lIns="0" tIns="0" rIns="0" bIns="0" anchor="t" anchorCtr="0">
              <a:spAutoFit/>
            </a:bodyPr>
            <a:lstStyle/>
            <a:p>
              <a:pPr algn="l"/>
              <a:r>
                <a:rPr lang="en-US" sz="1500" b="1" dirty="0">
                  <a:solidFill>
                    <a:srgbClr val="1B3A5B"/>
                  </a:solidFill>
                  <a:latin typeface="Cambria"/>
                  <a:ea typeface="Cambria"/>
                  <a:cs typeface="Cambria"/>
                </a:rPr>
                <a:t>04 </a:t>
              </a:r>
              <a:r>
                <a:rPr lang="zh-CN" sz="1200" b="1" dirty="0">
                  <a:solidFill>
                    <a:srgbClr val="5A5A52"/>
                  </a:solidFill>
                  <a:latin typeface="Arial" panose="020B0604020202090204"/>
                  <a:ea typeface="微软雅黑"/>
                  <a:cs typeface="Arial" panose="020B0604020202090204"/>
                </a:rPr>
                <a:t>技术路线与方案</a:t>
              </a:r>
            </a:p>
          </p:txBody>
        </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19050">
              <a:solidFill>
                <a:srgbClr val="1B3A5B"/>
              </a:solidFill>
            </a:ln>
          </p:spPr>
          <p:txBody>
            <a:bodyPr/>
            <a:lstStyle/>
            <a:p>
              <a:endParaRPr lang="zh-CN" altLang="en-US"/>
            </a:p>
          </p:txBody>
        </p:sp>
      </p:grpSp>
      <p:grpSp>
        <p:nvGrpSpPr>
          <p:cNvPr id="12" name="Group 12"/>
          <p:cNvGrpSpPr/>
          <p:nvPr/>
        </p:nvGrpSpPr>
        <p:grpSpPr>
          <a:xfrm>
            <a:off x="577215" y="1210628"/>
            <a:ext cx="1314462" cy="484822"/>
            <a:chOff x="577215" y="1210628"/>
            <a:chExt cx="1314462" cy="484822"/>
          </a:xfrm>
        </p:grpSpPr>
        <p:sp>
          <p:nvSpPr>
            <p:cNvPr id="10" name="TextBox 10"/>
            <p:cNvSpPr txBox="1"/>
            <p:nvPr/>
          </p:nvSpPr>
          <p:spPr>
            <a:xfrm>
              <a:off x="577215" y="1210628"/>
              <a:ext cx="1314462" cy="392415"/>
            </a:xfrm>
            <a:prstGeom prst="rect">
              <a:avLst/>
            </a:prstGeom>
            <a:noFill/>
            <a:ln>
              <a:noFill/>
            </a:ln>
          </p:spPr>
          <p:txBody>
            <a:bodyPr wrap="none" lIns="0" tIns="0" rIns="0" bIns="0" anchor="t" anchorCtr="0">
              <a:spAutoFit/>
            </a:bodyPr>
            <a:lstStyle/>
            <a:p>
              <a:pPr algn="l"/>
              <a:r>
                <a:rPr lang="zh-CN" altLang="en-US" sz="2550" b="1" dirty="0">
                  <a:solidFill>
                    <a:srgbClr val="1B3A5B"/>
                  </a:solidFill>
                  <a:latin typeface="Cambria"/>
                  <a:ea typeface="宋体"/>
                  <a:cs typeface="Cambria"/>
                </a:rPr>
                <a:t>系统总览</a:t>
              </a:r>
              <a:endParaRPr lang="zh-CN" sz="2550" b="1" dirty="0">
                <a:solidFill>
                  <a:srgbClr val="1B3A5B"/>
                </a:solidFill>
                <a:latin typeface="Cambria"/>
                <a:ea typeface="宋体"/>
                <a:cs typeface="Cambria"/>
              </a:endParaRPr>
            </a:p>
          </p:txBody>
        </p:sp>
        <p:sp>
          <p:nvSpPr>
            <p:cNvPr id="11" name="Rectangle 11"/>
            <p:cNvSpPr/>
            <p:nvPr/>
          </p:nvSpPr>
          <p:spPr>
            <a:xfrm>
              <a:off x="609600" y="1657350"/>
              <a:ext cx="533400" cy="38100"/>
            </a:xfrm>
            <a:prstGeom prst="rect">
              <a:avLst/>
            </a:prstGeom>
            <a:solidFill>
              <a:srgbClr val="C8A24B"/>
            </a:solidFill>
            <a:ln>
              <a:noFill/>
            </a:ln>
          </p:spPr>
          <p:txBody>
            <a:bodyPr/>
            <a:lstStyle/>
            <a:p>
              <a:endParaRPr lang="zh-CN" altLang="en-US"/>
            </a:p>
          </p:txBody>
        </p:sp>
      </p:grpSp>
      <p:grpSp>
        <p:nvGrpSpPr>
          <p:cNvPr id="16" name="Group 16"/>
          <p:cNvGrpSpPr/>
          <p:nvPr/>
        </p:nvGrpSpPr>
        <p:grpSpPr>
          <a:xfrm>
            <a:off x="609600" y="1905000"/>
            <a:ext cx="10972800" cy="3390900"/>
            <a:chOff x="609600" y="1905000"/>
            <a:chExt cx="10972800" cy="3390900"/>
          </a:xfrm>
        </p:grpSpPr>
        <p:sp>
          <p:nvSpPr>
            <p:cNvPr id="13" name="Rectangle 13"/>
            <p:cNvSpPr/>
            <p:nvPr/>
          </p:nvSpPr>
          <p:spPr>
            <a:xfrm>
              <a:off x="609600" y="1905000"/>
              <a:ext cx="10972800" cy="3390900"/>
            </a:xfrm>
            <a:prstGeom prst="roundRect">
              <a:avLst>
                <a:gd name="adj" fmla="val 1124"/>
              </a:avLst>
            </a:prstGeom>
            <a:solidFill>
              <a:srgbClr val="FFFFFF"/>
            </a:solidFill>
            <a:ln w="9525">
              <a:solidFill>
                <a:srgbClr val="D8D0C2"/>
              </a:solidFill>
            </a:ln>
          </p:spPr>
          <p:txBody>
            <a:bodyPr/>
            <a:lstStyle/>
            <a:p>
              <a:endParaRPr lang="zh-CN" altLang="en-US" dirty="0"/>
            </a:p>
          </p:txBody>
        </p:sp>
        <p:pic>
          <p:nvPicPr>
            <p:cNvPr id="14" name="Image 14"/>
            <p:cNvPicPr>
              <a:picLocks noChangeAspect="1"/>
            </p:cNvPicPr>
            <p:nvPr/>
          </p:nvPicPr>
          <p:blipFill>
            <a:blip>
              <a:extLst>
                <a:ext uri="{96DAC541-7B7A-43D3-8B79-37D633B846F1}">
                  <asvg:svgBlip xmlns:asvg="http://schemas.microsoft.com/office/drawing/2016/SVG/main" r:embed="rId3"/>
                </a:ext>
              </a:extLst>
            </a:blip>
            <a:srcRect/>
            <a:stretch>
              <a:fillRect/>
            </a:stretch>
          </p:blipFill>
          <p:spPr>
            <a:xfrm>
              <a:off x="1802613" y="1905000"/>
              <a:ext cx="8586775" cy="3389744"/>
            </a:xfrm>
            <a:prstGeom prst="rect">
              <a:avLst/>
            </a:prstGeom>
          </p:spPr>
        </p:pic>
      </p:grpSp>
      <p:grpSp>
        <p:nvGrpSpPr>
          <p:cNvPr id="21" name="Group 21"/>
          <p:cNvGrpSpPr/>
          <p:nvPr/>
        </p:nvGrpSpPr>
        <p:grpSpPr>
          <a:xfrm>
            <a:off x="609600" y="5410200"/>
            <a:ext cx="10972800" cy="647700"/>
            <a:chOff x="609600" y="5410200"/>
            <a:chExt cx="10972800" cy="647700"/>
          </a:xfrm>
        </p:grpSpPr>
        <p:sp>
          <p:nvSpPr>
            <p:cNvPr id="17" name="Rectangle 17"/>
            <p:cNvSpPr/>
            <p:nvPr/>
          </p:nvSpPr>
          <p:spPr>
            <a:xfrm>
              <a:off x="609600" y="5410200"/>
              <a:ext cx="10972800" cy="647700"/>
            </a:xfrm>
            <a:prstGeom prst="roundRect">
              <a:avLst>
                <a:gd name="adj" fmla="val 5882"/>
              </a:avLst>
            </a:prstGeom>
            <a:solidFill>
              <a:srgbClr val="1B3A5B"/>
            </a:solidFill>
            <a:ln>
              <a:noFill/>
            </a:ln>
          </p:spPr>
          <p:txBody>
            <a:bodyPr/>
            <a:lstStyle/>
            <a:p>
              <a:endParaRPr lang="zh-CN" altLang="en-US"/>
            </a:p>
          </p:txBody>
        </p:sp>
        <p:sp>
          <p:nvSpPr>
            <p:cNvPr id="18" name="Rectangle 18"/>
            <p:cNvSpPr/>
            <p:nvPr/>
          </p:nvSpPr>
          <p:spPr>
            <a:xfrm>
              <a:off x="609600" y="5410200"/>
              <a:ext cx="57150" cy="647700"/>
            </a:xfrm>
            <a:prstGeom prst="rect">
              <a:avLst/>
            </a:prstGeom>
            <a:solidFill>
              <a:srgbClr val="C8A24B"/>
            </a:solidFill>
            <a:ln>
              <a:noFill/>
            </a:ln>
          </p:spPr>
          <p:txBody>
            <a:bodyPr/>
            <a:lstStyle/>
            <a:p>
              <a:endParaRPr lang="zh-CN" altLang="en-US"/>
            </a:p>
          </p:txBody>
        </p:sp>
        <p:sp>
          <p:nvSpPr>
            <p:cNvPr id="20" name="TextBox 20"/>
            <p:cNvSpPr txBox="1"/>
            <p:nvPr/>
          </p:nvSpPr>
          <p:spPr>
            <a:xfrm>
              <a:off x="876300" y="5670247"/>
              <a:ext cx="8109592" cy="246221"/>
            </a:xfrm>
            <a:prstGeom prst="rect">
              <a:avLst/>
            </a:prstGeom>
            <a:noFill/>
            <a:ln>
              <a:noFill/>
            </a:ln>
          </p:spPr>
          <p:txBody>
            <a:bodyPr wrap="none" lIns="0" tIns="0" rIns="0" bIns="0" anchor="t" anchorCtr="0">
              <a:spAutoFit/>
            </a:bodyPr>
            <a:lstStyle/>
            <a:p>
              <a:r>
                <a:rPr lang="en-US" sz="1600" b="1" dirty="0">
                  <a:solidFill>
                    <a:srgbClr val="C8A24B"/>
                  </a:solidFill>
                  <a:latin typeface="Arial" panose="020B0604020202090204"/>
                  <a:ea typeface="Arial" panose="020B0604020202090204"/>
                  <a:cs typeface="Arial" panose="020B0604020202090204"/>
                </a:rPr>
                <a:t>calibration_profile.yaml</a:t>
              </a:r>
              <a:r>
                <a:rPr lang="zh-CN" sz="1600" dirty="0">
                  <a:solidFill>
                    <a:srgbClr val="FAF8F4"/>
                  </a:solidFill>
                  <a:latin typeface="Arial" panose="020B0604020202090204"/>
                  <a:ea typeface="微软雅黑"/>
                  <a:cs typeface="Arial" panose="020B0604020202090204"/>
                </a:rPr>
                <a:t> 是离线到在线的唯一配置接口，串联</a:t>
              </a:r>
              <a:r>
                <a:rPr lang="zh-CN" altLang="en-US" sz="1600" dirty="0">
                  <a:solidFill>
                    <a:srgbClr val="FAF8F4"/>
                  </a:solidFill>
                  <a:latin typeface="Arial" panose="020B0604020202090204"/>
                  <a:ea typeface="微软雅黑"/>
                  <a:cs typeface="Arial" panose="020B0604020202090204"/>
                </a:rPr>
                <a:t>离线校准与在线推荐服务</a:t>
              </a:r>
              <a:r>
                <a:rPr lang="zh-CN" sz="1600" dirty="0">
                  <a:solidFill>
                    <a:srgbClr val="FAF8F4"/>
                  </a:solidFill>
                  <a:latin typeface="Arial" panose="020B0604020202090204"/>
                  <a:ea typeface="微软雅黑"/>
                  <a:cs typeface="Arial" panose="020B0604020202090204"/>
                </a:rPr>
                <a:t>。</a:t>
              </a:r>
            </a:p>
          </p:txBody>
        </p:sp>
      </p:grpSp>
      <p:grpSp>
        <p:nvGrpSpPr>
          <p:cNvPr id="25" name="Group 25"/>
          <p:cNvGrpSpPr/>
          <p:nvPr/>
        </p:nvGrpSpPr>
        <p:grpSpPr>
          <a:xfrm>
            <a:off x="598170" y="6515100"/>
            <a:ext cx="10995661" cy="276225"/>
            <a:chOff x="598170" y="6515100"/>
            <a:chExt cx="10995661" cy="276225"/>
          </a:xfrm>
        </p:grpSpPr>
        <p:sp>
          <p:nvSpPr>
            <p:cNvPr id="22" name="Line 22"/>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23" name="TextBox 23"/>
            <p:cNvSpPr txBox="1"/>
            <p:nvPr/>
          </p:nvSpPr>
          <p:spPr>
            <a:xfrm>
              <a:off x="598170" y="6608445"/>
              <a:ext cx="1823085" cy="182880"/>
            </a:xfrm>
            <a:prstGeom prst="rect">
              <a:avLst/>
            </a:prstGeom>
            <a:noFill/>
            <a:ln>
              <a:noFill/>
            </a:ln>
          </p:spPr>
          <p:txBody>
            <a:bodyPr wrap="none" lIns="0" tIns="0" rIns="0" bIns="0" anchor="t" anchorCtr="0">
              <a:spAutoFit/>
            </a:bodyPr>
            <a:lstStyle/>
            <a:p>
              <a:pPr algn="l"/>
              <a:r>
                <a:rPr lang="zh-CN" sz="900" dirty="0">
                  <a:solidFill>
                    <a:srgbClr val="8C8C82"/>
                  </a:solidFill>
                  <a:latin typeface="Arial" panose="020B0604020202090204"/>
                  <a:ea typeface="微软雅黑"/>
                  <a:cs typeface="Arial" panose="020B0604020202090204"/>
                </a:rPr>
                <a:t>融合推荐机制校准的社交仿真平台</a:t>
              </a:r>
            </a:p>
          </p:txBody>
        </p:sp>
        <p:sp>
          <p:nvSpPr>
            <p:cNvPr id="24" name="TextBox 24"/>
            <p:cNvSpPr txBox="1"/>
            <p:nvPr/>
          </p:nvSpPr>
          <p:spPr>
            <a:xfrm>
              <a:off x="11438954" y="6608445"/>
              <a:ext cx="154877" cy="182880"/>
            </a:xfrm>
            <a:prstGeom prst="rect">
              <a:avLst/>
            </a:prstGeom>
            <a:noFill/>
            <a:ln>
              <a:noFill/>
            </a:ln>
          </p:spPr>
          <p:txBody>
            <a:bodyPr wrap="none" lIns="0" tIns="0" rIns="0" bIns="0" anchor="t" anchorCtr="0">
              <a:spAutoFit/>
            </a:bodyPr>
            <a:lstStyle/>
            <a:p>
              <a:pPr algn="r"/>
              <a:r>
                <a:rPr lang="en-US" sz="900" dirty="0">
                  <a:solidFill>
                    <a:srgbClr val="8C8C82"/>
                  </a:solidFill>
                  <a:latin typeface="Cambria"/>
                  <a:ea typeface="Cambria"/>
                  <a:cs typeface="Cambria"/>
                </a:rPr>
                <a:t>09</a:t>
              </a:r>
            </a:p>
          </p:txBody>
        </p:sp>
      </p:grpSp>
      <p:pic>
        <p:nvPicPr>
          <p:cNvPr id="26" name="Image 7"/>
          <p:cNvPicPr>
            <a:picLocks noChangeAspect="1"/>
          </p:cNvPicPr>
          <p:nvPr/>
        </p:nvPicPr>
        <p:blipFill>
          <a:blip r:embed="rId4"/>
          <a:stretch>
            <a:fillRect/>
          </a:stretch>
        </p:blipFill>
        <p:spPr>
          <a:xfrm>
            <a:off x="10919012" y="-13055"/>
            <a:ext cx="663388" cy="84676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0" y="0"/>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a:p>
          </p:txBody>
        </p:sp>
      </p:grpSp>
      <p:grpSp>
        <p:nvGrpSpPr>
          <p:cNvPr id="9" name="Group 9"/>
          <p:cNvGrpSpPr/>
          <p:nvPr/>
        </p:nvGrpSpPr>
        <p:grpSpPr>
          <a:xfrm>
            <a:off x="590550" y="523875"/>
            <a:ext cx="10991850" cy="400050"/>
            <a:chOff x="590550" y="523875"/>
            <a:chExt cx="10991850" cy="400050"/>
          </a:xfrm>
        </p:grpSpPr>
        <p:sp>
          <p:nvSpPr>
            <p:cNvPr id="6" name="TextBox 6"/>
            <p:cNvSpPr txBox="1"/>
            <p:nvPr/>
          </p:nvSpPr>
          <p:spPr>
            <a:xfrm>
              <a:off x="590550" y="523875"/>
              <a:ext cx="1802321" cy="304800"/>
            </a:xfrm>
            <a:prstGeom prst="rect">
              <a:avLst/>
            </a:prstGeom>
            <a:noFill/>
            <a:ln>
              <a:noFill/>
            </a:ln>
          </p:spPr>
          <p:txBody>
            <a:bodyPr wrap="none" lIns="0" tIns="0" rIns="0" bIns="0" anchor="t" anchorCtr="0">
              <a:spAutoFit/>
            </a:bodyPr>
            <a:lstStyle/>
            <a:p>
              <a:pPr algn="l"/>
              <a:r>
                <a:rPr lang="en-US" sz="1500" b="1" dirty="0">
                  <a:solidFill>
                    <a:srgbClr val="1B3A5B"/>
                  </a:solidFill>
                  <a:latin typeface="Cambria"/>
                  <a:ea typeface="Cambria"/>
                  <a:cs typeface="Cambria"/>
                </a:rPr>
                <a:t>04 </a:t>
              </a:r>
              <a:r>
                <a:rPr lang="zh-CN" sz="1200" b="1" dirty="0">
                  <a:solidFill>
                    <a:srgbClr val="5A5A52"/>
                  </a:solidFill>
                  <a:latin typeface="Arial" panose="020B0604020202090204"/>
                  <a:ea typeface="微软雅黑"/>
                  <a:cs typeface="Arial" panose="020B0604020202090204"/>
                </a:rPr>
                <a:t>技术路线与方案</a:t>
              </a:r>
            </a:p>
          </p:txBody>
        </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19050">
              <a:solidFill>
                <a:srgbClr val="1B3A5B"/>
              </a:solidFill>
            </a:ln>
          </p:spPr>
          <p:txBody>
            <a:bodyPr/>
            <a:lstStyle/>
            <a:p>
              <a:endParaRPr lang="zh-CN" altLang="en-US"/>
            </a:p>
          </p:txBody>
        </p:sp>
      </p:grpSp>
      <p:grpSp>
        <p:nvGrpSpPr>
          <p:cNvPr id="12" name="Group 12"/>
          <p:cNvGrpSpPr/>
          <p:nvPr/>
        </p:nvGrpSpPr>
        <p:grpSpPr>
          <a:xfrm>
            <a:off x="577215" y="1210628"/>
            <a:ext cx="3893820" cy="484822"/>
            <a:chOff x="577215" y="1210628"/>
            <a:chExt cx="3893820" cy="484822"/>
          </a:xfrm>
        </p:grpSpPr>
        <p:sp>
          <p:nvSpPr>
            <p:cNvPr id="10" name="TextBox 10"/>
            <p:cNvSpPr txBox="1"/>
            <p:nvPr/>
          </p:nvSpPr>
          <p:spPr>
            <a:xfrm>
              <a:off x="577215" y="1210628"/>
              <a:ext cx="3893820" cy="391795"/>
            </a:xfrm>
            <a:prstGeom prst="rect">
              <a:avLst/>
            </a:prstGeom>
            <a:noFill/>
            <a:ln>
              <a:noFill/>
            </a:ln>
          </p:spPr>
          <p:txBody>
            <a:bodyPr wrap="none" lIns="0" tIns="0" rIns="0" bIns="0" anchor="t" anchorCtr="0">
              <a:spAutoFit/>
            </a:bodyPr>
            <a:lstStyle/>
            <a:p>
              <a:pPr algn="l"/>
              <a:r>
                <a:rPr lang="zh-CN" sz="2550" b="1" dirty="0">
                  <a:solidFill>
                    <a:srgbClr val="1B3A5B"/>
                  </a:solidFill>
                  <a:latin typeface="Cambria"/>
                  <a:ea typeface="宋体"/>
                  <a:cs typeface="Cambria"/>
                </a:rPr>
                <a:t>研究内容一：用户画像生成</a:t>
              </a:r>
            </a:p>
          </p:txBody>
        </p:sp>
        <p:sp>
          <p:nvSpPr>
            <p:cNvPr id="11" name="Rectangle 11"/>
            <p:cNvSpPr/>
            <p:nvPr/>
          </p:nvSpPr>
          <p:spPr>
            <a:xfrm>
              <a:off x="609600" y="1657350"/>
              <a:ext cx="533400" cy="38100"/>
            </a:xfrm>
            <a:prstGeom prst="rect">
              <a:avLst/>
            </a:prstGeom>
            <a:solidFill>
              <a:srgbClr val="C8A24B"/>
            </a:solidFill>
            <a:ln>
              <a:noFill/>
            </a:ln>
          </p:spPr>
          <p:txBody>
            <a:bodyPr/>
            <a:lstStyle/>
            <a:p>
              <a:endParaRPr lang="zh-CN" altLang="en-US"/>
            </a:p>
          </p:txBody>
        </p:sp>
      </p:grpSp>
      <p:grpSp>
        <p:nvGrpSpPr>
          <p:cNvPr id="42" name="Group 42"/>
          <p:cNvGrpSpPr/>
          <p:nvPr/>
        </p:nvGrpSpPr>
        <p:grpSpPr>
          <a:xfrm>
            <a:off x="577215" y="2033588"/>
            <a:ext cx="4661535" cy="3681412"/>
            <a:chOff x="577215" y="2033588"/>
            <a:chExt cx="4661535" cy="3681412"/>
          </a:xfrm>
        </p:grpSpPr>
        <p:grpSp>
          <p:nvGrpSpPr>
            <p:cNvPr id="16" name="Group 16"/>
            <p:cNvGrpSpPr/>
            <p:nvPr/>
          </p:nvGrpSpPr>
          <p:grpSpPr>
            <a:xfrm>
              <a:off x="654050" y="2033588"/>
              <a:ext cx="177801" cy="200025"/>
              <a:chOff x="654050" y="2033588"/>
              <a:chExt cx="177801" cy="200025"/>
            </a:xfrm>
          </p:grpSpPr>
          <p:sp>
            <p:nvSpPr>
              <p:cNvPr id="13" name="Freeform 13"/>
              <p:cNvSpPr/>
              <p:nvPr/>
            </p:nvSpPr>
            <p:spPr>
              <a:xfrm>
                <a:off x="654050" y="2033588"/>
                <a:ext cx="177801" cy="66675"/>
              </a:xfrm>
              <a:custGeom>
                <a:avLst/>
                <a:gdLst/>
                <a:ahLst/>
                <a:cxnLst/>
                <a:rect l="l" t="t" r="r" b="b"/>
                <a:pathLst>
                  <a:path w="177801" h="66675">
                    <a:moveTo>
                      <a:pt x="0" y="33338"/>
                    </a:moveTo>
                    <a:cubicBezTo>
                      <a:pt x="0" y="51749"/>
                      <a:pt x="39802" y="66675"/>
                      <a:pt x="88900" y="66675"/>
                    </a:cubicBezTo>
                    <a:cubicBezTo>
                      <a:pt x="137999" y="66675"/>
                      <a:pt x="177801" y="51749"/>
                      <a:pt x="177801" y="33338"/>
                    </a:cubicBezTo>
                    <a:cubicBezTo>
                      <a:pt x="177801" y="14926"/>
                      <a:pt x="137999" y="0"/>
                      <a:pt x="88900" y="0"/>
                    </a:cubicBezTo>
                    <a:cubicBezTo>
                      <a:pt x="39802" y="0"/>
                      <a:pt x="0" y="14926"/>
                      <a:pt x="0" y="33338"/>
                    </a:cubicBezTo>
                  </a:path>
                </a:pathLst>
              </a:custGeom>
              <a:noFill/>
              <a:ln w="19050">
                <a:solidFill>
                  <a:srgbClr val="4A6B8A"/>
                </a:solidFill>
              </a:ln>
            </p:spPr>
            <p:txBody>
              <a:bodyPr/>
              <a:lstStyle/>
              <a:p>
                <a:endParaRPr lang="zh-CN" altLang="en-US"/>
              </a:p>
            </p:txBody>
          </p:sp>
          <p:sp>
            <p:nvSpPr>
              <p:cNvPr id="14" name="Freeform 14"/>
              <p:cNvSpPr/>
              <p:nvPr/>
            </p:nvSpPr>
            <p:spPr>
              <a:xfrm>
                <a:off x="654050" y="2066925"/>
                <a:ext cx="177801" cy="100013"/>
              </a:xfrm>
              <a:custGeom>
                <a:avLst/>
                <a:gdLst/>
                <a:ahLst/>
                <a:cxnLst/>
                <a:rect l="l" t="t" r="r" b="b"/>
                <a:pathLst>
                  <a:path w="177801" h="100013">
                    <a:moveTo>
                      <a:pt x="0" y="0"/>
                    </a:moveTo>
                    <a:lnTo>
                      <a:pt x="0" y="66675"/>
                    </a:lnTo>
                    <a:cubicBezTo>
                      <a:pt x="0" y="85087"/>
                      <a:pt x="39802" y="100013"/>
                      <a:pt x="88900" y="100013"/>
                    </a:cubicBezTo>
                    <a:cubicBezTo>
                      <a:pt x="137999" y="100013"/>
                      <a:pt x="177801" y="85087"/>
                      <a:pt x="177801" y="66675"/>
                    </a:cubicBezTo>
                    <a:lnTo>
                      <a:pt x="177801" y="0"/>
                    </a:lnTo>
                  </a:path>
                </a:pathLst>
              </a:custGeom>
              <a:noFill/>
              <a:ln w="19050">
                <a:solidFill>
                  <a:srgbClr val="4A6B8A"/>
                </a:solidFill>
              </a:ln>
            </p:spPr>
            <p:txBody>
              <a:bodyPr/>
              <a:lstStyle/>
              <a:p>
                <a:endParaRPr lang="zh-CN" altLang="en-US"/>
              </a:p>
            </p:txBody>
          </p:sp>
          <p:sp>
            <p:nvSpPr>
              <p:cNvPr id="15" name="Freeform 15"/>
              <p:cNvSpPr/>
              <p:nvPr/>
            </p:nvSpPr>
            <p:spPr>
              <a:xfrm>
                <a:off x="654050" y="2133600"/>
                <a:ext cx="177801" cy="100013"/>
              </a:xfrm>
              <a:custGeom>
                <a:avLst/>
                <a:gdLst/>
                <a:ahLst/>
                <a:cxnLst/>
                <a:rect l="l" t="t" r="r" b="b"/>
                <a:pathLst>
                  <a:path w="177801" h="100013">
                    <a:moveTo>
                      <a:pt x="0" y="0"/>
                    </a:moveTo>
                    <a:lnTo>
                      <a:pt x="0" y="66675"/>
                    </a:lnTo>
                    <a:cubicBezTo>
                      <a:pt x="0" y="85087"/>
                      <a:pt x="39802" y="100013"/>
                      <a:pt x="88900" y="100013"/>
                    </a:cubicBezTo>
                    <a:cubicBezTo>
                      <a:pt x="137999" y="100013"/>
                      <a:pt x="177801" y="85087"/>
                      <a:pt x="177801" y="66675"/>
                    </a:cubicBezTo>
                    <a:lnTo>
                      <a:pt x="177801" y="0"/>
                    </a:lnTo>
                  </a:path>
                </a:pathLst>
              </a:custGeom>
              <a:noFill/>
              <a:ln w="19050">
                <a:solidFill>
                  <a:srgbClr val="4A6B8A"/>
                </a:solidFill>
              </a:ln>
            </p:spPr>
            <p:txBody>
              <a:bodyPr/>
              <a:lstStyle/>
              <a:p>
                <a:endParaRPr lang="zh-CN" altLang="en-US"/>
              </a:p>
            </p:txBody>
          </p:sp>
        </p:grpSp>
        <p:sp>
          <p:nvSpPr>
            <p:cNvPr id="17" name="TextBox 17"/>
            <p:cNvSpPr txBox="1"/>
            <p:nvPr/>
          </p:nvSpPr>
          <p:spPr>
            <a:xfrm>
              <a:off x="971550" y="2047875"/>
              <a:ext cx="1154162"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输入与特征</a:t>
              </a:r>
            </a:p>
          </p:txBody>
        </p:sp>
        <p:sp>
          <p:nvSpPr>
            <p:cNvPr id="18" name="TextBox 18"/>
            <p:cNvSpPr txBox="1"/>
            <p:nvPr/>
          </p:nvSpPr>
          <p:spPr>
            <a:xfrm>
              <a:off x="577215" y="2355592"/>
              <a:ext cx="4185441"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user/post 原始数据；发帖、互动、活跃时段、</a:t>
              </a:r>
            </a:p>
          </p:txBody>
        </p:sp>
        <p:sp>
          <p:nvSpPr>
            <p:cNvPr id="19" name="TextBox 19"/>
            <p:cNvSpPr txBox="1"/>
            <p:nvPr/>
          </p:nvSpPr>
          <p:spPr>
            <a:xfrm>
              <a:off x="577215" y="2652047"/>
              <a:ext cx="3770263" cy="215444"/>
            </a:xfrm>
            <a:prstGeom prst="rect">
              <a:avLst/>
            </a:prstGeom>
            <a:noFill/>
            <a:ln>
              <a:noFill/>
            </a:ln>
          </p:spPr>
          <p:txBody>
            <a:bodyPr wrap="none" lIns="0" tIns="0" rIns="0" bIns="0" anchor="t" anchorCtr="0">
              <a:spAutoFit/>
            </a:bodyPr>
            <a:lstStyle/>
            <a:p>
              <a:pPr algn="l"/>
              <a:r>
                <a:rPr lang="zh-CN" sz="1400" dirty="0">
                  <a:solidFill>
                    <a:srgbClr val="2B2B2B"/>
                  </a:solidFill>
                  <a:latin typeface="Arial" panose="020B0604020202090204"/>
                  <a:ea typeface="微软雅黑"/>
                  <a:cs typeface="Arial" panose="020B0604020202090204"/>
                </a:rPr>
                <a:t>粉丝数；帖子与账号影响力指标；证据帖筛选。</a:t>
              </a:r>
            </a:p>
          </p:txBody>
        </p:sp>
        <p:grpSp>
          <p:nvGrpSpPr>
            <p:cNvPr id="29" name="Group 29"/>
            <p:cNvGrpSpPr/>
            <p:nvPr/>
          </p:nvGrpSpPr>
          <p:grpSpPr>
            <a:xfrm>
              <a:off x="665163" y="3108325"/>
              <a:ext cx="155575" cy="211138"/>
              <a:chOff x="665163" y="3108325"/>
              <a:chExt cx="155575" cy="211138"/>
            </a:xfrm>
          </p:grpSpPr>
          <p:sp>
            <p:nvSpPr>
              <p:cNvPr id="20" name="Freeform 20"/>
              <p:cNvSpPr/>
              <p:nvPr/>
            </p:nvSpPr>
            <p:spPr>
              <a:xfrm>
                <a:off x="676275" y="3130550"/>
                <a:ext cx="133350" cy="88900"/>
              </a:xfrm>
              <a:custGeom>
                <a:avLst/>
                <a:gdLst/>
                <a:ahLst/>
                <a:cxnLst/>
                <a:rect l="l" t="t" r="r" b="b"/>
                <a:pathLst>
                  <a:path w="133350" h="88900">
                    <a:moveTo>
                      <a:pt x="0" y="22225"/>
                    </a:moveTo>
                    <a:cubicBezTo>
                      <a:pt x="0" y="9950"/>
                      <a:pt x="9950" y="0"/>
                      <a:pt x="22225" y="0"/>
                    </a:cubicBezTo>
                    <a:lnTo>
                      <a:pt x="111125" y="0"/>
                    </a:lnTo>
                    <a:cubicBezTo>
                      <a:pt x="123400" y="0"/>
                      <a:pt x="133350" y="9950"/>
                      <a:pt x="133350" y="22225"/>
                    </a:cubicBezTo>
                    <a:lnTo>
                      <a:pt x="133350" y="66675"/>
                    </a:lnTo>
                    <a:cubicBezTo>
                      <a:pt x="133350" y="78950"/>
                      <a:pt x="123400" y="88900"/>
                      <a:pt x="111125" y="88900"/>
                    </a:cubicBezTo>
                    <a:lnTo>
                      <a:pt x="22225" y="88900"/>
                    </a:lnTo>
                    <a:cubicBezTo>
                      <a:pt x="9950" y="88900"/>
                      <a:pt x="0" y="78950"/>
                      <a:pt x="0" y="66675"/>
                    </a:cubicBezTo>
                    <a:lnTo>
                      <a:pt x="0" y="22225"/>
                    </a:lnTo>
                  </a:path>
                </a:pathLst>
              </a:custGeom>
              <a:noFill/>
              <a:ln w="19050">
                <a:solidFill>
                  <a:srgbClr val="C8A24B"/>
                </a:solidFill>
              </a:ln>
            </p:spPr>
            <p:txBody>
              <a:bodyPr/>
              <a:lstStyle/>
              <a:p>
                <a:endParaRPr lang="zh-CN" altLang="en-US"/>
              </a:p>
            </p:txBody>
          </p:sp>
          <p:sp>
            <p:nvSpPr>
              <p:cNvPr id="21" name="Freeform 21"/>
              <p:cNvSpPr/>
              <p:nvPr/>
            </p:nvSpPr>
            <p:spPr>
              <a:xfrm>
                <a:off x="742950" y="3108325"/>
                <a:ext cx="9525" cy="22225"/>
              </a:xfrm>
              <a:custGeom>
                <a:avLst/>
                <a:gdLst/>
                <a:ahLst/>
                <a:cxnLst/>
                <a:rect l="l" t="t" r="r" b="b"/>
                <a:pathLst>
                  <a:path w="9525" h="22225">
                    <a:moveTo>
                      <a:pt x="0" y="0"/>
                    </a:moveTo>
                    <a:lnTo>
                      <a:pt x="0" y="22225"/>
                    </a:lnTo>
                  </a:path>
                </a:pathLst>
              </a:custGeom>
              <a:noFill/>
              <a:ln w="19050">
                <a:solidFill>
                  <a:srgbClr val="C8A24B"/>
                </a:solidFill>
              </a:ln>
            </p:spPr>
            <p:txBody>
              <a:bodyPr/>
              <a:lstStyle/>
              <a:p>
                <a:endParaRPr lang="zh-CN" altLang="en-US"/>
              </a:p>
            </p:txBody>
          </p:sp>
          <p:sp>
            <p:nvSpPr>
              <p:cNvPr id="22" name="Freeform 22"/>
              <p:cNvSpPr/>
              <p:nvPr/>
            </p:nvSpPr>
            <p:spPr>
              <a:xfrm>
                <a:off x="709613" y="3219450"/>
                <a:ext cx="9525" cy="100013"/>
              </a:xfrm>
              <a:custGeom>
                <a:avLst/>
                <a:gdLst/>
                <a:ahLst/>
                <a:cxnLst/>
                <a:rect l="l" t="t" r="r" b="b"/>
                <a:pathLst>
                  <a:path w="9525" h="100013">
                    <a:moveTo>
                      <a:pt x="0" y="0"/>
                    </a:moveTo>
                    <a:lnTo>
                      <a:pt x="0" y="100013"/>
                    </a:lnTo>
                  </a:path>
                </a:pathLst>
              </a:custGeom>
              <a:noFill/>
              <a:ln w="19050">
                <a:solidFill>
                  <a:srgbClr val="C8A24B"/>
                </a:solidFill>
              </a:ln>
            </p:spPr>
            <p:txBody>
              <a:bodyPr/>
              <a:lstStyle/>
              <a:p>
                <a:endParaRPr lang="zh-CN" altLang="en-US"/>
              </a:p>
            </p:txBody>
          </p:sp>
          <p:sp>
            <p:nvSpPr>
              <p:cNvPr id="23" name="Freeform 23"/>
              <p:cNvSpPr/>
              <p:nvPr/>
            </p:nvSpPr>
            <p:spPr>
              <a:xfrm>
                <a:off x="776288" y="3219450"/>
                <a:ext cx="9525" cy="100013"/>
              </a:xfrm>
              <a:custGeom>
                <a:avLst/>
                <a:gdLst/>
                <a:ahLst/>
                <a:cxnLst/>
                <a:rect l="l" t="t" r="r" b="b"/>
                <a:pathLst>
                  <a:path w="9525" h="100013">
                    <a:moveTo>
                      <a:pt x="0" y="0"/>
                    </a:moveTo>
                    <a:lnTo>
                      <a:pt x="0" y="100013"/>
                    </a:lnTo>
                  </a:path>
                </a:pathLst>
              </a:custGeom>
              <a:noFill/>
              <a:ln w="19050">
                <a:solidFill>
                  <a:srgbClr val="C8A24B"/>
                </a:solidFill>
              </a:ln>
            </p:spPr>
            <p:txBody>
              <a:bodyPr/>
              <a:lstStyle/>
              <a:p>
                <a:endParaRPr lang="zh-CN" altLang="en-US"/>
              </a:p>
            </p:txBody>
          </p:sp>
          <p:sp>
            <p:nvSpPr>
              <p:cNvPr id="24" name="Freeform 24"/>
              <p:cNvSpPr/>
              <p:nvPr/>
            </p:nvSpPr>
            <p:spPr>
              <a:xfrm>
                <a:off x="665163" y="3241675"/>
                <a:ext cx="44450" cy="22225"/>
              </a:xfrm>
              <a:custGeom>
                <a:avLst/>
                <a:gdLst/>
                <a:ahLst/>
                <a:cxnLst/>
                <a:rect l="l" t="t" r="r" b="b"/>
                <a:pathLst>
                  <a:path w="44450" h="22225">
                    <a:moveTo>
                      <a:pt x="0" y="22225"/>
                    </a:moveTo>
                    <a:lnTo>
                      <a:pt x="44450" y="0"/>
                    </a:lnTo>
                  </a:path>
                </a:pathLst>
              </a:custGeom>
              <a:noFill/>
              <a:ln w="19050">
                <a:solidFill>
                  <a:srgbClr val="C8A24B"/>
                </a:solidFill>
              </a:ln>
            </p:spPr>
            <p:txBody>
              <a:bodyPr/>
              <a:lstStyle/>
              <a:p>
                <a:endParaRPr lang="zh-CN" altLang="en-US"/>
              </a:p>
            </p:txBody>
          </p:sp>
          <p:sp>
            <p:nvSpPr>
              <p:cNvPr id="25" name="Freeform 25"/>
              <p:cNvSpPr/>
              <p:nvPr/>
            </p:nvSpPr>
            <p:spPr>
              <a:xfrm>
                <a:off x="776288" y="3241675"/>
                <a:ext cx="44450" cy="22225"/>
              </a:xfrm>
              <a:custGeom>
                <a:avLst/>
                <a:gdLst/>
                <a:ahLst/>
                <a:cxnLst/>
                <a:rect l="l" t="t" r="r" b="b"/>
                <a:pathLst>
                  <a:path w="44450" h="22225">
                    <a:moveTo>
                      <a:pt x="0" y="0"/>
                    </a:moveTo>
                    <a:lnTo>
                      <a:pt x="44450" y="22225"/>
                    </a:lnTo>
                  </a:path>
                </a:pathLst>
              </a:custGeom>
              <a:noFill/>
              <a:ln w="19050">
                <a:solidFill>
                  <a:srgbClr val="C8A24B"/>
                </a:solidFill>
              </a:ln>
            </p:spPr>
            <p:txBody>
              <a:bodyPr/>
              <a:lstStyle/>
              <a:p>
                <a:endParaRPr lang="zh-CN" altLang="en-US"/>
              </a:p>
            </p:txBody>
          </p:sp>
          <p:sp>
            <p:nvSpPr>
              <p:cNvPr id="26" name="Freeform 26"/>
              <p:cNvSpPr/>
              <p:nvPr/>
            </p:nvSpPr>
            <p:spPr>
              <a:xfrm>
                <a:off x="709613" y="3286126"/>
                <a:ext cx="66675" cy="9525"/>
              </a:xfrm>
              <a:custGeom>
                <a:avLst/>
                <a:gdLst/>
                <a:ahLst/>
                <a:cxnLst/>
                <a:rect l="l" t="t" r="r" b="b"/>
                <a:pathLst>
                  <a:path w="66675" h="9525">
                    <a:moveTo>
                      <a:pt x="0" y="0"/>
                    </a:moveTo>
                    <a:lnTo>
                      <a:pt x="66675" y="0"/>
                    </a:lnTo>
                  </a:path>
                </a:pathLst>
              </a:custGeom>
              <a:noFill/>
              <a:ln w="19050">
                <a:solidFill>
                  <a:srgbClr val="C8A24B"/>
                </a:solidFill>
              </a:ln>
            </p:spPr>
            <p:txBody>
              <a:bodyPr/>
              <a:lstStyle/>
              <a:p>
                <a:endParaRPr lang="zh-CN" altLang="en-US"/>
              </a:p>
            </p:txBody>
          </p:sp>
          <p:sp>
            <p:nvSpPr>
              <p:cNvPr id="27" name="Freeform 27"/>
              <p:cNvSpPr/>
              <p:nvPr/>
            </p:nvSpPr>
            <p:spPr>
              <a:xfrm>
                <a:off x="720725" y="3175000"/>
                <a:ext cx="9525" cy="9525"/>
              </a:xfrm>
              <a:custGeom>
                <a:avLst/>
                <a:gdLst/>
                <a:ahLst/>
                <a:cxnLst/>
                <a:rect l="l" t="t" r="r" b="b"/>
                <a:pathLst>
                  <a:path w="9525" h="9525">
                    <a:moveTo>
                      <a:pt x="0" y="0"/>
                    </a:moveTo>
                    <a:lnTo>
                      <a:pt x="0" y="111"/>
                    </a:lnTo>
                  </a:path>
                </a:pathLst>
              </a:custGeom>
              <a:noFill/>
              <a:ln w="19050">
                <a:solidFill>
                  <a:srgbClr val="C8A24B"/>
                </a:solidFill>
              </a:ln>
            </p:spPr>
            <p:txBody>
              <a:bodyPr/>
              <a:lstStyle/>
              <a:p>
                <a:endParaRPr lang="zh-CN" altLang="en-US"/>
              </a:p>
            </p:txBody>
          </p:sp>
          <p:sp>
            <p:nvSpPr>
              <p:cNvPr id="28" name="Freeform 28"/>
              <p:cNvSpPr/>
              <p:nvPr/>
            </p:nvSpPr>
            <p:spPr>
              <a:xfrm>
                <a:off x="765175" y="3175000"/>
                <a:ext cx="9525" cy="9525"/>
              </a:xfrm>
              <a:custGeom>
                <a:avLst/>
                <a:gdLst/>
                <a:ahLst/>
                <a:cxnLst/>
                <a:rect l="l" t="t" r="r" b="b"/>
                <a:pathLst>
                  <a:path w="9525" h="9525">
                    <a:moveTo>
                      <a:pt x="0" y="0"/>
                    </a:moveTo>
                    <a:lnTo>
                      <a:pt x="0" y="111"/>
                    </a:lnTo>
                  </a:path>
                </a:pathLst>
              </a:custGeom>
              <a:noFill/>
              <a:ln w="19050">
                <a:solidFill>
                  <a:srgbClr val="C8A24B"/>
                </a:solidFill>
              </a:ln>
            </p:spPr>
            <p:txBody>
              <a:bodyPr/>
              <a:lstStyle/>
              <a:p>
                <a:endParaRPr lang="zh-CN" altLang="en-US"/>
              </a:p>
            </p:txBody>
          </p:sp>
        </p:grpSp>
        <p:sp>
          <p:nvSpPr>
            <p:cNvPr id="30" name="TextBox 30"/>
            <p:cNvSpPr txBox="1"/>
            <p:nvPr/>
          </p:nvSpPr>
          <p:spPr>
            <a:xfrm>
              <a:off x="921348" y="3108325"/>
              <a:ext cx="1987724"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五阶段 LLM 流水线</a:t>
              </a:r>
            </a:p>
          </p:txBody>
        </p:sp>
        <p:grpSp>
          <p:nvGrpSpPr>
            <p:cNvPr id="41" name="Group 41"/>
            <p:cNvGrpSpPr/>
            <p:nvPr/>
          </p:nvGrpSpPr>
          <p:grpSpPr>
            <a:xfrm>
              <a:off x="609600" y="3505200"/>
              <a:ext cx="4629150" cy="2209800"/>
              <a:chOff x="609600" y="3505200"/>
              <a:chExt cx="4629150" cy="2209800"/>
            </a:xfrm>
          </p:grpSpPr>
          <p:sp>
            <p:nvSpPr>
              <p:cNvPr id="31" name="Rectangle 31"/>
              <p:cNvSpPr/>
              <p:nvPr/>
            </p:nvSpPr>
            <p:spPr>
              <a:xfrm>
                <a:off x="609600" y="3505200"/>
                <a:ext cx="4629150" cy="381000"/>
              </a:xfrm>
              <a:prstGeom prst="roundRect">
                <a:avLst>
                  <a:gd name="adj" fmla="val 10000"/>
                </a:avLst>
              </a:prstGeom>
              <a:solidFill>
                <a:srgbClr val="F1ECE3"/>
              </a:solidFill>
              <a:ln>
                <a:noFill/>
              </a:ln>
            </p:spPr>
            <p:txBody>
              <a:bodyPr/>
              <a:lstStyle/>
              <a:p>
                <a:endParaRPr lang="zh-CN" altLang="en-US"/>
              </a:p>
            </p:txBody>
          </p:sp>
          <p:sp>
            <p:nvSpPr>
              <p:cNvPr id="32" name="TextBox 32"/>
              <p:cNvSpPr txBox="1"/>
              <p:nvPr/>
            </p:nvSpPr>
            <p:spPr>
              <a:xfrm>
                <a:off x="785812" y="3631406"/>
                <a:ext cx="1025922" cy="246221"/>
              </a:xfrm>
              <a:prstGeom prst="rect">
                <a:avLst/>
              </a:prstGeom>
              <a:noFill/>
              <a:ln>
                <a:noFill/>
              </a:ln>
            </p:spPr>
            <p:txBody>
              <a:bodyPr wrap="none" lIns="0" tIns="0" rIns="0" bIns="0" anchor="t" anchorCtr="0">
                <a:spAutoFit/>
              </a:bodyPr>
              <a:lstStyle/>
              <a:p>
                <a:pPr algn="l"/>
                <a:r>
                  <a:rPr lang="en-US" sz="1600" b="1" dirty="0">
                    <a:solidFill>
                      <a:srgbClr val="1B3A5B"/>
                    </a:solidFill>
                    <a:latin typeface="Arial" panose="020B0604020202090204"/>
                    <a:ea typeface="Arial" panose="020B0604020202090204"/>
                    <a:cs typeface="Arial" panose="020B0604020202090204"/>
                  </a:rPr>
                  <a:t>A</a:t>
                </a:r>
                <a:r>
                  <a:rPr lang="zh-CN" sz="1600" dirty="0">
                    <a:solidFill>
                      <a:srgbClr val="2B2B2B"/>
                    </a:solidFill>
                    <a:latin typeface="Arial" panose="020B0604020202090204"/>
                    <a:ea typeface="微软雅黑"/>
                    <a:cs typeface="Arial" panose="020B0604020202090204"/>
                  </a:rPr>
                  <a:t> 证据抽取</a:t>
                </a:r>
              </a:p>
            </p:txBody>
          </p:sp>
          <p:sp>
            <p:nvSpPr>
              <p:cNvPr id="33" name="Rectangle 33"/>
              <p:cNvSpPr/>
              <p:nvPr/>
            </p:nvSpPr>
            <p:spPr>
              <a:xfrm>
                <a:off x="609600" y="3962400"/>
                <a:ext cx="4629150" cy="381000"/>
              </a:xfrm>
              <a:prstGeom prst="roundRect">
                <a:avLst>
                  <a:gd name="adj" fmla="val 10000"/>
                </a:avLst>
              </a:prstGeom>
              <a:solidFill>
                <a:srgbClr val="F1ECE3"/>
              </a:solidFill>
              <a:ln>
                <a:noFill/>
              </a:ln>
            </p:spPr>
            <p:txBody>
              <a:bodyPr/>
              <a:lstStyle/>
              <a:p>
                <a:endParaRPr lang="zh-CN" altLang="en-US"/>
              </a:p>
            </p:txBody>
          </p:sp>
          <p:sp>
            <p:nvSpPr>
              <p:cNvPr id="34" name="TextBox 34"/>
              <p:cNvSpPr txBox="1"/>
              <p:nvPr/>
            </p:nvSpPr>
            <p:spPr>
              <a:xfrm>
                <a:off x="785812" y="4088606"/>
                <a:ext cx="1025922" cy="246221"/>
              </a:xfrm>
              <a:prstGeom prst="rect">
                <a:avLst/>
              </a:prstGeom>
              <a:noFill/>
              <a:ln>
                <a:noFill/>
              </a:ln>
            </p:spPr>
            <p:txBody>
              <a:bodyPr wrap="none" lIns="0" tIns="0" rIns="0" bIns="0" anchor="t" anchorCtr="0">
                <a:spAutoFit/>
              </a:bodyPr>
              <a:lstStyle/>
              <a:p>
                <a:pPr algn="l"/>
                <a:r>
                  <a:rPr lang="en-US" sz="1600" b="1" dirty="0">
                    <a:solidFill>
                      <a:srgbClr val="1B3A5B"/>
                    </a:solidFill>
                    <a:latin typeface="Arial" panose="020B0604020202090204"/>
                    <a:ea typeface="Arial" panose="020B0604020202090204"/>
                    <a:cs typeface="Arial" panose="020B0604020202090204"/>
                  </a:rPr>
                  <a:t>B</a:t>
                </a:r>
                <a:r>
                  <a:rPr lang="zh-CN" sz="1600" dirty="0">
                    <a:solidFill>
                      <a:srgbClr val="2B2B2B"/>
                    </a:solidFill>
                    <a:latin typeface="Arial" panose="020B0604020202090204"/>
                    <a:ea typeface="微软雅黑"/>
                    <a:cs typeface="Arial" panose="020B0604020202090204"/>
                  </a:rPr>
                  <a:t> 稳定画像</a:t>
                </a:r>
              </a:p>
            </p:txBody>
          </p:sp>
          <p:sp>
            <p:nvSpPr>
              <p:cNvPr id="35" name="Rectangle 35"/>
              <p:cNvSpPr/>
              <p:nvPr/>
            </p:nvSpPr>
            <p:spPr>
              <a:xfrm>
                <a:off x="609600" y="4419600"/>
                <a:ext cx="4629150" cy="381000"/>
              </a:xfrm>
              <a:prstGeom prst="roundRect">
                <a:avLst>
                  <a:gd name="adj" fmla="val 10000"/>
                </a:avLst>
              </a:prstGeom>
              <a:solidFill>
                <a:srgbClr val="F1ECE3"/>
              </a:solidFill>
              <a:ln>
                <a:noFill/>
              </a:ln>
            </p:spPr>
            <p:txBody>
              <a:bodyPr/>
              <a:lstStyle/>
              <a:p>
                <a:endParaRPr lang="zh-CN" altLang="en-US"/>
              </a:p>
            </p:txBody>
          </p:sp>
          <p:sp>
            <p:nvSpPr>
              <p:cNvPr id="36" name="TextBox 36"/>
              <p:cNvSpPr txBox="1"/>
              <p:nvPr/>
            </p:nvSpPr>
            <p:spPr>
              <a:xfrm>
                <a:off x="785812" y="4545806"/>
                <a:ext cx="1025922" cy="246221"/>
              </a:xfrm>
              <a:prstGeom prst="rect">
                <a:avLst/>
              </a:prstGeom>
              <a:noFill/>
              <a:ln>
                <a:noFill/>
              </a:ln>
            </p:spPr>
            <p:txBody>
              <a:bodyPr wrap="none" lIns="0" tIns="0" rIns="0" bIns="0" anchor="t" anchorCtr="0">
                <a:spAutoFit/>
              </a:bodyPr>
              <a:lstStyle/>
              <a:p>
                <a:pPr algn="l"/>
                <a:r>
                  <a:rPr lang="en-US" sz="1600" b="1" dirty="0">
                    <a:solidFill>
                      <a:srgbClr val="1B3A5B"/>
                    </a:solidFill>
                    <a:latin typeface="Arial" panose="020B0604020202090204"/>
                    <a:ea typeface="Arial" panose="020B0604020202090204"/>
                    <a:cs typeface="Arial" panose="020B0604020202090204"/>
                  </a:rPr>
                  <a:t>C</a:t>
                </a:r>
                <a:r>
                  <a:rPr lang="zh-CN" sz="1600" dirty="0">
                    <a:solidFill>
                      <a:srgbClr val="2B2B2B"/>
                    </a:solidFill>
                    <a:latin typeface="Arial" panose="020B0604020202090204"/>
                    <a:ea typeface="微软雅黑"/>
                    <a:cs typeface="Arial" panose="020B0604020202090204"/>
                  </a:rPr>
                  <a:t> 行为画像</a:t>
                </a:r>
              </a:p>
            </p:txBody>
          </p:sp>
          <p:sp>
            <p:nvSpPr>
              <p:cNvPr id="37" name="Rectangle 37"/>
              <p:cNvSpPr/>
              <p:nvPr/>
            </p:nvSpPr>
            <p:spPr>
              <a:xfrm>
                <a:off x="609600" y="4876800"/>
                <a:ext cx="4629150" cy="381000"/>
              </a:xfrm>
              <a:prstGeom prst="roundRect">
                <a:avLst>
                  <a:gd name="adj" fmla="val 10000"/>
                </a:avLst>
              </a:prstGeom>
              <a:solidFill>
                <a:srgbClr val="F1ECE3"/>
              </a:solidFill>
              <a:ln>
                <a:noFill/>
              </a:ln>
            </p:spPr>
            <p:txBody>
              <a:bodyPr/>
              <a:lstStyle/>
              <a:p>
                <a:endParaRPr lang="zh-CN" altLang="en-US"/>
              </a:p>
            </p:txBody>
          </p:sp>
          <p:sp>
            <p:nvSpPr>
              <p:cNvPr id="38" name="TextBox 38"/>
              <p:cNvSpPr txBox="1"/>
              <p:nvPr/>
            </p:nvSpPr>
            <p:spPr>
              <a:xfrm>
                <a:off x="785812" y="5003006"/>
                <a:ext cx="1607684" cy="246221"/>
              </a:xfrm>
              <a:prstGeom prst="rect">
                <a:avLst/>
              </a:prstGeom>
              <a:noFill/>
              <a:ln>
                <a:noFill/>
              </a:ln>
            </p:spPr>
            <p:txBody>
              <a:bodyPr wrap="none" lIns="0" tIns="0" rIns="0" bIns="0" anchor="t" anchorCtr="0">
                <a:spAutoFit/>
              </a:bodyPr>
              <a:lstStyle/>
              <a:p>
                <a:pPr algn="l"/>
                <a:r>
                  <a:rPr lang="en-US" sz="1600" b="1" dirty="0">
                    <a:solidFill>
                      <a:srgbClr val="1B3A5B"/>
                    </a:solidFill>
                    <a:latin typeface="Arial" panose="020B0604020202090204"/>
                    <a:ea typeface="Arial" panose="020B0604020202090204"/>
                    <a:cs typeface="Arial" panose="020B0604020202090204"/>
                  </a:rPr>
                  <a:t>D</a:t>
                </a:r>
                <a:r>
                  <a:rPr lang="zh-CN" sz="1600" dirty="0">
                    <a:solidFill>
                      <a:srgbClr val="2B2B2B"/>
                    </a:solidFill>
                    <a:latin typeface="Arial" panose="020B0604020202090204"/>
                    <a:ea typeface="微软雅黑"/>
                    <a:cs typeface="Arial" panose="020B0604020202090204"/>
                  </a:rPr>
                  <a:t> Agent 画像压缩</a:t>
                </a:r>
              </a:p>
            </p:txBody>
          </p:sp>
          <p:sp>
            <p:nvSpPr>
              <p:cNvPr id="39" name="Rectangle 39"/>
              <p:cNvSpPr/>
              <p:nvPr/>
            </p:nvSpPr>
            <p:spPr>
              <a:xfrm>
                <a:off x="609600" y="5334000"/>
                <a:ext cx="4629150" cy="381000"/>
              </a:xfrm>
              <a:prstGeom prst="roundRect">
                <a:avLst>
                  <a:gd name="adj" fmla="val 10000"/>
                </a:avLst>
              </a:prstGeom>
              <a:solidFill>
                <a:srgbClr val="F1ECE3"/>
              </a:solidFill>
              <a:ln>
                <a:noFill/>
              </a:ln>
            </p:spPr>
            <p:txBody>
              <a:bodyPr/>
              <a:lstStyle/>
              <a:p>
                <a:endParaRPr lang="zh-CN" altLang="en-US"/>
              </a:p>
            </p:txBody>
          </p:sp>
          <p:sp>
            <p:nvSpPr>
              <p:cNvPr id="40" name="TextBox 40"/>
              <p:cNvSpPr txBox="1"/>
              <p:nvPr/>
            </p:nvSpPr>
            <p:spPr>
              <a:xfrm>
                <a:off x="785812" y="5460206"/>
                <a:ext cx="1425070" cy="246221"/>
              </a:xfrm>
              <a:prstGeom prst="rect">
                <a:avLst/>
              </a:prstGeom>
              <a:noFill/>
              <a:ln>
                <a:noFill/>
              </a:ln>
            </p:spPr>
            <p:txBody>
              <a:bodyPr wrap="none" lIns="0" tIns="0" rIns="0" bIns="0" anchor="t" anchorCtr="0">
                <a:spAutoFit/>
              </a:bodyPr>
              <a:lstStyle/>
              <a:p>
                <a:pPr algn="l"/>
                <a:r>
                  <a:rPr lang="en-US" sz="1600" b="1" dirty="0">
                    <a:solidFill>
                      <a:srgbClr val="1B3A5B"/>
                    </a:solidFill>
                    <a:latin typeface="Arial" panose="020B0604020202090204"/>
                    <a:ea typeface="Arial" panose="020B0604020202090204"/>
                    <a:cs typeface="Arial" panose="020B0604020202090204"/>
                  </a:rPr>
                  <a:t>E</a:t>
                </a:r>
                <a:r>
                  <a:rPr lang="zh-CN" sz="1600" dirty="0">
                    <a:solidFill>
                      <a:srgbClr val="2B2B2B"/>
                    </a:solidFill>
                    <a:latin typeface="Arial" panose="020B0604020202090204"/>
                    <a:ea typeface="微软雅黑"/>
                    <a:cs typeface="Arial" panose="020B0604020202090204"/>
                  </a:rPr>
                  <a:t> 模拟初始状态</a:t>
                </a:r>
              </a:p>
            </p:txBody>
          </p:sp>
        </p:grpSp>
      </p:grpSp>
      <p:grpSp>
        <p:nvGrpSpPr>
          <p:cNvPr id="46" name="Group 46"/>
          <p:cNvGrpSpPr/>
          <p:nvPr/>
        </p:nvGrpSpPr>
        <p:grpSpPr>
          <a:xfrm>
            <a:off x="5543550" y="2000250"/>
            <a:ext cx="6038850" cy="3143250"/>
            <a:chOff x="5543550" y="2000250"/>
            <a:chExt cx="6038850" cy="3143250"/>
          </a:xfrm>
        </p:grpSpPr>
        <p:sp>
          <p:nvSpPr>
            <p:cNvPr id="43" name="Rectangle 43"/>
            <p:cNvSpPr/>
            <p:nvPr/>
          </p:nvSpPr>
          <p:spPr>
            <a:xfrm>
              <a:off x="5543550" y="2000250"/>
              <a:ext cx="6038850" cy="3143250"/>
            </a:xfrm>
            <a:prstGeom prst="roundRect">
              <a:avLst>
                <a:gd name="adj" fmla="val 1212"/>
              </a:avLst>
            </a:prstGeom>
            <a:solidFill>
              <a:srgbClr val="FFFFFF"/>
            </a:solidFill>
            <a:ln w="9525">
              <a:solidFill>
                <a:srgbClr val="D8D0C2"/>
              </a:solidFill>
            </a:ln>
          </p:spPr>
          <p:txBody>
            <a:bodyPr/>
            <a:lstStyle/>
            <a:p>
              <a:endParaRPr lang="zh-CN" altLang="en-US"/>
            </a:p>
          </p:txBody>
        </p:sp>
        <p:pic>
          <p:nvPicPr>
            <p:cNvPr id="44" name="Image 44"/>
            <p:cNvPicPr>
              <a:picLocks noChangeAspect="1"/>
            </p:cNvPicPr>
            <p:nvPr/>
          </p:nvPicPr>
          <p:blipFill>
            <a:blip>
              <a:extLst>
                <a:ext uri="{96DAC541-7B7A-43D3-8B79-37D633B846F1}">
                  <asvg:svgBlip xmlns:asvg="http://schemas.microsoft.com/office/drawing/2016/SVG/main" r:embed="rId3"/>
                </a:ext>
              </a:extLst>
            </a:blip>
            <a:srcRect/>
            <a:stretch>
              <a:fillRect/>
            </a:stretch>
          </p:blipFill>
          <p:spPr>
            <a:xfrm>
              <a:off x="5800334" y="2123879"/>
              <a:ext cx="5525282" cy="2762641"/>
            </a:xfrm>
            <a:prstGeom prst="rect">
              <a:avLst/>
            </a:prstGeom>
          </p:spPr>
        </p:pic>
      </p:grpSp>
      <p:grpSp>
        <p:nvGrpSpPr>
          <p:cNvPr id="51" name="Group 51"/>
          <p:cNvGrpSpPr/>
          <p:nvPr/>
        </p:nvGrpSpPr>
        <p:grpSpPr>
          <a:xfrm>
            <a:off x="5543550" y="5448300"/>
            <a:ext cx="6038850" cy="609600"/>
            <a:chOff x="5543550" y="5448300"/>
            <a:chExt cx="6038850" cy="609600"/>
          </a:xfrm>
        </p:grpSpPr>
        <p:sp>
          <p:nvSpPr>
            <p:cNvPr id="47" name="Rectangle 47"/>
            <p:cNvSpPr/>
            <p:nvPr/>
          </p:nvSpPr>
          <p:spPr>
            <a:xfrm>
              <a:off x="5543550" y="5448300"/>
              <a:ext cx="6038850" cy="609600"/>
            </a:xfrm>
            <a:prstGeom prst="roundRect">
              <a:avLst>
                <a:gd name="adj" fmla="val 6250"/>
              </a:avLst>
            </a:prstGeom>
            <a:solidFill>
              <a:srgbClr val="1B3A5B"/>
            </a:solidFill>
            <a:ln>
              <a:noFill/>
            </a:ln>
          </p:spPr>
          <p:txBody>
            <a:bodyPr/>
            <a:lstStyle/>
            <a:p>
              <a:endParaRPr lang="zh-CN" altLang="en-US"/>
            </a:p>
          </p:txBody>
        </p:sp>
        <p:sp>
          <p:nvSpPr>
            <p:cNvPr id="48" name="Rectangle 48"/>
            <p:cNvSpPr/>
            <p:nvPr/>
          </p:nvSpPr>
          <p:spPr>
            <a:xfrm>
              <a:off x="5543550" y="5448300"/>
              <a:ext cx="57150" cy="609600"/>
            </a:xfrm>
            <a:prstGeom prst="rect">
              <a:avLst/>
            </a:prstGeom>
            <a:solidFill>
              <a:srgbClr val="C8A24B"/>
            </a:solidFill>
            <a:ln>
              <a:noFill/>
            </a:ln>
          </p:spPr>
          <p:txBody>
            <a:bodyPr/>
            <a:lstStyle/>
            <a:p>
              <a:endParaRPr lang="zh-CN" altLang="en-US"/>
            </a:p>
          </p:txBody>
        </p:sp>
        <p:sp>
          <p:nvSpPr>
            <p:cNvPr id="49" name="TextBox 49"/>
            <p:cNvSpPr txBox="1"/>
            <p:nvPr/>
          </p:nvSpPr>
          <p:spPr>
            <a:xfrm>
              <a:off x="5816918" y="5609749"/>
              <a:ext cx="1410413" cy="198120"/>
            </a:xfrm>
            <a:prstGeom prst="rect">
              <a:avLst/>
            </a:prstGeom>
            <a:noFill/>
            <a:ln>
              <a:noFill/>
            </a:ln>
          </p:spPr>
          <p:txBody>
            <a:bodyPr wrap="none" lIns="0" tIns="0" rIns="0" bIns="0" anchor="t" anchorCtr="0">
              <a:spAutoFit/>
            </a:bodyPr>
            <a:lstStyle/>
            <a:p>
              <a:pPr algn="l"/>
              <a:r>
                <a:rPr lang="zh-CN" sz="975" b="1" dirty="0">
                  <a:solidFill>
                    <a:srgbClr val="C8A24B"/>
                  </a:solidFill>
                  <a:latin typeface="Arial" panose="020B0604020202090204"/>
                  <a:ea typeface="微软雅黑"/>
                  <a:cs typeface="Arial" panose="020B0604020202090204"/>
                </a:rPr>
                <a:t>成本控制 · 影响力分层</a:t>
              </a:r>
            </a:p>
          </p:txBody>
        </p:sp>
        <p:sp>
          <p:nvSpPr>
            <p:cNvPr id="50" name="TextBox 50"/>
            <p:cNvSpPr txBox="1"/>
            <p:nvPr/>
          </p:nvSpPr>
          <p:spPr>
            <a:xfrm>
              <a:off x="5815012" y="5822156"/>
              <a:ext cx="4986695" cy="228600"/>
            </a:xfrm>
            <a:prstGeom prst="rect">
              <a:avLst/>
            </a:prstGeom>
            <a:noFill/>
            <a:ln>
              <a:noFill/>
            </a:ln>
          </p:spPr>
          <p:txBody>
            <a:bodyPr wrap="none" lIns="0" tIns="0" rIns="0" bIns="0" anchor="t" anchorCtr="0">
              <a:spAutoFit/>
            </a:bodyPr>
            <a:lstStyle/>
            <a:p>
              <a:pPr algn="l"/>
              <a:r>
                <a:rPr lang="zh-CN" sz="1125" dirty="0">
                  <a:solidFill>
                    <a:srgbClr val="FAF8F4"/>
                  </a:solidFill>
                  <a:latin typeface="Arial" panose="020B0604020202090204"/>
                  <a:ea typeface="微软雅黑"/>
                  <a:cs typeface="Arial" panose="020B0604020202090204"/>
                </a:rPr>
                <a:t>L4-L5 高影响力用完整流水线；L1-L3 用 simple profile mode 与行为库。</a:t>
              </a:r>
            </a:p>
          </p:txBody>
        </p:sp>
      </p:grpSp>
      <p:grpSp>
        <p:nvGrpSpPr>
          <p:cNvPr id="55" name="Group 55"/>
          <p:cNvGrpSpPr/>
          <p:nvPr/>
        </p:nvGrpSpPr>
        <p:grpSpPr>
          <a:xfrm>
            <a:off x="598170" y="6515100"/>
            <a:ext cx="10995661" cy="276225"/>
            <a:chOff x="598170" y="6515100"/>
            <a:chExt cx="10995661" cy="276225"/>
          </a:xfrm>
        </p:grpSpPr>
        <p:sp>
          <p:nvSpPr>
            <p:cNvPr id="52" name="Line 52"/>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53" name="TextBox 53"/>
            <p:cNvSpPr txBox="1"/>
            <p:nvPr/>
          </p:nvSpPr>
          <p:spPr>
            <a:xfrm>
              <a:off x="598170" y="6608445"/>
              <a:ext cx="1823085" cy="182880"/>
            </a:xfrm>
            <a:prstGeom prst="rect">
              <a:avLst/>
            </a:prstGeom>
            <a:noFill/>
            <a:ln>
              <a:noFill/>
            </a:ln>
          </p:spPr>
          <p:txBody>
            <a:bodyPr wrap="none" lIns="0" tIns="0" rIns="0" bIns="0" anchor="t" anchorCtr="0">
              <a:spAutoFit/>
            </a:bodyPr>
            <a:lstStyle/>
            <a:p>
              <a:pPr algn="l"/>
              <a:r>
                <a:rPr lang="zh-CN" sz="900" dirty="0">
                  <a:solidFill>
                    <a:srgbClr val="8C8C82"/>
                  </a:solidFill>
                  <a:latin typeface="Arial" panose="020B0604020202090204"/>
                  <a:ea typeface="微软雅黑"/>
                  <a:cs typeface="Arial" panose="020B0604020202090204"/>
                </a:rPr>
                <a:t>融合推荐机制校准的社交仿真平台</a:t>
              </a:r>
            </a:p>
          </p:txBody>
        </p:sp>
        <p:sp>
          <p:nvSpPr>
            <p:cNvPr id="54" name="TextBox 54"/>
            <p:cNvSpPr txBox="1"/>
            <p:nvPr/>
          </p:nvSpPr>
          <p:spPr>
            <a:xfrm>
              <a:off x="11438954" y="6608445"/>
              <a:ext cx="154877" cy="182880"/>
            </a:xfrm>
            <a:prstGeom prst="rect">
              <a:avLst/>
            </a:prstGeom>
            <a:noFill/>
            <a:ln>
              <a:noFill/>
            </a:ln>
          </p:spPr>
          <p:txBody>
            <a:bodyPr wrap="none" lIns="0" tIns="0" rIns="0" bIns="0" anchor="t" anchorCtr="0">
              <a:spAutoFit/>
            </a:bodyPr>
            <a:lstStyle/>
            <a:p>
              <a:pPr algn="r"/>
              <a:r>
                <a:rPr lang="en-US" sz="900" dirty="0">
                  <a:solidFill>
                    <a:srgbClr val="8C8C82"/>
                  </a:solidFill>
                  <a:latin typeface="Cambria"/>
                  <a:ea typeface="Cambria"/>
                  <a:cs typeface="Cambria"/>
                </a:rPr>
                <a:t>10</a:t>
              </a:r>
            </a:p>
          </p:txBody>
        </p:sp>
      </p:grpSp>
      <p:pic>
        <p:nvPicPr>
          <p:cNvPr id="56" name="Image 7"/>
          <p:cNvPicPr>
            <a:picLocks noChangeAspect="1"/>
          </p:cNvPicPr>
          <p:nvPr/>
        </p:nvPicPr>
        <p:blipFill>
          <a:blip r:embed="rId4"/>
          <a:stretch>
            <a:fillRect/>
          </a:stretch>
        </p:blipFill>
        <p:spPr>
          <a:xfrm>
            <a:off x="10919012" y="-13055"/>
            <a:ext cx="663388" cy="84676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0" y="0"/>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a:p>
          </p:txBody>
        </p:sp>
      </p:grpSp>
      <p:grpSp>
        <p:nvGrpSpPr>
          <p:cNvPr id="9" name="Group 9"/>
          <p:cNvGrpSpPr/>
          <p:nvPr/>
        </p:nvGrpSpPr>
        <p:grpSpPr>
          <a:xfrm>
            <a:off x="590550" y="523875"/>
            <a:ext cx="10991850" cy="400050"/>
            <a:chOff x="590550" y="523875"/>
            <a:chExt cx="10991850" cy="400050"/>
          </a:xfrm>
        </p:grpSpPr>
        <p:sp>
          <p:nvSpPr>
            <p:cNvPr id="6" name="TextBox 6"/>
            <p:cNvSpPr txBox="1"/>
            <p:nvPr/>
          </p:nvSpPr>
          <p:spPr>
            <a:xfrm>
              <a:off x="590550" y="523875"/>
              <a:ext cx="1802321" cy="304800"/>
            </a:xfrm>
            <a:prstGeom prst="rect">
              <a:avLst/>
            </a:prstGeom>
            <a:noFill/>
            <a:ln>
              <a:noFill/>
            </a:ln>
          </p:spPr>
          <p:txBody>
            <a:bodyPr wrap="none" lIns="0" tIns="0" rIns="0" bIns="0" anchor="t" anchorCtr="0">
              <a:spAutoFit/>
            </a:bodyPr>
            <a:lstStyle/>
            <a:p>
              <a:pPr algn="l"/>
              <a:r>
                <a:rPr lang="en-US" sz="1500" b="1" dirty="0">
                  <a:solidFill>
                    <a:srgbClr val="1B3A5B"/>
                  </a:solidFill>
                  <a:latin typeface="Cambria"/>
                  <a:ea typeface="Cambria"/>
                  <a:cs typeface="Cambria"/>
                </a:rPr>
                <a:t>04 </a:t>
              </a:r>
              <a:r>
                <a:rPr lang="zh-CN" sz="1200" b="1" dirty="0">
                  <a:solidFill>
                    <a:srgbClr val="5A5A52"/>
                  </a:solidFill>
                  <a:latin typeface="Arial" panose="020B0604020202090204"/>
                  <a:ea typeface="微软雅黑"/>
                  <a:cs typeface="Arial" panose="020B0604020202090204"/>
                </a:rPr>
                <a:t>技术路线与方案</a:t>
              </a:r>
            </a:p>
          </p:txBody>
        </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19050">
              <a:solidFill>
                <a:srgbClr val="1B3A5B"/>
              </a:solidFill>
            </a:ln>
          </p:spPr>
          <p:txBody>
            <a:bodyPr/>
            <a:lstStyle/>
            <a:p>
              <a:endParaRPr lang="zh-CN" altLang="en-US"/>
            </a:p>
          </p:txBody>
        </p:sp>
      </p:grpSp>
      <p:grpSp>
        <p:nvGrpSpPr>
          <p:cNvPr id="12" name="Group 12"/>
          <p:cNvGrpSpPr/>
          <p:nvPr/>
        </p:nvGrpSpPr>
        <p:grpSpPr>
          <a:xfrm>
            <a:off x="577215" y="1134428"/>
            <a:ext cx="3893820" cy="484822"/>
            <a:chOff x="577215" y="1134428"/>
            <a:chExt cx="3893820" cy="484822"/>
          </a:xfrm>
        </p:grpSpPr>
        <p:sp>
          <p:nvSpPr>
            <p:cNvPr id="10" name="TextBox 10"/>
            <p:cNvSpPr txBox="1"/>
            <p:nvPr/>
          </p:nvSpPr>
          <p:spPr>
            <a:xfrm>
              <a:off x="577215" y="1134428"/>
              <a:ext cx="3893820" cy="391795"/>
            </a:xfrm>
            <a:prstGeom prst="rect">
              <a:avLst/>
            </a:prstGeom>
            <a:noFill/>
            <a:ln>
              <a:noFill/>
            </a:ln>
          </p:spPr>
          <p:txBody>
            <a:bodyPr wrap="none" lIns="0" tIns="0" rIns="0" bIns="0" anchor="t" anchorCtr="0">
              <a:spAutoFit/>
            </a:bodyPr>
            <a:lstStyle/>
            <a:p>
              <a:pPr algn="l"/>
              <a:r>
                <a:rPr lang="zh-CN" sz="2550" b="1" dirty="0">
                  <a:solidFill>
                    <a:srgbClr val="1B3A5B"/>
                  </a:solidFill>
                  <a:latin typeface="Cambria"/>
                  <a:ea typeface="宋体"/>
                  <a:cs typeface="Cambria"/>
                </a:rPr>
                <a:t>研究内容二：推荐参数校准</a:t>
              </a:r>
            </a:p>
          </p:txBody>
        </p:sp>
        <p:sp>
          <p:nvSpPr>
            <p:cNvPr id="11" name="Rectangle 11"/>
            <p:cNvSpPr/>
            <p:nvPr/>
          </p:nvSpPr>
          <p:spPr>
            <a:xfrm>
              <a:off x="609600" y="1581150"/>
              <a:ext cx="533400" cy="38100"/>
            </a:xfrm>
            <a:prstGeom prst="rect">
              <a:avLst/>
            </a:prstGeom>
            <a:solidFill>
              <a:srgbClr val="C8A24B"/>
            </a:solidFill>
            <a:ln>
              <a:noFill/>
            </a:ln>
          </p:spPr>
          <p:txBody>
            <a:bodyPr/>
            <a:lstStyle/>
            <a:p>
              <a:endParaRPr lang="zh-CN" altLang="en-US"/>
            </a:p>
          </p:txBody>
        </p:sp>
      </p:grpSp>
      <p:grpSp>
        <p:nvGrpSpPr>
          <p:cNvPr id="44" name="Group 44"/>
          <p:cNvGrpSpPr/>
          <p:nvPr/>
        </p:nvGrpSpPr>
        <p:grpSpPr>
          <a:xfrm>
            <a:off x="609600" y="1809750"/>
            <a:ext cx="10972800" cy="914400"/>
            <a:chOff x="609600" y="1809750"/>
            <a:chExt cx="10972800" cy="914400"/>
          </a:xfrm>
        </p:grpSpPr>
        <p:grpSp>
          <p:nvGrpSpPr>
            <p:cNvPr id="21" name="Group 21"/>
            <p:cNvGrpSpPr/>
            <p:nvPr/>
          </p:nvGrpSpPr>
          <p:grpSpPr>
            <a:xfrm>
              <a:off x="609600" y="1809750"/>
              <a:ext cx="2628900" cy="914400"/>
              <a:chOff x="609600" y="1809750"/>
              <a:chExt cx="2628900" cy="914400"/>
            </a:xfrm>
          </p:grpSpPr>
          <p:sp>
            <p:nvSpPr>
              <p:cNvPr id="13" name="Rectangle 13"/>
              <p:cNvSpPr/>
              <p:nvPr/>
            </p:nvSpPr>
            <p:spPr>
              <a:xfrm>
                <a:off x="609600" y="1809750"/>
                <a:ext cx="2628900" cy="914400"/>
              </a:xfrm>
              <a:prstGeom prst="roundRect">
                <a:avLst>
                  <a:gd name="adj" fmla="val 4167"/>
                </a:avLst>
              </a:prstGeom>
              <a:solidFill>
                <a:srgbClr val="FFFFFF"/>
              </a:solidFill>
              <a:ln w="9525">
                <a:solidFill>
                  <a:srgbClr val="D8D0C2"/>
                </a:solidFill>
              </a:ln>
            </p:spPr>
            <p:txBody>
              <a:bodyPr/>
              <a:lstStyle/>
              <a:p>
                <a:endParaRPr lang="zh-CN" altLang="en-US"/>
              </a:p>
            </p:txBody>
          </p:sp>
          <p:grpSp>
            <p:nvGrpSpPr>
              <p:cNvPr id="18" name="Group 18"/>
              <p:cNvGrpSpPr/>
              <p:nvPr/>
            </p:nvGrpSpPr>
            <p:grpSpPr>
              <a:xfrm>
                <a:off x="835819" y="2055019"/>
                <a:ext cx="214313" cy="214313"/>
                <a:chOff x="835819" y="2055019"/>
                <a:chExt cx="214313" cy="214313"/>
              </a:xfrm>
            </p:grpSpPr>
            <p:sp>
              <p:nvSpPr>
                <p:cNvPr id="14" name="Freeform 14"/>
                <p:cNvSpPr/>
                <p:nvPr/>
              </p:nvSpPr>
              <p:spPr>
                <a:xfrm>
                  <a:off x="859631" y="2055019"/>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19050">
                  <a:solidFill>
                    <a:srgbClr val="1B3A5B"/>
                  </a:solidFill>
                </a:ln>
              </p:spPr>
              <p:txBody>
                <a:bodyPr/>
                <a:lstStyle/>
                <a:p>
                  <a:endParaRPr lang="zh-CN" altLang="en-US"/>
                </a:p>
              </p:txBody>
            </p:sp>
            <p:sp>
              <p:nvSpPr>
                <p:cNvPr id="15" name="Freeform 15"/>
                <p:cNvSpPr/>
                <p:nvPr/>
              </p:nvSpPr>
              <p:spPr>
                <a:xfrm>
                  <a:off x="835819" y="2197894"/>
                  <a:ext cx="142875" cy="71438"/>
                </a:xfrm>
                <a:custGeom>
                  <a:avLst/>
                  <a:gdLst/>
                  <a:ahLst/>
                  <a:cxnLst/>
                  <a:rect l="l" t="t" r="r" b="b"/>
                  <a:pathLst>
                    <a:path w="142875" h="71438">
                      <a:moveTo>
                        <a:pt x="0" y="71438"/>
                      </a:moveTo>
                      <a:lnTo>
                        <a:pt x="0" y="47625"/>
                      </a:lnTo>
                      <a:cubicBezTo>
                        <a:pt x="0" y="21322"/>
                        <a:pt x="21322" y="0"/>
                        <a:pt x="47625" y="0"/>
                      </a:cubicBezTo>
                      <a:lnTo>
                        <a:pt x="95250" y="0"/>
                      </a:lnTo>
                      <a:cubicBezTo>
                        <a:pt x="121553" y="0"/>
                        <a:pt x="142875" y="21322"/>
                        <a:pt x="142875" y="47625"/>
                      </a:cubicBezTo>
                      <a:lnTo>
                        <a:pt x="142875" y="71438"/>
                      </a:lnTo>
                    </a:path>
                  </a:pathLst>
                </a:custGeom>
                <a:noFill/>
                <a:ln w="19050">
                  <a:solidFill>
                    <a:srgbClr val="1B3A5B"/>
                  </a:solidFill>
                </a:ln>
              </p:spPr>
              <p:txBody>
                <a:bodyPr/>
                <a:lstStyle/>
                <a:p>
                  <a:endParaRPr lang="zh-CN" altLang="en-US"/>
                </a:p>
              </p:txBody>
            </p:sp>
            <p:sp>
              <p:nvSpPr>
                <p:cNvPr id="16" name="Freeform 16"/>
                <p:cNvSpPr/>
                <p:nvPr/>
              </p:nvSpPr>
              <p:spPr>
                <a:xfrm>
                  <a:off x="990600" y="2056567"/>
                  <a:ext cx="35812" cy="92273"/>
                </a:xfrm>
                <a:custGeom>
                  <a:avLst/>
                  <a:gdLst/>
                  <a:ahLst/>
                  <a:cxnLst/>
                  <a:rect l="l" t="t" r="r" b="b"/>
                  <a:pathLst>
                    <a:path w="35812" h="92273">
                      <a:moveTo>
                        <a:pt x="0" y="0"/>
                      </a:moveTo>
                      <a:cubicBezTo>
                        <a:pt x="21073" y="5396"/>
                        <a:pt x="35812" y="24384"/>
                        <a:pt x="35812" y="46137"/>
                      </a:cubicBezTo>
                      <a:cubicBezTo>
                        <a:pt x="35812" y="67890"/>
                        <a:pt x="21073" y="86878"/>
                        <a:pt x="0" y="92273"/>
                      </a:cubicBezTo>
                    </a:path>
                  </a:pathLst>
                </a:custGeom>
                <a:noFill/>
                <a:ln w="19050">
                  <a:solidFill>
                    <a:srgbClr val="1B3A5B"/>
                  </a:solidFill>
                </a:ln>
              </p:spPr>
              <p:txBody>
                <a:bodyPr/>
                <a:lstStyle/>
                <a:p>
                  <a:endParaRPr lang="zh-CN" altLang="en-US"/>
                </a:p>
              </p:txBody>
            </p:sp>
            <p:sp>
              <p:nvSpPr>
                <p:cNvPr id="17" name="Freeform 17"/>
                <p:cNvSpPr/>
                <p:nvPr/>
              </p:nvSpPr>
              <p:spPr>
                <a:xfrm>
                  <a:off x="1014413" y="2199680"/>
                  <a:ext cx="35719" cy="69652"/>
                </a:xfrm>
                <a:custGeom>
                  <a:avLst/>
                  <a:gdLst/>
                  <a:ahLst/>
                  <a:cxnLst/>
                  <a:rect l="l" t="t" r="r" b="b"/>
                  <a:pathLst>
                    <a:path w="35719" h="69652">
                      <a:moveTo>
                        <a:pt x="35719" y="69652"/>
                      </a:moveTo>
                      <a:lnTo>
                        <a:pt x="35719" y="45839"/>
                      </a:lnTo>
                      <a:cubicBezTo>
                        <a:pt x="35594" y="24224"/>
                        <a:pt x="20929" y="5403"/>
                        <a:pt x="0" y="0"/>
                      </a:cubicBezTo>
                    </a:path>
                  </a:pathLst>
                </a:custGeom>
                <a:noFill/>
                <a:ln w="19050">
                  <a:solidFill>
                    <a:srgbClr val="1B3A5B"/>
                  </a:solidFill>
                </a:ln>
              </p:spPr>
              <p:txBody>
                <a:bodyPr/>
                <a:lstStyle/>
                <a:p>
                  <a:endParaRPr lang="zh-CN" altLang="en-US"/>
                </a:p>
              </p:txBody>
            </p:sp>
          </p:grpSp>
          <p:sp>
            <p:nvSpPr>
              <p:cNvPr id="19" name="TextBox 19"/>
              <p:cNvSpPr txBox="1"/>
              <p:nvPr/>
            </p:nvSpPr>
            <p:spPr>
              <a:xfrm>
                <a:off x="1184910" y="2023110"/>
                <a:ext cx="299314" cy="243840"/>
              </a:xfrm>
              <a:prstGeom prst="rect">
                <a:avLst/>
              </a:prstGeom>
              <a:noFill/>
              <a:ln>
                <a:noFill/>
              </a:ln>
            </p:spPr>
            <p:txBody>
              <a:bodyPr wrap="none" lIns="0" tIns="0" rIns="0" bIns="0" anchor="t" anchorCtr="0">
                <a:spAutoFit/>
              </a:bodyPr>
              <a:lstStyle/>
              <a:p>
                <a:pPr algn="l"/>
                <a:r>
                  <a:rPr lang="en-US" sz="1200" b="1" dirty="0">
                    <a:solidFill>
                      <a:srgbClr val="C8A24B"/>
                    </a:solidFill>
                    <a:latin typeface="Consolas"/>
                    <a:ea typeface="Consolas"/>
                    <a:cs typeface="Consolas"/>
                  </a:rPr>
                  <a:t>w_i</a:t>
                </a:r>
              </a:p>
            </p:txBody>
          </p:sp>
          <p:sp>
            <p:nvSpPr>
              <p:cNvPr id="20" name="TextBox 20"/>
              <p:cNvSpPr txBox="1"/>
              <p:nvPr/>
            </p:nvSpPr>
            <p:spPr>
              <a:xfrm>
                <a:off x="784860" y="2404110"/>
                <a:ext cx="820738" cy="246221"/>
              </a:xfrm>
              <a:prstGeom prst="rect">
                <a:avLst/>
              </a:prstGeom>
              <a:noFill/>
              <a:ln>
                <a:noFill/>
              </a:ln>
            </p:spPr>
            <p:txBody>
              <a:bodyPr wrap="none" lIns="0" tIns="0" rIns="0" bIns="0" anchor="t" anchorCtr="0">
                <a:spAutoFit/>
              </a:bodyPr>
              <a:lstStyle/>
              <a:p>
                <a:pPr algn="l"/>
                <a:r>
                  <a:rPr lang="zh-CN" sz="1600" b="1" dirty="0">
                    <a:solidFill>
                      <a:srgbClr val="1B3A5B"/>
                    </a:solidFill>
                    <a:latin typeface="Arial" panose="020B0604020202090204"/>
                    <a:ea typeface="微软雅黑"/>
                    <a:cs typeface="Arial" panose="020B0604020202090204"/>
                  </a:rPr>
                  <a:t>兴趣匹配</a:t>
                </a:r>
              </a:p>
            </p:txBody>
          </p:sp>
        </p:grpSp>
        <p:grpSp>
          <p:nvGrpSpPr>
            <p:cNvPr id="26" name="Group 26"/>
            <p:cNvGrpSpPr/>
            <p:nvPr/>
          </p:nvGrpSpPr>
          <p:grpSpPr>
            <a:xfrm>
              <a:off x="3390900" y="1809750"/>
              <a:ext cx="2628900" cy="914400"/>
              <a:chOff x="3390900" y="1809750"/>
              <a:chExt cx="2628900" cy="914400"/>
            </a:xfrm>
          </p:grpSpPr>
          <p:sp>
            <p:nvSpPr>
              <p:cNvPr id="22" name="Rectangle 22"/>
              <p:cNvSpPr/>
              <p:nvPr/>
            </p:nvSpPr>
            <p:spPr>
              <a:xfrm>
                <a:off x="3390900" y="1809750"/>
                <a:ext cx="2628900" cy="914400"/>
              </a:xfrm>
              <a:prstGeom prst="roundRect">
                <a:avLst>
                  <a:gd name="adj" fmla="val 4167"/>
                </a:avLst>
              </a:prstGeom>
              <a:solidFill>
                <a:srgbClr val="FFFFFF"/>
              </a:solidFill>
              <a:ln w="9525">
                <a:solidFill>
                  <a:srgbClr val="D8D0C2"/>
                </a:solidFill>
              </a:ln>
            </p:spPr>
            <p:txBody>
              <a:bodyPr/>
              <a:lstStyle/>
              <a:p>
                <a:endParaRPr lang="zh-CN" altLang="en-US"/>
              </a:p>
            </p:txBody>
          </p:sp>
          <p:sp>
            <p:nvSpPr>
              <p:cNvPr id="23" name="Freeform 23"/>
              <p:cNvSpPr/>
              <p:nvPr/>
            </p:nvSpPr>
            <p:spPr>
              <a:xfrm>
                <a:off x="3640931" y="2043112"/>
                <a:ext cx="166688" cy="226219"/>
              </a:xfrm>
              <a:custGeom>
                <a:avLst/>
                <a:gdLst/>
                <a:ahLst/>
                <a:cxnLst/>
                <a:rect l="l" t="t" r="r" b="b"/>
                <a:pathLst>
                  <a:path w="166688" h="226219">
                    <a:moveTo>
                      <a:pt x="83344" y="106454"/>
                    </a:moveTo>
                    <a:cubicBezTo>
                      <a:pt x="111121" y="67068"/>
                      <a:pt x="85332" y="13311"/>
                      <a:pt x="71438" y="0"/>
                    </a:cubicBezTo>
                    <a:cubicBezTo>
                      <a:pt x="71438" y="40422"/>
                      <a:pt x="44827" y="63091"/>
                      <a:pt x="27777" y="79843"/>
                    </a:cubicBezTo>
                    <a:cubicBezTo>
                      <a:pt x="10751" y="96607"/>
                      <a:pt x="0" y="119062"/>
                      <a:pt x="0" y="146375"/>
                    </a:cubicBezTo>
                    <a:cubicBezTo>
                      <a:pt x="0" y="190476"/>
                      <a:pt x="37314" y="226219"/>
                      <a:pt x="83344" y="226219"/>
                    </a:cubicBezTo>
                    <a:cubicBezTo>
                      <a:pt x="129373" y="226219"/>
                      <a:pt x="166688" y="190476"/>
                      <a:pt x="166688" y="146375"/>
                    </a:cubicBezTo>
                    <a:cubicBezTo>
                      <a:pt x="166688" y="125992"/>
                      <a:pt x="152019" y="93952"/>
                      <a:pt x="138910" y="79843"/>
                    </a:cubicBezTo>
                    <a:cubicBezTo>
                      <a:pt x="114098" y="119765"/>
                      <a:pt x="100132" y="119765"/>
                      <a:pt x="83344" y="106454"/>
                    </a:cubicBezTo>
                  </a:path>
                </a:pathLst>
              </a:custGeom>
              <a:noFill/>
              <a:ln w="19050">
                <a:solidFill>
                  <a:srgbClr val="B24A38"/>
                </a:solidFill>
              </a:ln>
            </p:spPr>
            <p:txBody>
              <a:bodyPr/>
              <a:lstStyle/>
              <a:p>
                <a:endParaRPr lang="zh-CN" altLang="en-US"/>
              </a:p>
            </p:txBody>
          </p:sp>
          <p:sp>
            <p:nvSpPr>
              <p:cNvPr id="24" name="TextBox 24"/>
              <p:cNvSpPr txBox="1"/>
              <p:nvPr/>
            </p:nvSpPr>
            <p:spPr>
              <a:xfrm>
                <a:off x="3966210" y="2023110"/>
                <a:ext cx="526142" cy="243840"/>
              </a:xfrm>
              <a:prstGeom prst="rect">
                <a:avLst/>
              </a:prstGeom>
              <a:noFill/>
              <a:ln>
                <a:noFill/>
              </a:ln>
            </p:spPr>
            <p:txBody>
              <a:bodyPr wrap="none" lIns="0" tIns="0" rIns="0" bIns="0" anchor="t" anchorCtr="0">
                <a:spAutoFit/>
              </a:bodyPr>
              <a:lstStyle/>
              <a:p>
                <a:pPr algn="l"/>
                <a:r>
                  <a:rPr lang="en-US" sz="1200" b="1" dirty="0">
                    <a:solidFill>
                      <a:srgbClr val="C8A24B"/>
                    </a:solidFill>
                    <a:latin typeface="Consolas"/>
                    <a:ea typeface="Consolas"/>
                    <a:cs typeface="Consolas"/>
                  </a:rPr>
                  <a:t>w_pop</a:t>
                </a:r>
              </a:p>
            </p:txBody>
          </p:sp>
          <p:sp>
            <p:nvSpPr>
              <p:cNvPr id="25" name="TextBox 25"/>
              <p:cNvSpPr txBox="1"/>
              <p:nvPr/>
            </p:nvSpPr>
            <p:spPr>
              <a:xfrm>
                <a:off x="3566160" y="2404110"/>
                <a:ext cx="820738" cy="246221"/>
              </a:xfrm>
              <a:prstGeom prst="rect">
                <a:avLst/>
              </a:prstGeom>
              <a:noFill/>
              <a:ln>
                <a:noFill/>
              </a:ln>
            </p:spPr>
            <p:txBody>
              <a:bodyPr wrap="none" lIns="0" tIns="0" rIns="0" bIns="0" anchor="t" anchorCtr="0">
                <a:spAutoFit/>
              </a:bodyPr>
              <a:lstStyle/>
              <a:p>
                <a:pPr algn="l"/>
                <a:r>
                  <a:rPr lang="zh-CN" sz="1600" b="1" dirty="0">
                    <a:solidFill>
                      <a:srgbClr val="1B3A5B"/>
                    </a:solidFill>
                    <a:latin typeface="Arial" panose="020B0604020202090204"/>
                    <a:ea typeface="微软雅黑"/>
                    <a:cs typeface="Arial" panose="020B0604020202090204"/>
                  </a:rPr>
                  <a:t>内容热度</a:t>
                </a:r>
              </a:p>
            </p:txBody>
          </p:sp>
        </p:grpSp>
        <p:grpSp>
          <p:nvGrpSpPr>
            <p:cNvPr id="33" name="Group 33"/>
            <p:cNvGrpSpPr/>
            <p:nvPr/>
          </p:nvGrpSpPr>
          <p:grpSpPr>
            <a:xfrm>
              <a:off x="6172200" y="1809750"/>
              <a:ext cx="2628900" cy="914400"/>
              <a:chOff x="6172200" y="1809750"/>
              <a:chExt cx="2628900" cy="914400"/>
            </a:xfrm>
          </p:grpSpPr>
          <p:sp>
            <p:nvSpPr>
              <p:cNvPr id="27" name="Rectangle 27"/>
              <p:cNvSpPr/>
              <p:nvPr/>
            </p:nvSpPr>
            <p:spPr>
              <a:xfrm>
                <a:off x="6172200" y="1809750"/>
                <a:ext cx="2628900" cy="914400"/>
              </a:xfrm>
              <a:prstGeom prst="roundRect">
                <a:avLst>
                  <a:gd name="adj" fmla="val 4167"/>
                </a:avLst>
              </a:prstGeom>
              <a:solidFill>
                <a:srgbClr val="FFFFFF"/>
              </a:solidFill>
              <a:ln w="9525">
                <a:solidFill>
                  <a:srgbClr val="D8D0C2"/>
                </a:solidFill>
              </a:ln>
            </p:spPr>
            <p:txBody>
              <a:bodyPr/>
              <a:lstStyle/>
              <a:p>
                <a:endParaRPr lang="zh-CN" altLang="en-US"/>
              </a:p>
            </p:txBody>
          </p:sp>
          <p:grpSp>
            <p:nvGrpSpPr>
              <p:cNvPr id="30" name="Group 30"/>
              <p:cNvGrpSpPr/>
              <p:nvPr/>
            </p:nvGrpSpPr>
            <p:grpSpPr>
              <a:xfrm>
                <a:off x="6398419" y="2055019"/>
                <a:ext cx="214312" cy="214312"/>
                <a:chOff x="6398419" y="2055019"/>
                <a:chExt cx="214312" cy="214312"/>
              </a:xfrm>
            </p:grpSpPr>
            <p:sp>
              <p:nvSpPr>
                <p:cNvPr id="28" name="Freeform 28"/>
                <p:cNvSpPr/>
                <p:nvPr/>
              </p:nvSpPr>
              <p:spPr>
                <a:xfrm>
                  <a:off x="6398419" y="2055019"/>
                  <a:ext cx="214312" cy="214312"/>
                </a:xfrm>
                <a:custGeom>
                  <a:avLst/>
                  <a:gdLst/>
                  <a:ahLst/>
                  <a:cxnLst/>
                  <a:rect l="l" t="t" r="r" b="b"/>
                  <a:pathLst>
                    <a:path w="214312" h="214312">
                      <a:moveTo>
                        <a:pt x="0" y="107156"/>
                      </a:moveTo>
                      <a:cubicBezTo>
                        <a:pt x="0" y="166337"/>
                        <a:pt x="47975" y="214312"/>
                        <a:pt x="107156" y="214312"/>
                      </a:cubicBezTo>
                      <a:cubicBezTo>
                        <a:pt x="166337" y="214312"/>
                        <a:pt x="214312" y="166337"/>
                        <a:pt x="214312" y="107156"/>
                      </a:cubicBezTo>
                      <a:cubicBezTo>
                        <a:pt x="214312" y="47975"/>
                        <a:pt x="166337" y="0"/>
                        <a:pt x="107156" y="0"/>
                      </a:cubicBezTo>
                      <a:cubicBezTo>
                        <a:pt x="47975" y="0"/>
                        <a:pt x="0" y="47975"/>
                        <a:pt x="0" y="107156"/>
                      </a:cubicBezTo>
                    </a:path>
                  </a:pathLst>
                </a:custGeom>
                <a:noFill/>
                <a:ln w="19050">
                  <a:solidFill>
                    <a:srgbClr val="4A6B8A"/>
                  </a:solidFill>
                </a:ln>
              </p:spPr>
              <p:txBody>
                <a:bodyPr/>
                <a:lstStyle/>
                <a:p>
                  <a:endParaRPr lang="zh-CN" altLang="en-US"/>
                </a:p>
              </p:txBody>
            </p:sp>
            <p:sp>
              <p:nvSpPr>
                <p:cNvPr id="29" name="Freeform 29"/>
                <p:cNvSpPr/>
                <p:nvPr/>
              </p:nvSpPr>
              <p:spPr>
                <a:xfrm>
                  <a:off x="6505575" y="2102644"/>
                  <a:ext cx="35719" cy="95250"/>
                </a:xfrm>
                <a:custGeom>
                  <a:avLst/>
                  <a:gdLst/>
                  <a:ahLst/>
                  <a:cxnLst/>
                  <a:rect l="l" t="t" r="r" b="b"/>
                  <a:pathLst>
                    <a:path w="35719" h="95250">
                      <a:moveTo>
                        <a:pt x="0" y="0"/>
                      </a:moveTo>
                      <a:lnTo>
                        <a:pt x="0" y="59531"/>
                      </a:lnTo>
                      <a:lnTo>
                        <a:pt x="35719" y="95250"/>
                      </a:lnTo>
                    </a:path>
                  </a:pathLst>
                </a:custGeom>
                <a:noFill/>
                <a:ln w="19050">
                  <a:solidFill>
                    <a:srgbClr val="4A6B8A"/>
                  </a:solidFill>
                </a:ln>
              </p:spPr>
              <p:txBody>
                <a:bodyPr/>
                <a:lstStyle/>
                <a:p>
                  <a:endParaRPr lang="zh-CN" altLang="en-US"/>
                </a:p>
              </p:txBody>
            </p:sp>
          </p:grpSp>
          <p:sp>
            <p:nvSpPr>
              <p:cNvPr id="31" name="TextBox 31"/>
              <p:cNvSpPr txBox="1"/>
              <p:nvPr/>
            </p:nvSpPr>
            <p:spPr>
              <a:xfrm>
                <a:off x="6747510" y="2023110"/>
                <a:ext cx="610152" cy="243840"/>
              </a:xfrm>
              <a:prstGeom prst="rect">
                <a:avLst/>
              </a:prstGeom>
              <a:noFill/>
              <a:ln>
                <a:noFill/>
              </a:ln>
            </p:spPr>
            <p:txBody>
              <a:bodyPr wrap="none" lIns="0" tIns="0" rIns="0" bIns="0" anchor="t" anchorCtr="0">
                <a:spAutoFit/>
              </a:bodyPr>
              <a:lstStyle/>
              <a:p>
                <a:pPr algn="l"/>
                <a:r>
                  <a:rPr lang="en-US" sz="1200" b="1" dirty="0">
                    <a:solidFill>
                      <a:srgbClr val="C8A24B"/>
                    </a:solidFill>
                    <a:latin typeface="Consolas"/>
                    <a:ea typeface="Consolas"/>
                    <a:cs typeface="Consolas"/>
                  </a:rPr>
                  <a:t>w_time</a:t>
                </a:r>
              </a:p>
            </p:txBody>
          </p:sp>
          <p:sp>
            <p:nvSpPr>
              <p:cNvPr id="32" name="TextBox 32"/>
              <p:cNvSpPr txBox="1"/>
              <p:nvPr/>
            </p:nvSpPr>
            <p:spPr>
              <a:xfrm>
                <a:off x="6347460" y="2404110"/>
                <a:ext cx="820738" cy="246221"/>
              </a:xfrm>
              <a:prstGeom prst="rect">
                <a:avLst/>
              </a:prstGeom>
              <a:noFill/>
              <a:ln>
                <a:noFill/>
              </a:ln>
            </p:spPr>
            <p:txBody>
              <a:bodyPr wrap="none" lIns="0" tIns="0" rIns="0" bIns="0" anchor="t" anchorCtr="0">
                <a:spAutoFit/>
              </a:bodyPr>
              <a:lstStyle/>
              <a:p>
                <a:pPr algn="l"/>
                <a:r>
                  <a:rPr lang="zh-CN" sz="1600" b="1" dirty="0">
                    <a:solidFill>
                      <a:srgbClr val="1B3A5B"/>
                    </a:solidFill>
                    <a:latin typeface="Arial" panose="020B0604020202090204"/>
                    <a:ea typeface="微软雅黑"/>
                    <a:cs typeface="Arial" panose="020B0604020202090204"/>
                  </a:rPr>
                  <a:t>时间衰减</a:t>
                </a:r>
              </a:p>
            </p:txBody>
          </p:sp>
        </p:grpSp>
        <p:grpSp>
          <p:nvGrpSpPr>
            <p:cNvPr id="43" name="Group 43"/>
            <p:cNvGrpSpPr/>
            <p:nvPr/>
          </p:nvGrpSpPr>
          <p:grpSpPr>
            <a:xfrm>
              <a:off x="8953500" y="1809750"/>
              <a:ext cx="2628900" cy="914400"/>
              <a:chOff x="8953500" y="1809750"/>
              <a:chExt cx="2628900" cy="914400"/>
            </a:xfrm>
          </p:grpSpPr>
          <p:sp>
            <p:nvSpPr>
              <p:cNvPr id="34" name="Rectangle 34"/>
              <p:cNvSpPr/>
              <p:nvPr/>
            </p:nvSpPr>
            <p:spPr>
              <a:xfrm>
                <a:off x="8953500" y="1809750"/>
                <a:ext cx="2628900" cy="914400"/>
              </a:xfrm>
              <a:prstGeom prst="roundRect">
                <a:avLst>
                  <a:gd name="adj" fmla="val 4167"/>
                </a:avLst>
              </a:prstGeom>
              <a:solidFill>
                <a:srgbClr val="FFFFFF"/>
              </a:solidFill>
              <a:ln w="9525">
                <a:solidFill>
                  <a:srgbClr val="D8D0C2"/>
                </a:solidFill>
              </a:ln>
            </p:spPr>
            <p:txBody>
              <a:bodyPr/>
              <a:lstStyle/>
              <a:p>
                <a:endParaRPr lang="zh-CN" altLang="en-US"/>
              </a:p>
            </p:txBody>
          </p:sp>
          <p:grpSp>
            <p:nvGrpSpPr>
              <p:cNvPr id="40" name="Group 40"/>
              <p:cNvGrpSpPr/>
              <p:nvPr/>
            </p:nvGrpSpPr>
            <p:grpSpPr>
              <a:xfrm>
                <a:off x="9179719" y="2055019"/>
                <a:ext cx="214312" cy="214312"/>
                <a:chOff x="9179719" y="2055019"/>
                <a:chExt cx="214312" cy="214312"/>
              </a:xfrm>
            </p:grpSpPr>
            <p:sp>
              <p:nvSpPr>
                <p:cNvPr id="35" name="Freeform 35"/>
                <p:cNvSpPr/>
                <p:nvPr/>
              </p:nvSpPr>
              <p:spPr>
                <a:xfrm>
                  <a:off x="9179719" y="2055019"/>
                  <a:ext cx="214312" cy="214312"/>
                </a:xfrm>
                <a:custGeom>
                  <a:avLst/>
                  <a:gdLst/>
                  <a:ahLst/>
                  <a:cxnLst/>
                  <a:rect l="l" t="t" r="r" b="b"/>
                  <a:pathLst>
                    <a:path w="214312" h="214312">
                      <a:moveTo>
                        <a:pt x="0" y="23812"/>
                      </a:moveTo>
                      <a:cubicBezTo>
                        <a:pt x="0" y="10661"/>
                        <a:pt x="10661" y="0"/>
                        <a:pt x="23812" y="0"/>
                      </a:cubicBezTo>
                      <a:lnTo>
                        <a:pt x="190500" y="0"/>
                      </a:lnTo>
                      <a:cubicBezTo>
                        <a:pt x="203651" y="0"/>
                        <a:pt x="214312" y="10661"/>
                        <a:pt x="214312" y="23812"/>
                      </a:cubicBezTo>
                      <a:lnTo>
                        <a:pt x="214312" y="190500"/>
                      </a:lnTo>
                      <a:cubicBezTo>
                        <a:pt x="214312" y="203651"/>
                        <a:pt x="203651" y="214312"/>
                        <a:pt x="190500" y="214312"/>
                      </a:cubicBezTo>
                      <a:lnTo>
                        <a:pt x="23812" y="214312"/>
                      </a:lnTo>
                      <a:cubicBezTo>
                        <a:pt x="10661" y="214312"/>
                        <a:pt x="0" y="203651"/>
                        <a:pt x="0" y="190500"/>
                      </a:cubicBezTo>
                      <a:lnTo>
                        <a:pt x="0" y="23812"/>
                      </a:lnTo>
                    </a:path>
                  </a:pathLst>
                </a:custGeom>
                <a:noFill/>
                <a:ln w="19050">
                  <a:solidFill>
                    <a:srgbClr val="3C7A5A"/>
                  </a:solidFill>
                </a:ln>
              </p:spPr>
              <p:txBody>
                <a:bodyPr/>
                <a:lstStyle/>
                <a:p>
                  <a:endParaRPr lang="zh-CN" altLang="en-US"/>
                </a:p>
              </p:txBody>
            </p:sp>
            <p:sp>
              <p:nvSpPr>
                <p:cNvPr id="36" name="Freeform 36"/>
                <p:cNvSpPr/>
                <p:nvPr/>
              </p:nvSpPr>
              <p:spPr>
                <a:xfrm>
                  <a:off x="9239250" y="2114550"/>
                  <a:ext cx="11906" cy="11906"/>
                </a:xfrm>
                <a:custGeom>
                  <a:avLst/>
                  <a:gdLst/>
                  <a:ahLst/>
                  <a:cxnLst/>
                  <a:rect l="l" t="t" r="r" b="b"/>
                  <a:pathLst>
                    <a:path w="11906" h="11906">
                      <a:moveTo>
                        <a:pt x="0" y="5953"/>
                      </a:moveTo>
                      <a:cubicBezTo>
                        <a:pt x="0" y="9241"/>
                        <a:pt x="2665" y="11906"/>
                        <a:pt x="5953" y="11906"/>
                      </a:cubicBezTo>
                      <a:cubicBezTo>
                        <a:pt x="9241" y="11906"/>
                        <a:pt x="11906" y="9241"/>
                        <a:pt x="11906" y="5953"/>
                      </a:cubicBezTo>
                      <a:cubicBezTo>
                        <a:pt x="11906" y="2665"/>
                        <a:pt x="9241" y="0"/>
                        <a:pt x="5953" y="0"/>
                      </a:cubicBezTo>
                      <a:cubicBezTo>
                        <a:pt x="2665" y="0"/>
                        <a:pt x="0" y="2665"/>
                        <a:pt x="0" y="5953"/>
                      </a:cubicBezTo>
                    </a:path>
                  </a:pathLst>
                </a:custGeom>
                <a:noFill/>
                <a:ln w="19050">
                  <a:solidFill>
                    <a:srgbClr val="3C7A5A"/>
                  </a:solidFill>
                </a:ln>
              </p:spPr>
              <p:txBody>
                <a:bodyPr/>
                <a:lstStyle/>
                <a:p>
                  <a:endParaRPr lang="zh-CN" altLang="en-US"/>
                </a:p>
              </p:txBody>
            </p:sp>
            <p:sp>
              <p:nvSpPr>
                <p:cNvPr id="37" name="Freeform 37"/>
                <p:cNvSpPr/>
                <p:nvPr/>
              </p:nvSpPr>
              <p:spPr>
                <a:xfrm>
                  <a:off x="9322594" y="2114550"/>
                  <a:ext cx="11906" cy="11906"/>
                </a:xfrm>
                <a:custGeom>
                  <a:avLst/>
                  <a:gdLst/>
                  <a:ahLst/>
                  <a:cxnLst/>
                  <a:rect l="l" t="t" r="r" b="b"/>
                  <a:pathLst>
                    <a:path w="11906" h="11906">
                      <a:moveTo>
                        <a:pt x="0" y="5953"/>
                      </a:moveTo>
                      <a:cubicBezTo>
                        <a:pt x="0" y="9241"/>
                        <a:pt x="2665" y="11906"/>
                        <a:pt x="5953" y="11906"/>
                      </a:cubicBezTo>
                      <a:cubicBezTo>
                        <a:pt x="9241" y="11906"/>
                        <a:pt x="11906" y="9241"/>
                        <a:pt x="11906" y="5953"/>
                      </a:cubicBezTo>
                      <a:cubicBezTo>
                        <a:pt x="11906" y="2665"/>
                        <a:pt x="9241" y="0"/>
                        <a:pt x="5953" y="0"/>
                      </a:cubicBezTo>
                      <a:cubicBezTo>
                        <a:pt x="2665" y="0"/>
                        <a:pt x="0" y="2665"/>
                        <a:pt x="0" y="5953"/>
                      </a:cubicBezTo>
                    </a:path>
                  </a:pathLst>
                </a:custGeom>
                <a:noFill/>
                <a:ln w="19050">
                  <a:solidFill>
                    <a:srgbClr val="3C7A5A"/>
                  </a:solidFill>
                </a:ln>
              </p:spPr>
              <p:txBody>
                <a:bodyPr/>
                <a:lstStyle/>
                <a:p>
                  <a:endParaRPr lang="zh-CN" altLang="en-US"/>
                </a:p>
              </p:txBody>
            </p:sp>
            <p:sp>
              <p:nvSpPr>
                <p:cNvPr id="38" name="Freeform 38"/>
                <p:cNvSpPr/>
                <p:nvPr/>
              </p:nvSpPr>
              <p:spPr>
                <a:xfrm>
                  <a:off x="9322594" y="2197894"/>
                  <a:ext cx="11906" cy="11906"/>
                </a:xfrm>
                <a:custGeom>
                  <a:avLst/>
                  <a:gdLst/>
                  <a:ahLst/>
                  <a:cxnLst/>
                  <a:rect l="l" t="t" r="r" b="b"/>
                  <a:pathLst>
                    <a:path w="11906" h="11906">
                      <a:moveTo>
                        <a:pt x="0" y="5953"/>
                      </a:moveTo>
                      <a:cubicBezTo>
                        <a:pt x="0" y="9241"/>
                        <a:pt x="2665" y="11906"/>
                        <a:pt x="5953" y="11906"/>
                      </a:cubicBezTo>
                      <a:cubicBezTo>
                        <a:pt x="9241" y="11906"/>
                        <a:pt x="11906" y="9241"/>
                        <a:pt x="11906" y="5953"/>
                      </a:cubicBezTo>
                      <a:cubicBezTo>
                        <a:pt x="11906" y="2665"/>
                        <a:pt x="9241" y="0"/>
                        <a:pt x="5953" y="0"/>
                      </a:cubicBezTo>
                      <a:cubicBezTo>
                        <a:pt x="2665" y="0"/>
                        <a:pt x="0" y="2665"/>
                        <a:pt x="0" y="5953"/>
                      </a:cubicBezTo>
                    </a:path>
                  </a:pathLst>
                </a:custGeom>
                <a:noFill/>
                <a:ln w="19050">
                  <a:solidFill>
                    <a:srgbClr val="3C7A5A"/>
                  </a:solidFill>
                </a:ln>
              </p:spPr>
              <p:txBody>
                <a:bodyPr/>
                <a:lstStyle/>
                <a:p>
                  <a:endParaRPr lang="zh-CN" altLang="en-US"/>
                </a:p>
              </p:txBody>
            </p:sp>
            <p:sp>
              <p:nvSpPr>
                <p:cNvPr id="39" name="Freeform 39"/>
                <p:cNvSpPr/>
                <p:nvPr/>
              </p:nvSpPr>
              <p:spPr>
                <a:xfrm>
                  <a:off x="9239250" y="2197894"/>
                  <a:ext cx="11906" cy="11906"/>
                </a:xfrm>
                <a:custGeom>
                  <a:avLst/>
                  <a:gdLst/>
                  <a:ahLst/>
                  <a:cxnLst/>
                  <a:rect l="l" t="t" r="r" b="b"/>
                  <a:pathLst>
                    <a:path w="11906" h="11906">
                      <a:moveTo>
                        <a:pt x="0" y="5953"/>
                      </a:moveTo>
                      <a:cubicBezTo>
                        <a:pt x="0" y="9241"/>
                        <a:pt x="2665" y="11906"/>
                        <a:pt x="5953" y="11906"/>
                      </a:cubicBezTo>
                      <a:cubicBezTo>
                        <a:pt x="9241" y="11906"/>
                        <a:pt x="11906" y="9241"/>
                        <a:pt x="11906" y="5953"/>
                      </a:cubicBezTo>
                      <a:cubicBezTo>
                        <a:pt x="11906" y="2665"/>
                        <a:pt x="9241" y="0"/>
                        <a:pt x="5953" y="0"/>
                      </a:cubicBezTo>
                      <a:cubicBezTo>
                        <a:pt x="2665" y="0"/>
                        <a:pt x="0" y="2665"/>
                        <a:pt x="0" y="5953"/>
                      </a:cubicBezTo>
                    </a:path>
                  </a:pathLst>
                </a:custGeom>
                <a:noFill/>
                <a:ln w="19050">
                  <a:solidFill>
                    <a:srgbClr val="3C7A5A"/>
                  </a:solidFill>
                </a:ln>
              </p:spPr>
              <p:txBody>
                <a:bodyPr/>
                <a:lstStyle/>
                <a:p>
                  <a:endParaRPr lang="zh-CN" altLang="en-US"/>
                </a:p>
              </p:txBody>
            </p:sp>
          </p:grpSp>
          <p:sp>
            <p:nvSpPr>
              <p:cNvPr id="41" name="TextBox 41"/>
              <p:cNvSpPr txBox="1"/>
              <p:nvPr/>
            </p:nvSpPr>
            <p:spPr>
              <a:xfrm>
                <a:off x="9528810" y="2023110"/>
                <a:ext cx="618554" cy="243840"/>
              </a:xfrm>
              <a:prstGeom prst="rect">
                <a:avLst/>
              </a:prstGeom>
              <a:noFill/>
              <a:ln>
                <a:noFill/>
              </a:ln>
            </p:spPr>
            <p:txBody>
              <a:bodyPr wrap="none" lIns="0" tIns="0" rIns="0" bIns="0" anchor="t" anchorCtr="0">
                <a:spAutoFit/>
              </a:bodyPr>
              <a:lstStyle/>
              <a:p>
                <a:pPr algn="l"/>
                <a:r>
                  <a:rPr lang="en-US" sz="1200" b="1" dirty="0">
                    <a:solidFill>
                      <a:srgbClr val="C8A24B"/>
                    </a:solidFill>
                    <a:latin typeface="Consolas"/>
                    <a:ea typeface="Consolas"/>
                    <a:cs typeface="Consolas"/>
                  </a:rPr>
                  <a:t>w_rand</a:t>
                </a:r>
              </a:p>
            </p:txBody>
          </p:sp>
          <p:sp>
            <p:nvSpPr>
              <p:cNvPr id="42" name="TextBox 42"/>
              <p:cNvSpPr txBox="1"/>
              <p:nvPr/>
            </p:nvSpPr>
            <p:spPr>
              <a:xfrm>
                <a:off x="9128760" y="2404110"/>
                <a:ext cx="820738" cy="246221"/>
              </a:xfrm>
              <a:prstGeom prst="rect">
                <a:avLst/>
              </a:prstGeom>
              <a:noFill/>
              <a:ln>
                <a:noFill/>
              </a:ln>
            </p:spPr>
            <p:txBody>
              <a:bodyPr wrap="none" lIns="0" tIns="0" rIns="0" bIns="0" anchor="t" anchorCtr="0">
                <a:spAutoFit/>
              </a:bodyPr>
              <a:lstStyle/>
              <a:p>
                <a:pPr algn="l"/>
                <a:r>
                  <a:rPr lang="zh-CN" sz="1600" b="1" dirty="0">
                    <a:solidFill>
                      <a:srgbClr val="1B3A5B"/>
                    </a:solidFill>
                    <a:latin typeface="Arial" panose="020B0604020202090204"/>
                    <a:ea typeface="微软雅黑"/>
                    <a:cs typeface="Arial" panose="020B0604020202090204"/>
                  </a:rPr>
                  <a:t>随机探索</a:t>
                </a:r>
              </a:p>
            </p:txBody>
          </p:sp>
        </p:grpSp>
      </p:grpSp>
      <p:grpSp>
        <p:nvGrpSpPr>
          <p:cNvPr id="56" name="Group 56"/>
          <p:cNvGrpSpPr/>
          <p:nvPr/>
        </p:nvGrpSpPr>
        <p:grpSpPr>
          <a:xfrm>
            <a:off x="609600" y="2876550"/>
            <a:ext cx="10972800" cy="2400300"/>
            <a:chOff x="609600" y="2876550"/>
            <a:chExt cx="10972800" cy="2400300"/>
          </a:xfrm>
        </p:grpSpPr>
        <p:sp>
          <p:nvSpPr>
            <p:cNvPr id="45" name="Rectangle 45"/>
            <p:cNvSpPr/>
            <p:nvPr/>
          </p:nvSpPr>
          <p:spPr>
            <a:xfrm>
              <a:off x="609600" y="2876550"/>
              <a:ext cx="6667500" cy="2400300"/>
            </a:xfrm>
            <a:prstGeom prst="roundRect">
              <a:avLst>
                <a:gd name="adj" fmla="val 1587"/>
              </a:avLst>
            </a:prstGeom>
            <a:solidFill>
              <a:srgbClr val="FFFFFF"/>
            </a:solidFill>
            <a:ln w="9525">
              <a:solidFill>
                <a:srgbClr val="D8D0C2"/>
              </a:solidFill>
            </a:ln>
          </p:spPr>
          <p:txBody>
            <a:bodyPr/>
            <a:lstStyle/>
            <a:p>
              <a:endParaRPr lang="zh-CN" altLang="en-US"/>
            </a:p>
          </p:txBody>
        </p:sp>
        <p:pic>
          <p:nvPicPr>
            <p:cNvPr id="46" name="Image 46"/>
            <p:cNvPicPr>
              <a:picLocks noChangeAspect="1"/>
            </p:cNvPicPr>
            <p:nvPr/>
          </p:nvPicPr>
          <p:blipFill>
            <a:blip>
              <a:extLst>
                <a:ext uri="{96DAC541-7B7A-43D3-8B79-37D633B846F1}">
                  <asvg:svgBlip xmlns:asvg="http://schemas.microsoft.com/office/drawing/2016/SVG/main" r:embed="rId3"/>
                </a:ext>
              </a:extLst>
            </a:blip>
            <a:srcRect/>
            <a:stretch>
              <a:fillRect/>
            </a:stretch>
          </p:blipFill>
          <p:spPr>
            <a:xfrm>
              <a:off x="828630" y="3122631"/>
              <a:ext cx="6275159" cy="1957667"/>
            </a:xfrm>
            <a:prstGeom prst="rect">
              <a:avLst/>
            </a:prstGeom>
          </p:spPr>
        </p:pic>
        <p:sp>
          <p:nvSpPr>
            <p:cNvPr id="48" name="Rectangle 48"/>
            <p:cNvSpPr/>
            <p:nvPr/>
          </p:nvSpPr>
          <p:spPr>
            <a:xfrm>
              <a:off x="7429500" y="2876550"/>
              <a:ext cx="4152900" cy="2400300"/>
            </a:xfrm>
            <a:prstGeom prst="roundRect">
              <a:avLst>
                <a:gd name="adj" fmla="val 1587"/>
              </a:avLst>
            </a:prstGeom>
            <a:solidFill>
              <a:srgbClr val="F1ECE3"/>
            </a:solidFill>
            <a:ln>
              <a:noFill/>
            </a:ln>
          </p:spPr>
          <p:txBody>
            <a:bodyPr/>
            <a:lstStyle/>
            <a:p>
              <a:endParaRPr lang="zh-CN" altLang="en-US"/>
            </a:p>
          </p:txBody>
        </p:sp>
        <p:sp>
          <p:nvSpPr>
            <p:cNvPr id="49" name="TextBox 49"/>
            <p:cNvSpPr txBox="1"/>
            <p:nvPr/>
          </p:nvSpPr>
          <p:spPr>
            <a:xfrm>
              <a:off x="7640955" y="3073718"/>
              <a:ext cx="2321148" cy="276999"/>
            </a:xfrm>
            <a:prstGeom prst="rect">
              <a:avLst/>
            </a:prstGeom>
            <a:noFill/>
            <a:ln>
              <a:noFill/>
            </a:ln>
          </p:spPr>
          <p:txBody>
            <a:bodyPr wrap="none" lIns="0" tIns="0" rIns="0" bIns="0" anchor="t" anchorCtr="0">
              <a:spAutoFit/>
            </a:bodyPr>
            <a:lstStyle/>
            <a:p>
              <a:pPr algn="l"/>
              <a:r>
                <a:rPr lang="en-US" b="1" dirty="0">
                  <a:solidFill>
                    <a:srgbClr val="1B3A5B"/>
                  </a:solidFill>
                  <a:latin typeface="Arial" panose="020B0604020202090204"/>
                  <a:ea typeface="Arial" panose="020B0604020202090204"/>
                  <a:cs typeface="Arial" panose="020B0604020202090204"/>
                </a:rPr>
                <a:t>EMCalibrationEngine</a:t>
              </a:r>
            </a:p>
          </p:txBody>
        </p:sp>
        <p:sp>
          <p:nvSpPr>
            <p:cNvPr id="50" name="Rectangle 50"/>
            <p:cNvSpPr/>
            <p:nvPr/>
          </p:nvSpPr>
          <p:spPr>
            <a:xfrm>
              <a:off x="7658100" y="3409950"/>
              <a:ext cx="3695700" cy="19050"/>
            </a:xfrm>
            <a:prstGeom prst="rect">
              <a:avLst/>
            </a:prstGeom>
            <a:solidFill>
              <a:srgbClr val="D8D0C2"/>
            </a:solidFill>
            <a:ln>
              <a:noFill/>
            </a:ln>
          </p:spPr>
          <p:txBody>
            <a:bodyPr/>
            <a:lstStyle/>
            <a:p>
              <a:endParaRPr lang="zh-CN" altLang="en-US"/>
            </a:p>
          </p:txBody>
        </p:sp>
        <p:sp>
          <p:nvSpPr>
            <p:cNvPr id="51" name="TextBox 51"/>
            <p:cNvSpPr txBox="1"/>
            <p:nvPr/>
          </p:nvSpPr>
          <p:spPr>
            <a:xfrm>
              <a:off x="7643812" y="3612356"/>
              <a:ext cx="2212144" cy="246221"/>
            </a:xfrm>
            <a:prstGeom prst="rect">
              <a:avLst/>
            </a:prstGeom>
            <a:noFill/>
            <a:ln>
              <a:noFill/>
            </a:ln>
          </p:spPr>
          <p:txBody>
            <a:bodyPr wrap="none" lIns="0" tIns="0" rIns="0" bIns="0" anchor="t" anchorCtr="0">
              <a:spAutoFit/>
            </a:bodyPr>
            <a:lstStyle/>
            <a:p>
              <a:pPr algn="l"/>
              <a:r>
                <a:rPr lang="zh-CN" sz="1600" b="1" dirty="0">
                  <a:solidFill>
                    <a:srgbClr val="C8A24B"/>
                  </a:solidFill>
                  <a:latin typeface="Arial" panose="020B0604020202090204"/>
                  <a:ea typeface="微软雅黑"/>
                  <a:cs typeface="Arial" panose="020B0604020202090204"/>
                </a:rPr>
                <a:t>E 步</a:t>
              </a:r>
              <a:r>
                <a:rPr lang="zh-CN" sz="1600" dirty="0">
                  <a:solidFill>
                    <a:srgbClr val="2B2B2B"/>
                  </a:solidFill>
                  <a:latin typeface="Arial" panose="020B0604020202090204"/>
                  <a:ea typeface="微软雅黑"/>
                  <a:cs typeface="Arial" panose="020B0604020202090204"/>
                </a:rPr>
                <a:t> 搜索内容级 p_base</a:t>
              </a:r>
            </a:p>
          </p:txBody>
        </p:sp>
        <p:sp>
          <p:nvSpPr>
            <p:cNvPr id="52" name="TextBox 52"/>
            <p:cNvSpPr txBox="1"/>
            <p:nvPr/>
          </p:nvSpPr>
          <p:spPr>
            <a:xfrm>
              <a:off x="7643812" y="3974306"/>
              <a:ext cx="2725105" cy="246221"/>
            </a:xfrm>
            <a:prstGeom prst="rect">
              <a:avLst/>
            </a:prstGeom>
            <a:noFill/>
            <a:ln>
              <a:noFill/>
            </a:ln>
          </p:spPr>
          <p:txBody>
            <a:bodyPr wrap="none" lIns="0" tIns="0" rIns="0" bIns="0" anchor="t" anchorCtr="0">
              <a:spAutoFit/>
            </a:bodyPr>
            <a:lstStyle/>
            <a:p>
              <a:pPr algn="l"/>
              <a:r>
                <a:rPr lang="zh-CN" sz="1600" b="1" dirty="0">
                  <a:solidFill>
                    <a:srgbClr val="C8A24B"/>
                  </a:solidFill>
                  <a:latin typeface="Arial" panose="020B0604020202090204"/>
                  <a:ea typeface="微软雅黑"/>
                  <a:cs typeface="Arial" panose="020B0604020202090204"/>
                </a:rPr>
                <a:t>M 步</a:t>
              </a:r>
              <a:r>
                <a:rPr lang="zh-CN" sz="1600" dirty="0">
                  <a:solidFill>
                    <a:srgbClr val="2B2B2B"/>
                  </a:solidFill>
                  <a:latin typeface="Arial" panose="020B0604020202090204"/>
                  <a:ea typeface="微软雅黑"/>
                  <a:cs typeface="Arial" panose="020B0604020202090204"/>
                </a:rPr>
                <a:t> Dirichlet 约束下联合搜索</a:t>
              </a:r>
            </a:p>
          </p:txBody>
        </p:sp>
        <p:sp>
          <p:nvSpPr>
            <p:cNvPr id="53" name="TextBox 53"/>
            <p:cNvSpPr txBox="1"/>
            <p:nvPr/>
          </p:nvSpPr>
          <p:spPr>
            <a:xfrm>
              <a:off x="7643812" y="4221956"/>
              <a:ext cx="2415726"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推荐权重与 decay_lambda</a:t>
              </a:r>
            </a:p>
          </p:txBody>
        </p:sp>
        <p:sp>
          <p:nvSpPr>
            <p:cNvPr id="54" name="TextBox 54"/>
            <p:cNvSpPr txBox="1"/>
            <p:nvPr/>
          </p:nvSpPr>
          <p:spPr>
            <a:xfrm>
              <a:off x="7643812" y="4698206"/>
              <a:ext cx="2667397"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推荐可见概率由四类分数</a:t>
              </a:r>
              <a:r>
                <a:rPr lang="zh-CN" sz="1600" b="1" dirty="0">
                  <a:solidFill>
                    <a:srgbClr val="1B3A5B"/>
                  </a:solidFill>
                  <a:latin typeface="Arial" panose="020B0604020202090204"/>
                  <a:ea typeface="微软雅黑"/>
                  <a:cs typeface="Arial" panose="020B0604020202090204"/>
                </a:rPr>
                <a:t>加权</a:t>
              </a:r>
            </a:p>
          </p:txBody>
        </p:sp>
        <p:sp>
          <p:nvSpPr>
            <p:cNvPr id="55" name="TextBox 55"/>
            <p:cNvSpPr txBox="1"/>
            <p:nvPr/>
          </p:nvSpPr>
          <p:spPr>
            <a:xfrm>
              <a:off x="7643812" y="4945856"/>
              <a:ext cx="2462213"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得到，拟合真实传播结果。</a:t>
              </a:r>
            </a:p>
          </p:txBody>
        </p:sp>
      </p:grpSp>
      <p:grpSp>
        <p:nvGrpSpPr>
          <p:cNvPr id="61" name="Group 61"/>
          <p:cNvGrpSpPr/>
          <p:nvPr/>
        </p:nvGrpSpPr>
        <p:grpSpPr>
          <a:xfrm>
            <a:off x="609600" y="5429250"/>
            <a:ext cx="10972800" cy="628650"/>
            <a:chOff x="609600" y="5429250"/>
            <a:chExt cx="10972800" cy="628650"/>
          </a:xfrm>
        </p:grpSpPr>
        <p:sp>
          <p:nvSpPr>
            <p:cNvPr id="57" name="Rectangle 57"/>
            <p:cNvSpPr/>
            <p:nvPr/>
          </p:nvSpPr>
          <p:spPr>
            <a:xfrm>
              <a:off x="609600" y="5429250"/>
              <a:ext cx="10972800" cy="628650"/>
            </a:xfrm>
            <a:prstGeom prst="roundRect">
              <a:avLst>
                <a:gd name="adj" fmla="val 6061"/>
              </a:avLst>
            </a:prstGeom>
            <a:solidFill>
              <a:srgbClr val="1B3A5B"/>
            </a:solidFill>
            <a:ln>
              <a:noFill/>
            </a:ln>
          </p:spPr>
          <p:txBody>
            <a:bodyPr/>
            <a:lstStyle/>
            <a:p>
              <a:endParaRPr lang="zh-CN" altLang="en-US"/>
            </a:p>
          </p:txBody>
        </p:sp>
        <p:sp>
          <p:nvSpPr>
            <p:cNvPr id="58" name="Rectangle 58"/>
            <p:cNvSpPr/>
            <p:nvPr/>
          </p:nvSpPr>
          <p:spPr>
            <a:xfrm>
              <a:off x="609600" y="5429250"/>
              <a:ext cx="57150" cy="628650"/>
            </a:xfrm>
            <a:prstGeom prst="rect">
              <a:avLst/>
            </a:prstGeom>
            <a:solidFill>
              <a:srgbClr val="C8A24B"/>
            </a:solidFill>
            <a:ln>
              <a:noFill/>
            </a:ln>
          </p:spPr>
          <p:txBody>
            <a:bodyPr/>
            <a:lstStyle/>
            <a:p>
              <a:endParaRPr lang="zh-CN" altLang="en-US"/>
            </a:p>
          </p:txBody>
        </p:sp>
        <p:sp>
          <p:nvSpPr>
            <p:cNvPr id="60" name="TextBox 60"/>
            <p:cNvSpPr txBox="1"/>
            <p:nvPr/>
          </p:nvSpPr>
          <p:spPr>
            <a:xfrm>
              <a:off x="876300" y="5638800"/>
              <a:ext cx="7232749" cy="276999"/>
            </a:xfrm>
            <a:prstGeom prst="rect">
              <a:avLst/>
            </a:prstGeom>
            <a:noFill/>
            <a:ln>
              <a:noFill/>
            </a:ln>
          </p:spPr>
          <p:txBody>
            <a:bodyPr wrap="none" lIns="0" tIns="0" rIns="0" bIns="0" anchor="t" anchorCtr="0">
              <a:spAutoFit/>
            </a:bodyPr>
            <a:lstStyle/>
            <a:p>
              <a:pPr algn="l"/>
              <a:r>
                <a:rPr lang="en-US" b="1" dirty="0">
                  <a:solidFill>
                    <a:srgbClr val="C8A24B"/>
                  </a:solidFill>
                  <a:latin typeface="Arial" panose="020B0604020202090204"/>
                  <a:ea typeface="Arial" panose="020B0604020202090204"/>
                  <a:cs typeface="Arial" panose="020B0604020202090204"/>
                </a:rPr>
                <a:t>calibration_profile.yaml</a:t>
              </a:r>
              <a:r>
                <a:rPr lang="zh-CN" dirty="0">
                  <a:solidFill>
                    <a:srgbClr val="FAF8F4"/>
                  </a:solidFill>
                  <a:latin typeface="Arial" panose="020B0604020202090204"/>
                  <a:ea typeface="微软雅黑"/>
                  <a:cs typeface="Arial" panose="020B0604020202090204"/>
                </a:rPr>
                <a:t>，供在线 SocialRecSys.configure 直接注入。</a:t>
              </a:r>
            </a:p>
          </p:txBody>
        </p:sp>
      </p:grpSp>
      <p:grpSp>
        <p:nvGrpSpPr>
          <p:cNvPr id="65" name="Group 65"/>
          <p:cNvGrpSpPr/>
          <p:nvPr/>
        </p:nvGrpSpPr>
        <p:grpSpPr>
          <a:xfrm>
            <a:off x="598170" y="6515100"/>
            <a:ext cx="10995661" cy="276225"/>
            <a:chOff x="598170" y="6515100"/>
            <a:chExt cx="10995661" cy="276225"/>
          </a:xfrm>
        </p:grpSpPr>
        <p:sp>
          <p:nvSpPr>
            <p:cNvPr id="62" name="Line 62"/>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63" name="TextBox 63"/>
            <p:cNvSpPr txBox="1"/>
            <p:nvPr/>
          </p:nvSpPr>
          <p:spPr>
            <a:xfrm>
              <a:off x="598170" y="6608445"/>
              <a:ext cx="1823085" cy="182880"/>
            </a:xfrm>
            <a:prstGeom prst="rect">
              <a:avLst/>
            </a:prstGeom>
            <a:noFill/>
            <a:ln>
              <a:noFill/>
            </a:ln>
          </p:spPr>
          <p:txBody>
            <a:bodyPr wrap="none" lIns="0" tIns="0" rIns="0" bIns="0" anchor="t" anchorCtr="0">
              <a:spAutoFit/>
            </a:bodyPr>
            <a:lstStyle/>
            <a:p>
              <a:pPr algn="l"/>
              <a:r>
                <a:rPr lang="zh-CN" sz="900" dirty="0">
                  <a:solidFill>
                    <a:srgbClr val="8C8C82"/>
                  </a:solidFill>
                  <a:latin typeface="Arial" panose="020B0604020202090204"/>
                  <a:ea typeface="微软雅黑"/>
                  <a:cs typeface="Arial" panose="020B0604020202090204"/>
                </a:rPr>
                <a:t>融合推荐机制校准的社交仿真平台</a:t>
              </a:r>
            </a:p>
          </p:txBody>
        </p:sp>
        <p:sp>
          <p:nvSpPr>
            <p:cNvPr id="64" name="TextBox 64"/>
            <p:cNvSpPr txBox="1"/>
            <p:nvPr/>
          </p:nvSpPr>
          <p:spPr>
            <a:xfrm>
              <a:off x="11438954" y="6608445"/>
              <a:ext cx="154877" cy="182880"/>
            </a:xfrm>
            <a:prstGeom prst="rect">
              <a:avLst/>
            </a:prstGeom>
            <a:noFill/>
            <a:ln>
              <a:noFill/>
            </a:ln>
          </p:spPr>
          <p:txBody>
            <a:bodyPr wrap="none" lIns="0" tIns="0" rIns="0" bIns="0" anchor="t" anchorCtr="0">
              <a:spAutoFit/>
            </a:bodyPr>
            <a:lstStyle/>
            <a:p>
              <a:pPr algn="r"/>
              <a:r>
                <a:rPr lang="en-US" sz="900" dirty="0">
                  <a:solidFill>
                    <a:srgbClr val="8C8C82"/>
                  </a:solidFill>
                  <a:latin typeface="Cambria"/>
                  <a:ea typeface="Cambria"/>
                  <a:cs typeface="Cambria"/>
                </a:rPr>
                <a:t>11</a:t>
              </a:r>
            </a:p>
          </p:txBody>
        </p:sp>
      </p:grpSp>
      <p:pic>
        <p:nvPicPr>
          <p:cNvPr id="66" name="Image 7"/>
          <p:cNvPicPr>
            <a:picLocks noChangeAspect="1"/>
          </p:cNvPicPr>
          <p:nvPr/>
        </p:nvPicPr>
        <p:blipFill>
          <a:blip r:embed="rId4"/>
          <a:stretch>
            <a:fillRect/>
          </a:stretch>
        </p:blipFill>
        <p:spPr>
          <a:xfrm>
            <a:off x="10919012" y="-13055"/>
            <a:ext cx="663388" cy="84676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0" y="0"/>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a:p>
          </p:txBody>
        </p:sp>
      </p:grpSp>
      <p:grpSp>
        <p:nvGrpSpPr>
          <p:cNvPr id="9" name="Group 9"/>
          <p:cNvGrpSpPr/>
          <p:nvPr/>
        </p:nvGrpSpPr>
        <p:grpSpPr>
          <a:xfrm>
            <a:off x="590550" y="523875"/>
            <a:ext cx="10991850" cy="400050"/>
            <a:chOff x="590550" y="523875"/>
            <a:chExt cx="10991850" cy="400050"/>
          </a:xfrm>
        </p:grpSpPr>
        <p:sp>
          <p:nvSpPr>
            <p:cNvPr id="6" name="TextBox 6"/>
            <p:cNvSpPr txBox="1"/>
            <p:nvPr/>
          </p:nvSpPr>
          <p:spPr>
            <a:xfrm>
              <a:off x="590550" y="523875"/>
              <a:ext cx="1802321" cy="304800"/>
            </a:xfrm>
            <a:prstGeom prst="rect">
              <a:avLst/>
            </a:prstGeom>
            <a:noFill/>
            <a:ln>
              <a:noFill/>
            </a:ln>
          </p:spPr>
          <p:txBody>
            <a:bodyPr wrap="none" lIns="0" tIns="0" rIns="0" bIns="0" anchor="t" anchorCtr="0">
              <a:spAutoFit/>
            </a:bodyPr>
            <a:lstStyle/>
            <a:p>
              <a:pPr algn="l"/>
              <a:r>
                <a:rPr lang="en-US" sz="1500" b="1" dirty="0">
                  <a:solidFill>
                    <a:srgbClr val="1B3A5B"/>
                  </a:solidFill>
                  <a:latin typeface="Cambria"/>
                  <a:ea typeface="Cambria"/>
                  <a:cs typeface="Cambria"/>
                </a:rPr>
                <a:t>04 </a:t>
              </a:r>
              <a:r>
                <a:rPr lang="zh-CN" sz="1200" b="1" dirty="0">
                  <a:solidFill>
                    <a:srgbClr val="5A5A52"/>
                  </a:solidFill>
                  <a:latin typeface="Arial" panose="020B0604020202090204"/>
                  <a:ea typeface="微软雅黑"/>
                  <a:cs typeface="Arial" panose="020B0604020202090204"/>
                </a:rPr>
                <a:t>技术路线与方案</a:t>
              </a:r>
            </a:p>
          </p:txBody>
        </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19050">
              <a:solidFill>
                <a:srgbClr val="1B3A5B"/>
              </a:solidFill>
            </a:ln>
          </p:spPr>
          <p:txBody>
            <a:bodyPr/>
            <a:lstStyle/>
            <a:p>
              <a:endParaRPr lang="zh-CN" altLang="en-US"/>
            </a:p>
          </p:txBody>
        </p:sp>
      </p:grpSp>
      <p:grpSp>
        <p:nvGrpSpPr>
          <p:cNvPr id="12" name="Group 12"/>
          <p:cNvGrpSpPr/>
          <p:nvPr/>
        </p:nvGrpSpPr>
        <p:grpSpPr>
          <a:xfrm>
            <a:off x="577215" y="1134428"/>
            <a:ext cx="4867275" cy="484822"/>
            <a:chOff x="577215" y="1134428"/>
            <a:chExt cx="4867275" cy="484822"/>
          </a:xfrm>
        </p:grpSpPr>
        <p:sp>
          <p:nvSpPr>
            <p:cNvPr id="10" name="TextBox 10"/>
            <p:cNvSpPr txBox="1"/>
            <p:nvPr/>
          </p:nvSpPr>
          <p:spPr>
            <a:xfrm>
              <a:off x="577215" y="1134428"/>
              <a:ext cx="4867275" cy="391795"/>
            </a:xfrm>
            <a:prstGeom prst="rect">
              <a:avLst/>
            </a:prstGeom>
            <a:noFill/>
            <a:ln>
              <a:noFill/>
            </a:ln>
          </p:spPr>
          <p:txBody>
            <a:bodyPr wrap="none" lIns="0" tIns="0" rIns="0" bIns="0" anchor="t" anchorCtr="0">
              <a:spAutoFit/>
            </a:bodyPr>
            <a:lstStyle/>
            <a:p>
              <a:pPr algn="l"/>
              <a:r>
                <a:rPr lang="zh-CN" sz="2550" b="1" dirty="0">
                  <a:solidFill>
                    <a:srgbClr val="1B3A5B"/>
                  </a:solidFill>
                  <a:latin typeface="Cambria"/>
                  <a:ea typeface="宋体"/>
                  <a:cs typeface="Cambria"/>
                </a:rPr>
                <a:t>研究内容三：在线模拟与验证方案</a:t>
              </a:r>
            </a:p>
          </p:txBody>
        </p:sp>
        <p:sp>
          <p:nvSpPr>
            <p:cNvPr id="11" name="Rectangle 11"/>
            <p:cNvSpPr/>
            <p:nvPr/>
          </p:nvSpPr>
          <p:spPr>
            <a:xfrm>
              <a:off x="609600" y="1581150"/>
              <a:ext cx="533400" cy="38100"/>
            </a:xfrm>
            <a:prstGeom prst="rect">
              <a:avLst/>
            </a:prstGeom>
            <a:solidFill>
              <a:srgbClr val="C8A24B"/>
            </a:solidFill>
            <a:ln>
              <a:noFill/>
            </a:ln>
          </p:spPr>
          <p:txBody>
            <a:bodyPr/>
            <a:lstStyle/>
            <a:p>
              <a:endParaRPr lang="zh-CN" altLang="en-US"/>
            </a:p>
          </p:txBody>
        </p:sp>
      </p:grpSp>
      <p:grpSp>
        <p:nvGrpSpPr>
          <p:cNvPr id="16" name="Group 16"/>
          <p:cNvGrpSpPr/>
          <p:nvPr/>
        </p:nvGrpSpPr>
        <p:grpSpPr>
          <a:xfrm>
            <a:off x="609600" y="1752600"/>
            <a:ext cx="10972800" cy="3295650"/>
            <a:chOff x="609600" y="1752600"/>
            <a:chExt cx="10972800" cy="3295650"/>
          </a:xfrm>
        </p:grpSpPr>
        <p:sp>
          <p:nvSpPr>
            <p:cNvPr id="13" name="Rectangle 13"/>
            <p:cNvSpPr/>
            <p:nvPr/>
          </p:nvSpPr>
          <p:spPr>
            <a:xfrm>
              <a:off x="609600" y="1752600"/>
              <a:ext cx="10972800" cy="3295650"/>
            </a:xfrm>
            <a:prstGeom prst="roundRect">
              <a:avLst>
                <a:gd name="adj" fmla="val 1156"/>
              </a:avLst>
            </a:prstGeom>
            <a:solidFill>
              <a:srgbClr val="FFFFFF"/>
            </a:solidFill>
            <a:ln w="9525">
              <a:solidFill>
                <a:srgbClr val="D8D0C2"/>
              </a:solidFill>
            </a:ln>
          </p:spPr>
          <p:txBody>
            <a:bodyPr/>
            <a:lstStyle/>
            <a:p>
              <a:endParaRPr lang="zh-CN" altLang="en-US"/>
            </a:p>
          </p:txBody>
        </p:sp>
        <p:pic>
          <p:nvPicPr>
            <p:cNvPr id="14" name="Image 14"/>
            <p:cNvPicPr>
              <a:picLocks noChangeAspect="1"/>
            </p:cNvPicPr>
            <p:nvPr/>
          </p:nvPicPr>
          <p:blipFill>
            <a:blip>
              <a:extLst>
                <a:ext uri="{96DAC541-7B7A-43D3-8B79-37D633B846F1}">
                  <asvg:svgBlip xmlns:asvg="http://schemas.microsoft.com/office/drawing/2016/SVG/main" r:embed="rId3"/>
                </a:ext>
              </a:extLst>
            </a:blip>
            <a:srcRect/>
            <a:stretch>
              <a:fillRect/>
            </a:stretch>
          </p:blipFill>
          <p:spPr>
            <a:xfrm>
              <a:off x="3270641" y="1776413"/>
              <a:ext cx="5650718" cy="3244193"/>
            </a:xfrm>
            <a:prstGeom prst="rect">
              <a:avLst/>
            </a:prstGeom>
          </p:spPr>
        </p:pic>
      </p:grpSp>
      <p:grpSp>
        <p:nvGrpSpPr>
          <p:cNvPr id="38" name="Group 38"/>
          <p:cNvGrpSpPr/>
          <p:nvPr/>
        </p:nvGrpSpPr>
        <p:grpSpPr>
          <a:xfrm>
            <a:off x="609600" y="5334000"/>
            <a:ext cx="10972800" cy="952500"/>
            <a:chOff x="609600" y="5334000"/>
            <a:chExt cx="10972800" cy="952500"/>
          </a:xfrm>
        </p:grpSpPr>
        <p:grpSp>
          <p:nvGrpSpPr>
            <p:cNvPr id="26" name="Group 26"/>
            <p:cNvGrpSpPr/>
            <p:nvPr/>
          </p:nvGrpSpPr>
          <p:grpSpPr>
            <a:xfrm>
              <a:off x="609600" y="5334000"/>
              <a:ext cx="5391150" cy="952500"/>
              <a:chOff x="609600" y="5334000"/>
              <a:chExt cx="5391150" cy="952500"/>
            </a:xfrm>
          </p:grpSpPr>
          <p:sp>
            <p:nvSpPr>
              <p:cNvPr id="17" name="Rectangle 17"/>
              <p:cNvSpPr/>
              <p:nvPr/>
            </p:nvSpPr>
            <p:spPr>
              <a:xfrm>
                <a:off x="609600" y="5334000"/>
                <a:ext cx="5391150" cy="952500"/>
              </a:xfrm>
              <a:prstGeom prst="roundRect">
                <a:avLst>
                  <a:gd name="adj" fmla="val 4000"/>
                </a:avLst>
              </a:prstGeom>
              <a:solidFill>
                <a:srgbClr val="F1ECE3"/>
              </a:solidFill>
              <a:ln>
                <a:noFill/>
              </a:ln>
            </p:spPr>
            <p:txBody>
              <a:bodyPr/>
              <a:lstStyle/>
              <a:p>
                <a:endParaRPr lang="zh-CN" altLang="en-US"/>
              </a:p>
            </p:txBody>
          </p:sp>
          <p:grpSp>
            <p:nvGrpSpPr>
              <p:cNvPr id="22" name="Group 22"/>
              <p:cNvGrpSpPr/>
              <p:nvPr/>
            </p:nvGrpSpPr>
            <p:grpSpPr>
              <a:xfrm>
                <a:off x="847725" y="5524500"/>
                <a:ext cx="171450" cy="152400"/>
                <a:chOff x="847725" y="5524500"/>
                <a:chExt cx="171450" cy="152400"/>
              </a:xfrm>
            </p:grpSpPr>
            <p:sp>
              <p:nvSpPr>
                <p:cNvPr id="18" name="Freeform 18"/>
                <p:cNvSpPr/>
                <p:nvPr/>
              </p:nvSpPr>
              <p:spPr>
                <a:xfrm>
                  <a:off x="847725" y="5524500"/>
                  <a:ext cx="171450" cy="76200"/>
                </a:xfrm>
                <a:custGeom>
                  <a:avLst/>
                  <a:gdLst/>
                  <a:ahLst/>
                  <a:cxnLst/>
                  <a:rect l="l" t="t" r="r" b="b"/>
                  <a:pathLst>
                    <a:path w="171450" h="76200">
                      <a:moveTo>
                        <a:pt x="0" y="28575"/>
                      </a:moveTo>
                      <a:cubicBezTo>
                        <a:pt x="0" y="12793"/>
                        <a:pt x="12793" y="0"/>
                        <a:pt x="28575" y="0"/>
                      </a:cubicBezTo>
                      <a:lnTo>
                        <a:pt x="142875" y="0"/>
                      </a:lnTo>
                      <a:cubicBezTo>
                        <a:pt x="158657" y="0"/>
                        <a:pt x="171450" y="12793"/>
                        <a:pt x="171450" y="28575"/>
                      </a:cubicBezTo>
                      <a:lnTo>
                        <a:pt x="171450" y="47625"/>
                      </a:lnTo>
                      <a:cubicBezTo>
                        <a:pt x="171450" y="63407"/>
                        <a:pt x="158657" y="76200"/>
                        <a:pt x="142875" y="76200"/>
                      </a:cubicBezTo>
                      <a:lnTo>
                        <a:pt x="28575" y="76200"/>
                      </a:lnTo>
                      <a:cubicBezTo>
                        <a:pt x="12793" y="76200"/>
                        <a:pt x="0" y="63407"/>
                        <a:pt x="0" y="47625"/>
                      </a:cubicBezTo>
                    </a:path>
                  </a:pathLst>
                </a:custGeom>
                <a:noFill/>
                <a:ln w="19050">
                  <a:solidFill>
                    <a:srgbClr val="4A6B8A"/>
                  </a:solidFill>
                </a:ln>
              </p:spPr>
              <p:txBody>
                <a:bodyPr/>
                <a:lstStyle/>
                <a:p>
                  <a:endParaRPr lang="zh-CN" altLang="en-US"/>
                </a:p>
              </p:txBody>
            </p:sp>
            <p:sp>
              <p:nvSpPr>
                <p:cNvPr id="19" name="Freeform 19"/>
                <p:cNvSpPr/>
                <p:nvPr/>
              </p:nvSpPr>
              <p:spPr>
                <a:xfrm>
                  <a:off x="847725" y="5600700"/>
                  <a:ext cx="171450" cy="76200"/>
                </a:xfrm>
                <a:custGeom>
                  <a:avLst/>
                  <a:gdLst/>
                  <a:ahLst/>
                  <a:cxnLst/>
                  <a:rect l="l" t="t" r="r" b="b"/>
                  <a:pathLst>
                    <a:path w="171450" h="76200">
                      <a:moveTo>
                        <a:pt x="0" y="28575"/>
                      </a:moveTo>
                      <a:cubicBezTo>
                        <a:pt x="0" y="12793"/>
                        <a:pt x="12793" y="0"/>
                        <a:pt x="28575" y="0"/>
                      </a:cubicBezTo>
                      <a:lnTo>
                        <a:pt x="142875" y="0"/>
                      </a:lnTo>
                      <a:cubicBezTo>
                        <a:pt x="158657" y="0"/>
                        <a:pt x="171450" y="12793"/>
                        <a:pt x="171450" y="28575"/>
                      </a:cubicBezTo>
                      <a:lnTo>
                        <a:pt x="171450" y="47625"/>
                      </a:lnTo>
                      <a:cubicBezTo>
                        <a:pt x="171450" y="63407"/>
                        <a:pt x="158657" y="76200"/>
                        <a:pt x="142875" y="76200"/>
                      </a:cubicBezTo>
                      <a:lnTo>
                        <a:pt x="28575" y="76200"/>
                      </a:lnTo>
                      <a:cubicBezTo>
                        <a:pt x="12793" y="76200"/>
                        <a:pt x="0" y="63407"/>
                        <a:pt x="0" y="47625"/>
                      </a:cubicBezTo>
                      <a:lnTo>
                        <a:pt x="0" y="28575"/>
                      </a:lnTo>
                    </a:path>
                  </a:pathLst>
                </a:custGeom>
                <a:noFill/>
                <a:ln w="19050">
                  <a:solidFill>
                    <a:srgbClr val="4A6B8A"/>
                  </a:solidFill>
                </a:ln>
              </p:spPr>
              <p:txBody>
                <a:bodyPr/>
                <a:lstStyle/>
                <a:p>
                  <a:endParaRPr lang="zh-CN" altLang="en-US"/>
                </a:p>
              </p:txBody>
            </p:sp>
            <p:sp>
              <p:nvSpPr>
                <p:cNvPr id="20" name="Freeform 20"/>
                <p:cNvSpPr/>
                <p:nvPr/>
              </p:nvSpPr>
              <p:spPr>
                <a:xfrm>
                  <a:off x="885825" y="5562600"/>
                  <a:ext cx="9525" cy="9525"/>
                </a:xfrm>
                <a:custGeom>
                  <a:avLst/>
                  <a:gdLst/>
                  <a:ahLst/>
                  <a:cxnLst/>
                  <a:rect l="l" t="t" r="r" b="b"/>
                  <a:pathLst>
                    <a:path w="9525" h="9525">
                      <a:moveTo>
                        <a:pt x="0" y="0"/>
                      </a:moveTo>
                      <a:lnTo>
                        <a:pt x="0" y="95"/>
                      </a:lnTo>
                    </a:path>
                  </a:pathLst>
                </a:custGeom>
                <a:noFill/>
                <a:ln w="19050">
                  <a:solidFill>
                    <a:srgbClr val="4A6B8A"/>
                  </a:solidFill>
                </a:ln>
              </p:spPr>
              <p:txBody>
                <a:bodyPr/>
                <a:lstStyle/>
                <a:p>
                  <a:endParaRPr lang="zh-CN" altLang="en-US"/>
                </a:p>
              </p:txBody>
            </p:sp>
            <p:sp>
              <p:nvSpPr>
                <p:cNvPr id="21" name="Freeform 21"/>
                <p:cNvSpPr/>
                <p:nvPr/>
              </p:nvSpPr>
              <p:spPr>
                <a:xfrm>
                  <a:off x="885825" y="5638800"/>
                  <a:ext cx="9525" cy="9525"/>
                </a:xfrm>
                <a:custGeom>
                  <a:avLst/>
                  <a:gdLst/>
                  <a:ahLst/>
                  <a:cxnLst/>
                  <a:rect l="l" t="t" r="r" b="b"/>
                  <a:pathLst>
                    <a:path w="9525" h="9525">
                      <a:moveTo>
                        <a:pt x="0" y="0"/>
                      </a:moveTo>
                      <a:lnTo>
                        <a:pt x="0" y="95"/>
                      </a:lnTo>
                    </a:path>
                  </a:pathLst>
                </a:custGeom>
                <a:noFill/>
                <a:ln w="19050">
                  <a:solidFill>
                    <a:srgbClr val="4A6B8A"/>
                  </a:solidFill>
                </a:ln>
              </p:spPr>
              <p:txBody>
                <a:bodyPr/>
                <a:lstStyle/>
                <a:p>
                  <a:endParaRPr lang="zh-CN" altLang="en-US"/>
                </a:p>
              </p:txBody>
            </p:sp>
          </p:grpSp>
          <p:sp>
            <p:nvSpPr>
              <p:cNvPr id="23" name="TextBox 23"/>
              <p:cNvSpPr txBox="1"/>
              <p:nvPr/>
            </p:nvSpPr>
            <p:spPr>
              <a:xfrm>
                <a:off x="1085850" y="5468679"/>
                <a:ext cx="1846659"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在线社交网络模拟</a:t>
                </a:r>
              </a:p>
            </p:txBody>
          </p:sp>
          <p:sp>
            <p:nvSpPr>
              <p:cNvPr id="24" name="TextBox 24"/>
              <p:cNvSpPr txBox="1"/>
              <p:nvPr/>
            </p:nvSpPr>
            <p:spPr>
              <a:xfrm>
                <a:off x="806768" y="5764455"/>
                <a:ext cx="4665123"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main.py 启动 </a:t>
                </a:r>
                <a:r>
                  <a:rPr lang="zh-CN" sz="1600" b="1" dirty="0">
                    <a:solidFill>
                      <a:srgbClr val="1B3A5B"/>
                    </a:solidFill>
                    <a:latin typeface="Arial" panose="020B0604020202090204"/>
                    <a:ea typeface="微软雅黑"/>
                    <a:cs typeface="Arial" panose="020B0604020202090204"/>
                  </a:rPr>
                  <a:t>Backend 与 Agent 双进程</a:t>
                </a:r>
                <a:r>
                  <a:rPr lang="zh-CN" sz="1600" dirty="0">
                    <a:solidFill>
                      <a:srgbClr val="2B2B2B"/>
                    </a:solidFill>
                    <a:latin typeface="Arial" panose="020B0604020202090204"/>
                    <a:ea typeface="微软雅黑"/>
                    <a:cs typeface="Arial" panose="020B0604020202090204"/>
                  </a:rPr>
                  <a:t>，Backend</a:t>
                </a:r>
              </a:p>
            </p:txBody>
          </p:sp>
          <p:sp>
            <p:nvSpPr>
              <p:cNvPr id="25" name="TextBox 25"/>
              <p:cNvSpPr txBox="1"/>
              <p:nvPr/>
            </p:nvSpPr>
            <p:spPr>
              <a:xfrm>
                <a:off x="805355" y="6034585"/>
                <a:ext cx="4457952"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负责 Feed 推荐与持久化，Agent 执行决策循环。</a:t>
                </a:r>
              </a:p>
            </p:txBody>
          </p:sp>
        </p:grpSp>
        <p:grpSp>
          <p:nvGrpSpPr>
            <p:cNvPr id="37" name="Group 37"/>
            <p:cNvGrpSpPr/>
            <p:nvPr/>
          </p:nvGrpSpPr>
          <p:grpSpPr>
            <a:xfrm>
              <a:off x="6191250" y="5334000"/>
              <a:ext cx="5391150" cy="952500"/>
              <a:chOff x="6191250" y="5334000"/>
              <a:chExt cx="5391150" cy="952500"/>
            </a:xfrm>
          </p:grpSpPr>
          <p:sp>
            <p:nvSpPr>
              <p:cNvPr id="27" name="Rectangle 27"/>
              <p:cNvSpPr/>
              <p:nvPr/>
            </p:nvSpPr>
            <p:spPr>
              <a:xfrm>
                <a:off x="6191250" y="5334000"/>
                <a:ext cx="5391150" cy="952500"/>
              </a:xfrm>
              <a:prstGeom prst="roundRect">
                <a:avLst>
                  <a:gd name="adj" fmla="val 4000"/>
                </a:avLst>
              </a:prstGeom>
              <a:solidFill>
                <a:srgbClr val="1B3A5B"/>
              </a:solidFill>
              <a:ln>
                <a:noFill/>
              </a:ln>
            </p:spPr>
            <p:txBody>
              <a:bodyPr/>
              <a:lstStyle/>
              <a:p>
                <a:endParaRPr lang="zh-CN" altLang="en-US"/>
              </a:p>
            </p:txBody>
          </p:sp>
          <p:sp>
            <p:nvSpPr>
              <p:cNvPr id="28" name="Rectangle 28"/>
              <p:cNvSpPr/>
              <p:nvPr/>
            </p:nvSpPr>
            <p:spPr>
              <a:xfrm>
                <a:off x="6191250" y="5334000"/>
                <a:ext cx="57150" cy="952500"/>
              </a:xfrm>
              <a:prstGeom prst="rect">
                <a:avLst/>
              </a:prstGeom>
              <a:solidFill>
                <a:srgbClr val="C8A24B"/>
              </a:solidFill>
              <a:ln>
                <a:noFill/>
              </a:ln>
            </p:spPr>
            <p:txBody>
              <a:bodyPr/>
              <a:lstStyle/>
              <a:p>
                <a:endParaRPr lang="zh-CN" altLang="en-US"/>
              </a:p>
            </p:txBody>
          </p:sp>
          <p:grpSp>
            <p:nvGrpSpPr>
              <p:cNvPr id="33" name="Group 33"/>
              <p:cNvGrpSpPr/>
              <p:nvPr/>
            </p:nvGrpSpPr>
            <p:grpSpPr>
              <a:xfrm>
                <a:off x="6505575" y="5524500"/>
                <a:ext cx="142875" cy="161925"/>
                <a:chOff x="6505575" y="5524500"/>
                <a:chExt cx="142875" cy="161925"/>
              </a:xfrm>
            </p:grpSpPr>
            <p:sp>
              <p:nvSpPr>
                <p:cNvPr id="29" name="Freeform 29"/>
                <p:cNvSpPr/>
                <p:nvPr/>
              </p:nvSpPr>
              <p:spPr>
                <a:xfrm>
                  <a:off x="6505575" y="5524500"/>
                  <a:ext cx="114300" cy="152400"/>
                </a:xfrm>
                <a:custGeom>
                  <a:avLst/>
                  <a:gdLst/>
                  <a:ahLst/>
                  <a:cxnLst/>
                  <a:rect l="l" t="t" r="r" b="b"/>
                  <a:pathLst>
                    <a:path w="114300" h="152400">
                      <a:moveTo>
                        <a:pt x="43958" y="152400"/>
                      </a:moveTo>
                      <a:lnTo>
                        <a:pt x="19050" y="152400"/>
                      </a:lnTo>
                      <a:cubicBezTo>
                        <a:pt x="8529" y="152400"/>
                        <a:pt x="0" y="143871"/>
                        <a:pt x="0" y="133350"/>
                      </a:cubicBezTo>
                      <a:lnTo>
                        <a:pt x="0" y="19050"/>
                      </a:lnTo>
                      <a:cubicBezTo>
                        <a:pt x="0" y="8529"/>
                        <a:pt x="8529" y="0"/>
                        <a:pt x="19050" y="0"/>
                      </a:cubicBezTo>
                      <a:lnTo>
                        <a:pt x="95250" y="0"/>
                      </a:lnTo>
                      <a:cubicBezTo>
                        <a:pt x="105771" y="0"/>
                        <a:pt x="114300" y="8529"/>
                        <a:pt x="114300" y="19050"/>
                      </a:cubicBezTo>
                      <a:lnTo>
                        <a:pt x="114300" y="95250"/>
                      </a:lnTo>
                    </a:path>
                  </a:pathLst>
                </a:custGeom>
                <a:noFill/>
                <a:ln w="19050">
                  <a:solidFill>
                    <a:srgbClr val="C8A24B"/>
                  </a:solidFill>
                </a:ln>
              </p:spPr>
              <p:txBody>
                <a:bodyPr/>
                <a:lstStyle/>
                <a:p>
                  <a:endParaRPr lang="zh-CN" altLang="en-US"/>
                </a:p>
              </p:txBody>
            </p:sp>
            <p:sp>
              <p:nvSpPr>
                <p:cNvPr id="30" name="Freeform 30"/>
                <p:cNvSpPr/>
                <p:nvPr/>
              </p:nvSpPr>
              <p:spPr>
                <a:xfrm>
                  <a:off x="6591300" y="5648325"/>
                  <a:ext cx="57150" cy="38100"/>
                </a:xfrm>
                <a:custGeom>
                  <a:avLst/>
                  <a:gdLst/>
                  <a:ahLst/>
                  <a:cxnLst/>
                  <a:rect l="l" t="t" r="r" b="b"/>
                  <a:pathLst>
                    <a:path w="57150" h="38100">
                      <a:moveTo>
                        <a:pt x="0" y="19050"/>
                      </a:moveTo>
                      <a:lnTo>
                        <a:pt x="19050" y="38100"/>
                      </a:lnTo>
                      <a:lnTo>
                        <a:pt x="57150" y="0"/>
                      </a:lnTo>
                    </a:path>
                  </a:pathLst>
                </a:custGeom>
                <a:noFill/>
                <a:ln w="19050">
                  <a:solidFill>
                    <a:srgbClr val="C8A24B"/>
                  </a:solidFill>
                </a:ln>
              </p:spPr>
              <p:txBody>
                <a:bodyPr/>
                <a:lstStyle/>
                <a:p>
                  <a:endParaRPr lang="zh-CN" altLang="en-US"/>
                </a:p>
              </p:txBody>
            </p:sp>
            <p:sp>
              <p:nvSpPr>
                <p:cNvPr id="31" name="Freeform 31"/>
                <p:cNvSpPr/>
                <p:nvPr/>
              </p:nvSpPr>
              <p:spPr>
                <a:xfrm>
                  <a:off x="6543675" y="5562600"/>
                  <a:ext cx="38100" cy="9525"/>
                </a:xfrm>
                <a:custGeom>
                  <a:avLst/>
                  <a:gdLst/>
                  <a:ahLst/>
                  <a:cxnLst/>
                  <a:rect l="l" t="t" r="r" b="b"/>
                  <a:pathLst>
                    <a:path w="38100" h="9525">
                      <a:moveTo>
                        <a:pt x="0" y="0"/>
                      </a:moveTo>
                      <a:lnTo>
                        <a:pt x="38100" y="0"/>
                      </a:lnTo>
                    </a:path>
                  </a:pathLst>
                </a:custGeom>
                <a:noFill/>
                <a:ln w="19050">
                  <a:solidFill>
                    <a:srgbClr val="C8A24B"/>
                  </a:solidFill>
                </a:ln>
              </p:spPr>
              <p:txBody>
                <a:bodyPr/>
                <a:lstStyle/>
                <a:p>
                  <a:endParaRPr lang="zh-CN" altLang="en-US"/>
                </a:p>
              </p:txBody>
            </p:sp>
            <p:sp>
              <p:nvSpPr>
                <p:cNvPr id="32" name="Freeform 32"/>
                <p:cNvSpPr/>
                <p:nvPr/>
              </p:nvSpPr>
              <p:spPr>
                <a:xfrm>
                  <a:off x="6543675" y="5600700"/>
                  <a:ext cx="19050" cy="9525"/>
                </a:xfrm>
                <a:custGeom>
                  <a:avLst/>
                  <a:gdLst/>
                  <a:ahLst/>
                  <a:cxnLst/>
                  <a:rect l="l" t="t" r="r" b="b"/>
                  <a:pathLst>
                    <a:path w="19050" h="9525">
                      <a:moveTo>
                        <a:pt x="0" y="0"/>
                      </a:moveTo>
                      <a:lnTo>
                        <a:pt x="19050" y="0"/>
                      </a:lnTo>
                    </a:path>
                  </a:pathLst>
                </a:custGeom>
                <a:noFill/>
                <a:ln w="19050">
                  <a:solidFill>
                    <a:srgbClr val="C8A24B"/>
                  </a:solidFill>
                </a:ln>
              </p:spPr>
              <p:txBody>
                <a:bodyPr/>
                <a:lstStyle/>
                <a:p>
                  <a:endParaRPr lang="zh-CN" altLang="en-US"/>
                </a:p>
              </p:txBody>
            </p:sp>
          </p:grpSp>
          <p:sp>
            <p:nvSpPr>
              <p:cNvPr id="34" name="TextBox 34"/>
              <p:cNvSpPr txBox="1"/>
              <p:nvPr/>
            </p:nvSpPr>
            <p:spPr>
              <a:xfrm>
                <a:off x="6753225" y="5468679"/>
                <a:ext cx="923330" cy="276999"/>
              </a:xfrm>
              <a:prstGeom prst="rect">
                <a:avLst/>
              </a:prstGeom>
              <a:noFill/>
              <a:ln>
                <a:noFill/>
              </a:ln>
            </p:spPr>
            <p:txBody>
              <a:bodyPr wrap="none" lIns="0" tIns="0" rIns="0" bIns="0" anchor="t" anchorCtr="0">
                <a:spAutoFit/>
              </a:bodyPr>
              <a:lstStyle/>
              <a:p>
                <a:pPr algn="l"/>
                <a:r>
                  <a:rPr lang="zh-CN" b="1" dirty="0">
                    <a:solidFill>
                      <a:srgbClr val="C8A24B"/>
                    </a:solidFill>
                    <a:latin typeface="Arial" panose="020B0604020202090204"/>
                    <a:ea typeface="微软雅黑"/>
                    <a:cs typeface="Arial" panose="020B0604020202090204"/>
                  </a:rPr>
                  <a:t>验证指标</a:t>
                </a:r>
              </a:p>
            </p:txBody>
          </p:sp>
          <p:sp>
            <p:nvSpPr>
              <p:cNvPr id="35" name="TextBox 35"/>
              <p:cNvSpPr txBox="1"/>
              <p:nvPr/>
            </p:nvSpPr>
            <p:spPr>
              <a:xfrm>
                <a:off x="6445568" y="5775659"/>
                <a:ext cx="3640420" cy="246221"/>
              </a:xfrm>
              <a:prstGeom prst="rect">
                <a:avLst/>
              </a:prstGeom>
              <a:noFill/>
              <a:ln>
                <a:noFill/>
              </a:ln>
            </p:spPr>
            <p:txBody>
              <a:bodyPr wrap="none" lIns="0" tIns="0" rIns="0" bIns="0" anchor="t" anchorCtr="0">
                <a:spAutoFit/>
              </a:bodyPr>
              <a:lstStyle/>
              <a:p>
                <a:pPr algn="l"/>
                <a:r>
                  <a:rPr lang="zh-CN" sz="1600" dirty="0">
                    <a:solidFill>
                      <a:srgbClr val="FAF8F4"/>
                    </a:solidFill>
                    <a:latin typeface="Arial" panose="020B0604020202090204"/>
                    <a:ea typeface="微软雅黑"/>
                    <a:cs typeface="Arial" panose="020B0604020202090204"/>
                  </a:rPr>
                  <a:t>功能完整性 · 参数一致性</a:t>
                </a:r>
                <a:r>
                  <a:rPr lang="zh-CN" altLang="en-US" sz="1600" dirty="0">
                    <a:solidFill>
                      <a:srgbClr val="FAF8F4"/>
                    </a:solidFill>
                    <a:latin typeface="Arial" panose="020B0604020202090204"/>
                    <a:ea typeface="微软雅黑"/>
                    <a:cs typeface="Arial" panose="020B0604020202090204"/>
                  </a:rPr>
                  <a:t>、</a:t>
                </a:r>
                <a:r>
                  <a:rPr lang="zh-CN" sz="1600" dirty="0">
                    <a:solidFill>
                      <a:srgbClr val="FAF8F4"/>
                    </a:solidFill>
                    <a:latin typeface="Arial" panose="020B0604020202090204"/>
                    <a:ea typeface="微软雅黑"/>
                    <a:cs typeface="Arial" panose="020B0604020202090204"/>
                  </a:rPr>
                  <a:t> MAE / MRE</a:t>
                </a:r>
              </a:p>
            </p:txBody>
          </p:sp>
          <p:sp>
            <p:nvSpPr>
              <p:cNvPr id="36" name="TextBox 36"/>
              <p:cNvSpPr txBox="1"/>
              <p:nvPr/>
            </p:nvSpPr>
            <p:spPr>
              <a:xfrm>
                <a:off x="6470542" y="6035359"/>
                <a:ext cx="3693319" cy="246221"/>
              </a:xfrm>
              <a:prstGeom prst="rect">
                <a:avLst/>
              </a:prstGeom>
              <a:noFill/>
              <a:ln>
                <a:noFill/>
              </a:ln>
            </p:spPr>
            <p:txBody>
              <a:bodyPr wrap="none" lIns="0" tIns="0" rIns="0" bIns="0" anchor="t" anchorCtr="0">
                <a:spAutoFit/>
              </a:bodyPr>
              <a:lstStyle/>
              <a:p>
                <a:pPr algn="l"/>
                <a:r>
                  <a:rPr lang="zh-CN" sz="1600" dirty="0">
                    <a:solidFill>
                      <a:srgbClr val="C8A24B"/>
                    </a:solidFill>
                    <a:latin typeface="Arial" panose="020B0604020202090204"/>
                    <a:ea typeface="微软雅黑"/>
                    <a:cs typeface="Arial" panose="020B0604020202090204"/>
                  </a:rPr>
                  <a:t>验证重点：校准参数是否提升拟合程度。</a:t>
                </a:r>
              </a:p>
            </p:txBody>
          </p:sp>
        </p:grpSp>
      </p:grpSp>
      <p:grpSp>
        <p:nvGrpSpPr>
          <p:cNvPr id="42" name="Group 42"/>
          <p:cNvGrpSpPr/>
          <p:nvPr/>
        </p:nvGrpSpPr>
        <p:grpSpPr>
          <a:xfrm>
            <a:off x="598170" y="6515100"/>
            <a:ext cx="10995661" cy="276225"/>
            <a:chOff x="598170" y="6515100"/>
            <a:chExt cx="10995661" cy="276225"/>
          </a:xfrm>
        </p:grpSpPr>
        <p:sp>
          <p:nvSpPr>
            <p:cNvPr id="39" name="Line 39"/>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40" name="TextBox 40"/>
            <p:cNvSpPr txBox="1"/>
            <p:nvPr/>
          </p:nvSpPr>
          <p:spPr>
            <a:xfrm>
              <a:off x="598170" y="6608445"/>
              <a:ext cx="1823085" cy="182880"/>
            </a:xfrm>
            <a:prstGeom prst="rect">
              <a:avLst/>
            </a:prstGeom>
            <a:noFill/>
            <a:ln>
              <a:noFill/>
            </a:ln>
          </p:spPr>
          <p:txBody>
            <a:bodyPr wrap="none" lIns="0" tIns="0" rIns="0" bIns="0" anchor="t" anchorCtr="0">
              <a:spAutoFit/>
            </a:bodyPr>
            <a:lstStyle/>
            <a:p>
              <a:pPr algn="l"/>
              <a:r>
                <a:rPr lang="zh-CN" sz="900" dirty="0">
                  <a:solidFill>
                    <a:srgbClr val="8C8C82"/>
                  </a:solidFill>
                  <a:latin typeface="Arial" panose="020B0604020202090204"/>
                  <a:ea typeface="微软雅黑"/>
                  <a:cs typeface="Arial" panose="020B0604020202090204"/>
                </a:rPr>
                <a:t>融合推荐机制校准的社交仿真平台</a:t>
              </a:r>
            </a:p>
          </p:txBody>
        </p:sp>
        <p:sp>
          <p:nvSpPr>
            <p:cNvPr id="41" name="TextBox 41"/>
            <p:cNvSpPr txBox="1"/>
            <p:nvPr/>
          </p:nvSpPr>
          <p:spPr>
            <a:xfrm>
              <a:off x="11438954" y="6608445"/>
              <a:ext cx="154877" cy="182880"/>
            </a:xfrm>
            <a:prstGeom prst="rect">
              <a:avLst/>
            </a:prstGeom>
            <a:noFill/>
            <a:ln>
              <a:noFill/>
            </a:ln>
          </p:spPr>
          <p:txBody>
            <a:bodyPr wrap="none" lIns="0" tIns="0" rIns="0" bIns="0" anchor="t" anchorCtr="0">
              <a:spAutoFit/>
            </a:bodyPr>
            <a:lstStyle/>
            <a:p>
              <a:pPr algn="r"/>
              <a:r>
                <a:rPr lang="en-US" sz="900" dirty="0">
                  <a:solidFill>
                    <a:srgbClr val="8C8C82"/>
                  </a:solidFill>
                  <a:latin typeface="Cambria"/>
                  <a:ea typeface="Cambria"/>
                  <a:cs typeface="Cambria"/>
                </a:rPr>
                <a:t>12</a:t>
              </a:r>
            </a:p>
          </p:txBody>
        </p:sp>
      </p:grpSp>
      <p:pic>
        <p:nvPicPr>
          <p:cNvPr id="43" name="Image 7"/>
          <p:cNvPicPr>
            <a:picLocks noChangeAspect="1"/>
          </p:cNvPicPr>
          <p:nvPr/>
        </p:nvPicPr>
        <p:blipFill>
          <a:blip r:embed="rId4"/>
          <a:stretch>
            <a:fillRect/>
          </a:stretch>
        </p:blipFill>
        <p:spPr>
          <a:xfrm>
            <a:off x="10919012" y="-13055"/>
            <a:ext cx="663388" cy="84676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0" y="0"/>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a:p>
          </p:txBody>
        </p:sp>
      </p:grpSp>
      <p:grpSp>
        <p:nvGrpSpPr>
          <p:cNvPr id="9" name="Group 9"/>
          <p:cNvGrpSpPr/>
          <p:nvPr/>
        </p:nvGrpSpPr>
        <p:grpSpPr>
          <a:xfrm>
            <a:off x="590550" y="523875"/>
            <a:ext cx="10991850" cy="400050"/>
            <a:chOff x="590550" y="523875"/>
            <a:chExt cx="10991850" cy="400050"/>
          </a:xfrm>
        </p:grpSpPr>
        <p:sp>
          <p:nvSpPr>
            <p:cNvPr id="6" name="TextBox 6"/>
            <p:cNvSpPr txBox="1"/>
            <p:nvPr/>
          </p:nvSpPr>
          <p:spPr>
            <a:xfrm>
              <a:off x="590550" y="523875"/>
              <a:ext cx="1802321" cy="304800"/>
            </a:xfrm>
            <a:prstGeom prst="rect">
              <a:avLst/>
            </a:prstGeom>
            <a:noFill/>
            <a:ln>
              <a:noFill/>
            </a:ln>
          </p:spPr>
          <p:txBody>
            <a:bodyPr wrap="none" lIns="0" tIns="0" rIns="0" bIns="0" anchor="t" anchorCtr="0">
              <a:spAutoFit/>
            </a:bodyPr>
            <a:lstStyle/>
            <a:p>
              <a:pPr algn="l"/>
              <a:r>
                <a:rPr lang="en-US" sz="1500" b="1" dirty="0">
                  <a:solidFill>
                    <a:srgbClr val="1B3A5B"/>
                  </a:solidFill>
                  <a:latin typeface="Cambria"/>
                  <a:ea typeface="Cambria"/>
                  <a:cs typeface="Cambria"/>
                </a:rPr>
                <a:t>04 </a:t>
              </a:r>
              <a:r>
                <a:rPr lang="zh-CN" sz="1200" b="1" dirty="0">
                  <a:solidFill>
                    <a:srgbClr val="5A5A52"/>
                  </a:solidFill>
                  <a:latin typeface="Arial" panose="020B0604020202090204"/>
                  <a:ea typeface="微软雅黑"/>
                  <a:cs typeface="Arial" panose="020B0604020202090204"/>
                </a:rPr>
                <a:t>技术路线与方案</a:t>
              </a:r>
            </a:p>
          </p:txBody>
        </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19050">
              <a:solidFill>
                <a:srgbClr val="1B3A5B"/>
              </a:solidFill>
            </a:ln>
          </p:spPr>
          <p:txBody>
            <a:bodyPr/>
            <a:lstStyle/>
            <a:p>
              <a:endParaRPr lang="zh-CN" altLang="en-US"/>
            </a:p>
          </p:txBody>
        </p:sp>
      </p:grpSp>
      <p:grpSp>
        <p:nvGrpSpPr>
          <p:cNvPr id="12" name="Group 12"/>
          <p:cNvGrpSpPr/>
          <p:nvPr/>
        </p:nvGrpSpPr>
        <p:grpSpPr>
          <a:xfrm>
            <a:off x="577215" y="1210628"/>
            <a:ext cx="1971694" cy="484822"/>
            <a:chOff x="577215" y="1210628"/>
            <a:chExt cx="1971694" cy="484822"/>
          </a:xfrm>
        </p:grpSpPr>
        <p:sp>
          <p:nvSpPr>
            <p:cNvPr id="10" name="TextBox 10"/>
            <p:cNvSpPr txBox="1"/>
            <p:nvPr/>
          </p:nvSpPr>
          <p:spPr>
            <a:xfrm>
              <a:off x="577215" y="1210628"/>
              <a:ext cx="1971694" cy="392415"/>
            </a:xfrm>
            <a:prstGeom prst="rect">
              <a:avLst/>
            </a:prstGeom>
            <a:noFill/>
            <a:ln>
              <a:noFill/>
            </a:ln>
          </p:spPr>
          <p:txBody>
            <a:bodyPr wrap="none" lIns="0" tIns="0" rIns="0" bIns="0" anchor="t" anchorCtr="0">
              <a:spAutoFit/>
            </a:bodyPr>
            <a:lstStyle/>
            <a:p>
              <a:pPr algn="l"/>
              <a:r>
                <a:rPr lang="zh-CN" sz="2550" b="1" dirty="0">
                  <a:solidFill>
                    <a:srgbClr val="1B3A5B"/>
                  </a:solidFill>
                  <a:latin typeface="Cambria"/>
                  <a:ea typeface="宋体"/>
                  <a:cs typeface="Cambria"/>
                </a:rPr>
                <a:t>系统总体架构</a:t>
              </a:r>
            </a:p>
          </p:txBody>
        </p:sp>
        <p:sp>
          <p:nvSpPr>
            <p:cNvPr id="11" name="Rectangle 11"/>
            <p:cNvSpPr/>
            <p:nvPr/>
          </p:nvSpPr>
          <p:spPr>
            <a:xfrm>
              <a:off x="609600" y="1657350"/>
              <a:ext cx="533400" cy="38100"/>
            </a:xfrm>
            <a:prstGeom prst="rect">
              <a:avLst/>
            </a:prstGeom>
            <a:solidFill>
              <a:srgbClr val="C8A24B"/>
            </a:solidFill>
            <a:ln>
              <a:noFill/>
            </a:ln>
          </p:spPr>
          <p:txBody>
            <a:bodyPr/>
            <a:lstStyle/>
            <a:p>
              <a:endParaRPr lang="zh-CN" altLang="en-US"/>
            </a:p>
          </p:txBody>
        </p:sp>
      </p:grpSp>
      <p:grpSp>
        <p:nvGrpSpPr>
          <p:cNvPr id="16" name="Group 16"/>
          <p:cNvGrpSpPr/>
          <p:nvPr/>
        </p:nvGrpSpPr>
        <p:grpSpPr>
          <a:xfrm>
            <a:off x="609600" y="1905000"/>
            <a:ext cx="10972800" cy="3390900"/>
            <a:chOff x="609600" y="1905000"/>
            <a:chExt cx="10972800" cy="3390900"/>
          </a:xfrm>
        </p:grpSpPr>
        <p:sp>
          <p:nvSpPr>
            <p:cNvPr id="13" name="Rectangle 13"/>
            <p:cNvSpPr/>
            <p:nvPr/>
          </p:nvSpPr>
          <p:spPr>
            <a:xfrm>
              <a:off x="609600" y="1905000"/>
              <a:ext cx="10972800" cy="3390900"/>
            </a:xfrm>
            <a:prstGeom prst="roundRect">
              <a:avLst>
                <a:gd name="adj" fmla="val 1124"/>
              </a:avLst>
            </a:prstGeom>
            <a:solidFill>
              <a:srgbClr val="FFFFFF"/>
            </a:solidFill>
            <a:ln w="9525">
              <a:solidFill>
                <a:srgbClr val="D8D0C2"/>
              </a:solidFill>
            </a:ln>
          </p:spPr>
          <p:txBody>
            <a:bodyPr/>
            <a:lstStyle/>
            <a:p>
              <a:endParaRPr lang="zh-CN" altLang="en-US"/>
            </a:p>
          </p:txBody>
        </p:sp>
        <p:pic>
          <p:nvPicPr>
            <p:cNvPr id="14" name="Image 14"/>
            <p:cNvPicPr>
              <a:picLocks noChangeAspect="1"/>
            </p:cNvPicPr>
            <p:nvPr/>
          </p:nvPicPr>
          <p:blipFill>
            <a:blip>
              <a:extLst>
                <a:ext uri="{96DAC541-7B7A-43D3-8B79-37D633B846F1}">
                  <asvg:svgBlip xmlns:asvg="http://schemas.microsoft.com/office/drawing/2016/SVG/main" r:embed="rId3"/>
                </a:ext>
              </a:extLst>
            </a:blip>
            <a:srcRect/>
            <a:stretch>
              <a:fillRect/>
            </a:stretch>
          </p:blipFill>
          <p:spPr>
            <a:xfrm>
              <a:off x="2858038" y="2015491"/>
              <a:ext cx="6475924" cy="3170089"/>
            </a:xfrm>
            <a:prstGeom prst="rect">
              <a:avLst/>
            </a:prstGeom>
          </p:spPr>
        </p:pic>
      </p:grpSp>
      <p:grpSp>
        <p:nvGrpSpPr>
          <p:cNvPr id="21" name="Group 21"/>
          <p:cNvGrpSpPr/>
          <p:nvPr/>
        </p:nvGrpSpPr>
        <p:grpSpPr>
          <a:xfrm>
            <a:off x="609600" y="5410200"/>
            <a:ext cx="10972800" cy="647700"/>
            <a:chOff x="609600" y="5410200"/>
            <a:chExt cx="10972800" cy="647700"/>
          </a:xfrm>
        </p:grpSpPr>
        <p:sp>
          <p:nvSpPr>
            <p:cNvPr id="17" name="Rectangle 17"/>
            <p:cNvSpPr/>
            <p:nvPr/>
          </p:nvSpPr>
          <p:spPr>
            <a:xfrm>
              <a:off x="609600" y="5410200"/>
              <a:ext cx="10972800" cy="647700"/>
            </a:xfrm>
            <a:prstGeom prst="roundRect">
              <a:avLst>
                <a:gd name="adj" fmla="val 5882"/>
              </a:avLst>
            </a:prstGeom>
            <a:solidFill>
              <a:srgbClr val="1B3A5B"/>
            </a:solidFill>
            <a:ln>
              <a:noFill/>
            </a:ln>
          </p:spPr>
          <p:txBody>
            <a:bodyPr/>
            <a:lstStyle/>
            <a:p>
              <a:endParaRPr lang="zh-CN" altLang="en-US"/>
            </a:p>
          </p:txBody>
        </p:sp>
        <p:sp>
          <p:nvSpPr>
            <p:cNvPr id="18" name="Rectangle 18"/>
            <p:cNvSpPr/>
            <p:nvPr/>
          </p:nvSpPr>
          <p:spPr>
            <a:xfrm>
              <a:off x="609600" y="5410200"/>
              <a:ext cx="57150" cy="647700"/>
            </a:xfrm>
            <a:prstGeom prst="rect">
              <a:avLst/>
            </a:prstGeom>
            <a:solidFill>
              <a:srgbClr val="C8A24B"/>
            </a:solidFill>
            <a:ln>
              <a:noFill/>
            </a:ln>
          </p:spPr>
          <p:txBody>
            <a:bodyPr/>
            <a:lstStyle/>
            <a:p>
              <a:endParaRPr lang="zh-CN" altLang="en-US"/>
            </a:p>
          </p:txBody>
        </p:sp>
        <p:sp>
          <p:nvSpPr>
            <p:cNvPr id="20" name="TextBox 20"/>
            <p:cNvSpPr txBox="1"/>
            <p:nvPr/>
          </p:nvSpPr>
          <p:spPr>
            <a:xfrm>
              <a:off x="876300" y="5674042"/>
              <a:ext cx="9258817" cy="246221"/>
            </a:xfrm>
            <a:prstGeom prst="rect">
              <a:avLst/>
            </a:prstGeom>
            <a:noFill/>
            <a:ln>
              <a:noFill/>
            </a:ln>
          </p:spPr>
          <p:txBody>
            <a:bodyPr wrap="none" lIns="0" tIns="0" rIns="0" bIns="0" anchor="t" anchorCtr="0">
              <a:spAutoFit/>
            </a:bodyPr>
            <a:lstStyle/>
            <a:p>
              <a:pPr algn="l"/>
              <a:r>
                <a:rPr lang="zh-CN" sz="1600" dirty="0">
                  <a:solidFill>
                    <a:srgbClr val="FAF8F4"/>
                  </a:solidFill>
                  <a:latin typeface="Arial" panose="020B0604020202090204"/>
                  <a:ea typeface="微软雅黑"/>
                  <a:cs typeface="Arial" panose="020B0604020202090204"/>
                </a:rPr>
                <a:t>表示层 → 应用层（Backend）→ Agent 层 → 数据与配置层，离线分析产出画像与配置驱动在线运行。</a:t>
              </a:r>
            </a:p>
          </p:txBody>
        </p:sp>
      </p:grpSp>
      <p:grpSp>
        <p:nvGrpSpPr>
          <p:cNvPr id="25" name="Group 25"/>
          <p:cNvGrpSpPr/>
          <p:nvPr/>
        </p:nvGrpSpPr>
        <p:grpSpPr>
          <a:xfrm>
            <a:off x="598170" y="6515100"/>
            <a:ext cx="10995661" cy="276225"/>
            <a:chOff x="598170" y="6515100"/>
            <a:chExt cx="10995661" cy="276225"/>
          </a:xfrm>
        </p:grpSpPr>
        <p:sp>
          <p:nvSpPr>
            <p:cNvPr id="22" name="Line 22"/>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23" name="TextBox 23"/>
            <p:cNvSpPr txBox="1"/>
            <p:nvPr/>
          </p:nvSpPr>
          <p:spPr>
            <a:xfrm>
              <a:off x="598170" y="6608445"/>
              <a:ext cx="1823085" cy="182880"/>
            </a:xfrm>
            <a:prstGeom prst="rect">
              <a:avLst/>
            </a:prstGeom>
            <a:noFill/>
            <a:ln>
              <a:noFill/>
            </a:ln>
          </p:spPr>
          <p:txBody>
            <a:bodyPr wrap="none" lIns="0" tIns="0" rIns="0" bIns="0" anchor="t" anchorCtr="0">
              <a:spAutoFit/>
            </a:bodyPr>
            <a:lstStyle/>
            <a:p>
              <a:pPr algn="l"/>
              <a:r>
                <a:rPr lang="zh-CN" sz="900" dirty="0">
                  <a:solidFill>
                    <a:srgbClr val="8C8C82"/>
                  </a:solidFill>
                  <a:latin typeface="Arial" panose="020B0604020202090204"/>
                  <a:ea typeface="微软雅黑"/>
                  <a:cs typeface="Arial" panose="020B0604020202090204"/>
                </a:rPr>
                <a:t>融合推荐机制校准的社交仿真平台</a:t>
              </a:r>
            </a:p>
          </p:txBody>
        </p:sp>
        <p:sp>
          <p:nvSpPr>
            <p:cNvPr id="24" name="TextBox 24"/>
            <p:cNvSpPr txBox="1"/>
            <p:nvPr/>
          </p:nvSpPr>
          <p:spPr>
            <a:xfrm>
              <a:off x="11438954" y="6608445"/>
              <a:ext cx="154877" cy="182880"/>
            </a:xfrm>
            <a:prstGeom prst="rect">
              <a:avLst/>
            </a:prstGeom>
            <a:noFill/>
            <a:ln>
              <a:noFill/>
            </a:ln>
          </p:spPr>
          <p:txBody>
            <a:bodyPr wrap="none" lIns="0" tIns="0" rIns="0" bIns="0" anchor="t" anchorCtr="0">
              <a:spAutoFit/>
            </a:bodyPr>
            <a:lstStyle/>
            <a:p>
              <a:pPr algn="r"/>
              <a:r>
                <a:rPr lang="en-US" sz="900" dirty="0">
                  <a:solidFill>
                    <a:srgbClr val="8C8C82"/>
                  </a:solidFill>
                  <a:latin typeface="Cambria"/>
                  <a:ea typeface="Cambria"/>
                  <a:cs typeface="Cambria"/>
                </a:rPr>
                <a:t>14</a:t>
              </a:r>
            </a:p>
          </p:txBody>
        </p:sp>
      </p:grpSp>
      <p:pic>
        <p:nvPicPr>
          <p:cNvPr id="26" name="Image 7"/>
          <p:cNvPicPr>
            <a:picLocks noChangeAspect="1"/>
          </p:cNvPicPr>
          <p:nvPr/>
        </p:nvPicPr>
        <p:blipFill>
          <a:blip r:embed="rId4"/>
          <a:stretch>
            <a:fillRect/>
          </a:stretch>
        </p:blipFill>
        <p:spPr>
          <a:xfrm>
            <a:off x="10919012" y="-13055"/>
            <a:ext cx="663388" cy="84676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a:grpSpLocks noGrp="1" noUngrp="1" noRot="1" noMove="1" noResize="1"/>
          </p:cNvGrpSpPr>
          <p:nvPr/>
        </p:nvGrpSpPr>
        <p:grpSpPr>
          <a:xfrm>
            <a:off x="0" y="-66675"/>
            <a:ext cx="12192000" cy="6858000"/>
            <a:chOff x="0" y="0"/>
            <a:chExt cx="12192000" cy="6858000"/>
          </a:xfrm>
        </p:grpSpPr>
        <p:sp>
          <p:nvSpPr>
            <p:cNvPr id="2" name="Rectangle 2"/>
            <p:cNvSpPr>
              <a:spLocks noGrp="1" noRot="1" noMove="1" noResize="1" noEditPoints="1" noAdjustHandles="1" noChangeArrowheads="1" noChangeShapeType="1"/>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a:spLocks noGrp="1" noRot="1" noMove="1" noResize="1" noEditPoints="1" noAdjustHandles="1" noChangeArrowheads="1" noChangeShapeType="1"/>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4" name="Rectangle 4"/>
            <p:cNvSpPr>
              <a:spLocks noGrp="1" noRot="1" noMove="1" noResize="1" noEditPoints="1" noAdjustHandles="1" noChangeArrowheads="1" noChangeShapeType="1"/>
            </p:cNvSpPr>
            <p:nvPr/>
          </p:nvSpPr>
          <p:spPr>
            <a:xfrm>
              <a:off x="0" y="0"/>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a:p>
          </p:txBody>
        </p:sp>
      </p:gr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19050">
            <a:solidFill>
              <a:srgbClr val="1B3A5B"/>
            </a:solidFill>
          </a:ln>
        </p:spPr>
        <p:txBody>
          <a:bodyPr/>
          <a:lstStyle/>
          <a:p>
            <a:endParaRPr lang="zh-CN" altLang="en-US"/>
          </a:p>
        </p:txBody>
      </p:sp>
      <p:grpSp>
        <p:nvGrpSpPr>
          <p:cNvPr id="12" name="Group 12"/>
          <p:cNvGrpSpPr/>
          <p:nvPr/>
        </p:nvGrpSpPr>
        <p:grpSpPr>
          <a:xfrm>
            <a:off x="577215" y="1210628"/>
            <a:ext cx="985847" cy="484822"/>
            <a:chOff x="577215" y="1210628"/>
            <a:chExt cx="985847" cy="484822"/>
          </a:xfrm>
        </p:grpSpPr>
        <p:sp>
          <p:nvSpPr>
            <p:cNvPr id="10" name="TextBox 10"/>
            <p:cNvSpPr txBox="1"/>
            <p:nvPr/>
          </p:nvSpPr>
          <p:spPr>
            <a:xfrm>
              <a:off x="577215" y="1210628"/>
              <a:ext cx="985847" cy="392415"/>
            </a:xfrm>
            <a:prstGeom prst="rect">
              <a:avLst/>
            </a:prstGeom>
            <a:noFill/>
            <a:ln>
              <a:noFill/>
            </a:ln>
          </p:spPr>
          <p:txBody>
            <a:bodyPr wrap="none" lIns="0" tIns="0" rIns="0" bIns="0" anchor="t" anchorCtr="0">
              <a:spAutoFit/>
            </a:bodyPr>
            <a:lstStyle/>
            <a:p>
              <a:pPr algn="l"/>
              <a:r>
                <a:rPr lang="zh-CN" sz="2550" b="1" dirty="0">
                  <a:solidFill>
                    <a:srgbClr val="1B3A5B"/>
                  </a:solidFill>
                  <a:latin typeface="Cambria"/>
                  <a:ea typeface="宋体"/>
                  <a:cs typeface="Cambria"/>
                </a:rPr>
                <a:t>创新点</a:t>
              </a:r>
            </a:p>
          </p:txBody>
        </p:sp>
        <p:sp>
          <p:nvSpPr>
            <p:cNvPr id="11" name="Rectangle 11"/>
            <p:cNvSpPr/>
            <p:nvPr/>
          </p:nvSpPr>
          <p:spPr>
            <a:xfrm>
              <a:off x="609600" y="1657350"/>
              <a:ext cx="533400" cy="38100"/>
            </a:xfrm>
            <a:prstGeom prst="rect">
              <a:avLst/>
            </a:prstGeom>
            <a:solidFill>
              <a:srgbClr val="C8A24B"/>
            </a:solidFill>
            <a:ln>
              <a:noFill/>
            </a:ln>
          </p:spPr>
          <p:txBody>
            <a:bodyPr/>
            <a:lstStyle/>
            <a:p>
              <a:endParaRPr lang="zh-CN" altLang="en-US"/>
            </a:p>
          </p:txBody>
        </p:sp>
      </p:grpSp>
      <p:grpSp>
        <p:nvGrpSpPr>
          <p:cNvPr id="56" name="组合 55"/>
          <p:cNvGrpSpPr/>
          <p:nvPr/>
        </p:nvGrpSpPr>
        <p:grpSpPr>
          <a:xfrm>
            <a:off x="590550" y="1889760"/>
            <a:ext cx="10503535" cy="2048510"/>
            <a:chOff x="577215" y="1906604"/>
            <a:chExt cx="10503535" cy="2977966"/>
          </a:xfrm>
        </p:grpSpPr>
        <p:sp>
          <p:nvSpPr>
            <p:cNvPr id="13" name="Rectangle 13"/>
            <p:cNvSpPr/>
            <p:nvPr/>
          </p:nvSpPr>
          <p:spPr>
            <a:xfrm>
              <a:off x="577215" y="1906604"/>
              <a:ext cx="10503535" cy="2977966"/>
            </a:xfrm>
            <a:prstGeom prst="roundRect">
              <a:avLst>
                <a:gd name="adj" fmla="val 3125"/>
              </a:avLst>
            </a:prstGeom>
            <a:solidFill>
              <a:srgbClr val="FFFFFF"/>
            </a:solidFill>
            <a:ln w="9525">
              <a:solidFill>
                <a:srgbClr val="D8D0C2"/>
              </a:solidFill>
            </a:ln>
          </p:spPr>
          <p:txBody>
            <a:bodyPr/>
            <a:lstStyle/>
            <a:p>
              <a:endParaRPr lang="zh-CN" altLang="en-US"/>
            </a:p>
          </p:txBody>
        </p:sp>
        <p:sp>
          <p:nvSpPr>
            <p:cNvPr id="14" name="Rectangle 14"/>
            <p:cNvSpPr/>
            <p:nvPr/>
          </p:nvSpPr>
          <p:spPr>
            <a:xfrm>
              <a:off x="577215" y="1906604"/>
              <a:ext cx="54706" cy="2977966"/>
            </a:xfrm>
            <a:prstGeom prst="rect">
              <a:avLst/>
            </a:prstGeom>
            <a:solidFill>
              <a:srgbClr val="1B3A5B"/>
            </a:solidFill>
            <a:ln>
              <a:noFill/>
            </a:ln>
          </p:spPr>
          <p:txBody>
            <a:bodyPr/>
            <a:lstStyle/>
            <a:p>
              <a:endParaRPr lang="zh-CN" altLang="en-US" dirty="0"/>
            </a:p>
          </p:txBody>
        </p:sp>
      </p:grpSp>
      <p:grpSp>
        <p:nvGrpSpPr>
          <p:cNvPr id="42" name="组合 41"/>
          <p:cNvGrpSpPr/>
          <p:nvPr/>
        </p:nvGrpSpPr>
        <p:grpSpPr>
          <a:xfrm>
            <a:off x="876300" y="2074220"/>
            <a:ext cx="9618469" cy="1539413"/>
            <a:chOff x="888999" y="2036774"/>
            <a:chExt cx="9618469" cy="1539413"/>
          </a:xfrm>
        </p:grpSpPr>
        <p:grpSp>
          <p:nvGrpSpPr>
            <p:cNvPr id="25" name="Group 25"/>
            <p:cNvGrpSpPr/>
            <p:nvPr/>
          </p:nvGrpSpPr>
          <p:grpSpPr>
            <a:xfrm>
              <a:off x="888999" y="2050246"/>
              <a:ext cx="254001" cy="254001"/>
              <a:chOff x="1930400" y="2406650"/>
              <a:chExt cx="254001" cy="254001"/>
            </a:xfrm>
          </p:grpSpPr>
          <p:sp>
            <p:nvSpPr>
              <p:cNvPr id="16" name="Freeform 16"/>
              <p:cNvSpPr/>
              <p:nvPr/>
            </p:nvSpPr>
            <p:spPr>
              <a:xfrm>
                <a:off x="1930400" y="2470150"/>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9050">
                <a:solidFill>
                  <a:srgbClr val="1B3A5B"/>
                </a:solidFill>
              </a:ln>
            </p:spPr>
            <p:txBody>
              <a:bodyPr/>
              <a:lstStyle/>
              <a:p>
                <a:endParaRPr lang="zh-CN" altLang="en-US"/>
              </a:p>
            </p:txBody>
          </p:sp>
          <p:sp>
            <p:nvSpPr>
              <p:cNvPr id="17" name="Freeform 17"/>
              <p:cNvSpPr/>
              <p:nvPr/>
            </p:nvSpPr>
            <p:spPr>
              <a:xfrm>
                <a:off x="1962150" y="2406650"/>
                <a:ext cx="9525" cy="63500"/>
              </a:xfrm>
              <a:custGeom>
                <a:avLst/>
                <a:gdLst/>
                <a:ahLst/>
                <a:cxnLst/>
                <a:rect l="l" t="t" r="r" b="b"/>
                <a:pathLst>
                  <a:path w="9525" h="63500">
                    <a:moveTo>
                      <a:pt x="0" y="0"/>
                    </a:moveTo>
                    <a:lnTo>
                      <a:pt x="0" y="63500"/>
                    </a:lnTo>
                  </a:path>
                </a:pathLst>
              </a:custGeom>
              <a:noFill/>
              <a:ln w="19050">
                <a:solidFill>
                  <a:srgbClr val="1B3A5B"/>
                </a:solidFill>
              </a:ln>
            </p:spPr>
            <p:txBody>
              <a:bodyPr/>
              <a:lstStyle/>
              <a:p>
                <a:endParaRPr lang="zh-CN" altLang="en-US"/>
              </a:p>
            </p:txBody>
          </p:sp>
          <p:sp>
            <p:nvSpPr>
              <p:cNvPr id="18" name="Freeform 18"/>
              <p:cNvSpPr/>
              <p:nvPr/>
            </p:nvSpPr>
            <p:spPr>
              <a:xfrm>
                <a:off x="1962150" y="2533650"/>
                <a:ext cx="9525" cy="127000"/>
              </a:xfrm>
              <a:custGeom>
                <a:avLst/>
                <a:gdLst/>
                <a:ahLst/>
                <a:cxnLst/>
                <a:rect l="l" t="t" r="r" b="b"/>
                <a:pathLst>
                  <a:path w="9525" h="127000">
                    <a:moveTo>
                      <a:pt x="0" y="0"/>
                    </a:moveTo>
                    <a:lnTo>
                      <a:pt x="0" y="127000"/>
                    </a:lnTo>
                  </a:path>
                </a:pathLst>
              </a:custGeom>
              <a:noFill/>
              <a:ln w="19050">
                <a:solidFill>
                  <a:srgbClr val="1B3A5B"/>
                </a:solidFill>
              </a:ln>
            </p:spPr>
            <p:txBody>
              <a:bodyPr/>
              <a:lstStyle/>
              <a:p>
                <a:endParaRPr lang="zh-CN" altLang="en-US"/>
              </a:p>
            </p:txBody>
          </p:sp>
          <p:sp>
            <p:nvSpPr>
              <p:cNvPr id="19" name="Freeform 19"/>
              <p:cNvSpPr/>
              <p:nvPr/>
            </p:nvSpPr>
            <p:spPr>
              <a:xfrm>
                <a:off x="2025650" y="2565400"/>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9050">
                <a:solidFill>
                  <a:srgbClr val="1B3A5B"/>
                </a:solidFill>
              </a:ln>
            </p:spPr>
            <p:txBody>
              <a:bodyPr/>
              <a:lstStyle/>
              <a:p>
                <a:endParaRPr lang="zh-CN" altLang="en-US"/>
              </a:p>
            </p:txBody>
          </p:sp>
          <p:sp>
            <p:nvSpPr>
              <p:cNvPr id="20" name="Freeform 20"/>
              <p:cNvSpPr/>
              <p:nvPr/>
            </p:nvSpPr>
            <p:spPr>
              <a:xfrm>
                <a:off x="2057400" y="2406650"/>
                <a:ext cx="9525" cy="158750"/>
              </a:xfrm>
              <a:custGeom>
                <a:avLst/>
                <a:gdLst/>
                <a:ahLst/>
                <a:cxnLst/>
                <a:rect l="l" t="t" r="r" b="b"/>
                <a:pathLst>
                  <a:path w="9525" h="158750">
                    <a:moveTo>
                      <a:pt x="0" y="0"/>
                    </a:moveTo>
                    <a:lnTo>
                      <a:pt x="0" y="158750"/>
                    </a:lnTo>
                  </a:path>
                </a:pathLst>
              </a:custGeom>
              <a:noFill/>
              <a:ln w="19050">
                <a:solidFill>
                  <a:srgbClr val="1B3A5B"/>
                </a:solidFill>
              </a:ln>
            </p:spPr>
            <p:txBody>
              <a:bodyPr/>
              <a:lstStyle/>
              <a:p>
                <a:endParaRPr lang="zh-CN" altLang="en-US" dirty="0"/>
              </a:p>
            </p:txBody>
          </p:sp>
          <p:sp>
            <p:nvSpPr>
              <p:cNvPr id="21" name="Freeform 21"/>
              <p:cNvSpPr/>
              <p:nvPr/>
            </p:nvSpPr>
            <p:spPr>
              <a:xfrm>
                <a:off x="2057400" y="2628901"/>
                <a:ext cx="9525" cy="31750"/>
              </a:xfrm>
              <a:custGeom>
                <a:avLst/>
                <a:gdLst/>
                <a:ahLst/>
                <a:cxnLst/>
                <a:rect l="l" t="t" r="r" b="b"/>
                <a:pathLst>
                  <a:path w="9525" h="31750">
                    <a:moveTo>
                      <a:pt x="0" y="0"/>
                    </a:moveTo>
                    <a:lnTo>
                      <a:pt x="0" y="31750"/>
                    </a:lnTo>
                  </a:path>
                </a:pathLst>
              </a:custGeom>
              <a:noFill/>
              <a:ln w="19050">
                <a:solidFill>
                  <a:srgbClr val="1B3A5B"/>
                </a:solidFill>
              </a:ln>
            </p:spPr>
            <p:txBody>
              <a:bodyPr/>
              <a:lstStyle/>
              <a:p>
                <a:endParaRPr lang="zh-CN" altLang="en-US"/>
              </a:p>
            </p:txBody>
          </p:sp>
          <p:sp>
            <p:nvSpPr>
              <p:cNvPr id="22" name="Freeform 22"/>
              <p:cNvSpPr/>
              <p:nvPr/>
            </p:nvSpPr>
            <p:spPr>
              <a:xfrm>
                <a:off x="2120901" y="2422525"/>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9050">
                <a:solidFill>
                  <a:srgbClr val="1B3A5B"/>
                </a:solidFill>
              </a:ln>
            </p:spPr>
            <p:txBody>
              <a:bodyPr/>
              <a:lstStyle/>
              <a:p>
                <a:endParaRPr lang="zh-CN" altLang="en-US"/>
              </a:p>
            </p:txBody>
          </p:sp>
          <p:sp>
            <p:nvSpPr>
              <p:cNvPr id="23" name="Freeform 23"/>
              <p:cNvSpPr/>
              <p:nvPr/>
            </p:nvSpPr>
            <p:spPr>
              <a:xfrm>
                <a:off x="2152651" y="2406650"/>
                <a:ext cx="9525" cy="15875"/>
              </a:xfrm>
              <a:custGeom>
                <a:avLst/>
                <a:gdLst/>
                <a:ahLst/>
                <a:cxnLst/>
                <a:rect l="l" t="t" r="r" b="b"/>
                <a:pathLst>
                  <a:path w="9525" h="15875">
                    <a:moveTo>
                      <a:pt x="0" y="0"/>
                    </a:moveTo>
                    <a:lnTo>
                      <a:pt x="0" y="15875"/>
                    </a:lnTo>
                  </a:path>
                </a:pathLst>
              </a:custGeom>
              <a:noFill/>
              <a:ln w="19050">
                <a:solidFill>
                  <a:srgbClr val="1B3A5B"/>
                </a:solidFill>
              </a:ln>
            </p:spPr>
            <p:txBody>
              <a:bodyPr/>
              <a:lstStyle/>
              <a:p>
                <a:endParaRPr lang="zh-CN" altLang="en-US"/>
              </a:p>
            </p:txBody>
          </p:sp>
          <p:sp>
            <p:nvSpPr>
              <p:cNvPr id="24" name="Freeform 24"/>
              <p:cNvSpPr/>
              <p:nvPr/>
            </p:nvSpPr>
            <p:spPr>
              <a:xfrm>
                <a:off x="2152651" y="2486025"/>
                <a:ext cx="9525" cy="174625"/>
              </a:xfrm>
              <a:custGeom>
                <a:avLst/>
                <a:gdLst/>
                <a:ahLst/>
                <a:cxnLst/>
                <a:rect l="l" t="t" r="r" b="b"/>
                <a:pathLst>
                  <a:path w="9525" h="174625">
                    <a:moveTo>
                      <a:pt x="0" y="0"/>
                    </a:moveTo>
                    <a:lnTo>
                      <a:pt x="0" y="174625"/>
                    </a:lnTo>
                  </a:path>
                </a:pathLst>
              </a:custGeom>
              <a:noFill/>
              <a:ln w="19050">
                <a:solidFill>
                  <a:srgbClr val="1B3A5B"/>
                </a:solidFill>
              </a:ln>
            </p:spPr>
            <p:txBody>
              <a:bodyPr/>
              <a:lstStyle/>
              <a:p>
                <a:endParaRPr lang="zh-CN" altLang="en-US"/>
              </a:p>
            </p:txBody>
          </p:sp>
        </p:grpSp>
        <p:sp>
          <p:nvSpPr>
            <p:cNvPr id="26" name="TextBox 26"/>
            <p:cNvSpPr txBox="1"/>
            <p:nvPr/>
          </p:nvSpPr>
          <p:spPr>
            <a:xfrm>
              <a:off x="1405833" y="2036774"/>
              <a:ext cx="5184111"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真实数据驱动</a:t>
              </a:r>
              <a:r>
                <a:rPr lang="zh-CN" altLang="en-US" b="1" dirty="0">
                  <a:solidFill>
                    <a:srgbClr val="1B3A5B"/>
                  </a:solidFill>
                  <a:latin typeface="Arial" panose="020B0604020202090204"/>
                  <a:ea typeface="微软雅黑"/>
                  <a:cs typeface="Arial" panose="020B0604020202090204"/>
                </a:rPr>
                <a:t>的关键节点画像和推荐算法参数校准</a:t>
              </a:r>
              <a:endParaRPr lang="zh-CN" b="1" dirty="0">
                <a:solidFill>
                  <a:srgbClr val="1B3A5B"/>
                </a:solidFill>
                <a:latin typeface="Arial" panose="020B0604020202090204"/>
                <a:ea typeface="微软雅黑"/>
                <a:cs typeface="Arial" panose="020B0604020202090204"/>
              </a:endParaRPr>
            </a:p>
          </p:txBody>
        </p:sp>
        <p:sp>
          <p:nvSpPr>
            <p:cNvPr id="28" name="TextBox 28"/>
            <p:cNvSpPr txBox="1"/>
            <p:nvPr/>
          </p:nvSpPr>
          <p:spPr>
            <a:xfrm>
              <a:off x="1205203" y="2591302"/>
              <a:ext cx="9302265" cy="984885"/>
            </a:xfrm>
            <a:prstGeom prst="rect">
              <a:avLst/>
            </a:prstGeom>
            <a:noFill/>
            <a:ln>
              <a:noFill/>
            </a:ln>
          </p:spPr>
          <p:txBody>
            <a:bodyPr wrap="square" lIns="0" tIns="0" rIns="0" bIns="0" anchor="t" anchorCtr="0">
              <a:spAutoFit/>
            </a:bodyPr>
            <a:lstStyle/>
            <a:p>
              <a:r>
                <a:rPr lang="zh-CN" altLang="en-US" sz="1600" dirty="0">
                  <a:solidFill>
                    <a:srgbClr val="2B2B2B"/>
                  </a:solidFill>
                  <a:latin typeface="Arial" panose="020B0604020202090204"/>
                  <a:ea typeface="微软雅黑"/>
                  <a:cs typeface="Arial" panose="020B0604020202090204"/>
                </a:rPr>
                <a:t>       本课题提出一种真实数据驱动的社交平台推荐算法关键参数校准方法，以真实用户行为、内容互动和传播结果为观测依据，将推荐曝光机制拆解为兴趣匹配、内容热度、时间衰减和随机探索等可解释参数，并通过参数校准将其注入在线仿真平台，从而解决现有社交仿真中信息分发机制依赖主观设定、推荐曝光过程失真和传播推演结果现实参照不足的问题。</a:t>
              </a:r>
              <a:endParaRPr lang="zh-CN" sz="1600" dirty="0">
                <a:solidFill>
                  <a:srgbClr val="2B2B2B"/>
                </a:solidFill>
                <a:latin typeface="Arial" panose="020B0604020202090204"/>
                <a:ea typeface="微软雅黑"/>
                <a:cs typeface="Arial" panose="020B0604020202090204"/>
              </a:endParaRPr>
            </a:p>
          </p:txBody>
        </p:sp>
      </p:grpSp>
      <p:grpSp>
        <p:nvGrpSpPr>
          <p:cNvPr id="54" name="Group 54"/>
          <p:cNvGrpSpPr/>
          <p:nvPr/>
        </p:nvGrpSpPr>
        <p:grpSpPr>
          <a:xfrm>
            <a:off x="598170" y="6515100"/>
            <a:ext cx="10995661" cy="276225"/>
            <a:chOff x="598170" y="6515100"/>
            <a:chExt cx="10995661" cy="276225"/>
          </a:xfrm>
        </p:grpSpPr>
        <p:sp>
          <p:nvSpPr>
            <p:cNvPr id="51" name="Line 51"/>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52" name="TextBox 52"/>
            <p:cNvSpPr txBox="1"/>
            <p:nvPr/>
          </p:nvSpPr>
          <p:spPr>
            <a:xfrm>
              <a:off x="598170" y="6608445"/>
              <a:ext cx="1823085" cy="182880"/>
            </a:xfrm>
            <a:prstGeom prst="rect">
              <a:avLst/>
            </a:prstGeom>
            <a:noFill/>
            <a:ln>
              <a:noFill/>
            </a:ln>
          </p:spPr>
          <p:txBody>
            <a:bodyPr wrap="none" lIns="0" tIns="0" rIns="0" bIns="0" anchor="t" anchorCtr="0">
              <a:spAutoFit/>
            </a:bodyPr>
            <a:lstStyle/>
            <a:p>
              <a:pPr algn="l"/>
              <a:r>
                <a:rPr lang="zh-CN" sz="900" dirty="0">
                  <a:solidFill>
                    <a:srgbClr val="8C8C82"/>
                  </a:solidFill>
                  <a:latin typeface="Arial" panose="020B0604020202090204"/>
                  <a:ea typeface="微软雅黑"/>
                  <a:cs typeface="Arial" panose="020B0604020202090204"/>
                </a:rPr>
                <a:t>融合推荐机制校准的社交仿真平台</a:t>
              </a:r>
            </a:p>
          </p:txBody>
        </p:sp>
        <p:sp>
          <p:nvSpPr>
            <p:cNvPr id="53" name="TextBox 53"/>
            <p:cNvSpPr txBox="1"/>
            <p:nvPr/>
          </p:nvSpPr>
          <p:spPr>
            <a:xfrm>
              <a:off x="11438954" y="6608445"/>
              <a:ext cx="154877" cy="182880"/>
            </a:xfrm>
            <a:prstGeom prst="rect">
              <a:avLst/>
            </a:prstGeom>
            <a:noFill/>
            <a:ln>
              <a:noFill/>
            </a:ln>
          </p:spPr>
          <p:txBody>
            <a:bodyPr wrap="none" lIns="0" tIns="0" rIns="0" bIns="0" anchor="t" anchorCtr="0">
              <a:spAutoFit/>
            </a:bodyPr>
            <a:lstStyle/>
            <a:p>
              <a:pPr algn="r"/>
              <a:r>
                <a:rPr lang="en-US" sz="900" dirty="0">
                  <a:solidFill>
                    <a:srgbClr val="8C8C82"/>
                  </a:solidFill>
                  <a:latin typeface="Cambria"/>
                  <a:ea typeface="Cambria"/>
                  <a:cs typeface="Cambria"/>
                </a:rPr>
                <a:t>08</a:t>
              </a:r>
            </a:p>
          </p:txBody>
        </p:sp>
      </p:grpSp>
      <p:pic>
        <p:nvPicPr>
          <p:cNvPr id="55" name="Image 7"/>
          <p:cNvPicPr>
            <a:picLocks noChangeAspect="1"/>
          </p:cNvPicPr>
          <p:nvPr/>
        </p:nvPicPr>
        <p:blipFill>
          <a:blip r:embed="rId3"/>
          <a:stretch>
            <a:fillRect/>
          </a:stretch>
        </p:blipFill>
        <p:spPr>
          <a:xfrm>
            <a:off x="10919012" y="-13055"/>
            <a:ext cx="663388" cy="846763"/>
          </a:xfrm>
          <a:prstGeom prst="rect">
            <a:avLst/>
          </a:prstGeom>
        </p:spPr>
      </p:pic>
      <p:sp>
        <p:nvSpPr>
          <p:cNvPr id="57" name="TextBox 6"/>
          <p:cNvSpPr txBox="1"/>
          <p:nvPr/>
        </p:nvSpPr>
        <p:spPr>
          <a:xfrm>
            <a:off x="590550" y="523875"/>
            <a:ext cx="1802321" cy="304800"/>
          </a:xfrm>
          <a:prstGeom prst="rect">
            <a:avLst/>
          </a:prstGeom>
          <a:noFill/>
          <a:ln>
            <a:noFill/>
          </a:ln>
        </p:spPr>
        <p:txBody>
          <a:bodyPr wrap="none" lIns="0" tIns="0" rIns="0" bIns="0" anchor="t" anchorCtr="0">
            <a:spAutoFit/>
          </a:bodyPr>
          <a:lstStyle/>
          <a:p>
            <a:pPr algn="l"/>
            <a:r>
              <a:rPr lang="en-US" sz="1500" b="1" dirty="0">
                <a:solidFill>
                  <a:srgbClr val="1B3A5B"/>
                </a:solidFill>
                <a:latin typeface="Cambria"/>
                <a:ea typeface="Cambria"/>
                <a:cs typeface="Cambria"/>
              </a:rPr>
              <a:t>04 </a:t>
            </a:r>
            <a:r>
              <a:rPr lang="zh-CN" sz="1200" b="1" dirty="0">
                <a:solidFill>
                  <a:srgbClr val="5A5A52"/>
                </a:solidFill>
                <a:latin typeface="Arial" panose="020B0604020202090204"/>
                <a:ea typeface="微软雅黑"/>
                <a:cs typeface="Arial" panose="020B0604020202090204"/>
              </a:rPr>
              <a:t>技术路线与方案</a:t>
            </a:r>
          </a:p>
        </p:txBody>
      </p:sp>
      <p:grpSp>
        <p:nvGrpSpPr>
          <p:cNvPr id="9" name="组合 8"/>
          <p:cNvGrpSpPr/>
          <p:nvPr/>
        </p:nvGrpSpPr>
        <p:grpSpPr>
          <a:xfrm>
            <a:off x="577215" y="4170680"/>
            <a:ext cx="10503535" cy="2048510"/>
            <a:chOff x="577215" y="1906604"/>
            <a:chExt cx="10503535" cy="2977966"/>
          </a:xfrm>
        </p:grpSpPr>
        <p:sp>
          <p:nvSpPr>
            <p:cNvPr id="15" name="Rectangle 13"/>
            <p:cNvSpPr/>
            <p:nvPr/>
          </p:nvSpPr>
          <p:spPr>
            <a:xfrm>
              <a:off x="577215" y="1906604"/>
              <a:ext cx="10503535" cy="2977966"/>
            </a:xfrm>
            <a:prstGeom prst="roundRect">
              <a:avLst>
                <a:gd name="adj" fmla="val 3125"/>
              </a:avLst>
            </a:prstGeom>
            <a:solidFill>
              <a:srgbClr val="FFFFFF"/>
            </a:solidFill>
            <a:ln w="9525">
              <a:solidFill>
                <a:srgbClr val="D8D0C2"/>
              </a:solidFill>
            </a:ln>
          </p:spPr>
          <p:txBody>
            <a:bodyPr/>
            <a:lstStyle/>
            <a:p>
              <a:endParaRPr lang="zh-CN" altLang="en-US"/>
            </a:p>
          </p:txBody>
        </p:sp>
        <p:sp>
          <p:nvSpPr>
            <p:cNvPr id="27" name="Rectangle 14"/>
            <p:cNvSpPr/>
            <p:nvPr/>
          </p:nvSpPr>
          <p:spPr>
            <a:xfrm>
              <a:off x="577215" y="1906604"/>
              <a:ext cx="54706" cy="2977966"/>
            </a:xfrm>
            <a:prstGeom prst="rect">
              <a:avLst/>
            </a:prstGeom>
            <a:solidFill>
              <a:srgbClr val="1B3A5B"/>
            </a:solidFill>
            <a:ln>
              <a:noFill/>
            </a:ln>
          </p:spPr>
          <p:txBody>
            <a:bodyPr/>
            <a:lstStyle/>
            <a:p>
              <a:endParaRPr lang="zh-CN" altLang="en-US" dirty="0"/>
            </a:p>
          </p:txBody>
        </p:sp>
      </p:grpSp>
      <p:grpSp>
        <p:nvGrpSpPr>
          <p:cNvPr id="29" name="组合 28"/>
          <p:cNvGrpSpPr/>
          <p:nvPr/>
        </p:nvGrpSpPr>
        <p:grpSpPr>
          <a:xfrm>
            <a:off x="876300" y="4361490"/>
            <a:ext cx="9716894" cy="1527348"/>
            <a:chOff x="888999" y="2036774"/>
            <a:chExt cx="9716894" cy="1527348"/>
          </a:xfrm>
        </p:grpSpPr>
        <p:grpSp>
          <p:nvGrpSpPr>
            <p:cNvPr id="30" name="Group 25"/>
            <p:cNvGrpSpPr/>
            <p:nvPr/>
          </p:nvGrpSpPr>
          <p:grpSpPr>
            <a:xfrm>
              <a:off x="888999" y="2050246"/>
              <a:ext cx="254001" cy="254001"/>
              <a:chOff x="1930400" y="2406650"/>
              <a:chExt cx="254001" cy="254001"/>
            </a:xfrm>
          </p:grpSpPr>
          <p:sp>
            <p:nvSpPr>
              <p:cNvPr id="31" name="Freeform 16"/>
              <p:cNvSpPr/>
              <p:nvPr/>
            </p:nvSpPr>
            <p:spPr>
              <a:xfrm>
                <a:off x="1930400" y="2470150"/>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9050">
                <a:solidFill>
                  <a:srgbClr val="1B3A5B"/>
                </a:solidFill>
              </a:ln>
            </p:spPr>
            <p:txBody>
              <a:bodyPr/>
              <a:lstStyle/>
              <a:p>
                <a:endParaRPr lang="zh-CN" altLang="en-US"/>
              </a:p>
            </p:txBody>
          </p:sp>
          <p:sp>
            <p:nvSpPr>
              <p:cNvPr id="32" name="Freeform 17"/>
              <p:cNvSpPr/>
              <p:nvPr/>
            </p:nvSpPr>
            <p:spPr>
              <a:xfrm>
                <a:off x="1962150" y="2406650"/>
                <a:ext cx="9525" cy="63500"/>
              </a:xfrm>
              <a:custGeom>
                <a:avLst/>
                <a:gdLst/>
                <a:ahLst/>
                <a:cxnLst/>
                <a:rect l="l" t="t" r="r" b="b"/>
                <a:pathLst>
                  <a:path w="9525" h="63500">
                    <a:moveTo>
                      <a:pt x="0" y="0"/>
                    </a:moveTo>
                    <a:lnTo>
                      <a:pt x="0" y="63500"/>
                    </a:lnTo>
                  </a:path>
                </a:pathLst>
              </a:custGeom>
              <a:noFill/>
              <a:ln w="19050">
                <a:solidFill>
                  <a:srgbClr val="1B3A5B"/>
                </a:solidFill>
              </a:ln>
            </p:spPr>
            <p:txBody>
              <a:bodyPr/>
              <a:lstStyle/>
              <a:p>
                <a:endParaRPr lang="zh-CN" altLang="en-US"/>
              </a:p>
            </p:txBody>
          </p:sp>
          <p:sp>
            <p:nvSpPr>
              <p:cNvPr id="33" name="Freeform 18"/>
              <p:cNvSpPr/>
              <p:nvPr/>
            </p:nvSpPr>
            <p:spPr>
              <a:xfrm>
                <a:off x="1962150" y="2533650"/>
                <a:ext cx="9525" cy="127000"/>
              </a:xfrm>
              <a:custGeom>
                <a:avLst/>
                <a:gdLst/>
                <a:ahLst/>
                <a:cxnLst/>
                <a:rect l="l" t="t" r="r" b="b"/>
                <a:pathLst>
                  <a:path w="9525" h="127000">
                    <a:moveTo>
                      <a:pt x="0" y="0"/>
                    </a:moveTo>
                    <a:lnTo>
                      <a:pt x="0" y="127000"/>
                    </a:lnTo>
                  </a:path>
                </a:pathLst>
              </a:custGeom>
              <a:noFill/>
              <a:ln w="19050">
                <a:solidFill>
                  <a:srgbClr val="1B3A5B"/>
                </a:solidFill>
              </a:ln>
            </p:spPr>
            <p:txBody>
              <a:bodyPr/>
              <a:lstStyle/>
              <a:p>
                <a:endParaRPr lang="zh-CN" altLang="en-US"/>
              </a:p>
            </p:txBody>
          </p:sp>
          <p:sp>
            <p:nvSpPr>
              <p:cNvPr id="34" name="Freeform 19"/>
              <p:cNvSpPr/>
              <p:nvPr/>
            </p:nvSpPr>
            <p:spPr>
              <a:xfrm>
                <a:off x="2025650" y="2565400"/>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9050">
                <a:solidFill>
                  <a:srgbClr val="1B3A5B"/>
                </a:solidFill>
              </a:ln>
            </p:spPr>
            <p:txBody>
              <a:bodyPr/>
              <a:lstStyle/>
              <a:p>
                <a:endParaRPr lang="zh-CN" altLang="en-US"/>
              </a:p>
            </p:txBody>
          </p:sp>
          <p:sp>
            <p:nvSpPr>
              <p:cNvPr id="35" name="Freeform 20"/>
              <p:cNvSpPr/>
              <p:nvPr/>
            </p:nvSpPr>
            <p:spPr>
              <a:xfrm>
                <a:off x="2057400" y="2406650"/>
                <a:ext cx="9525" cy="158750"/>
              </a:xfrm>
              <a:custGeom>
                <a:avLst/>
                <a:gdLst/>
                <a:ahLst/>
                <a:cxnLst/>
                <a:rect l="l" t="t" r="r" b="b"/>
                <a:pathLst>
                  <a:path w="9525" h="158750">
                    <a:moveTo>
                      <a:pt x="0" y="0"/>
                    </a:moveTo>
                    <a:lnTo>
                      <a:pt x="0" y="158750"/>
                    </a:lnTo>
                  </a:path>
                </a:pathLst>
              </a:custGeom>
              <a:noFill/>
              <a:ln w="19050">
                <a:solidFill>
                  <a:srgbClr val="1B3A5B"/>
                </a:solidFill>
              </a:ln>
            </p:spPr>
            <p:txBody>
              <a:bodyPr/>
              <a:lstStyle/>
              <a:p>
                <a:endParaRPr lang="zh-CN" altLang="en-US" dirty="0"/>
              </a:p>
            </p:txBody>
          </p:sp>
          <p:sp>
            <p:nvSpPr>
              <p:cNvPr id="36" name="Freeform 21"/>
              <p:cNvSpPr/>
              <p:nvPr/>
            </p:nvSpPr>
            <p:spPr>
              <a:xfrm>
                <a:off x="2057400" y="2628901"/>
                <a:ext cx="9525" cy="31750"/>
              </a:xfrm>
              <a:custGeom>
                <a:avLst/>
                <a:gdLst/>
                <a:ahLst/>
                <a:cxnLst/>
                <a:rect l="l" t="t" r="r" b="b"/>
                <a:pathLst>
                  <a:path w="9525" h="31750">
                    <a:moveTo>
                      <a:pt x="0" y="0"/>
                    </a:moveTo>
                    <a:lnTo>
                      <a:pt x="0" y="31750"/>
                    </a:lnTo>
                  </a:path>
                </a:pathLst>
              </a:custGeom>
              <a:noFill/>
              <a:ln w="19050">
                <a:solidFill>
                  <a:srgbClr val="1B3A5B"/>
                </a:solidFill>
              </a:ln>
            </p:spPr>
            <p:txBody>
              <a:bodyPr/>
              <a:lstStyle/>
              <a:p>
                <a:endParaRPr lang="zh-CN" altLang="en-US"/>
              </a:p>
            </p:txBody>
          </p:sp>
          <p:sp>
            <p:nvSpPr>
              <p:cNvPr id="37" name="Freeform 22"/>
              <p:cNvSpPr/>
              <p:nvPr/>
            </p:nvSpPr>
            <p:spPr>
              <a:xfrm>
                <a:off x="2120901" y="2422525"/>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9050">
                <a:solidFill>
                  <a:srgbClr val="1B3A5B"/>
                </a:solidFill>
              </a:ln>
            </p:spPr>
            <p:txBody>
              <a:bodyPr/>
              <a:lstStyle/>
              <a:p>
                <a:endParaRPr lang="zh-CN" altLang="en-US"/>
              </a:p>
            </p:txBody>
          </p:sp>
          <p:sp>
            <p:nvSpPr>
              <p:cNvPr id="38" name="Freeform 23"/>
              <p:cNvSpPr/>
              <p:nvPr/>
            </p:nvSpPr>
            <p:spPr>
              <a:xfrm>
                <a:off x="2152651" y="2406650"/>
                <a:ext cx="9525" cy="15875"/>
              </a:xfrm>
              <a:custGeom>
                <a:avLst/>
                <a:gdLst/>
                <a:ahLst/>
                <a:cxnLst/>
                <a:rect l="l" t="t" r="r" b="b"/>
                <a:pathLst>
                  <a:path w="9525" h="15875">
                    <a:moveTo>
                      <a:pt x="0" y="0"/>
                    </a:moveTo>
                    <a:lnTo>
                      <a:pt x="0" y="15875"/>
                    </a:lnTo>
                  </a:path>
                </a:pathLst>
              </a:custGeom>
              <a:noFill/>
              <a:ln w="19050">
                <a:solidFill>
                  <a:srgbClr val="1B3A5B"/>
                </a:solidFill>
              </a:ln>
            </p:spPr>
            <p:txBody>
              <a:bodyPr/>
              <a:lstStyle/>
              <a:p>
                <a:endParaRPr lang="zh-CN" altLang="en-US"/>
              </a:p>
            </p:txBody>
          </p:sp>
          <p:sp>
            <p:nvSpPr>
              <p:cNvPr id="39" name="Freeform 24"/>
              <p:cNvSpPr/>
              <p:nvPr/>
            </p:nvSpPr>
            <p:spPr>
              <a:xfrm>
                <a:off x="2152651" y="2486025"/>
                <a:ext cx="9525" cy="174625"/>
              </a:xfrm>
              <a:custGeom>
                <a:avLst/>
                <a:gdLst/>
                <a:ahLst/>
                <a:cxnLst/>
                <a:rect l="l" t="t" r="r" b="b"/>
                <a:pathLst>
                  <a:path w="9525" h="174625">
                    <a:moveTo>
                      <a:pt x="0" y="0"/>
                    </a:moveTo>
                    <a:lnTo>
                      <a:pt x="0" y="174625"/>
                    </a:lnTo>
                  </a:path>
                </a:pathLst>
              </a:custGeom>
              <a:noFill/>
              <a:ln w="19050">
                <a:solidFill>
                  <a:srgbClr val="1B3A5B"/>
                </a:solidFill>
              </a:ln>
            </p:spPr>
            <p:txBody>
              <a:bodyPr/>
              <a:lstStyle/>
              <a:p>
                <a:endParaRPr lang="zh-CN" altLang="en-US"/>
              </a:p>
            </p:txBody>
          </p:sp>
        </p:grpSp>
        <p:sp>
          <p:nvSpPr>
            <p:cNvPr id="40" name="TextBox 26"/>
            <p:cNvSpPr txBox="1"/>
            <p:nvPr/>
          </p:nvSpPr>
          <p:spPr>
            <a:xfrm>
              <a:off x="1405833" y="2036774"/>
              <a:ext cx="3209290" cy="276860"/>
            </a:xfrm>
            <a:prstGeom prst="rect">
              <a:avLst/>
            </a:prstGeom>
            <a:noFill/>
            <a:ln>
              <a:noFill/>
            </a:ln>
          </p:spPr>
          <p:txBody>
            <a:bodyPr wrap="none" lIns="0" tIns="0" rIns="0" bIns="0" anchor="t" anchorCtr="0">
              <a:spAutoFit/>
            </a:bodyPr>
            <a:lstStyle/>
            <a:p>
              <a:pPr algn="l"/>
              <a:r>
                <a:rPr lang="zh-CN" altLang="en-US" b="1" dirty="0">
                  <a:solidFill>
                    <a:srgbClr val="1B3A5B"/>
                  </a:solidFill>
                  <a:latin typeface="Arial" panose="020B0604020202090204"/>
                  <a:ea typeface="微软雅黑"/>
                  <a:cs typeface="Arial" panose="020B0604020202090204"/>
                </a:rPr>
                <a:t>端到端闭环的社交仿真实验系统</a:t>
              </a:r>
            </a:p>
          </p:txBody>
        </p:sp>
        <p:sp>
          <p:nvSpPr>
            <p:cNvPr id="41" name="TextBox 28"/>
            <p:cNvSpPr txBox="1"/>
            <p:nvPr/>
          </p:nvSpPr>
          <p:spPr>
            <a:xfrm>
              <a:off x="1303628" y="2579237"/>
              <a:ext cx="9302265" cy="984885"/>
            </a:xfrm>
            <a:prstGeom prst="rect">
              <a:avLst/>
            </a:prstGeom>
            <a:noFill/>
            <a:ln>
              <a:noFill/>
            </a:ln>
          </p:spPr>
          <p:txBody>
            <a:bodyPr wrap="square" lIns="0" tIns="0" rIns="0" bIns="0" anchor="t" anchorCtr="0">
              <a:spAutoFit/>
            </a:bodyPr>
            <a:lstStyle/>
            <a:p>
              <a:r>
                <a:rPr lang="en-US" altLang="zh-CN" sz="1600" dirty="0">
                  <a:solidFill>
                    <a:srgbClr val="2B2B2B"/>
                  </a:solidFill>
                  <a:latin typeface="Arial" panose="020B0604020202090204"/>
                  <a:ea typeface="微软雅黑"/>
                  <a:cs typeface="Arial" panose="020B0604020202090204"/>
                </a:rPr>
                <a:t>       </a:t>
              </a:r>
              <a:r>
                <a:rPr lang="zh-CN" altLang="en-US" sz="1600" dirty="0">
                  <a:solidFill>
                    <a:srgbClr val="2B2B2B"/>
                  </a:solidFill>
                  <a:latin typeface="Arial" panose="020B0604020202090204"/>
                  <a:ea typeface="微软雅黑"/>
                  <a:cs typeface="Arial" panose="020B0604020202090204"/>
                </a:rPr>
                <a:t>设计并实现一套从原始社交数据到在线仿真推演的端到端闭环系统，将数据清洗、关键节点画像生成、推荐参数校准、仿真配置注入、在线模拟运行和结果归档验证整合在统一流程中，避免传统研究中需要在多个工具或系统之间反复转换数据、手工拼接配置和分散记录实验结果的问题，提高仿真实验的可复现性、自动化程度和工程复用能力。</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a:grpSpLocks noGrp="1" noUngrp="1" noRot="1" noMove="1" noResize="1"/>
          </p:cNvGrpSpPr>
          <p:nvPr/>
        </p:nvGrpSpPr>
        <p:grpSpPr>
          <a:xfrm>
            <a:off x="0" y="5494"/>
            <a:ext cx="12192000" cy="6858000"/>
            <a:chOff x="0" y="0"/>
            <a:chExt cx="12192000" cy="6858000"/>
          </a:xfrm>
        </p:grpSpPr>
        <p:sp>
          <p:nvSpPr>
            <p:cNvPr id="2" name="Rectangle 2"/>
            <p:cNvSpPr>
              <a:spLocks noGrp="1" noRot="1" noMove="1" noResize="1" noEditPoints="1" noAdjustHandles="1" noChangeArrowheads="1" noChangeShapeType="1"/>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a:spLocks noGrp="1" noRot="1" noMove="1" noResize="1" noEditPoints="1" noAdjustHandles="1" noChangeArrowheads="1" noChangeShapeType="1"/>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4" name="Rectangle 4"/>
            <p:cNvSpPr>
              <a:spLocks noGrp="1" noRot="1" noMove="1" noResize="1" noEditPoints="1" noAdjustHandles="1" noChangeArrowheads="1" noChangeShapeType="1"/>
            </p:cNvSpPr>
            <p:nvPr/>
          </p:nvSpPr>
          <p:spPr>
            <a:xfrm>
              <a:off x="0" y="0"/>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dirty="0"/>
            </a:p>
          </p:txBody>
        </p:sp>
      </p:grpSp>
      <p:grpSp>
        <p:nvGrpSpPr>
          <p:cNvPr id="9" name="Group 9"/>
          <p:cNvGrpSpPr/>
          <p:nvPr/>
        </p:nvGrpSpPr>
        <p:grpSpPr>
          <a:xfrm>
            <a:off x="590550" y="523875"/>
            <a:ext cx="10991850" cy="400050"/>
            <a:chOff x="590550" y="523875"/>
            <a:chExt cx="10991850" cy="400050"/>
          </a:xfrm>
        </p:grpSpPr>
        <p:sp>
          <p:nvSpPr>
            <p:cNvPr id="6" name="TextBox 6"/>
            <p:cNvSpPr txBox="1"/>
            <p:nvPr/>
          </p:nvSpPr>
          <p:spPr>
            <a:xfrm>
              <a:off x="590550" y="523875"/>
              <a:ext cx="1382268" cy="304800"/>
            </a:xfrm>
            <a:prstGeom prst="rect">
              <a:avLst/>
            </a:prstGeom>
            <a:noFill/>
            <a:ln>
              <a:noFill/>
            </a:ln>
          </p:spPr>
          <p:txBody>
            <a:bodyPr wrap="none" lIns="0" tIns="0" rIns="0" bIns="0" anchor="t" anchorCtr="0">
              <a:spAutoFit/>
            </a:bodyPr>
            <a:lstStyle/>
            <a:p>
              <a:pPr algn="l"/>
              <a:r>
                <a:rPr lang="en-US" sz="1500" b="1" dirty="0">
                  <a:solidFill>
                    <a:srgbClr val="1B3A5B"/>
                  </a:solidFill>
                  <a:latin typeface="Cambria"/>
                  <a:ea typeface="Cambria"/>
                  <a:cs typeface="Cambria"/>
                </a:rPr>
                <a:t>05 </a:t>
              </a:r>
              <a:r>
                <a:rPr lang="zh-CN" sz="1200" b="1" dirty="0">
                  <a:solidFill>
                    <a:srgbClr val="5A5A52"/>
                  </a:solidFill>
                  <a:latin typeface="Arial" panose="020B0604020202090204"/>
                  <a:ea typeface="微软雅黑"/>
                  <a:cs typeface="Arial" panose="020B0604020202090204"/>
                </a:rPr>
                <a:t>可行性分析</a:t>
              </a:r>
            </a:p>
          </p:txBody>
        </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19050">
              <a:solidFill>
                <a:srgbClr val="1B3A5B"/>
              </a:solidFill>
            </a:ln>
          </p:spPr>
          <p:txBody>
            <a:bodyPr/>
            <a:lstStyle/>
            <a:p>
              <a:endParaRPr lang="zh-CN" altLang="en-US"/>
            </a:p>
          </p:txBody>
        </p:sp>
      </p:grpSp>
      <p:grpSp>
        <p:nvGrpSpPr>
          <p:cNvPr id="12" name="Group 12"/>
          <p:cNvGrpSpPr/>
          <p:nvPr/>
        </p:nvGrpSpPr>
        <p:grpSpPr>
          <a:xfrm>
            <a:off x="577215" y="1210628"/>
            <a:ext cx="985847" cy="484822"/>
            <a:chOff x="577215" y="1210628"/>
            <a:chExt cx="985847" cy="484822"/>
          </a:xfrm>
        </p:grpSpPr>
        <p:sp>
          <p:nvSpPr>
            <p:cNvPr id="10" name="TextBox 10"/>
            <p:cNvSpPr txBox="1"/>
            <p:nvPr/>
          </p:nvSpPr>
          <p:spPr>
            <a:xfrm>
              <a:off x="577215" y="1210628"/>
              <a:ext cx="985847" cy="392415"/>
            </a:xfrm>
            <a:prstGeom prst="rect">
              <a:avLst/>
            </a:prstGeom>
            <a:noFill/>
            <a:ln>
              <a:noFill/>
            </a:ln>
          </p:spPr>
          <p:txBody>
            <a:bodyPr wrap="none" lIns="0" tIns="0" rIns="0" bIns="0" anchor="t" anchorCtr="0">
              <a:spAutoFit/>
            </a:bodyPr>
            <a:lstStyle/>
            <a:p>
              <a:pPr algn="l"/>
              <a:r>
                <a:rPr lang="zh-CN" altLang="en-US" sz="2550" b="1" dirty="0">
                  <a:solidFill>
                    <a:srgbClr val="1B3A5B"/>
                  </a:solidFill>
                  <a:latin typeface="Cambria"/>
                  <a:ea typeface="宋体"/>
                  <a:cs typeface="Cambria"/>
                </a:rPr>
                <a:t>可行性</a:t>
              </a:r>
              <a:endParaRPr lang="zh-CN" sz="2550" b="1" dirty="0">
                <a:solidFill>
                  <a:srgbClr val="1B3A5B"/>
                </a:solidFill>
                <a:latin typeface="Cambria"/>
                <a:ea typeface="宋体"/>
                <a:cs typeface="Cambria"/>
              </a:endParaRPr>
            </a:p>
          </p:txBody>
        </p:sp>
        <p:sp>
          <p:nvSpPr>
            <p:cNvPr id="11" name="Rectangle 11"/>
            <p:cNvSpPr/>
            <p:nvPr/>
          </p:nvSpPr>
          <p:spPr>
            <a:xfrm>
              <a:off x="609600" y="1657350"/>
              <a:ext cx="533400" cy="38100"/>
            </a:xfrm>
            <a:prstGeom prst="rect">
              <a:avLst/>
            </a:prstGeom>
            <a:solidFill>
              <a:srgbClr val="C8A24B"/>
            </a:solidFill>
            <a:ln>
              <a:noFill/>
            </a:ln>
          </p:spPr>
          <p:txBody>
            <a:bodyPr/>
            <a:lstStyle/>
            <a:p>
              <a:endParaRPr lang="zh-CN" altLang="en-US"/>
            </a:p>
          </p:txBody>
        </p:sp>
      </p:grpSp>
      <p:grpSp>
        <p:nvGrpSpPr>
          <p:cNvPr id="61" name="Group 61"/>
          <p:cNvGrpSpPr/>
          <p:nvPr/>
        </p:nvGrpSpPr>
        <p:grpSpPr>
          <a:xfrm>
            <a:off x="609600" y="2019300"/>
            <a:ext cx="10972800" cy="3867150"/>
            <a:chOff x="609600" y="2019300"/>
            <a:chExt cx="10972800" cy="3867150"/>
          </a:xfrm>
        </p:grpSpPr>
        <p:grpSp>
          <p:nvGrpSpPr>
            <p:cNvPr id="22" name="Group 22"/>
            <p:cNvGrpSpPr/>
            <p:nvPr/>
          </p:nvGrpSpPr>
          <p:grpSpPr>
            <a:xfrm>
              <a:off x="609600" y="2019300"/>
              <a:ext cx="5391150" cy="1847850"/>
              <a:chOff x="609600" y="2019300"/>
              <a:chExt cx="5391150" cy="1847850"/>
            </a:xfrm>
          </p:grpSpPr>
          <p:sp>
            <p:nvSpPr>
              <p:cNvPr id="13" name="Rectangle 13"/>
              <p:cNvSpPr/>
              <p:nvPr/>
            </p:nvSpPr>
            <p:spPr>
              <a:xfrm>
                <a:off x="609600" y="2019300"/>
                <a:ext cx="5391150" cy="1847850"/>
              </a:xfrm>
              <a:prstGeom prst="roundRect">
                <a:avLst>
                  <a:gd name="adj" fmla="val 2062"/>
                </a:avLst>
              </a:prstGeom>
              <a:solidFill>
                <a:srgbClr val="FFFFFF"/>
              </a:solidFill>
              <a:ln w="9525">
                <a:solidFill>
                  <a:srgbClr val="D8D0C2"/>
                </a:solidFill>
              </a:ln>
            </p:spPr>
            <p:txBody>
              <a:bodyPr/>
              <a:lstStyle/>
              <a:p>
                <a:endParaRPr lang="zh-CN" altLang="en-US"/>
              </a:p>
            </p:txBody>
          </p:sp>
          <p:sp>
            <p:nvSpPr>
              <p:cNvPr id="14" name="Rectangle 14"/>
              <p:cNvSpPr/>
              <p:nvPr/>
            </p:nvSpPr>
            <p:spPr>
              <a:xfrm>
                <a:off x="609600" y="2019300"/>
                <a:ext cx="57150" cy="1847850"/>
              </a:xfrm>
              <a:prstGeom prst="rect">
                <a:avLst/>
              </a:prstGeom>
              <a:solidFill>
                <a:srgbClr val="1B3A5B"/>
              </a:solidFill>
              <a:ln>
                <a:noFill/>
              </a:ln>
            </p:spPr>
            <p:txBody>
              <a:bodyPr/>
              <a:lstStyle/>
              <a:p>
                <a:endParaRPr lang="zh-CN" altLang="en-US"/>
              </a:p>
            </p:txBody>
          </p:sp>
          <p:grpSp>
            <p:nvGrpSpPr>
              <p:cNvPr id="18" name="Group 18"/>
              <p:cNvGrpSpPr/>
              <p:nvPr/>
            </p:nvGrpSpPr>
            <p:grpSpPr>
              <a:xfrm>
                <a:off x="914400" y="2305050"/>
                <a:ext cx="228599" cy="228600"/>
                <a:chOff x="914400" y="2305050"/>
                <a:chExt cx="228599" cy="228600"/>
              </a:xfrm>
            </p:grpSpPr>
            <p:sp>
              <p:nvSpPr>
                <p:cNvPr id="15" name="Freeform 15"/>
                <p:cNvSpPr/>
                <p:nvPr/>
              </p:nvSpPr>
              <p:spPr>
                <a:xfrm>
                  <a:off x="914400" y="2305050"/>
                  <a:ext cx="228599" cy="114300"/>
                </a:xfrm>
                <a:custGeom>
                  <a:avLst/>
                  <a:gdLst/>
                  <a:ahLst/>
                  <a:cxnLst/>
                  <a:rect l="l" t="t" r="r" b="b"/>
                  <a:pathLst>
                    <a:path w="228599" h="114300">
                      <a:moveTo>
                        <a:pt x="0" y="114300"/>
                      </a:moveTo>
                      <a:lnTo>
                        <a:pt x="12700" y="114300"/>
                      </a:lnTo>
                      <a:moveTo>
                        <a:pt x="114300" y="0"/>
                      </a:moveTo>
                      <a:lnTo>
                        <a:pt x="114300" y="12700"/>
                      </a:lnTo>
                      <a:moveTo>
                        <a:pt x="215899" y="114300"/>
                      </a:moveTo>
                      <a:lnTo>
                        <a:pt x="228599" y="114300"/>
                      </a:lnTo>
                      <a:moveTo>
                        <a:pt x="33020" y="33020"/>
                      </a:moveTo>
                      <a:lnTo>
                        <a:pt x="41910" y="41910"/>
                      </a:lnTo>
                      <a:moveTo>
                        <a:pt x="195580" y="33020"/>
                      </a:moveTo>
                      <a:lnTo>
                        <a:pt x="186690" y="41910"/>
                      </a:lnTo>
                    </a:path>
                  </a:pathLst>
                </a:custGeom>
                <a:noFill/>
                <a:ln w="19050">
                  <a:solidFill>
                    <a:srgbClr val="1B3A5B"/>
                  </a:solidFill>
                </a:ln>
              </p:spPr>
              <p:txBody>
                <a:bodyPr/>
                <a:lstStyle/>
                <a:p>
                  <a:endParaRPr lang="zh-CN" altLang="en-US"/>
                </a:p>
              </p:txBody>
            </p:sp>
            <p:sp>
              <p:nvSpPr>
                <p:cNvPr id="16" name="Freeform 16"/>
                <p:cNvSpPr/>
                <p:nvPr/>
              </p:nvSpPr>
              <p:spPr>
                <a:xfrm>
                  <a:off x="959815" y="2355850"/>
                  <a:ext cx="137769" cy="177800"/>
                </a:xfrm>
                <a:custGeom>
                  <a:avLst/>
                  <a:gdLst/>
                  <a:ahLst/>
                  <a:cxnLst/>
                  <a:rect l="l" t="t" r="r" b="b"/>
                  <a:pathLst>
                    <a:path w="137769" h="177800">
                      <a:moveTo>
                        <a:pt x="30785" y="114300"/>
                      </a:moveTo>
                      <a:cubicBezTo>
                        <a:pt x="8919" y="97900"/>
                        <a:pt x="0" y="69349"/>
                        <a:pt x="8643" y="43419"/>
                      </a:cubicBezTo>
                      <a:cubicBezTo>
                        <a:pt x="17286" y="17490"/>
                        <a:pt x="41552" y="0"/>
                        <a:pt x="68884" y="0"/>
                      </a:cubicBezTo>
                      <a:cubicBezTo>
                        <a:pt x="96217" y="0"/>
                        <a:pt x="120482" y="17490"/>
                        <a:pt x="129126" y="43419"/>
                      </a:cubicBezTo>
                      <a:cubicBezTo>
                        <a:pt x="137769" y="69349"/>
                        <a:pt x="128850" y="97900"/>
                        <a:pt x="106984" y="114300"/>
                      </a:cubicBezTo>
                      <a:cubicBezTo>
                        <a:pt x="96928" y="124254"/>
                        <a:pt x="92212" y="138402"/>
                        <a:pt x="94284" y="152400"/>
                      </a:cubicBezTo>
                      <a:cubicBezTo>
                        <a:pt x="94284" y="166428"/>
                        <a:pt x="82912" y="177800"/>
                        <a:pt x="68884" y="177800"/>
                      </a:cubicBezTo>
                      <a:cubicBezTo>
                        <a:pt x="54856" y="177800"/>
                        <a:pt x="43485" y="166428"/>
                        <a:pt x="43485" y="152400"/>
                      </a:cubicBezTo>
                      <a:cubicBezTo>
                        <a:pt x="45557" y="138402"/>
                        <a:pt x="40841" y="124254"/>
                        <a:pt x="30785" y="114300"/>
                      </a:cubicBezTo>
                    </a:path>
                  </a:pathLst>
                </a:custGeom>
                <a:noFill/>
                <a:ln w="19050">
                  <a:solidFill>
                    <a:srgbClr val="1B3A5B"/>
                  </a:solidFill>
                </a:ln>
              </p:spPr>
              <p:txBody>
                <a:bodyPr/>
                <a:lstStyle/>
                <a:p>
                  <a:endParaRPr lang="zh-CN" altLang="en-US"/>
                </a:p>
              </p:txBody>
            </p:sp>
            <p:sp>
              <p:nvSpPr>
                <p:cNvPr id="17" name="Freeform 17"/>
                <p:cNvSpPr/>
                <p:nvPr/>
              </p:nvSpPr>
              <p:spPr>
                <a:xfrm>
                  <a:off x="999490" y="2482849"/>
                  <a:ext cx="58420" cy="9525"/>
                </a:xfrm>
                <a:custGeom>
                  <a:avLst/>
                  <a:gdLst/>
                  <a:ahLst/>
                  <a:cxnLst/>
                  <a:rect l="l" t="t" r="r" b="b"/>
                  <a:pathLst>
                    <a:path w="58420" h="9525">
                      <a:moveTo>
                        <a:pt x="0" y="0"/>
                      </a:moveTo>
                      <a:lnTo>
                        <a:pt x="58420" y="0"/>
                      </a:lnTo>
                    </a:path>
                  </a:pathLst>
                </a:custGeom>
                <a:noFill/>
                <a:ln w="19050">
                  <a:solidFill>
                    <a:srgbClr val="1B3A5B"/>
                  </a:solidFill>
                </a:ln>
              </p:spPr>
              <p:txBody>
                <a:bodyPr/>
                <a:lstStyle/>
                <a:p>
                  <a:endParaRPr lang="zh-CN" altLang="en-US"/>
                </a:p>
              </p:txBody>
            </p:sp>
          </p:grpSp>
          <p:sp>
            <p:nvSpPr>
              <p:cNvPr id="19" name="TextBox 19"/>
              <p:cNvSpPr txBox="1"/>
              <p:nvPr/>
            </p:nvSpPr>
            <p:spPr>
              <a:xfrm>
                <a:off x="1275398" y="2325529"/>
                <a:ext cx="923330"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理论基础</a:t>
                </a:r>
              </a:p>
            </p:txBody>
          </p:sp>
          <p:sp>
            <p:nvSpPr>
              <p:cNvPr id="20" name="TextBox 20"/>
              <p:cNvSpPr txBox="1"/>
              <p:nvPr/>
            </p:nvSpPr>
            <p:spPr>
              <a:xfrm>
                <a:off x="861060" y="2880360"/>
                <a:ext cx="3132268"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HiSim、FDE-LLM、OASIS 等研究</a:t>
                </a:r>
              </a:p>
            </p:txBody>
          </p:sp>
          <p:sp>
            <p:nvSpPr>
              <p:cNvPr id="21" name="TextBox 21"/>
              <p:cNvSpPr txBox="1"/>
              <p:nvPr/>
            </p:nvSpPr>
            <p:spPr>
              <a:xfrm>
                <a:off x="861060" y="3147060"/>
                <a:ext cx="3077766"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证明混合仿真与平台化系统可行。</a:t>
                </a:r>
              </a:p>
            </p:txBody>
          </p:sp>
        </p:grpSp>
        <p:grpSp>
          <p:nvGrpSpPr>
            <p:cNvPr id="38" name="Group 38"/>
            <p:cNvGrpSpPr/>
            <p:nvPr/>
          </p:nvGrpSpPr>
          <p:grpSpPr>
            <a:xfrm>
              <a:off x="6191250" y="2019300"/>
              <a:ext cx="5391150" cy="1847850"/>
              <a:chOff x="6191250" y="2019300"/>
              <a:chExt cx="5391150" cy="1847850"/>
            </a:xfrm>
          </p:grpSpPr>
          <p:sp>
            <p:nvSpPr>
              <p:cNvPr id="23" name="Rectangle 23"/>
              <p:cNvSpPr/>
              <p:nvPr/>
            </p:nvSpPr>
            <p:spPr>
              <a:xfrm>
                <a:off x="6191250" y="2019300"/>
                <a:ext cx="5391150" cy="1847850"/>
              </a:xfrm>
              <a:prstGeom prst="roundRect">
                <a:avLst>
                  <a:gd name="adj" fmla="val 2062"/>
                </a:avLst>
              </a:prstGeom>
              <a:solidFill>
                <a:srgbClr val="FFFFFF"/>
              </a:solidFill>
              <a:ln w="9525">
                <a:solidFill>
                  <a:srgbClr val="D8D0C2"/>
                </a:solidFill>
              </a:ln>
            </p:spPr>
            <p:txBody>
              <a:bodyPr/>
              <a:lstStyle/>
              <a:p>
                <a:endParaRPr lang="zh-CN" altLang="en-US"/>
              </a:p>
            </p:txBody>
          </p:sp>
          <p:sp>
            <p:nvSpPr>
              <p:cNvPr id="24" name="Rectangle 24"/>
              <p:cNvSpPr/>
              <p:nvPr/>
            </p:nvSpPr>
            <p:spPr>
              <a:xfrm>
                <a:off x="6191250" y="2019300"/>
                <a:ext cx="57150" cy="1847850"/>
              </a:xfrm>
              <a:prstGeom prst="rect">
                <a:avLst/>
              </a:prstGeom>
              <a:solidFill>
                <a:srgbClr val="C8A24B"/>
              </a:solidFill>
              <a:ln>
                <a:noFill/>
              </a:ln>
            </p:spPr>
            <p:txBody>
              <a:bodyPr/>
              <a:lstStyle/>
              <a:p>
                <a:endParaRPr lang="zh-CN" altLang="en-US"/>
              </a:p>
            </p:txBody>
          </p:sp>
          <p:grpSp>
            <p:nvGrpSpPr>
              <p:cNvPr id="34" name="Group 34"/>
              <p:cNvGrpSpPr/>
              <p:nvPr/>
            </p:nvGrpSpPr>
            <p:grpSpPr>
              <a:xfrm>
                <a:off x="6508750" y="2317750"/>
                <a:ext cx="203199" cy="203200"/>
                <a:chOff x="6508750" y="2317750"/>
                <a:chExt cx="203199" cy="203200"/>
              </a:xfrm>
            </p:grpSpPr>
            <p:sp>
              <p:nvSpPr>
                <p:cNvPr id="25" name="Freeform 25"/>
                <p:cNvSpPr/>
                <p:nvPr/>
              </p:nvSpPr>
              <p:spPr>
                <a:xfrm>
                  <a:off x="6508750" y="236855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C8A24B"/>
                  </a:solidFill>
                </a:ln>
              </p:spPr>
              <p:txBody>
                <a:bodyPr/>
                <a:lstStyle/>
                <a:p>
                  <a:endParaRPr lang="zh-CN" altLang="en-US"/>
                </a:p>
              </p:txBody>
            </p:sp>
            <p:sp>
              <p:nvSpPr>
                <p:cNvPr id="26" name="Freeform 26"/>
                <p:cNvSpPr/>
                <p:nvPr/>
              </p:nvSpPr>
              <p:spPr>
                <a:xfrm>
                  <a:off x="6534150" y="2317750"/>
                  <a:ext cx="9525" cy="50800"/>
                </a:xfrm>
                <a:custGeom>
                  <a:avLst/>
                  <a:gdLst/>
                  <a:ahLst/>
                  <a:cxnLst/>
                  <a:rect l="l" t="t" r="r" b="b"/>
                  <a:pathLst>
                    <a:path w="9525" h="50800">
                      <a:moveTo>
                        <a:pt x="0" y="0"/>
                      </a:moveTo>
                      <a:lnTo>
                        <a:pt x="0" y="50800"/>
                      </a:lnTo>
                    </a:path>
                  </a:pathLst>
                </a:custGeom>
                <a:noFill/>
                <a:ln w="19050">
                  <a:solidFill>
                    <a:srgbClr val="C8A24B"/>
                  </a:solidFill>
                </a:ln>
              </p:spPr>
              <p:txBody>
                <a:bodyPr/>
                <a:lstStyle/>
                <a:p>
                  <a:endParaRPr lang="zh-CN" altLang="en-US"/>
                </a:p>
              </p:txBody>
            </p:sp>
            <p:sp>
              <p:nvSpPr>
                <p:cNvPr id="27" name="Freeform 27"/>
                <p:cNvSpPr/>
                <p:nvPr/>
              </p:nvSpPr>
              <p:spPr>
                <a:xfrm>
                  <a:off x="6534150" y="2419350"/>
                  <a:ext cx="9525" cy="101600"/>
                </a:xfrm>
                <a:custGeom>
                  <a:avLst/>
                  <a:gdLst/>
                  <a:ahLst/>
                  <a:cxnLst/>
                  <a:rect l="l" t="t" r="r" b="b"/>
                  <a:pathLst>
                    <a:path w="9525" h="101600">
                      <a:moveTo>
                        <a:pt x="0" y="0"/>
                      </a:moveTo>
                      <a:lnTo>
                        <a:pt x="0" y="101600"/>
                      </a:lnTo>
                    </a:path>
                  </a:pathLst>
                </a:custGeom>
                <a:noFill/>
                <a:ln w="19050">
                  <a:solidFill>
                    <a:srgbClr val="C8A24B"/>
                  </a:solidFill>
                </a:ln>
              </p:spPr>
              <p:txBody>
                <a:bodyPr/>
                <a:lstStyle/>
                <a:p>
                  <a:endParaRPr lang="zh-CN" altLang="en-US"/>
                </a:p>
              </p:txBody>
            </p:sp>
            <p:sp>
              <p:nvSpPr>
                <p:cNvPr id="28" name="Freeform 28"/>
                <p:cNvSpPr/>
                <p:nvPr/>
              </p:nvSpPr>
              <p:spPr>
                <a:xfrm>
                  <a:off x="6584950" y="244475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C8A24B"/>
                  </a:solidFill>
                </a:ln>
              </p:spPr>
              <p:txBody>
                <a:bodyPr/>
                <a:lstStyle/>
                <a:p>
                  <a:endParaRPr lang="zh-CN" altLang="en-US"/>
                </a:p>
              </p:txBody>
            </p:sp>
            <p:sp>
              <p:nvSpPr>
                <p:cNvPr id="29" name="Freeform 29"/>
                <p:cNvSpPr/>
                <p:nvPr/>
              </p:nvSpPr>
              <p:spPr>
                <a:xfrm>
                  <a:off x="6610350" y="2317750"/>
                  <a:ext cx="9525" cy="127000"/>
                </a:xfrm>
                <a:custGeom>
                  <a:avLst/>
                  <a:gdLst/>
                  <a:ahLst/>
                  <a:cxnLst/>
                  <a:rect l="l" t="t" r="r" b="b"/>
                  <a:pathLst>
                    <a:path w="9525" h="127000">
                      <a:moveTo>
                        <a:pt x="0" y="0"/>
                      </a:moveTo>
                      <a:lnTo>
                        <a:pt x="0" y="127000"/>
                      </a:lnTo>
                    </a:path>
                  </a:pathLst>
                </a:custGeom>
                <a:noFill/>
                <a:ln w="19050">
                  <a:solidFill>
                    <a:srgbClr val="C8A24B"/>
                  </a:solidFill>
                </a:ln>
              </p:spPr>
              <p:txBody>
                <a:bodyPr/>
                <a:lstStyle/>
                <a:p>
                  <a:endParaRPr lang="zh-CN" altLang="en-US"/>
                </a:p>
              </p:txBody>
            </p:sp>
            <p:sp>
              <p:nvSpPr>
                <p:cNvPr id="30" name="Freeform 30"/>
                <p:cNvSpPr/>
                <p:nvPr/>
              </p:nvSpPr>
              <p:spPr>
                <a:xfrm>
                  <a:off x="6610350" y="2495549"/>
                  <a:ext cx="9525" cy="25400"/>
                </a:xfrm>
                <a:custGeom>
                  <a:avLst/>
                  <a:gdLst/>
                  <a:ahLst/>
                  <a:cxnLst/>
                  <a:rect l="l" t="t" r="r" b="b"/>
                  <a:pathLst>
                    <a:path w="9525" h="25400">
                      <a:moveTo>
                        <a:pt x="0" y="0"/>
                      </a:moveTo>
                      <a:lnTo>
                        <a:pt x="0" y="25400"/>
                      </a:lnTo>
                    </a:path>
                  </a:pathLst>
                </a:custGeom>
                <a:noFill/>
                <a:ln w="19050">
                  <a:solidFill>
                    <a:srgbClr val="C8A24B"/>
                  </a:solidFill>
                </a:ln>
              </p:spPr>
              <p:txBody>
                <a:bodyPr/>
                <a:lstStyle/>
                <a:p>
                  <a:endParaRPr lang="zh-CN" altLang="en-US"/>
                </a:p>
              </p:txBody>
            </p:sp>
            <p:sp>
              <p:nvSpPr>
                <p:cNvPr id="31" name="Freeform 31"/>
                <p:cNvSpPr/>
                <p:nvPr/>
              </p:nvSpPr>
              <p:spPr>
                <a:xfrm>
                  <a:off x="6661149" y="233045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C8A24B"/>
                  </a:solidFill>
                </a:ln>
              </p:spPr>
              <p:txBody>
                <a:bodyPr/>
                <a:lstStyle/>
                <a:p>
                  <a:endParaRPr lang="zh-CN" altLang="en-US"/>
                </a:p>
              </p:txBody>
            </p:sp>
            <p:sp>
              <p:nvSpPr>
                <p:cNvPr id="32" name="Freeform 32"/>
                <p:cNvSpPr/>
                <p:nvPr/>
              </p:nvSpPr>
              <p:spPr>
                <a:xfrm>
                  <a:off x="6686549" y="2317750"/>
                  <a:ext cx="9525" cy="12700"/>
                </a:xfrm>
                <a:custGeom>
                  <a:avLst/>
                  <a:gdLst/>
                  <a:ahLst/>
                  <a:cxnLst/>
                  <a:rect l="l" t="t" r="r" b="b"/>
                  <a:pathLst>
                    <a:path w="9525" h="12700">
                      <a:moveTo>
                        <a:pt x="0" y="0"/>
                      </a:moveTo>
                      <a:lnTo>
                        <a:pt x="0" y="12700"/>
                      </a:lnTo>
                    </a:path>
                  </a:pathLst>
                </a:custGeom>
                <a:noFill/>
                <a:ln w="19050">
                  <a:solidFill>
                    <a:srgbClr val="C8A24B"/>
                  </a:solidFill>
                </a:ln>
              </p:spPr>
              <p:txBody>
                <a:bodyPr/>
                <a:lstStyle/>
                <a:p>
                  <a:endParaRPr lang="zh-CN" altLang="en-US"/>
                </a:p>
              </p:txBody>
            </p:sp>
            <p:sp>
              <p:nvSpPr>
                <p:cNvPr id="33" name="Freeform 33"/>
                <p:cNvSpPr/>
                <p:nvPr/>
              </p:nvSpPr>
              <p:spPr>
                <a:xfrm>
                  <a:off x="6686549" y="2381250"/>
                  <a:ext cx="9525" cy="139700"/>
                </a:xfrm>
                <a:custGeom>
                  <a:avLst/>
                  <a:gdLst/>
                  <a:ahLst/>
                  <a:cxnLst/>
                  <a:rect l="l" t="t" r="r" b="b"/>
                  <a:pathLst>
                    <a:path w="9525" h="139700">
                      <a:moveTo>
                        <a:pt x="0" y="0"/>
                      </a:moveTo>
                      <a:lnTo>
                        <a:pt x="0" y="139700"/>
                      </a:lnTo>
                    </a:path>
                  </a:pathLst>
                </a:custGeom>
                <a:noFill/>
                <a:ln w="19050">
                  <a:solidFill>
                    <a:srgbClr val="C8A24B"/>
                  </a:solidFill>
                </a:ln>
              </p:spPr>
              <p:txBody>
                <a:bodyPr/>
                <a:lstStyle/>
                <a:p>
                  <a:endParaRPr lang="zh-CN" altLang="en-US"/>
                </a:p>
              </p:txBody>
            </p:sp>
          </p:grpSp>
          <p:sp>
            <p:nvSpPr>
              <p:cNvPr id="35" name="TextBox 35"/>
              <p:cNvSpPr txBox="1"/>
              <p:nvPr/>
            </p:nvSpPr>
            <p:spPr>
              <a:xfrm>
                <a:off x="6857048" y="2325529"/>
                <a:ext cx="923330"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方法基础</a:t>
                </a:r>
              </a:p>
            </p:txBody>
          </p:sp>
          <p:sp>
            <p:nvSpPr>
              <p:cNvPr id="36" name="TextBox 36"/>
              <p:cNvSpPr txBox="1"/>
              <p:nvPr/>
            </p:nvSpPr>
            <p:spPr>
              <a:xfrm>
                <a:off x="6442710" y="2880360"/>
                <a:ext cx="3032882"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EM、Optuna、贝叶斯优化与奖励</a:t>
                </a:r>
              </a:p>
            </p:txBody>
          </p:sp>
          <p:sp>
            <p:nvSpPr>
              <p:cNvPr id="37" name="TextBox 37"/>
              <p:cNvSpPr txBox="1"/>
              <p:nvPr/>
            </p:nvSpPr>
            <p:spPr>
              <a:xfrm>
                <a:off x="6442710" y="3147060"/>
                <a:ext cx="3077766"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建模研究可迁移到推荐参数估计。</a:t>
                </a:r>
              </a:p>
            </p:txBody>
          </p:sp>
        </p:grpSp>
        <p:grpSp>
          <p:nvGrpSpPr>
            <p:cNvPr id="49" name="Group 49"/>
            <p:cNvGrpSpPr/>
            <p:nvPr/>
          </p:nvGrpSpPr>
          <p:grpSpPr>
            <a:xfrm>
              <a:off x="609600" y="4038600"/>
              <a:ext cx="5391150" cy="1847850"/>
              <a:chOff x="609600" y="4038600"/>
              <a:chExt cx="5391150" cy="1847850"/>
            </a:xfrm>
          </p:grpSpPr>
          <p:sp>
            <p:nvSpPr>
              <p:cNvPr id="39" name="Rectangle 39"/>
              <p:cNvSpPr/>
              <p:nvPr/>
            </p:nvSpPr>
            <p:spPr>
              <a:xfrm>
                <a:off x="609600" y="4038600"/>
                <a:ext cx="5391150" cy="1847850"/>
              </a:xfrm>
              <a:prstGeom prst="roundRect">
                <a:avLst>
                  <a:gd name="adj" fmla="val 2062"/>
                </a:avLst>
              </a:prstGeom>
              <a:solidFill>
                <a:srgbClr val="FFFFFF"/>
              </a:solidFill>
              <a:ln w="9525">
                <a:solidFill>
                  <a:srgbClr val="D8D0C2"/>
                </a:solidFill>
              </a:ln>
            </p:spPr>
            <p:txBody>
              <a:bodyPr/>
              <a:lstStyle/>
              <a:p>
                <a:endParaRPr lang="zh-CN" altLang="en-US"/>
              </a:p>
            </p:txBody>
          </p:sp>
          <p:sp>
            <p:nvSpPr>
              <p:cNvPr id="40" name="Rectangle 40"/>
              <p:cNvSpPr/>
              <p:nvPr/>
            </p:nvSpPr>
            <p:spPr>
              <a:xfrm>
                <a:off x="609600" y="4038600"/>
                <a:ext cx="57150" cy="1847850"/>
              </a:xfrm>
              <a:prstGeom prst="rect">
                <a:avLst/>
              </a:prstGeom>
              <a:solidFill>
                <a:srgbClr val="4A6B8A"/>
              </a:solidFill>
              <a:ln>
                <a:noFill/>
              </a:ln>
            </p:spPr>
            <p:txBody>
              <a:bodyPr/>
              <a:lstStyle/>
              <a:p>
                <a:endParaRPr lang="zh-CN" altLang="en-US"/>
              </a:p>
            </p:txBody>
          </p:sp>
          <p:grpSp>
            <p:nvGrpSpPr>
              <p:cNvPr id="45" name="Group 45"/>
              <p:cNvGrpSpPr/>
              <p:nvPr/>
            </p:nvGrpSpPr>
            <p:grpSpPr>
              <a:xfrm>
                <a:off x="914400" y="4324350"/>
                <a:ext cx="228599" cy="228600"/>
                <a:chOff x="914400" y="4324350"/>
                <a:chExt cx="228599" cy="228600"/>
              </a:xfrm>
            </p:grpSpPr>
            <p:sp>
              <p:nvSpPr>
                <p:cNvPr id="41" name="Freeform 41"/>
                <p:cNvSpPr/>
                <p:nvPr/>
              </p:nvSpPr>
              <p:spPr>
                <a:xfrm>
                  <a:off x="939800" y="4324350"/>
                  <a:ext cx="101600" cy="101600"/>
                </a:xfrm>
                <a:custGeom>
                  <a:avLst/>
                  <a:gdLst/>
                  <a:ahLst/>
                  <a:cxnLst/>
                  <a:rect l="l" t="t" r="r" b="b"/>
                  <a:pathLst>
                    <a:path w="101600" h="101600">
                      <a:moveTo>
                        <a:pt x="0" y="50800"/>
                      </a:moveTo>
                      <a:cubicBezTo>
                        <a:pt x="0" y="78856"/>
                        <a:pt x="22744" y="101600"/>
                        <a:pt x="50800" y="101600"/>
                      </a:cubicBezTo>
                      <a:cubicBezTo>
                        <a:pt x="78856" y="101600"/>
                        <a:pt x="101600" y="78856"/>
                        <a:pt x="101600" y="50800"/>
                      </a:cubicBezTo>
                      <a:cubicBezTo>
                        <a:pt x="101600" y="22744"/>
                        <a:pt x="78856" y="0"/>
                        <a:pt x="50800" y="0"/>
                      </a:cubicBezTo>
                      <a:cubicBezTo>
                        <a:pt x="22744" y="0"/>
                        <a:pt x="0" y="22744"/>
                        <a:pt x="0" y="50800"/>
                      </a:cubicBezTo>
                    </a:path>
                  </a:pathLst>
                </a:custGeom>
                <a:noFill/>
                <a:ln w="19050">
                  <a:solidFill>
                    <a:srgbClr val="4A6B8A"/>
                  </a:solidFill>
                </a:ln>
              </p:spPr>
              <p:txBody>
                <a:bodyPr/>
                <a:lstStyle/>
                <a:p>
                  <a:endParaRPr lang="zh-CN" altLang="en-US"/>
                </a:p>
              </p:txBody>
            </p:sp>
            <p:sp>
              <p:nvSpPr>
                <p:cNvPr id="42" name="Freeform 42"/>
                <p:cNvSpPr/>
                <p:nvPr/>
              </p:nvSpPr>
              <p:spPr>
                <a:xfrm>
                  <a:off x="914400" y="4476750"/>
                  <a:ext cx="152400" cy="76200"/>
                </a:xfrm>
                <a:custGeom>
                  <a:avLst/>
                  <a:gdLst/>
                  <a:ahLst/>
                  <a:cxnLst/>
                  <a:rect l="l" t="t" r="r" b="b"/>
                  <a:pathLst>
                    <a:path w="152400" h="76200">
                      <a:moveTo>
                        <a:pt x="0" y="76200"/>
                      </a:moveTo>
                      <a:lnTo>
                        <a:pt x="0" y="50800"/>
                      </a:lnTo>
                      <a:cubicBezTo>
                        <a:pt x="0" y="22744"/>
                        <a:pt x="22744" y="0"/>
                        <a:pt x="50800" y="0"/>
                      </a:cubicBezTo>
                      <a:lnTo>
                        <a:pt x="101600" y="0"/>
                      </a:lnTo>
                      <a:cubicBezTo>
                        <a:pt x="129656" y="0"/>
                        <a:pt x="152400" y="22744"/>
                        <a:pt x="152400" y="50800"/>
                      </a:cubicBezTo>
                      <a:lnTo>
                        <a:pt x="152400" y="76200"/>
                      </a:lnTo>
                    </a:path>
                  </a:pathLst>
                </a:custGeom>
                <a:noFill/>
                <a:ln w="19050">
                  <a:solidFill>
                    <a:srgbClr val="4A6B8A"/>
                  </a:solidFill>
                </a:ln>
              </p:spPr>
              <p:txBody>
                <a:bodyPr/>
                <a:lstStyle/>
                <a:p>
                  <a:endParaRPr lang="zh-CN" altLang="en-US"/>
                </a:p>
              </p:txBody>
            </p:sp>
            <p:sp>
              <p:nvSpPr>
                <p:cNvPr id="43" name="Freeform 43"/>
                <p:cNvSpPr/>
                <p:nvPr/>
              </p:nvSpPr>
              <p:spPr>
                <a:xfrm>
                  <a:off x="1079499" y="4326001"/>
                  <a:ext cx="38200" cy="98425"/>
                </a:xfrm>
                <a:custGeom>
                  <a:avLst/>
                  <a:gdLst/>
                  <a:ahLst/>
                  <a:cxnLst/>
                  <a:rect l="l" t="t" r="r" b="b"/>
                  <a:pathLst>
                    <a:path w="38200" h="98425">
                      <a:moveTo>
                        <a:pt x="0" y="0"/>
                      </a:moveTo>
                      <a:cubicBezTo>
                        <a:pt x="22478" y="5755"/>
                        <a:pt x="38200" y="26009"/>
                        <a:pt x="38200" y="49212"/>
                      </a:cubicBezTo>
                      <a:cubicBezTo>
                        <a:pt x="38200" y="72415"/>
                        <a:pt x="22478" y="92670"/>
                        <a:pt x="0" y="98425"/>
                      </a:cubicBezTo>
                    </a:path>
                  </a:pathLst>
                </a:custGeom>
                <a:noFill/>
                <a:ln w="19050">
                  <a:solidFill>
                    <a:srgbClr val="4A6B8A"/>
                  </a:solidFill>
                </a:ln>
              </p:spPr>
              <p:txBody>
                <a:bodyPr/>
                <a:lstStyle/>
                <a:p>
                  <a:endParaRPr lang="zh-CN" altLang="en-US"/>
                </a:p>
              </p:txBody>
            </p:sp>
            <p:sp>
              <p:nvSpPr>
                <p:cNvPr id="44" name="Freeform 44"/>
                <p:cNvSpPr/>
                <p:nvPr/>
              </p:nvSpPr>
              <p:spPr>
                <a:xfrm>
                  <a:off x="1104899" y="4478655"/>
                  <a:ext cx="38100" cy="74295"/>
                </a:xfrm>
                <a:custGeom>
                  <a:avLst/>
                  <a:gdLst/>
                  <a:ahLst/>
                  <a:cxnLst/>
                  <a:rect l="l" t="t" r="r" b="b"/>
                  <a:pathLst>
                    <a:path w="38100" h="74295">
                      <a:moveTo>
                        <a:pt x="38100" y="74295"/>
                      </a:moveTo>
                      <a:lnTo>
                        <a:pt x="38100" y="48895"/>
                      </a:lnTo>
                      <a:cubicBezTo>
                        <a:pt x="37967" y="25839"/>
                        <a:pt x="22324" y="5764"/>
                        <a:pt x="0" y="0"/>
                      </a:cubicBezTo>
                    </a:path>
                  </a:pathLst>
                </a:custGeom>
                <a:noFill/>
                <a:ln w="19050">
                  <a:solidFill>
                    <a:srgbClr val="4A6B8A"/>
                  </a:solidFill>
                </a:ln>
              </p:spPr>
              <p:txBody>
                <a:bodyPr/>
                <a:lstStyle/>
                <a:p>
                  <a:endParaRPr lang="zh-CN" altLang="en-US"/>
                </a:p>
              </p:txBody>
            </p:sp>
          </p:grpSp>
          <p:sp>
            <p:nvSpPr>
              <p:cNvPr id="46" name="TextBox 46"/>
              <p:cNvSpPr txBox="1"/>
              <p:nvPr/>
            </p:nvSpPr>
            <p:spPr>
              <a:xfrm>
                <a:off x="1275398" y="4344829"/>
                <a:ext cx="1615827"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数据与画像基础</a:t>
                </a:r>
              </a:p>
            </p:txBody>
          </p:sp>
          <p:sp>
            <p:nvSpPr>
              <p:cNvPr id="47" name="TextBox 47"/>
              <p:cNvSpPr txBox="1"/>
              <p:nvPr/>
            </p:nvSpPr>
            <p:spPr>
              <a:xfrm>
                <a:off x="861060" y="4899660"/>
                <a:ext cx="2667397"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用户画像生成与分层建模已有</a:t>
                </a:r>
              </a:p>
            </p:txBody>
          </p:sp>
          <p:sp>
            <p:nvSpPr>
              <p:cNvPr id="48" name="TextBox 48"/>
              <p:cNvSpPr txBox="1"/>
              <p:nvPr/>
            </p:nvSpPr>
            <p:spPr>
              <a:xfrm>
                <a:off x="861060" y="5166360"/>
                <a:ext cx="3281219"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Two-stage Profiling、TWICE 支撑。</a:t>
                </a:r>
              </a:p>
            </p:txBody>
          </p:sp>
        </p:grpSp>
        <p:grpSp>
          <p:nvGrpSpPr>
            <p:cNvPr id="60" name="Group 60"/>
            <p:cNvGrpSpPr/>
            <p:nvPr/>
          </p:nvGrpSpPr>
          <p:grpSpPr>
            <a:xfrm>
              <a:off x="6191250" y="4038600"/>
              <a:ext cx="5391150" cy="1847850"/>
              <a:chOff x="6191250" y="4038600"/>
              <a:chExt cx="5391150" cy="1847850"/>
            </a:xfrm>
          </p:grpSpPr>
          <p:sp>
            <p:nvSpPr>
              <p:cNvPr id="50" name="Rectangle 50"/>
              <p:cNvSpPr/>
              <p:nvPr/>
            </p:nvSpPr>
            <p:spPr>
              <a:xfrm>
                <a:off x="6191250" y="4038600"/>
                <a:ext cx="5391150" cy="1847850"/>
              </a:xfrm>
              <a:prstGeom prst="roundRect">
                <a:avLst>
                  <a:gd name="adj" fmla="val 2062"/>
                </a:avLst>
              </a:prstGeom>
              <a:solidFill>
                <a:srgbClr val="FFFFFF"/>
              </a:solidFill>
              <a:ln w="9525">
                <a:solidFill>
                  <a:srgbClr val="D8D0C2"/>
                </a:solidFill>
              </a:ln>
            </p:spPr>
            <p:txBody>
              <a:bodyPr/>
              <a:lstStyle/>
              <a:p>
                <a:endParaRPr lang="zh-CN" altLang="en-US"/>
              </a:p>
            </p:txBody>
          </p:sp>
          <p:sp>
            <p:nvSpPr>
              <p:cNvPr id="51" name="Rectangle 51"/>
              <p:cNvSpPr/>
              <p:nvPr/>
            </p:nvSpPr>
            <p:spPr>
              <a:xfrm>
                <a:off x="6191250" y="4038600"/>
                <a:ext cx="57150" cy="1847850"/>
              </a:xfrm>
              <a:prstGeom prst="rect">
                <a:avLst/>
              </a:prstGeom>
              <a:solidFill>
                <a:srgbClr val="3C7A5A"/>
              </a:solidFill>
              <a:ln>
                <a:noFill/>
              </a:ln>
            </p:spPr>
            <p:txBody>
              <a:bodyPr/>
              <a:lstStyle/>
              <a:p>
                <a:endParaRPr lang="zh-CN" altLang="en-US"/>
              </a:p>
            </p:txBody>
          </p:sp>
          <p:grpSp>
            <p:nvGrpSpPr>
              <p:cNvPr id="56" name="Group 56"/>
              <p:cNvGrpSpPr/>
              <p:nvPr/>
            </p:nvGrpSpPr>
            <p:grpSpPr>
              <a:xfrm>
                <a:off x="6496050" y="4337050"/>
                <a:ext cx="228599" cy="203200"/>
                <a:chOff x="6496050" y="4337050"/>
                <a:chExt cx="228599" cy="203200"/>
              </a:xfrm>
            </p:grpSpPr>
            <p:sp>
              <p:nvSpPr>
                <p:cNvPr id="52" name="Freeform 52"/>
                <p:cNvSpPr/>
                <p:nvPr/>
              </p:nvSpPr>
              <p:spPr>
                <a:xfrm>
                  <a:off x="6496050" y="4337050"/>
                  <a:ext cx="228599" cy="101600"/>
                </a:xfrm>
                <a:custGeom>
                  <a:avLst/>
                  <a:gdLst/>
                  <a:ahLst/>
                  <a:cxnLst/>
                  <a:rect l="l" t="t" r="r" b="b"/>
                  <a:pathLst>
                    <a:path w="228599" h="101600">
                      <a:moveTo>
                        <a:pt x="0" y="38100"/>
                      </a:moveTo>
                      <a:cubicBezTo>
                        <a:pt x="0" y="17058"/>
                        <a:pt x="17058" y="0"/>
                        <a:pt x="38100" y="0"/>
                      </a:cubicBezTo>
                      <a:lnTo>
                        <a:pt x="190500" y="0"/>
                      </a:lnTo>
                      <a:cubicBezTo>
                        <a:pt x="211542" y="0"/>
                        <a:pt x="228599" y="17058"/>
                        <a:pt x="228599" y="38100"/>
                      </a:cubicBezTo>
                      <a:lnTo>
                        <a:pt x="228599" y="63500"/>
                      </a:lnTo>
                      <a:cubicBezTo>
                        <a:pt x="228599" y="84542"/>
                        <a:pt x="211542" y="101600"/>
                        <a:pt x="190500" y="101600"/>
                      </a:cubicBezTo>
                      <a:lnTo>
                        <a:pt x="38100" y="101600"/>
                      </a:lnTo>
                      <a:cubicBezTo>
                        <a:pt x="17058" y="101600"/>
                        <a:pt x="0" y="84542"/>
                        <a:pt x="0" y="63500"/>
                      </a:cubicBezTo>
                    </a:path>
                  </a:pathLst>
                </a:custGeom>
                <a:noFill/>
                <a:ln w="19050">
                  <a:solidFill>
                    <a:srgbClr val="3C7A5A"/>
                  </a:solidFill>
                </a:ln>
              </p:spPr>
              <p:txBody>
                <a:bodyPr/>
                <a:lstStyle/>
                <a:p>
                  <a:endParaRPr lang="zh-CN" altLang="en-US"/>
                </a:p>
              </p:txBody>
            </p:sp>
            <p:sp>
              <p:nvSpPr>
                <p:cNvPr id="53" name="Freeform 53"/>
                <p:cNvSpPr/>
                <p:nvPr/>
              </p:nvSpPr>
              <p:spPr>
                <a:xfrm>
                  <a:off x="6496050" y="4438650"/>
                  <a:ext cx="228599" cy="101600"/>
                </a:xfrm>
                <a:custGeom>
                  <a:avLst/>
                  <a:gdLst/>
                  <a:ahLst/>
                  <a:cxnLst/>
                  <a:rect l="l" t="t" r="r" b="b"/>
                  <a:pathLst>
                    <a:path w="228599" h="101600">
                      <a:moveTo>
                        <a:pt x="0" y="38100"/>
                      </a:moveTo>
                      <a:cubicBezTo>
                        <a:pt x="0" y="17058"/>
                        <a:pt x="17058" y="0"/>
                        <a:pt x="38100" y="0"/>
                      </a:cubicBezTo>
                      <a:lnTo>
                        <a:pt x="190500" y="0"/>
                      </a:lnTo>
                      <a:cubicBezTo>
                        <a:pt x="211542" y="0"/>
                        <a:pt x="228599" y="17058"/>
                        <a:pt x="228599" y="38100"/>
                      </a:cubicBezTo>
                      <a:lnTo>
                        <a:pt x="228599" y="63500"/>
                      </a:lnTo>
                      <a:cubicBezTo>
                        <a:pt x="228599" y="84542"/>
                        <a:pt x="211542" y="101600"/>
                        <a:pt x="190500" y="101600"/>
                      </a:cubicBezTo>
                      <a:lnTo>
                        <a:pt x="38100" y="101600"/>
                      </a:lnTo>
                      <a:cubicBezTo>
                        <a:pt x="17058" y="101600"/>
                        <a:pt x="0" y="84542"/>
                        <a:pt x="0" y="63500"/>
                      </a:cubicBezTo>
                      <a:lnTo>
                        <a:pt x="0" y="38100"/>
                      </a:lnTo>
                    </a:path>
                  </a:pathLst>
                </a:custGeom>
                <a:noFill/>
                <a:ln w="19050">
                  <a:solidFill>
                    <a:srgbClr val="3C7A5A"/>
                  </a:solidFill>
                </a:ln>
              </p:spPr>
              <p:txBody>
                <a:bodyPr/>
                <a:lstStyle/>
                <a:p>
                  <a:endParaRPr lang="zh-CN" altLang="en-US"/>
                </a:p>
              </p:txBody>
            </p:sp>
            <p:sp>
              <p:nvSpPr>
                <p:cNvPr id="54" name="Freeform 54"/>
                <p:cNvSpPr/>
                <p:nvPr/>
              </p:nvSpPr>
              <p:spPr>
                <a:xfrm>
                  <a:off x="6546850" y="4387850"/>
                  <a:ext cx="9525" cy="9525"/>
                </a:xfrm>
                <a:custGeom>
                  <a:avLst/>
                  <a:gdLst/>
                  <a:ahLst/>
                  <a:cxnLst/>
                  <a:rect l="l" t="t" r="r" b="b"/>
                  <a:pathLst>
                    <a:path w="9525" h="9525">
                      <a:moveTo>
                        <a:pt x="0" y="0"/>
                      </a:moveTo>
                      <a:lnTo>
                        <a:pt x="0" y="127"/>
                      </a:lnTo>
                    </a:path>
                  </a:pathLst>
                </a:custGeom>
                <a:noFill/>
                <a:ln w="19050">
                  <a:solidFill>
                    <a:srgbClr val="3C7A5A"/>
                  </a:solidFill>
                </a:ln>
              </p:spPr>
              <p:txBody>
                <a:bodyPr/>
                <a:lstStyle/>
                <a:p>
                  <a:endParaRPr lang="zh-CN" altLang="en-US"/>
                </a:p>
              </p:txBody>
            </p:sp>
            <p:sp>
              <p:nvSpPr>
                <p:cNvPr id="55" name="Freeform 55"/>
                <p:cNvSpPr/>
                <p:nvPr/>
              </p:nvSpPr>
              <p:spPr>
                <a:xfrm>
                  <a:off x="6546850" y="4489449"/>
                  <a:ext cx="9525" cy="9525"/>
                </a:xfrm>
                <a:custGeom>
                  <a:avLst/>
                  <a:gdLst/>
                  <a:ahLst/>
                  <a:cxnLst/>
                  <a:rect l="l" t="t" r="r" b="b"/>
                  <a:pathLst>
                    <a:path w="9525" h="9525">
                      <a:moveTo>
                        <a:pt x="0" y="0"/>
                      </a:moveTo>
                      <a:lnTo>
                        <a:pt x="0" y="127"/>
                      </a:lnTo>
                    </a:path>
                  </a:pathLst>
                </a:custGeom>
                <a:noFill/>
                <a:ln w="19050">
                  <a:solidFill>
                    <a:srgbClr val="3C7A5A"/>
                  </a:solidFill>
                </a:ln>
              </p:spPr>
              <p:txBody>
                <a:bodyPr/>
                <a:lstStyle/>
                <a:p>
                  <a:endParaRPr lang="zh-CN" altLang="en-US"/>
                </a:p>
              </p:txBody>
            </p:sp>
          </p:grpSp>
          <p:sp>
            <p:nvSpPr>
              <p:cNvPr id="57" name="TextBox 57"/>
              <p:cNvSpPr txBox="1"/>
              <p:nvPr/>
            </p:nvSpPr>
            <p:spPr>
              <a:xfrm>
                <a:off x="6857048" y="4344829"/>
                <a:ext cx="923330" cy="276999"/>
              </a:xfrm>
              <a:prstGeom prst="rect">
                <a:avLst/>
              </a:prstGeom>
              <a:noFill/>
              <a:ln>
                <a:noFill/>
              </a:ln>
            </p:spPr>
            <p:txBody>
              <a:bodyPr wrap="none" lIns="0" tIns="0" rIns="0" bIns="0" anchor="t" anchorCtr="0">
                <a:spAutoFit/>
              </a:bodyPr>
              <a:lstStyle/>
              <a:p>
                <a:pPr algn="l"/>
                <a:r>
                  <a:rPr lang="zh-CN" b="1" dirty="0">
                    <a:solidFill>
                      <a:srgbClr val="1B3A5B"/>
                    </a:solidFill>
                    <a:latin typeface="Arial" panose="020B0604020202090204"/>
                    <a:ea typeface="微软雅黑"/>
                    <a:cs typeface="Arial" panose="020B0604020202090204"/>
                  </a:rPr>
                  <a:t>工程基础</a:t>
                </a:r>
              </a:p>
            </p:txBody>
          </p:sp>
          <p:sp>
            <p:nvSpPr>
              <p:cNvPr id="58" name="TextBox 58"/>
              <p:cNvSpPr txBox="1"/>
              <p:nvPr/>
            </p:nvSpPr>
            <p:spPr>
              <a:xfrm>
                <a:off x="6442710" y="4899660"/>
                <a:ext cx="2792431"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FastAPI、SQLite、向量检索与</a:t>
                </a:r>
              </a:p>
            </p:txBody>
          </p:sp>
          <p:sp>
            <p:nvSpPr>
              <p:cNvPr id="59" name="TextBox 59"/>
              <p:cNvSpPr txBox="1"/>
              <p:nvPr/>
            </p:nvSpPr>
            <p:spPr>
              <a:xfrm>
                <a:off x="6442710" y="5166360"/>
                <a:ext cx="3098605"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LangChain 等工具链可支撑实现。</a:t>
                </a:r>
              </a:p>
            </p:txBody>
          </p:sp>
        </p:grpSp>
      </p:grpSp>
      <p:grpSp>
        <p:nvGrpSpPr>
          <p:cNvPr id="65" name="Group 65"/>
          <p:cNvGrpSpPr/>
          <p:nvPr/>
        </p:nvGrpSpPr>
        <p:grpSpPr>
          <a:xfrm>
            <a:off x="598170" y="6515100"/>
            <a:ext cx="10995661" cy="276225"/>
            <a:chOff x="598170" y="6515100"/>
            <a:chExt cx="10995661" cy="276225"/>
          </a:xfrm>
        </p:grpSpPr>
        <p:sp>
          <p:nvSpPr>
            <p:cNvPr id="62" name="Line 62"/>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63" name="TextBox 63"/>
            <p:cNvSpPr txBox="1"/>
            <p:nvPr/>
          </p:nvSpPr>
          <p:spPr>
            <a:xfrm>
              <a:off x="598170" y="6608445"/>
              <a:ext cx="1823085" cy="182880"/>
            </a:xfrm>
            <a:prstGeom prst="rect">
              <a:avLst/>
            </a:prstGeom>
            <a:noFill/>
            <a:ln>
              <a:noFill/>
            </a:ln>
          </p:spPr>
          <p:txBody>
            <a:bodyPr wrap="none" lIns="0" tIns="0" rIns="0" bIns="0" anchor="t" anchorCtr="0">
              <a:spAutoFit/>
            </a:bodyPr>
            <a:lstStyle/>
            <a:p>
              <a:pPr algn="l"/>
              <a:r>
                <a:rPr lang="zh-CN" sz="900" dirty="0">
                  <a:solidFill>
                    <a:srgbClr val="8C8C82"/>
                  </a:solidFill>
                  <a:latin typeface="Arial" panose="020B0604020202090204"/>
                  <a:ea typeface="微软雅黑"/>
                  <a:cs typeface="Arial" panose="020B0604020202090204"/>
                </a:rPr>
                <a:t>融合推荐机制校准的社交仿真平台</a:t>
              </a:r>
            </a:p>
          </p:txBody>
        </p:sp>
        <p:sp>
          <p:nvSpPr>
            <p:cNvPr id="64" name="TextBox 64"/>
            <p:cNvSpPr txBox="1"/>
            <p:nvPr/>
          </p:nvSpPr>
          <p:spPr>
            <a:xfrm>
              <a:off x="11438954" y="6608445"/>
              <a:ext cx="154877" cy="182880"/>
            </a:xfrm>
            <a:prstGeom prst="rect">
              <a:avLst/>
            </a:prstGeom>
            <a:noFill/>
            <a:ln>
              <a:noFill/>
            </a:ln>
          </p:spPr>
          <p:txBody>
            <a:bodyPr wrap="none" lIns="0" tIns="0" rIns="0" bIns="0" anchor="t" anchorCtr="0">
              <a:spAutoFit/>
            </a:bodyPr>
            <a:lstStyle/>
            <a:p>
              <a:pPr algn="r"/>
              <a:r>
                <a:rPr lang="en-US" sz="900" dirty="0">
                  <a:solidFill>
                    <a:srgbClr val="8C8C82"/>
                  </a:solidFill>
                  <a:latin typeface="Cambria"/>
                  <a:ea typeface="Cambria"/>
                  <a:cs typeface="Cambria"/>
                </a:rPr>
                <a:t>15</a:t>
              </a:r>
            </a:p>
          </p:txBody>
        </p:sp>
      </p:grpSp>
      <p:pic>
        <p:nvPicPr>
          <p:cNvPr id="66" name="Image 7"/>
          <p:cNvPicPr>
            <a:picLocks noChangeAspect="1"/>
          </p:cNvPicPr>
          <p:nvPr/>
        </p:nvPicPr>
        <p:blipFill>
          <a:blip r:embed="rId3"/>
          <a:stretch>
            <a:fillRect/>
          </a:stretch>
        </p:blipFill>
        <p:spPr>
          <a:xfrm>
            <a:off x="10919012" y="-13055"/>
            <a:ext cx="663388" cy="84676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p:nvPr/>
          </p:nvSpPr>
          <p:spPr>
            <a:xfrm>
              <a:off x="0" y="0"/>
              <a:ext cx="12192000" cy="6858000"/>
            </a:xfrm>
            <a:prstGeom prst="rect">
              <a:avLst/>
            </a:prstGeom>
            <a:gradFill>
              <a:gsLst>
                <a:gs pos="0">
                  <a:srgbClr val="1B3A5B">
                    <a:alpha val="7000"/>
                  </a:srgbClr>
                </a:gs>
                <a:gs pos="55000">
                  <a:srgbClr val="1B3A5B">
                    <a:alpha val="2000"/>
                  </a:srgbClr>
                </a:gs>
                <a:gs pos="100000">
                  <a:srgbClr val="1B3A5B">
                    <a:alpha val="0"/>
                  </a:srgbClr>
                </a:gs>
              </a:gsLst>
              <a:path path="circle">
                <a:fillToRect l="50000" t="50000" r="50000" b="50000"/>
              </a:path>
            </a:gradFill>
            <a:ln>
              <a:noFill/>
            </a:ln>
          </p:spPr>
          <p:txBody>
            <a:bodyPr/>
            <a:lstStyle/>
            <a:p>
              <a:endParaRPr lang="zh-CN" altLang="en-US"/>
            </a:p>
          </p:txBody>
        </p:sp>
        <p:sp>
          <p:nvSpPr>
            <p:cNvPr id="4" name="Rectangle 4"/>
            <p:cNvSpPr/>
            <p:nvPr/>
          </p:nvSpPr>
          <p:spPr>
            <a:xfrm>
              <a:off x="0" y="0"/>
              <a:ext cx="12192000" cy="6858000"/>
            </a:xfrm>
            <a:prstGeom prst="rect">
              <a:avLst/>
            </a:prstGeom>
            <a:gradFill>
              <a:gsLst>
                <a:gs pos="0">
                  <a:srgbClr val="C8A24B">
                    <a:alpha val="8000"/>
                  </a:srgbClr>
                </a:gs>
                <a:gs pos="50000">
                  <a:srgbClr val="C8A24B">
                    <a:alpha val="2000"/>
                  </a:srgbClr>
                </a:gs>
                <a:gs pos="100000">
                  <a:srgbClr val="C8A24B">
                    <a:alpha val="0"/>
                  </a:srgbClr>
                </a:gs>
              </a:gsLst>
              <a:path path="circle">
                <a:fillToRect l="50000" t="50000" r="50000" b="50000"/>
              </a:path>
            </a:gradFill>
            <a:ln>
              <a:noFill/>
            </a:ln>
          </p:spPr>
          <p:txBody>
            <a:bodyPr/>
            <a:lstStyle/>
            <a:p>
              <a:endParaRPr lang="zh-CN" altLang="en-US"/>
            </a:p>
          </p:txBody>
        </p:sp>
      </p:grpSp>
      <p:grpSp>
        <p:nvGrpSpPr>
          <p:cNvPr id="9" name="Group 9"/>
          <p:cNvGrpSpPr/>
          <p:nvPr/>
        </p:nvGrpSpPr>
        <p:grpSpPr>
          <a:xfrm>
            <a:off x="590550" y="523875"/>
            <a:ext cx="10991850" cy="400050"/>
            <a:chOff x="590550" y="523875"/>
            <a:chExt cx="10991850" cy="400050"/>
          </a:xfrm>
        </p:grpSpPr>
        <p:sp>
          <p:nvSpPr>
            <p:cNvPr id="6" name="TextBox 6"/>
            <p:cNvSpPr txBox="1"/>
            <p:nvPr/>
          </p:nvSpPr>
          <p:spPr>
            <a:xfrm>
              <a:off x="590550" y="523875"/>
              <a:ext cx="1172242" cy="304800"/>
            </a:xfrm>
            <a:prstGeom prst="rect">
              <a:avLst/>
            </a:prstGeom>
            <a:noFill/>
            <a:ln>
              <a:noFill/>
            </a:ln>
          </p:spPr>
          <p:txBody>
            <a:bodyPr wrap="none" lIns="0" tIns="0" rIns="0" bIns="0" anchor="t" anchorCtr="0">
              <a:spAutoFit/>
            </a:bodyPr>
            <a:lstStyle/>
            <a:p>
              <a:pPr algn="l"/>
              <a:r>
                <a:rPr lang="en-US" sz="1500" b="1" dirty="0">
                  <a:solidFill>
                    <a:srgbClr val="1B3A5B"/>
                  </a:solidFill>
                  <a:latin typeface="Cambria"/>
                  <a:ea typeface="Cambria"/>
                  <a:cs typeface="Cambria"/>
                </a:rPr>
                <a:t>06 </a:t>
              </a:r>
              <a:r>
                <a:rPr lang="zh-CN" sz="1200" b="1" dirty="0">
                  <a:solidFill>
                    <a:srgbClr val="5A5A52"/>
                  </a:solidFill>
                  <a:latin typeface="Arial" panose="020B0604020202090204"/>
                  <a:ea typeface="微软雅黑"/>
                  <a:cs typeface="Arial" panose="020B0604020202090204"/>
                </a:rPr>
                <a:t>进度安排</a:t>
              </a:r>
            </a:p>
          </p:txBody>
        </p:sp>
        <p:sp>
          <p:nvSpPr>
            <p:cNvPr id="8" name="Line 8"/>
            <p:cNvSpPr/>
            <p:nvPr/>
          </p:nvSpPr>
          <p:spPr>
            <a:xfrm>
              <a:off x="609600" y="914400"/>
              <a:ext cx="10972800" cy="9525"/>
            </a:xfrm>
            <a:custGeom>
              <a:avLst/>
              <a:gdLst/>
              <a:ahLst/>
              <a:cxnLst/>
              <a:rect l="l" t="t" r="r" b="b"/>
              <a:pathLst>
                <a:path w="10972800" h="9525">
                  <a:moveTo>
                    <a:pt x="0" y="0"/>
                  </a:moveTo>
                  <a:lnTo>
                    <a:pt x="10972800" y="0"/>
                  </a:lnTo>
                </a:path>
              </a:pathLst>
            </a:custGeom>
            <a:noFill/>
            <a:ln w="19050">
              <a:solidFill>
                <a:srgbClr val="1B3A5B"/>
              </a:solidFill>
            </a:ln>
          </p:spPr>
          <p:txBody>
            <a:bodyPr/>
            <a:lstStyle/>
            <a:p>
              <a:endParaRPr lang="zh-CN" altLang="en-US"/>
            </a:p>
          </p:txBody>
        </p:sp>
      </p:grpSp>
      <p:grpSp>
        <p:nvGrpSpPr>
          <p:cNvPr id="12" name="Group 12"/>
          <p:cNvGrpSpPr/>
          <p:nvPr/>
        </p:nvGrpSpPr>
        <p:grpSpPr>
          <a:xfrm>
            <a:off x="577215" y="1210628"/>
            <a:ext cx="1297940" cy="484822"/>
            <a:chOff x="577215" y="1210628"/>
            <a:chExt cx="1297940" cy="484822"/>
          </a:xfrm>
        </p:grpSpPr>
        <p:sp>
          <p:nvSpPr>
            <p:cNvPr id="10" name="TextBox 10"/>
            <p:cNvSpPr txBox="1"/>
            <p:nvPr/>
          </p:nvSpPr>
          <p:spPr>
            <a:xfrm>
              <a:off x="577215" y="1210628"/>
              <a:ext cx="1297940" cy="391795"/>
            </a:xfrm>
            <a:prstGeom prst="rect">
              <a:avLst/>
            </a:prstGeom>
            <a:noFill/>
            <a:ln>
              <a:noFill/>
            </a:ln>
          </p:spPr>
          <p:txBody>
            <a:bodyPr wrap="none" lIns="0" tIns="0" rIns="0" bIns="0" anchor="t" anchorCtr="0">
              <a:spAutoFit/>
            </a:bodyPr>
            <a:lstStyle/>
            <a:p>
              <a:pPr algn="l"/>
              <a:r>
                <a:rPr lang="zh-CN" sz="2550" b="1" dirty="0">
                  <a:solidFill>
                    <a:srgbClr val="1B3A5B"/>
                  </a:solidFill>
                  <a:latin typeface="Cambria"/>
                  <a:ea typeface="宋体"/>
                  <a:cs typeface="Cambria"/>
                </a:rPr>
                <a:t>进度安排</a:t>
              </a:r>
            </a:p>
          </p:txBody>
        </p:sp>
        <p:sp>
          <p:nvSpPr>
            <p:cNvPr id="11" name="Rectangle 11"/>
            <p:cNvSpPr/>
            <p:nvPr/>
          </p:nvSpPr>
          <p:spPr>
            <a:xfrm>
              <a:off x="609600" y="1657350"/>
              <a:ext cx="533400" cy="38100"/>
            </a:xfrm>
            <a:prstGeom prst="rect">
              <a:avLst/>
            </a:prstGeom>
            <a:solidFill>
              <a:srgbClr val="C8A24B"/>
            </a:solidFill>
            <a:ln>
              <a:noFill/>
            </a:ln>
          </p:spPr>
          <p:txBody>
            <a:bodyPr/>
            <a:lstStyle/>
            <a:p>
              <a:endParaRPr lang="zh-CN" altLang="en-US"/>
            </a:p>
          </p:txBody>
        </p:sp>
      </p:grpSp>
      <p:grpSp>
        <p:nvGrpSpPr>
          <p:cNvPr id="74" name="Group 74"/>
          <p:cNvGrpSpPr/>
          <p:nvPr/>
        </p:nvGrpSpPr>
        <p:grpSpPr>
          <a:xfrm>
            <a:off x="533400" y="2286000"/>
            <a:ext cx="11125200" cy="3200400"/>
            <a:chOff x="533400" y="2286000"/>
            <a:chExt cx="11125200" cy="3200400"/>
          </a:xfrm>
        </p:grpSpPr>
        <p:sp>
          <p:nvSpPr>
            <p:cNvPr id="13" name="Line 13"/>
            <p:cNvSpPr/>
            <p:nvPr/>
          </p:nvSpPr>
          <p:spPr>
            <a:xfrm>
              <a:off x="1333500" y="3886200"/>
              <a:ext cx="9525000" cy="9525"/>
            </a:xfrm>
            <a:custGeom>
              <a:avLst/>
              <a:gdLst/>
              <a:ahLst/>
              <a:cxnLst/>
              <a:rect l="l" t="t" r="r" b="b"/>
              <a:pathLst>
                <a:path w="9525000" h="9525">
                  <a:moveTo>
                    <a:pt x="0" y="0"/>
                  </a:moveTo>
                  <a:lnTo>
                    <a:pt x="9525000" y="0"/>
                  </a:lnTo>
                </a:path>
              </a:pathLst>
            </a:custGeom>
            <a:noFill/>
            <a:ln w="38100" cap="rnd">
              <a:solidFill>
                <a:srgbClr val="D8D0C2"/>
              </a:solidFill>
            </a:ln>
          </p:spPr>
          <p:txBody>
            <a:bodyPr/>
            <a:lstStyle/>
            <a:p>
              <a:endParaRPr lang="zh-CN" altLang="en-US"/>
            </a:p>
          </p:txBody>
        </p:sp>
        <p:grpSp>
          <p:nvGrpSpPr>
            <p:cNvPr id="23" name="Group 23"/>
            <p:cNvGrpSpPr/>
            <p:nvPr/>
          </p:nvGrpSpPr>
          <p:grpSpPr>
            <a:xfrm>
              <a:off x="533400" y="2286000"/>
              <a:ext cx="1600200" cy="1733550"/>
              <a:chOff x="533400" y="2286000"/>
              <a:chExt cx="1600200" cy="1733550"/>
            </a:xfrm>
          </p:grpSpPr>
          <p:sp>
            <p:nvSpPr>
              <p:cNvPr id="14" name="Ellipse 14"/>
              <p:cNvSpPr/>
              <p:nvPr/>
            </p:nvSpPr>
            <p:spPr>
              <a:xfrm>
                <a:off x="1200150" y="3752850"/>
                <a:ext cx="266700" cy="266700"/>
              </a:xfrm>
              <a:prstGeom prst="ellipse">
                <a:avLst/>
              </a:prstGeom>
              <a:solidFill>
                <a:srgbClr val="1B3A5B"/>
              </a:solidFill>
              <a:ln>
                <a:noFill/>
              </a:ln>
            </p:spPr>
            <p:txBody>
              <a:bodyPr/>
              <a:lstStyle/>
              <a:p>
                <a:endParaRPr lang="zh-CN" altLang="en-US"/>
              </a:p>
            </p:txBody>
          </p:sp>
          <p:sp>
            <p:nvSpPr>
              <p:cNvPr id="15" name="Ellipse 15"/>
              <p:cNvSpPr/>
              <p:nvPr/>
            </p:nvSpPr>
            <p:spPr>
              <a:xfrm>
                <a:off x="1276350" y="3829050"/>
                <a:ext cx="114300" cy="114300"/>
              </a:xfrm>
              <a:prstGeom prst="ellipse">
                <a:avLst/>
              </a:prstGeom>
              <a:solidFill>
                <a:srgbClr val="C8A24B"/>
              </a:solidFill>
              <a:ln>
                <a:noFill/>
              </a:ln>
            </p:spPr>
            <p:txBody>
              <a:bodyPr/>
              <a:lstStyle/>
              <a:p>
                <a:endParaRPr lang="zh-CN" altLang="en-US"/>
              </a:p>
            </p:txBody>
          </p:sp>
          <p:sp>
            <p:nvSpPr>
              <p:cNvPr id="16" name="Line 16"/>
              <p:cNvSpPr/>
              <p:nvPr/>
            </p:nvSpPr>
            <p:spPr>
              <a:xfrm>
                <a:off x="1333500" y="3429000"/>
                <a:ext cx="9525" cy="323850"/>
              </a:xfrm>
              <a:custGeom>
                <a:avLst/>
                <a:gdLst/>
                <a:ahLst/>
                <a:cxnLst/>
                <a:rect l="l" t="t" r="r" b="b"/>
                <a:pathLst>
                  <a:path w="9525" h="323850">
                    <a:moveTo>
                      <a:pt x="0" y="323850"/>
                    </a:moveTo>
                    <a:lnTo>
                      <a:pt x="0" y="0"/>
                    </a:lnTo>
                  </a:path>
                </a:pathLst>
              </a:custGeom>
              <a:noFill/>
              <a:ln w="14288">
                <a:solidFill>
                  <a:srgbClr val="D8D0C2"/>
                </a:solidFill>
              </a:ln>
            </p:spPr>
            <p:txBody>
              <a:bodyPr/>
              <a:lstStyle/>
              <a:p>
                <a:endParaRPr lang="zh-CN" altLang="en-US"/>
              </a:p>
            </p:txBody>
          </p:sp>
          <p:sp>
            <p:nvSpPr>
              <p:cNvPr id="17" name="Rectangle 17"/>
              <p:cNvSpPr/>
              <p:nvPr/>
            </p:nvSpPr>
            <p:spPr>
              <a:xfrm>
                <a:off x="533400" y="2286000"/>
                <a:ext cx="1600200" cy="1143000"/>
              </a:xfrm>
              <a:prstGeom prst="roundRect">
                <a:avLst>
                  <a:gd name="adj" fmla="val 3333"/>
                </a:avLst>
              </a:prstGeom>
              <a:solidFill>
                <a:srgbClr val="FFFFFF"/>
              </a:solidFill>
              <a:ln w="9525">
                <a:solidFill>
                  <a:srgbClr val="D8D0C2"/>
                </a:solidFill>
              </a:ln>
            </p:spPr>
            <p:txBody>
              <a:bodyPr/>
              <a:lstStyle/>
              <a:p>
                <a:endParaRPr lang="zh-CN" altLang="en-US"/>
              </a:p>
            </p:txBody>
          </p:sp>
          <p:sp>
            <p:nvSpPr>
              <p:cNvPr id="18" name="Rectangle 18"/>
              <p:cNvSpPr/>
              <p:nvPr/>
            </p:nvSpPr>
            <p:spPr>
              <a:xfrm>
                <a:off x="533400" y="2286000"/>
                <a:ext cx="1600200" cy="323850"/>
              </a:xfrm>
              <a:prstGeom prst="roundRect">
                <a:avLst>
                  <a:gd name="adj" fmla="val 11765"/>
                </a:avLst>
              </a:prstGeom>
              <a:solidFill>
                <a:srgbClr val="1B3A5B"/>
              </a:solidFill>
              <a:ln>
                <a:noFill/>
              </a:ln>
            </p:spPr>
            <p:txBody>
              <a:bodyPr/>
              <a:lstStyle/>
              <a:p>
                <a:endParaRPr lang="zh-CN" altLang="en-US"/>
              </a:p>
            </p:txBody>
          </p:sp>
          <p:sp>
            <p:nvSpPr>
              <p:cNvPr id="19" name="Rectangle 19"/>
              <p:cNvSpPr/>
              <p:nvPr/>
            </p:nvSpPr>
            <p:spPr>
              <a:xfrm>
                <a:off x="533400" y="2495550"/>
                <a:ext cx="1600200" cy="114300"/>
              </a:xfrm>
              <a:prstGeom prst="rect">
                <a:avLst/>
              </a:prstGeom>
              <a:solidFill>
                <a:srgbClr val="1B3A5B"/>
              </a:solidFill>
              <a:ln>
                <a:noFill/>
              </a:ln>
            </p:spPr>
            <p:txBody>
              <a:bodyPr/>
              <a:lstStyle/>
              <a:p>
                <a:endParaRPr lang="zh-CN" altLang="en-US"/>
              </a:p>
            </p:txBody>
          </p:sp>
          <p:sp>
            <p:nvSpPr>
              <p:cNvPr id="20" name="TextBox 20"/>
              <p:cNvSpPr txBox="1"/>
              <p:nvPr/>
            </p:nvSpPr>
            <p:spPr>
              <a:xfrm>
                <a:off x="1019310" y="2324844"/>
                <a:ext cx="628377" cy="276999"/>
              </a:xfrm>
              <a:prstGeom prst="rect">
                <a:avLst/>
              </a:prstGeom>
              <a:noFill/>
              <a:ln>
                <a:noFill/>
              </a:ln>
            </p:spPr>
            <p:txBody>
              <a:bodyPr wrap="none" lIns="0" tIns="0" rIns="0" bIns="0" anchor="t" anchorCtr="0">
                <a:spAutoFit/>
              </a:bodyPr>
              <a:lstStyle/>
              <a:p>
                <a:pPr algn="ctr"/>
                <a:r>
                  <a:rPr lang="en-US" altLang="zh-CN" b="1" dirty="0">
                    <a:solidFill>
                      <a:srgbClr val="FAF8F4"/>
                    </a:solidFill>
                    <a:latin typeface="Arial" panose="020B0604020202090204"/>
                    <a:ea typeface="微软雅黑"/>
                    <a:cs typeface="Arial" panose="020B0604020202090204"/>
                  </a:rPr>
                  <a:t>7</a:t>
                </a:r>
                <a:r>
                  <a:rPr lang="zh-CN" b="1" dirty="0">
                    <a:solidFill>
                      <a:srgbClr val="FAF8F4"/>
                    </a:solidFill>
                    <a:latin typeface="Arial" panose="020B0604020202090204"/>
                    <a:ea typeface="微软雅黑"/>
                    <a:cs typeface="Arial" panose="020B0604020202090204"/>
                  </a:rPr>
                  <a:t>-</a:t>
                </a:r>
                <a:r>
                  <a:rPr lang="en-US" altLang="zh-CN" b="1" dirty="0">
                    <a:solidFill>
                      <a:srgbClr val="FAF8F4"/>
                    </a:solidFill>
                    <a:latin typeface="Arial" panose="020B0604020202090204"/>
                    <a:ea typeface="微软雅黑"/>
                    <a:cs typeface="Arial" panose="020B0604020202090204"/>
                  </a:rPr>
                  <a:t>8</a:t>
                </a:r>
                <a:r>
                  <a:rPr lang="zh-CN" b="1" dirty="0">
                    <a:solidFill>
                      <a:srgbClr val="FAF8F4"/>
                    </a:solidFill>
                    <a:latin typeface="Arial" panose="020B0604020202090204"/>
                    <a:ea typeface="微软雅黑"/>
                    <a:cs typeface="Arial" panose="020B0604020202090204"/>
                  </a:rPr>
                  <a:t> 月</a:t>
                </a:r>
              </a:p>
            </p:txBody>
          </p:sp>
          <p:sp>
            <p:nvSpPr>
              <p:cNvPr id="21" name="TextBox 21"/>
              <p:cNvSpPr txBox="1"/>
              <p:nvPr/>
            </p:nvSpPr>
            <p:spPr>
              <a:xfrm>
                <a:off x="923129" y="2734501"/>
                <a:ext cx="820738" cy="246221"/>
              </a:xfrm>
              <a:prstGeom prst="rect">
                <a:avLst/>
              </a:prstGeom>
              <a:noFill/>
              <a:ln>
                <a:noFill/>
              </a:ln>
            </p:spPr>
            <p:txBody>
              <a:bodyPr wrap="none" lIns="0" tIns="0" rIns="0" bIns="0" anchor="t" anchorCtr="0">
                <a:spAutoFit/>
              </a:bodyPr>
              <a:lstStyle/>
              <a:p>
                <a:pPr algn="ctr"/>
                <a:r>
                  <a:rPr lang="zh-CN" sz="1600" dirty="0">
                    <a:solidFill>
                      <a:srgbClr val="2B2B2B"/>
                    </a:solidFill>
                    <a:latin typeface="Arial" panose="020B0604020202090204"/>
                    <a:ea typeface="微软雅黑"/>
                    <a:cs typeface="Arial" panose="020B0604020202090204"/>
                  </a:rPr>
                  <a:t>需求分析</a:t>
                </a:r>
              </a:p>
            </p:txBody>
          </p:sp>
          <p:sp>
            <p:nvSpPr>
              <p:cNvPr id="22" name="TextBox 22"/>
              <p:cNvSpPr txBox="1"/>
              <p:nvPr/>
            </p:nvSpPr>
            <p:spPr>
              <a:xfrm>
                <a:off x="820539" y="3010852"/>
                <a:ext cx="1025923" cy="246221"/>
              </a:xfrm>
              <a:prstGeom prst="rect">
                <a:avLst/>
              </a:prstGeom>
              <a:noFill/>
              <a:ln>
                <a:noFill/>
              </a:ln>
            </p:spPr>
            <p:txBody>
              <a:bodyPr wrap="none" lIns="0" tIns="0" rIns="0" bIns="0" anchor="t" anchorCtr="0">
                <a:spAutoFit/>
              </a:bodyPr>
              <a:lstStyle/>
              <a:p>
                <a:pPr algn="ctr"/>
                <a:r>
                  <a:rPr lang="zh-CN" sz="1600" dirty="0">
                    <a:solidFill>
                      <a:srgbClr val="2B2B2B"/>
                    </a:solidFill>
                    <a:latin typeface="Arial" panose="020B0604020202090204"/>
                    <a:ea typeface="微软雅黑"/>
                    <a:cs typeface="Arial" panose="020B0604020202090204"/>
                  </a:rPr>
                  <a:t>与总体方案</a:t>
                </a:r>
              </a:p>
            </p:txBody>
          </p:sp>
        </p:grpSp>
        <p:grpSp>
          <p:nvGrpSpPr>
            <p:cNvPr id="33" name="Group 33"/>
            <p:cNvGrpSpPr/>
            <p:nvPr/>
          </p:nvGrpSpPr>
          <p:grpSpPr>
            <a:xfrm>
              <a:off x="2438400" y="3752850"/>
              <a:ext cx="1600200" cy="1733550"/>
              <a:chOff x="2438400" y="3752850"/>
              <a:chExt cx="1600200" cy="1733550"/>
            </a:xfrm>
          </p:grpSpPr>
          <p:sp>
            <p:nvSpPr>
              <p:cNvPr id="24" name="Ellipse 24"/>
              <p:cNvSpPr/>
              <p:nvPr/>
            </p:nvSpPr>
            <p:spPr>
              <a:xfrm>
                <a:off x="3105150" y="3752850"/>
                <a:ext cx="266700" cy="266700"/>
              </a:xfrm>
              <a:prstGeom prst="ellipse">
                <a:avLst/>
              </a:prstGeom>
              <a:solidFill>
                <a:srgbClr val="1B3A5B"/>
              </a:solidFill>
              <a:ln>
                <a:noFill/>
              </a:ln>
            </p:spPr>
            <p:txBody>
              <a:bodyPr/>
              <a:lstStyle/>
              <a:p>
                <a:endParaRPr lang="zh-CN" altLang="en-US"/>
              </a:p>
            </p:txBody>
          </p:sp>
          <p:sp>
            <p:nvSpPr>
              <p:cNvPr id="25" name="Ellipse 25"/>
              <p:cNvSpPr/>
              <p:nvPr/>
            </p:nvSpPr>
            <p:spPr>
              <a:xfrm>
                <a:off x="3181350" y="3829050"/>
                <a:ext cx="114300" cy="114300"/>
              </a:xfrm>
              <a:prstGeom prst="ellipse">
                <a:avLst/>
              </a:prstGeom>
              <a:solidFill>
                <a:srgbClr val="C8A24B"/>
              </a:solidFill>
              <a:ln>
                <a:noFill/>
              </a:ln>
            </p:spPr>
            <p:txBody>
              <a:bodyPr/>
              <a:lstStyle/>
              <a:p>
                <a:endParaRPr lang="zh-CN" altLang="en-US"/>
              </a:p>
            </p:txBody>
          </p:sp>
          <p:sp>
            <p:nvSpPr>
              <p:cNvPr id="26" name="Line 26"/>
              <p:cNvSpPr/>
              <p:nvPr/>
            </p:nvSpPr>
            <p:spPr>
              <a:xfrm>
                <a:off x="3238500" y="4019550"/>
                <a:ext cx="9525" cy="323850"/>
              </a:xfrm>
              <a:custGeom>
                <a:avLst/>
                <a:gdLst/>
                <a:ahLst/>
                <a:cxnLst/>
                <a:rect l="l" t="t" r="r" b="b"/>
                <a:pathLst>
                  <a:path w="9525" h="323850">
                    <a:moveTo>
                      <a:pt x="0" y="0"/>
                    </a:moveTo>
                    <a:lnTo>
                      <a:pt x="0" y="323850"/>
                    </a:lnTo>
                  </a:path>
                </a:pathLst>
              </a:custGeom>
              <a:noFill/>
              <a:ln w="14288">
                <a:solidFill>
                  <a:srgbClr val="D8D0C2"/>
                </a:solidFill>
              </a:ln>
            </p:spPr>
            <p:txBody>
              <a:bodyPr/>
              <a:lstStyle/>
              <a:p>
                <a:endParaRPr lang="zh-CN" altLang="en-US"/>
              </a:p>
            </p:txBody>
          </p:sp>
          <p:sp>
            <p:nvSpPr>
              <p:cNvPr id="27" name="Rectangle 27"/>
              <p:cNvSpPr/>
              <p:nvPr/>
            </p:nvSpPr>
            <p:spPr>
              <a:xfrm>
                <a:off x="2438400" y="4343400"/>
                <a:ext cx="1600200" cy="1143000"/>
              </a:xfrm>
              <a:prstGeom prst="roundRect">
                <a:avLst>
                  <a:gd name="adj" fmla="val 3333"/>
                </a:avLst>
              </a:prstGeom>
              <a:solidFill>
                <a:srgbClr val="FFFFFF"/>
              </a:solidFill>
              <a:ln w="9525">
                <a:solidFill>
                  <a:srgbClr val="D8D0C2"/>
                </a:solidFill>
              </a:ln>
            </p:spPr>
            <p:txBody>
              <a:bodyPr/>
              <a:lstStyle/>
              <a:p>
                <a:endParaRPr lang="zh-CN" altLang="en-US"/>
              </a:p>
            </p:txBody>
          </p:sp>
          <p:sp>
            <p:nvSpPr>
              <p:cNvPr id="28" name="Rectangle 28"/>
              <p:cNvSpPr/>
              <p:nvPr/>
            </p:nvSpPr>
            <p:spPr>
              <a:xfrm>
                <a:off x="2438400" y="4343400"/>
                <a:ext cx="1600200" cy="323850"/>
              </a:xfrm>
              <a:prstGeom prst="roundRect">
                <a:avLst>
                  <a:gd name="adj" fmla="val 11765"/>
                </a:avLst>
              </a:prstGeom>
              <a:solidFill>
                <a:srgbClr val="4A6B8A"/>
              </a:solidFill>
              <a:ln>
                <a:noFill/>
              </a:ln>
            </p:spPr>
            <p:txBody>
              <a:bodyPr/>
              <a:lstStyle/>
              <a:p>
                <a:endParaRPr lang="zh-CN" altLang="en-US"/>
              </a:p>
            </p:txBody>
          </p:sp>
          <p:sp>
            <p:nvSpPr>
              <p:cNvPr id="29" name="Rectangle 29"/>
              <p:cNvSpPr/>
              <p:nvPr/>
            </p:nvSpPr>
            <p:spPr>
              <a:xfrm>
                <a:off x="2438400" y="4552950"/>
                <a:ext cx="1600200" cy="114300"/>
              </a:xfrm>
              <a:prstGeom prst="rect">
                <a:avLst/>
              </a:prstGeom>
              <a:solidFill>
                <a:srgbClr val="4A6B8A"/>
              </a:solidFill>
              <a:ln>
                <a:noFill/>
              </a:ln>
            </p:spPr>
            <p:txBody>
              <a:bodyPr/>
              <a:lstStyle/>
              <a:p>
                <a:endParaRPr lang="zh-CN" altLang="en-US"/>
              </a:p>
            </p:txBody>
          </p:sp>
          <p:sp>
            <p:nvSpPr>
              <p:cNvPr id="30" name="TextBox 30"/>
              <p:cNvSpPr txBox="1"/>
              <p:nvPr/>
            </p:nvSpPr>
            <p:spPr>
              <a:xfrm>
                <a:off x="2860191" y="4371588"/>
                <a:ext cx="756617" cy="276999"/>
              </a:xfrm>
              <a:prstGeom prst="rect">
                <a:avLst/>
              </a:prstGeom>
              <a:noFill/>
              <a:ln>
                <a:noFill/>
              </a:ln>
            </p:spPr>
            <p:txBody>
              <a:bodyPr wrap="none" lIns="0" tIns="0" rIns="0" bIns="0" anchor="t" anchorCtr="0">
                <a:spAutoFit/>
              </a:bodyPr>
              <a:lstStyle/>
              <a:p>
                <a:pPr algn="ctr"/>
                <a:r>
                  <a:rPr lang="en-US" altLang="zh-CN" b="1" dirty="0">
                    <a:solidFill>
                      <a:srgbClr val="FAF8F4"/>
                    </a:solidFill>
                    <a:latin typeface="Arial" panose="020B0604020202090204"/>
                    <a:ea typeface="微软雅黑"/>
                    <a:cs typeface="Arial" panose="020B0604020202090204"/>
                  </a:rPr>
                  <a:t>9</a:t>
                </a:r>
                <a:r>
                  <a:rPr lang="zh-CN" b="1" dirty="0">
                    <a:solidFill>
                      <a:srgbClr val="FAF8F4"/>
                    </a:solidFill>
                    <a:latin typeface="Arial" panose="020B0604020202090204"/>
                    <a:ea typeface="微软雅黑"/>
                    <a:cs typeface="Arial" panose="020B0604020202090204"/>
                  </a:rPr>
                  <a:t>-</a:t>
                </a:r>
                <a:r>
                  <a:rPr lang="en-US" altLang="zh-CN" b="1" dirty="0">
                    <a:solidFill>
                      <a:srgbClr val="FAF8F4"/>
                    </a:solidFill>
                    <a:latin typeface="Arial" panose="020B0604020202090204"/>
                    <a:ea typeface="微软雅黑"/>
                    <a:cs typeface="Arial" panose="020B0604020202090204"/>
                  </a:rPr>
                  <a:t>10</a:t>
                </a:r>
                <a:r>
                  <a:rPr lang="zh-CN" b="1" dirty="0">
                    <a:solidFill>
                      <a:srgbClr val="FAF8F4"/>
                    </a:solidFill>
                    <a:latin typeface="Arial" panose="020B0604020202090204"/>
                    <a:ea typeface="微软雅黑"/>
                    <a:cs typeface="Arial" panose="020B0604020202090204"/>
                  </a:rPr>
                  <a:t> 月</a:t>
                </a:r>
              </a:p>
            </p:txBody>
          </p:sp>
          <p:sp>
            <p:nvSpPr>
              <p:cNvPr id="31" name="TextBox 31"/>
              <p:cNvSpPr txBox="1"/>
              <p:nvPr/>
            </p:nvSpPr>
            <p:spPr>
              <a:xfrm>
                <a:off x="2828130" y="4772739"/>
                <a:ext cx="820738" cy="246221"/>
              </a:xfrm>
              <a:prstGeom prst="rect">
                <a:avLst/>
              </a:prstGeom>
              <a:noFill/>
              <a:ln>
                <a:noFill/>
              </a:ln>
            </p:spPr>
            <p:txBody>
              <a:bodyPr wrap="none" lIns="0" tIns="0" rIns="0" bIns="0" anchor="t" anchorCtr="0">
                <a:spAutoFit/>
              </a:bodyPr>
              <a:lstStyle/>
              <a:p>
                <a:pPr algn="ctr"/>
                <a:r>
                  <a:rPr lang="zh-CN" sz="1600" dirty="0">
                    <a:solidFill>
                      <a:srgbClr val="2B2B2B"/>
                    </a:solidFill>
                    <a:latin typeface="Arial" panose="020B0604020202090204"/>
                    <a:ea typeface="微软雅黑"/>
                    <a:cs typeface="Arial" panose="020B0604020202090204"/>
                  </a:rPr>
                  <a:t>数据准备</a:t>
                </a:r>
              </a:p>
            </p:txBody>
          </p:sp>
          <p:sp>
            <p:nvSpPr>
              <p:cNvPr id="32" name="TextBox 32"/>
              <p:cNvSpPr txBox="1"/>
              <p:nvPr/>
            </p:nvSpPr>
            <p:spPr>
              <a:xfrm>
                <a:off x="2725539" y="5068252"/>
                <a:ext cx="1025923" cy="246221"/>
              </a:xfrm>
              <a:prstGeom prst="rect">
                <a:avLst/>
              </a:prstGeom>
              <a:noFill/>
              <a:ln>
                <a:noFill/>
              </a:ln>
            </p:spPr>
            <p:txBody>
              <a:bodyPr wrap="none" lIns="0" tIns="0" rIns="0" bIns="0" anchor="t" anchorCtr="0">
                <a:spAutoFit/>
              </a:bodyPr>
              <a:lstStyle/>
              <a:p>
                <a:pPr algn="ctr"/>
                <a:r>
                  <a:rPr lang="zh-CN" sz="1600" dirty="0">
                    <a:solidFill>
                      <a:srgbClr val="2B2B2B"/>
                    </a:solidFill>
                    <a:latin typeface="Arial" panose="020B0604020202090204"/>
                    <a:ea typeface="微软雅黑"/>
                    <a:cs typeface="Arial" panose="020B0604020202090204"/>
                  </a:rPr>
                  <a:t>与画像模块</a:t>
                </a:r>
              </a:p>
            </p:txBody>
          </p:sp>
        </p:grpSp>
        <p:grpSp>
          <p:nvGrpSpPr>
            <p:cNvPr id="43" name="Group 43"/>
            <p:cNvGrpSpPr/>
            <p:nvPr/>
          </p:nvGrpSpPr>
          <p:grpSpPr>
            <a:xfrm>
              <a:off x="4343400" y="2286000"/>
              <a:ext cx="1600200" cy="1733550"/>
              <a:chOff x="4343400" y="2286000"/>
              <a:chExt cx="1600200" cy="1733550"/>
            </a:xfrm>
          </p:grpSpPr>
          <p:sp>
            <p:nvSpPr>
              <p:cNvPr id="34" name="Ellipse 34"/>
              <p:cNvSpPr/>
              <p:nvPr/>
            </p:nvSpPr>
            <p:spPr>
              <a:xfrm>
                <a:off x="5010150" y="3752850"/>
                <a:ext cx="266700" cy="266700"/>
              </a:xfrm>
              <a:prstGeom prst="ellipse">
                <a:avLst/>
              </a:prstGeom>
              <a:solidFill>
                <a:srgbClr val="1B3A5B"/>
              </a:solidFill>
              <a:ln>
                <a:noFill/>
              </a:ln>
            </p:spPr>
            <p:txBody>
              <a:bodyPr/>
              <a:lstStyle/>
              <a:p>
                <a:endParaRPr lang="zh-CN" altLang="en-US"/>
              </a:p>
            </p:txBody>
          </p:sp>
          <p:sp>
            <p:nvSpPr>
              <p:cNvPr id="35" name="Ellipse 35"/>
              <p:cNvSpPr/>
              <p:nvPr/>
            </p:nvSpPr>
            <p:spPr>
              <a:xfrm>
                <a:off x="5086350" y="3829050"/>
                <a:ext cx="114300" cy="114300"/>
              </a:xfrm>
              <a:prstGeom prst="ellipse">
                <a:avLst/>
              </a:prstGeom>
              <a:solidFill>
                <a:srgbClr val="C8A24B"/>
              </a:solidFill>
              <a:ln>
                <a:noFill/>
              </a:ln>
            </p:spPr>
            <p:txBody>
              <a:bodyPr/>
              <a:lstStyle/>
              <a:p>
                <a:endParaRPr lang="zh-CN" altLang="en-US"/>
              </a:p>
            </p:txBody>
          </p:sp>
          <p:sp>
            <p:nvSpPr>
              <p:cNvPr id="36" name="Line 36"/>
              <p:cNvSpPr/>
              <p:nvPr/>
            </p:nvSpPr>
            <p:spPr>
              <a:xfrm>
                <a:off x="5143500" y="3429000"/>
                <a:ext cx="9525" cy="323850"/>
              </a:xfrm>
              <a:custGeom>
                <a:avLst/>
                <a:gdLst/>
                <a:ahLst/>
                <a:cxnLst/>
                <a:rect l="l" t="t" r="r" b="b"/>
                <a:pathLst>
                  <a:path w="9525" h="323850">
                    <a:moveTo>
                      <a:pt x="0" y="323850"/>
                    </a:moveTo>
                    <a:lnTo>
                      <a:pt x="0" y="0"/>
                    </a:lnTo>
                  </a:path>
                </a:pathLst>
              </a:custGeom>
              <a:noFill/>
              <a:ln w="14288">
                <a:solidFill>
                  <a:srgbClr val="D8D0C2"/>
                </a:solidFill>
              </a:ln>
            </p:spPr>
            <p:txBody>
              <a:bodyPr/>
              <a:lstStyle/>
              <a:p>
                <a:endParaRPr lang="zh-CN" altLang="en-US"/>
              </a:p>
            </p:txBody>
          </p:sp>
          <p:sp>
            <p:nvSpPr>
              <p:cNvPr id="37" name="Rectangle 37"/>
              <p:cNvSpPr/>
              <p:nvPr/>
            </p:nvSpPr>
            <p:spPr>
              <a:xfrm>
                <a:off x="4343400" y="2286000"/>
                <a:ext cx="1600200" cy="1143000"/>
              </a:xfrm>
              <a:prstGeom prst="roundRect">
                <a:avLst>
                  <a:gd name="adj" fmla="val 3333"/>
                </a:avLst>
              </a:prstGeom>
              <a:solidFill>
                <a:srgbClr val="FFFFFF"/>
              </a:solidFill>
              <a:ln w="9525">
                <a:solidFill>
                  <a:srgbClr val="D8D0C2"/>
                </a:solidFill>
              </a:ln>
            </p:spPr>
            <p:txBody>
              <a:bodyPr/>
              <a:lstStyle/>
              <a:p>
                <a:endParaRPr lang="zh-CN" altLang="en-US"/>
              </a:p>
            </p:txBody>
          </p:sp>
          <p:sp>
            <p:nvSpPr>
              <p:cNvPr id="38" name="Rectangle 38"/>
              <p:cNvSpPr/>
              <p:nvPr/>
            </p:nvSpPr>
            <p:spPr>
              <a:xfrm>
                <a:off x="4343400" y="2286000"/>
                <a:ext cx="1600200" cy="323850"/>
              </a:xfrm>
              <a:prstGeom prst="roundRect">
                <a:avLst>
                  <a:gd name="adj" fmla="val 11765"/>
                </a:avLst>
              </a:prstGeom>
              <a:solidFill>
                <a:srgbClr val="1B3A5B"/>
              </a:solidFill>
              <a:ln>
                <a:noFill/>
              </a:ln>
            </p:spPr>
            <p:txBody>
              <a:bodyPr/>
              <a:lstStyle/>
              <a:p>
                <a:endParaRPr lang="zh-CN" altLang="en-US"/>
              </a:p>
            </p:txBody>
          </p:sp>
          <p:sp>
            <p:nvSpPr>
              <p:cNvPr id="39" name="Rectangle 39"/>
              <p:cNvSpPr/>
              <p:nvPr/>
            </p:nvSpPr>
            <p:spPr>
              <a:xfrm>
                <a:off x="4343400" y="2495550"/>
                <a:ext cx="1600200" cy="114300"/>
              </a:xfrm>
              <a:prstGeom prst="rect">
                <a:avLst/>
              </a:prstGeom>
              <a:solidFill>
                <a:srgbClr val="1B3A5B"/>
              </a:solidFill>
              <a:ln>
                <a:noFill/>
              </a:ln>
            </p:spPr>
            <p:txBody>
              <a:bodyPr/>
              <a:lstStyle/>
              <a:p>
                <a:endParaRPr lang="zh-CN" altLang="en-US"/>
              </a:p>
            </p:txBody>
          </p:sp>
          <p:sp>
            <p:nvSpPr>
              <p:cNvPr id="40" name="TextBox 40"/>
              <p:cNvSpPr txBox="1"/>
              <p:nvPr/>
            </p:nvSpPr>
            <p:spPr>
              <a:xfrm>
                <a:off x="4906224" y="2311620"/>
                <a:ext cx="474552" cy="276999"/>
              </a:xfrm>
              <a:prstGeom prst="rect">
                <a:avLst/>
              </a:prstGeom>
              <a:noFill/>
              <a:ln>
                <a:noFill/>
              </a:ln>
            </p:spPr>
            <p:txBody>
              <a:bodyPr wrap="none" lIns="0" tIns="0" rIns="0" bIns="0" anchor="t" anchorCtr="0">
                <a:spAutoFit/>
              </a:bodyPr>
              <a:lstStyle/>
              <a:p>
                <a:pPr algn="ctr"/>
                <a:r>
                  <a:rPr lang="en-US" altLang="zh-CN" b="1" dirty="0">
                    <a:solidFill>
                      <a:srgbClr val="FAF8F4"/>
                    </a:solidFill>
                    <a:latin typeface="Arial" panose="020B0604020202090204"/>
                    <a:ea typeface="微软雅黑"/>
                    <a:cs typeface="Arial" panose="020B0604020202090204"/>
                  </a:rPr>
                  <a:t>11</a:t>
                </a:r>
                <a:r>
                  <a:rPr lang="zh-CN" b="1" dirty="0">
                    <a:solidFill>
                      <a:srgbClr val="FAF8F4"/>
                    </a:solidFill>
                    <a:latin typeface="Arial" panose="020B0604020202090204"/>
                    <a:ea typeface="微软雅黑"/>
                    <a:cs typeface="Arial" panose="020B0604020202090204"/>
                  </a:rPr>
                  <a:t>月</a:t>
                </a:r>
              </a:p>
            </p:txBody>
          </p:sp>
          <p:sp>
            <p:nvSpPr>
              <p:cNvPr id="41" name="TextBox 41"/>
              <p:cNvSpPr txBox="1"/>
              <p:nvPr/>
            </p:nvSpPr>
            <p:spPr>
              <a:xfrm>
                <a:off x="4482261" y="2734389"/>
                <a:ext cx="1322478" cy="246221"/>
              </a:xfrm>
              <a:prstGeom prst="rect">
                <a:avLst/>
              </a:prstGeom>
              <a:noFill/>
              <a:ln>
                <a:noFill/>
              </a:ln>
            </p:spPr>
            <p:txBody>
              <a:bodyPr wrap="none" lIns="0" tIns="0" rIns="0" bIns="0" anchor="t" anchorCtr="0">
                <a:spAutoFit/>
              </a:bodyPr>
              <a:lstStyle/>
              <a:p>
                <a:pPr algn="ctr"/>
                <a:r>
                  <a:rPr lang="zh-CN" sz="1600" dirty="0">
                    <a:solidFill>
                      <a:srgbClr val="2B2B2B"/>
                    </a:solidFill>
                    <a:latin typeface="Arial" panose="020B0604020202090204"/>
                    <a:ea typeface="微软雅黑"/>
                    <a:cs typeface="Arial" panose="020B0604020202090204"/>
                  </a:rPr>
                  <a:t>ABM 参数校准</a:t>
                </a:r>
              </a:p>
            </p:txBody>
          </p:sp>
          <p:sp>
            <p:nvSpPr>
              <p:cNvPr id="42" name="TextBox 42"/>
              <p:cNvSpPr txBox="1"/>
              <p:nvPr/>
            </p:nvSpPr>
            <p:spPr>
              <a:xfrm>
                <a:off x="4701966" y="3021569"/>
                <a:ext cx="820738" cy="246221"/>
              </a:xfrm>
              <a:prstGeom prst="rect">
                <a:avLst/>
              </a:prstGeom>
              <a:noFill/>
              <a:ln>
                <a:noFill/>
              </a:ln>
            </p:spPr>
            <p:txBody>
              <a:bodyPr wrap="none" lIns="0" tIns="0" rIns="0" bIns="0" anchor="t" anchorCtr="0">
                <a:spAutoFit/>
              </a:bodyPr>
              <a:lstStyle/>
              <a:p>
                <a:pPr algn="ctr"/>
                <a:r>
                  <a:rPr lang="zh-CN" sz="1600" dirty="0">
                    <a:solidFill>
                      <a:srgbClr val="2B2B2B"/>
                    </a:solidFill>
                    <a:latin typeface="Arial" panose="020B0604020202090204"/>
                    <a:ea typeface="微软雅黑"/>
                    <a:cs typeface="Arial" panose="020B0604020202090204"/>
                  </a:rPr>
                  <a:t>初步实验</a:t>
                </a:r>
              </a:p>
            </p:txBody>
          </p:sp>
        </p:grpSp>
        <p:grpSp>
          <p:nvGrpSpPr>
            <p:cNvPr id="53" name="Group 53"/>
            <p:cNvGrpSpPr/>
            <p:nvPr/>
          </p:nvGrpSpPr>
          <p:grpSpPr>
            <a:xfrm>
              <a:off x="6248400" y="3752850"/>
              <a:ext cx="1600200" cy="1733550"/>
              <a:chOff x="6248400" y="3752850"/>
              <a:chExt cx="1600200" cy="1733550"/>
            </a:xfrm>
          </p:grpSpPr>
          <p:sp>
            <p:nvSpPr>
              <p:cNvPr id="44" name="Ellipse 44"/>
              <p:cNvSpPr/>
              <p:nvPr/>
            </p:nvSpPr>
            <p:spPr>
              <a:xfrm>
                <a:off x="6915150" y="3752850"/>
                <a:ext cx="266700" cy="266700"/>
              </a:xfrm>
              <a:prstGeom prst="ellipse">
                <a:avLst/>
              </a:prstGeom>
              <a:solidFill>
                <a:srgbClr val="1B3A5B"/>
              </a:solidFill>
              <a:ln>
                <a:noFill/>
              </a:ln>
            </p:spPr>
            <p:txBody>
              <a:bodyPr/>
              <a:lstStyle/>
              <a:p>
                <a:endParaRPr lang="zh-CN" altLang="en-US"/>
              </a:p>
            </p:txBody>
          </p:sp>
          <p:sp>
            <p:nvSpPr>
              <p:cNvPr id="45" name="Ellipse 45"/>
              <p:cNvSpPr/>
              <p:nvPr/>
            </p:nvSpPr>
            <p:spPr>
              <a:xfrm>
                <a:off x="6991350" y="3829050"/>
                <a:ext cx="114300" cy="114300"/>
              </a:xfrm>
              <a:prstGeom prst="ellipse">
                <a:avLst/>
              </a:prstGeom>
              <a:solidFill>
                <a:srgbClr val="C8A24B"/>
              </a:solidFill>
              <a:ln>
                <a:noFill/>
              </a:ln>
            </p:spPr>
            <p:txBody>
              <a:bodyPr/>
              <a:lstStyle/>
              <a:p>
                <a:endParaRPr lang="zh-CN" altLang="en-US"/>
              </a:p>
            </p:txBody>
          </p:sp>
          <p:sp>
            <p:nvSpPr>
              <p:cNvPr id="46" name="Line 46"/>
              <p:cNvSpPr/>
              <p:nvPr/>
            </p:nvSpPr>
            <p:spPr>
              <a:xfrm>
                <a:off x="7048500" y="4019550"/>
                <a:ext cx="9525" cy="323850"/>
              </a:xfrm>
              <a:custGeom>
                <a:avLst/>
                <a:gdLst/>
                <a:ahLst/>
                <a:cxnLst/>
                <a:rect l="l" t="t" r="r" b="b"/>
                <a:pathLst>
                  <a:path w="9525" h="323850">
                    <a:moveTo>
                      <a:pt x="0" y="0"/>
                    </a:moveTo>
                    <a:lnTo>
                      <a:pt x="0" y="323850"/>
                    </a:lnTo>
                  </a:path>
                </a:pathLst>
              </a:custGeom>
              <a:noFill/>
              <a:ln w="14288">
                <a:solidFill>
                  <a:srgbClr val="D8D0C2"/>
                </a:solidFill>
              </a:ln>
            </p:spPr>
            <p:txBody>
              <a:bodyPr/>
              <a:lstStyle/>
              <a:p>
                <a:endParaRPr lang="zh-CN" altLang="en-US"/>
              </a:p>
            </p:txBody>
          </p:sp>
          <p:sp>
            <p:nvSpPr>
              <p:cNvPr id="47" name="Rectangle 47"/>
              <p:cNvSpPr/>
              <p:nvPr/>
            </p:nvSpPr>
            <p:spPr>
              <a:xfrm>
                <a:off x="6248400" y="4343400"/>
                <a:ext cx="1600200" cy="1143000"/>
              </a:xfrm>
              <a:prstGeom prst="roundRect">
                <a:avLst>
                  <a:gd name="adj" fmla="val 3333"/>
                </a:avLst>
              </a:prstGeom>
              <a:solidFill>
                <a:srgbClr val="FFFFFF"/>
              </a:solidFill>
              <a:ln w="9525">
                <a:solidFill>
                  <a:srgbClr val="D8D0C2"/>
                </a:solidFill>
              </a:ln>
            </p:spPr>
            <p:txBody>
              <a:bodyPr/>
              <a:lstStyle/>
              <a:p>
                <a:endParaRPr lang="zh-CN" altLang="en-US"/>
              </a:p>
            </p:txBody>
          </p:sp>
          <p:sp>
            <p:nvSpPr>
              <p:cNvPr id="48" name="Rectangle 48"/>
              <p:cNvSpPr/>
              <p:nvPr/>
            </p:nvSpPr>
            <p:spPr>
              <a:xfrm>
                <a:off x="6248400" y="4343400"/>
                <a:ext cx="1600200" cy="323850"/>
              </a:xfrm>
              <a:prstGeom prst="roundRect">
                <a:avLst>
                  <a:gd name="adj" fmla="val 11765"/>
                </a:avLst>
              </a:prstGeom>
              <a:solidFill>
                <a:srgbClr val="4A6B8A"/>
              </a:solidFill>
              <a:ln>
                <a:noFill/>
              </a:ln>
            </p:spPr>
            <p:txBody>
              <a:bodyPr/>
              <a:lstStyle/>
              <a:p>
                <a:endParaRPr lang="zh-CN" altLang="en-US"/>
              </a:p>
            </p:txBody>
          </p:sp>
          <p:sp>
            <p:nvSpPr>
              <p:cNvPr id="49" name="Rectangle 49"/>
              <p:cNvSpPr/>
              <p:nvPr/>
            </p:nvSpPr>
            <p:spPr>
              <a:xfrm>
                <a:off x="6248400" y="4552950"/>
                <a:ext cx="1600200" cy="114300"/>
              </a:xfrm>
              <a:prstGeom prst="rect">
                <a:avLst/>
              </a:prstGeom>
              <a:solidFill>
                <a:srgbClr val="4A6B8A"/>
              </a:solidFill>
              <a:ln>
                <a:noFill/>
              </a:ln>
            </p:spPr>
            <p:txBody>
              <a:bodyPr/>
              <a:lstStyle/>
              <a:p>
                <a:endParaRPr lang="zh-CN" altLang="en-US"/>
              </a:p>
            </p:txBody>
          </p:sp>
          <p:sp>
            <p:nvSpPr>
              <p:cNvPr id="50" name="TextBox 50"/>
              <p:cNvSpPr txBox="1"/>
              <p:nvPr/>
            </p:nvSpPr>
            <p:spPr>
              <a:xfrm>
                <a:off x="6782308" y="4367430"/>
                <a:ext cx="551433" cy="276999"/>
              </a:xfrm>
              <a:prstGeom prst="rect">
                <a:avLst/>
              </a:prstGeom>
              <a:noFill/>
              <a:ln>
                <a:noFill/>
              </a:ln>
            </p:spPr>
            <p:txBody>
              <a:bodyPr wrap="none" lIns="0" tIns="0" rIns="0" bIns="0" anchor="t" anchorCtr="0">
                <a:spAutoFit/>
              </a:bodyPr>
              <a:lstStyle/>
              <a:p>
                <a:pPr algn="ctr"/>
                <a:r>
                  <a:rPr lang="en-US" altLang="zh-CN" b="1" dirty="0">
                    <a:solidFill>
                      <a:srgbClr val="FAF8F4"/>
                    </a:solidFill>
                    <a:latin typeface="Arial" panose="020B0604020202090204"/>
                    <a:ea typeface="微软雅黑"/>
                    <a:cs typeface="Arial" panose="020B0604020202090204"/>
                  </a:rPr>
                  <a:t>12</a:t>
                </a:r>
                <a:r>
                  <a:rPr lang="zh-CN" b="1" dirty="0">
                    <a:solidFill>
                      <a:srgbClr val="FAF8F4"/>
                    </a:solidFill>
                    <a:latin typeface="Arial" panose="020B0604020202090204"/>
                    <a:ea typeface="微软雅黑"/>
                    <a:cs typeface="Arial" panose="020B0604020202090204"/>
                  </a:rPr>
                  <a:t> 月</a:t>
                </a:r>
              </a:p>
            </p:txBody>
          </p:sp>
          <p:sp>
            <p:nvSpPr>
              <p:cNvPr id="51" name="TextBox 51"/>
              <p:cNvSpPr txBox="1"/>
              <p:nvPr/>
            </p:nvSpPr>
            <p:spPr>
              <a:xfrm>
                <a:off x="6432946" y="4772738"/>
                <a:ext cx="1231107" cy="246221"/>
              </a:xfrm>
              <a:prstGeom prst="rect">
                <a:avLst/>
              </a:prstGeom>
              <a:noFill/>
              <a:ln>
                <a:noFill/>
              </a:ln>
            </p:spPr>
            <p:txBody>
              <a:bodyPr wrap="none" lIns="0" tIns="0" rIns="0" bIns="0" anchor="t" anchorCtr="0">
                <a:spAutoFit/>
              </a:bodyPr>
              <a:lstStyle/>
              <a:p>
                <a:pPr algn="ctr"/>
                <a:r>
                  <a:rPr lang="zh-CN" sz="1600" dirty="0">
                    <a:solidFill>
                      <a:srgbClr val="2B2B2B"/>
                    </a:solidFill>
                    <a:latin typeface="Arial" panose="020B0604020202090204"/>
                    <a:ea typeface="微软雅黑"/>
                    <a:cs typeface="Arial" panose="020B0604020202090204"/>
                  </a:rPr>
                  <a:t>在线模拟系统</a:t>
                </a:r>
              </a:p>
            </p:txBody>
          </p:sp>
          <p:sp>
            <p:nvSpPr>
              <p:cNvPr id="52" name="TextBox 52"/>
              <p:cNvSpPr txBox="1"/>
              <p:nvPr/>
            </p:nvSpPr>
            <p:spPr>
              <a:xfrm>
                <a:off x="6638131" y="5068252"/>
                <a:ext cx="820738" cy="246221"/>
              </a:xfrm>
              <a:prstGeom prst="rect">
                <a:avLst/>
              </a:prstGeom>
              <a:noFill/>
              <a:ln>
                <a:noFill/>
              </a:ln>
            </p:spPr>
            <p:txBody>
              <a:bodyPr wrap="none" lIns="0" tIns="0" rIns="0" bIns="0" anchor="t" anchorCtr="0">
                <a:spAutoFit/>
              </a:bodyPr>
              <a:lstStyle/>
              <a:p>
                <a:pPr algn="ctr"/>
                <a:r>
                  <a:rPr lang="zh-CN" sz="1600" dirty="0">
                    <a:solidFill>
                      <a:srgbClr val="2B2B2B"/>
                    </a:solidFill>
                    <a:latin typeface="Arial" panose="020B0604020202090204"/>
                    <a:ea typeface="微软雅黑"/>
                    <a:cs typeface="Arial" panose="020B0604020202090204"/>
                  </a:rPr>
                  <a:t>开发联调</a:t>
                </a:r>
              </a:p>
            </p:txBody>
          </p:sp>
        </p:grpSp>
        <p:grpSp>
          <p:nvGrpSpPr>
            <p:cNvPr id="63" name="Group 63"/>
            <p:cNvGrpSpPr/>
            <p:nvPr/>
          </p:nvGrpSpPr>
          <p:grpSpPr>
            <a:xfrm>
              <a:off x="8153400" y="2286000"/>
              <a:ext cx="1600200" cy="1733550"/>
              <a:chOff x="8153400" y="2286000"/>
              <a:chExt cx="1600200" cy="1733550"/>
            </a:xfrm>
          </p:grpSpPr>
          <p:sp>
            <p:nvSpPr>
              <p:cNvPr id="54" name="Ellipse 54"/>
              <p:cNvSpPr/>
              <p:nvPr/>
            </p:nvSpPr>
            <p:spPr>
              <a:xfrm>
                <a:off x="8820150" y="3752850"/>
                <a:ext cx="266700" cy="266700"/>
              </a:xfrm>
              <a:prstGeom prst="ellipse">
                <a:avLst/>
              </a:prstGeom>
              <a:solidFill>
                <a:srgbClr val="1B3A5B"/>
              </a:solidFill>
              <a:ln>
                <a:noFill/>
              </a:ln>
            </p:spPr>
            <p:txBody>
              <a:bodyPr/>
              <a:lstStyle/>
              <a:p>
                <a:endParaRPr lang="zh-CN" altLang="en-US"/>
              </a:p>
            </p:txBody>
          </p:sp>
          <p:sp>
            <p:nvSpPr>
              <p:cNvPr id="55" name="Ellipse 55"/>
              <p:cNvSpPr/>
              <p:nvPr/>
            </p:nvSpPr>
            <p:spPr>
              <a:xfrm>
                <a:off x="8896350" y="3829050"/>
                <a:ext cx="114300" cy="114300"/>
              </a:xfrm>
              <a:prstGeom prst="ellipse">
                <a:avLst/>
              </a:prstGeom>
              <a:solidFill>
                <a:srgbClr val="C8A24B"/>
              </a:solidFill>
              <a:ln>
                <a:noFill/>
              </a:ln>
            </p:spPr>
            <p:txBody>
              <a:bodyPr/>
              <a:lstStyle/>
              <a:p>
                <a:endParaRPr lang="zh-CN" altLang="en-US"/>
              </a:p>
            </p:txBody>
          </p:sp>
          <p:sp>
            <p:nvSpPr>
              <p:cNvPr id="56" name="Line 56"/>
              <p:cNvSpPr/>
              <p:nvPr/>
            </p:nvSpPr>
            <p:spPr>
              <a:xfrm>
                <a:off x="8953500" y="3429000"/>
                <a:ext cx="9525" cy="323850"/>
              </a:xfrm>
              <a:custGeom>
                <a:avLst/>
                <a:gdLst/>
                <a:ahLst/>
                <a:cxnLst/>
                <a:rect l="l" t="t" r="r" b="b"/>
                <a:pathLst>
                  <a:path w="9525" h="323850">
                    <a:moveTo>
                      <a:pt x="0" y="323850"/>
                    </a:moveTo>
                    <a:lnTo>
                      <a:pt x="0" y="0"/>
                    </a:lnTo>
                  </a:path>
                </a:pathLst>
              </a:custGeom>
              <a:noFill/>
              <a:ln w="14288">
                <a:solidFill>
                  <a:srgbClr val="D8D0C2"/>
                </a:solidFill>
              </a:ln>
            </p:spPr>
            <p:txBody>
              <a:bodyPr/>
              <a:lstStyle/>
              <a:p>
                <a:endParaRPr lang="zh-CN" altLang="en-US"/>
              </a:p>
            </p:txBody>
          </p:sp>
          <p:sp>
            <p:nvSpPr>
              <p:cNvPr id="57" name="Rectangle 57"/>
              <p:cNvSpPr/>
              <p:nvPr/>
            </p:nvSpPr>
            <p:spPr>
              <a:xfrm>
                <a:off x="8153400" y="2286000"/>
                <a:ext cx="1600200" cy="1143000"/>
              </a:xfrm>
              <a:prstGeom prst="roundRect">
                <a:avLst>
                  <a:gd name="adj" fmla="val 3333"/>
                </a:avLst>
              </a:prstGeom>
              <a:solidFill>
                <a:srgbClr val="FFFFFF"/>
              </a:solidFill>
              <a:ln w="9525">
                <a:solidFill>
                  <a:srgbClr val="D8D0C2"/>
                </a:solidFill>
              </a:ln>
            </p:spPr>
            <p:txBody>
              <a:bodyPr/>
              <a:lstStyle/>
              <a:p>
                <a:endParaRPr lang="zh-CN" altLang="en-US"/>
              </a:p>
            </p:txBody>
          </p:sp>
          <p:sp>
            <p:nvSpPr>
              <p:cNvPr id="58" name="Rectangle 58"/>
              <p:cNvSpPr/>
              <p:nvPr/>
            </p:nvSpPr>
            <p:spPr>
              <a:xfrm>
                <a:off x="8153400" y="2286000"/>
                <a:ext cx="1600200" cy="323850"/>
              </a:xfrm>
              <a:prstGeom prst="roundRect">
                <a:avLst>
                  <a:gd name="adj" fmla="val 11765"/>
                </a:avLst>
              </a:prstGeom>
              <a:solidFill>
                <a:srgbClr val="1B3A5B"/>
              </a:solidFill>
              <a:ln>
                <a:noFill/>
              </a:ln>
            </p:spPr>
            <p:txBody>
              <a:bodyPr/>
              <a:lstStyle/>
              <a:p>
                <a:endParaRPr lang="zh-CN" altLang="en-US"/>
              </a:p>
            </p:txBody>
          </p:sp>
          <p:sp>
            <p:nvSpPr>
              <p:cNvPr id="59" name="Rectangle 59"/>
              <p:cNvSpPr/>
              <p:nvPr/>
            </p:nvSpPr>
            <p:spPr>
              <a:xfrm>
                <a:off x="8153400" y="2495550"/>
                <a:ext cx="1600200" cy="114300"/>
              </a:xfrm>
              <a:prstGeom prst="rect">
                <a:avLst/>
              </a:prstGeom>
              <a:solidFill>
                <a:srgbClr val="1B3A5B"/>
              </a:solidFill>
              <a:ln>
                <a:noFill/>
              </a:ln>
            </p:spPr>
            <p:txBody>
              <a:bodyPr/>
              <a:lstStyle/>
              <a:p>
                <a:endParaRPr lang="zh-CN" altLang="en-US"/>
              </a:p>
            </p:txBody>
          </p:sp>
          <p:sp>
            <p:nvSpPr>
              <p:cNvPr id="60" name="TextBox 60"/>
              <p:cNvSpPr txBox="1"/>
              <p:nvPr/>
            </p:nvSpPr>
            <p:spPr>
              <a:xfrm>
                <a:off x="8648836" y="2323454"/>
                <a:ext cx="628377" cy="276999"/>
              </a:xfrm>
              <a:prstGeom prst="rect">
                <a:avLst/>
              </a:prstGeom>
              <a:noFill/>
              <a:ln>
                <a:noFill/>
              </a:ln>
            </p:spPr>
            <p:txBody>
              <a:bodyPr wrap="none" lIns="0" tIns="0" rIns="0" bIns="0" anchor="t" anchorCtr="0">
                <a:spAutoFit/>
              </a:bodyPr>
              <a:lstStyle/>
              <a:p>
                <a:pPr algn="ctr"/>
                <a:r>
                  <a:rPr lang="en-US" altLang="zh-CN" b="1" dirty="0">
                    <a:solidFill>
                      <a:srgbClr val="FAF8F4"/>
                    </a:solidFill>
                    <a:latin typeface="Arial" panose="020B0604020202090204"/>
                    <a:ea typeface="微软雅黑"/>
                    <a:cs typeface="Arial" panose="020B0604020202090204"/>
                  </a:rPr>
                  <a:t>1</a:t>
                </a:r>
                <a:r>
                  <a:rPr lang="zh-CN" b="1" dirty="0">
                    <a:solidFill>
                      <a:srgbClr val="FAF8F4"/>
                    </a:solidFill>
                    <a:latin typeface="Arial" panose="020B0604020202090204"/>
                    <a:ea typeface="微软雅黑"/>
                    <a:cs typeface="Arial" panose="020B0604020202090204"/>
                  </a:rPr>
                  <a:t>-</a:t>
                </a:r>
                <a:r>
                  <a:rPr lang="en-US" altLang="zh-CN" b="1" dirty="0">
                    <a:solidFill>
                      <a:srgbClr val="FAF8F4"/>
                    </a:solidFill>
                    <a:latin typeface="Arial" panose="020B0604020202090204"/>
                    <a:ea typeface="微软雅黑"/>
                    <a:cs typeface="Arial" panose="020B0604020202090204"/>
                  </a:rPr>
                  <a:t>2</a:t>
                </a:r>
                <a:r>
                  <a:rPr lang="zh-CN" b="1" dirty="0">
                    <a:solidFill>
                      <a:srgbClr val="FAF8F4"/>
                    </a:solidFill>
                    <a:latin typeface="Arial" panose="020B0604020202090204"/>
                    <a:ea typeface="微软雅黑"/>
                    <a:cs typeface="Arial" panose="020B0604020202090204"/>
                  </a:rPr>
                  <a:t> 月</a:t>
                </a:r>
              </a:p>
            </p:txBody>
          </p:sp>
          <p:sp>
            <p:nvSpPr>
              <p:cNvPr id="61" name="TextBox 61"/>
              <p:cNvSpPr txBox="1"/>
              <p:nvPr/>
            </p:nvSpPr>
            <p:spPr>
              <a:xfrm>
                <a:off x="8491834" y="2733853"/>
                <a:ext cx="923331" cy="276999"/>
              </a:xfrm>
              <a:prstGeom prst="rect">
                <a:avLst/>
              </a:prstGeom>
              <a:noFill/>
              <a:ln>
                <a:noFill/>
              </a:ln>
            </p:spPr>
            <p:txBody>
              <a:bodyPr wrap="none" lIns="0" tIns="0" rIns="0" bIns="0" anchor="t" anchorCtr="0">
                <a:spAutoFit/>
              </a:bodyPr>
              <a:lstStyle/>
              <a:p>
                <a:pPr algn="ctr"/>
                <a:r>
                  <a:rPr lang="zh-CN" dirty="0">
                    <a:solidFill>
                      <a:srgbClr val="2B2B2B"/>
                    </a:solidFill>
                    <a:latin typeface="Arial" panose="020B0604020202090204"/>
                    <a:ea typeface="微软雅黑"/>
                    <a:cs typeface="Arial" panose="020B0604020202090204"/>
                  </a:rPr>
                  <a:t>系统实验</a:t>
                </a:r>
              </a:p>
            </p:txBody>
          </p:sp>
          <p:sp>
            <p:nvSpPr>
              <p:cNvPr id="62" name="TextBox 62"/>
              <p:cNvSpPr txBox="1"/>
              <p:nvPr/>
            </p:nvSpPr>
            <p:spPr>
              <a:xfrm>
                <a:off x="8450403" y="3010852"/>
                <a:ext cx="1025923" cy="246221"/>
              </a:xfrm>
              <a:prstGeom prst="rect">
                <a:avLst/>
              </a:prstGeom>
              <a:noFill/>
              <a:ln>
                <a:noFill/>
              </a:ln>
            </p:spPr>
            <p:txBody>
              <a:bodyPr wrap="none" lIns="0" tIns="0" rIns="0" bIns="0" anchor="t" anchorCtr="0">
                <a:spAutoFit/>
              </a:bodyPr>
              <a:lstStyle/>
              <a:p>
                <a:pPr algn="ctr"/>
                <a:r>
                  <a:rPr lang="zh-CN" sz="1600" dirty="0">
                    <a:solidFill>
                      <a:srgbClr val="2B2B2B"/>
                    </a:solidFill>
                    <a:latin typeface="Arial" panose="020B0604020202090204"/>
                    <a:ea typeface="微软雅黑"/>
                    <a:cs typeface="Arial" panose="020B0604020202090204"/>
                  </a:rPr>
                  <a:t>与结果分析</a:t>
                </a:r>
              </a:p>
            </p:txBody>
          </p:sp>
        </p:grpSp>
        <p:grpSp>
          <p:nvGrpSpPr>
            <p:cNvPr id="73" name="Group 73"/>
            <p:cNvGrpSpPr/>
            <p:nvPr/>
          </p:nvGrpSpPr>
          <p:grpSpPr>
            <a:xfrm>
              <a:off x="10058400" y="3733800"/>
              <a:ext cx="1600200" cy="1752600"/>
              <a:chOff x="10058400" y="3733800"/>
              <a:chExt cx="1600200" cy="1752600"/>
            </a:xfrm>
          </p:grpSpPr>
          <p:sp>
            <p:nvSpPr>
              <p:cNvPr id="64" name="Ellipse 64"/>
              <p:cNvSpPr/>
              <p:nvPr/>
            </p:nvSpPr>
            <p:spPr>
              <a:xfrm>
                <a:off x="10706100" y="3733800"/>
                <a:ext cx="304800" cy="304800"/>
              </a:xfrm>
              <a:prstGeom prst="ellipse">
                <a:avLst/>
              </a:prstGeom>
              <a:solidFill>
                <a:srgbClr val="C8A24B"/>
              </a:solidFill>
              <a:ln>
                <a:noFill/>
              </a:ln>
            </p:spPr>
            <p:txBody>
              <a:bodyPr/>
              <a:lstStyle/>
              <a:p>
                <a:endParaRPr lang="zh-CN" altLang="en-US"/>
              </a:p>
            </p:txBody>
          </p:sp>
          <p:sp>
            <p:nvSpPr>
              <p:cNvPr id="65" name="Ellipse 65"/>
              <p:cNvSpPr/>
              <p:nvPr/>
            </p:nvSpPr>
            <p:spPr>
              <a:xfrm>
                <a:off x="10791825" y="3819525"/>
                <a:ext cx="133350" cy="133350"/>
              </a:xfrm>
              <a:prstGeom prst="ellipse">
                <a:avLst/>
              </a:prstGeom>
              <a:solidFill>
                <a:srgbClr val="1B3A5B"/>
              </a:solidFill>
              <a:ln>
                <a:noFill/>
              </a:ln>
            </p:spPr>
            <p:txBody>
              <a:bodyPr/>
              <a:lstStyle/>
              <a:p>
                <a:endParaRPr lang="zh-CN" altLang="en-US"/>
              </a:p>
            </p:txBody>
          </p:sp>
          <p:sp>
            <p:nvSpPr>
              <p:cNvPr id="66" name="Line 66"/>
              <p:cNvSpPr/>
              <p:nvPr/>
            </p:nvSpPr>
            <p:spPr>
              <a:xfrm>
                <a:off x="10858500" y="4038600"/>
                <a:ext cx="9525" cy="304800"/>
              </a:xfrm>
              <a:custGeom>
                <a:avLst/>
                <a:gdLst/>
                <a:ahLst/>
                <a:cxnLst/>
                <a:rect l="l" t="t" r="r" b="b"/>
                <a:pathLst>
                  <a:path w="9525" h="304800">
                    <a:moveTo>
                      <a:pt x="0" y="0"/>
                    </a:moveTo>
                    <a:lnTo>
                      <a:pt x="0" y="304800"/>
                    </a:lnTo>
                  </a:path>
                </a:pathLst>
              </a:custGeom>
              <a:noFill/>
              <a:ln w="14288">
                <a:solidFill>
                  <a:srgbClr val="C8A24B"/>
                </a:solidFill>
              </a:ln>
            </p:spPr>
            <p:txBody>
              <a:bodyPr/>
              <a:lstStyle/>
              <a:p>
                <a:endParaRPr lang="zh-CN" altLang="en-US"/>
              </a:p>
            </p:txBody>
          </p:sp>
          <p:sp>
            <p:nvSpPr>
              <p:cNvPr id="67" name="Rectangle 67"/>
              <p:cNvSpPr/>
              <p:nvPr/>
            </p:nvSpPr>
            <p:spPr>
              <a:xfrm>
                <a:off x="10058400" y="4343400"/>
                <a:ext cx="1600200" cy="1143000"/>
              </a:xfrm>
              <a:prstGeom prst="roundRect">
                <a:avLst>
                  <a:gd name="adj" fmla="val 3333"/>
                </a:avLst>
              </a:prstGeom>
              <a:solidFill>
                <a:srgbClr val="1B3A5B"/>
              </a:solidFill>
              <a:ln>
                <a:noFill/>
              </a:ln>
            </p:spPr>
            <p:txBody>
              <a:bodyPr/>
              <a:lstStyle/>
              <a:p>
                <a:endParaRPr lang="zh-CN" altLang="en-US"/>
              </a:p>
            </p:txBody>
          </p:sp>
          <p:sp>
            <p:nvSpPr>
              <p:cNvPr id="68" name="Rectangle 68"/>
              <p:cNvSpPr/>
              <p:nvPr/>
            </p:nvSpPr>
            <p:spPr>
              <a:xfrm>
                <a:off x="10058400" y="4343400"/>
                <a:ext cx="1600200" cy="323850"/>
              </a:xfrm>
              <a:prstGeom prst="roundRect">
                <a:avLst>
                  <a:gd name="adj" fmla="val 11765"/>
                </a:avLst>
              </a:prstGeom>
              <a:solidFill>
                <a:srgbClr val="C8A24B"/>
              </a:solidFill>
              <a:ln>
                <a:noFill/>
              </a:ln>
            </p:spPr>
            <p:txBody>
              <a:bodyPr/>
              <a:lstStyle/>
              <a:p>
                <a:endParaRPr lang="zh-CN" altLang="en-US"/>
              </a:p>
            </p:txBody>
          </p:sp>
          <p:sp>
            <p:nvSpPr>
              <p:cNvPr id="69" name="Rectangle 69"/>
              <p:cNvSpPr/>
              <p:nvPr/>
            </p:nvSpPr>
            <p:spPr>
              <a:xfrm>
                <a:off x="10058400" y="4552950"/>
                <a:ext cx="1600200" cy="114300"/>
              </a:xfrm>
              <a:prstGeom prst="rect">
                <a:avLst/>
              </a:prstGeom>
              <a:solidFill>
                <a:srgbClr val="C8A24B"/>
              </a:solidFill>
              <a:ln>
                <a:noFill/>
              </a:ln>
            </p:spPr>
            <p:txBody>
              <a:bodyPr/>
              <a:lstStyle/>
              <a:p>
                <a:endParaRPr lang="zh-CN" altLang="en-US"/>
              </a:p>
            </p:txBody>
          </p:sp>
          <p:sp>
            <p:nvSpPr>
              <p:cNvPr id="70" name="TextBox 70"/>
              <p:cNvSpPr txBox="1"/>
              <p:nvPr/>
            </p:nvSpPr>
            <p:spPr>
              <a:xfrm>
                <a:off x="10656428" y="4367430"/>
                <a:ext cx="423194" cy="276999"/>
              </a:xfrm>
              <a:prstGeom prst="rect">
                <a:avLst/>
              </a:prstGeom>
              <a:noFill/>
              <a:ln>
                <a:noFill/>
              </a:ln>
            </p:spPr>
            <p:txBody>
              <a:bodyPr wrap="none" lIns="0" tIns="0" rIns="0" bIns="0" anchor="t" anchorCtr="0">
                <a:spAutoFit/>
              </a:bodyPr>
              <a:lstStyle/>
              <a:p>
                <a:pPr algn="ctr"/>
                <a:r>
                  <a:rPr lang="en-US" altLang="zh-CN" b="1" dirty="0">
                    <a:solidFill>
                      <a:srgbClr val="1B3A5B"/>
                    </a:solidFill>
                    <a:latin typeface="Arial" panose="020B0604020202090204"/>
                    <a:ea typeface="微软雅黑"/>
                    <a:cs typeface="Arial" panose="020B0604020202090204"/>
                  </a:rPr>
                  <a:t>3</a:t>
                </a:r>
                <a:r>
                  <a:rPr lang="zh-CN" altLang="en-US" b="1" dirty="0">
                    <a:solidFill>
                      <a:srgbClr val="1B3A5B"/>
                    </a:solidFill>
                    <a:latin typeface="Arial" panose="020B0604020202090204"/>
                    <a:ea typeface="微软雅黑"/>
                    <a:cs typeface="Arial" panose="020B0604020202090204"/>
                  </a:rPr>
                  <a:t> </a:t>
                </a:r>
                <a:r>
                  <a:rPr lang="zh-CN" b="1" dirty="0">
                    <a:solidFill>
                      <a:srgbClr val="1B3A5B"/>
                    </a:solidFill>
                    <a:latin typeface="Arial" panose="020B0604020202090204"/>
                    <a:ea typeface="微软雅黑"/>
                    <a:cs typeface="Arial" panose="020B0604020202090204"/>
                  </a:rPr>
                  <a:t>月</a:t>
                </a:r>
              </a:p>
            </p:txBody>
          </p:sp>
          <p:sp>
            <p:nvSpPr>
              <p:cNvPr id="71" name="TextBox 71"/>
              <p:cNvSpPr txBox="1"/>
              <p:nvPr/>
            </p:nvSpPr>
            <p:spPr>
              <a:xfrm>
                <a:off x="10448131" y="4769729"/>
                <a:ext cx="820738" cy="246221"/>
              </a:xfrm>
              <a:prstGeom prst="rect">
                <a:avLst/>
              </a:prstGeom>
              <a:noFill/>
              <a:ln>
                <a:noFill/>
              </a:ln>
            </p:spPr>
            <p:txBody>
              <a:bodyPr wrap="none" lIns="0" tIns="0" rIns="0" bIns="0" anchor="t" anchorCtr="0">
                <a:spAutoFit/>
              </a:bodyPr>
              <a:lstStyle/>
              <a:p>
                <a:pPr algn="ctr"/>
                <a:r>
                  <a:rPr lang="zh-CN" sz="1600" dirty="0">
                    <a:solidFill>
                      <a:srgbClr val="FAF8F4"/>
                    </a:solidFill>
                    <a:latin typeface="Arial" panose="020B0604020202090204"/>
                    <a:ea typeface="微软雅黑"/>
                    <a:cs typeface="Arial" panose="020B0604020202090204"/>
                  </a:rPr>
                  <a:t>系统优化</a:t>
                </a:r>
              </a:p>
            </p:txBody>
          </p:sp>
          <p:sp>
            <p:nvSpPr>
              <p:cNvPr id="72" name="TextBox 72"/>
              <p:cNvSpPr txBox="1"/>
              <p:nvPr/>
            </p:nvSpPr>
            <p:spPr>
              <a:xfrm>
                <a:off x="10345539" y="5068252"/>
                <a:ext cx="1025923" cy="246221"/>
              </a:xfrm>
              <a:prstGeom prst="rect">
                <a:avLst/>
              </a:prstGeom>
              <a:noFill/>
              <a:ln>
                <a:noFill/>
              </a:ln>
            </p:spPr>
            <p:txBody>
              <a:bodyPr wrap="none" lIns="0" tIns="0" rIns="0" bIns="0" anchor="t" anchorCtr="0">
                <a:spAutoFit/>
              </a:bodyPr>
              <a:lstStyle/>
              <a:p>
                <a:pPr algn="ctr"/>
                <a:r>
                  <a:rPr lang="zh-CN" sz="1600" dirty="0">
                    <a:solidFill>
                      <a:srgbClr val="FAF8F4"/>
                    </a:solidFill>
                    <a:latin typeface="Arial" panose="020B0604020202090204"/>
                    <a:ea typeface="微软雅黑"/>
                    <a:cs typeface="Arial" panose="020B0604020202090204"/>
                  </a:rPr>
                  <a:t>论文与答辩</a:t>
                </a:r>
              </a:p>
            </p:txBody>
          </p:sp>
        </p:grpSp>
      </p:grpSp>
      <p:grpSp>
        <p:nvGrpSpPr>
          <p:cNvPr id="78" name="Group 78"/>
          <p:cNvGrpSpPr/>
          <p:nvPr/>
        </p:nvGrpSpPr>
        <p:grpSpPr>
          <a:xfrm>
            <a:off x="609600" y="5715000"/>
            <a:ext cx="10972800" cy="571500"/>
            <a:chOff x="609600" y="5715000"/>
            <a:chExt cx="10972800" cy="571500"/>
          </a:xfrm>
        </p:grpSpPr>
        <p:sp>
          <p:nvSpPr>
            <p:cNvPr id="75" name="Rectangle 75"/>
            <p:cNvSpPr/>
            <p:nvPr/>
          </p:nvSpPr>
          <p:spPr>
            <a:xfrm>
              <a:off x="609600" y="5715000"/>
              <a:ext cx="10972800" cy="571500"/>
            </a:xfrm>
            <a:prstGeom prst="roundRect">
              <a:avLst>
                <a:gd name="adj" fmla="val 6667"/>
              </a:avLst>
            </a:prstGeom>
            <a:solidFill>
              <a:srgbClr val="F1ECE3"/>
            </a:solidFill>
            <a:ln>
              <a:noFill/>
            </a:ln>
          </p:spPr>
          <p:txBody>
            <a:bodyPr/>
            <a:lstStyle/>
            <a:p>
              <a:endParaRPr lang="zh-CN" altLang="en-US"/>
            </a:p>
          </p:txBody>
        </p:sp>
        <p:sp>
          <p:nvSpPr>
            <p:cNvPr id="76" name="Rectangle 76"/>
            <p:cNvSpPr/>
            <p:nvPr/>
          </p:nvSpPr>
          <p:spPr>
            <a:xfrm>
              <a:off x="609600" y="5715000"/>
              <a:ext cx="57150" cy="571500"/>
            </a:xfrm>
            <a:prstGeom prst="rect">
              <a:avLst/>
            </a:prstGeom>
            <a:solidFill>
              <a:srgbClr val="C8A24B"/>
            </a:solidFill>
            <a:ln>
              <a:noFill/>
            </a:ln>
          </p:spPr>
          <p:txBody>
            <a:bodyPr/>
            <a:lstStyle/>
            <a:p>
              <a:endParaRPr lang="zh-CN" altLang="en-US"/>
            </a:p>
          </p:txBody>
        </p:sp>
        <p:sp>
          <p:nvSpPr>
            <p:cNvPr id="77" name="TextBox 77"/>
            <p:cNvSpPr txBox="1"/>
            <p:nvPr/>
          </p:nvSpPr>
          <p:spPr>
            <a:xfrm>
              <a:off x="935355" y="5921692"/>
              <a:ext cx="7591822" cy="246221"/>
            </a:xfrm>
            <a:prstGeom prst="rect">
              <a:avLst/>
            </a:prstGeom>
            <a:noFill/>
            <a:ln>
              <a:noFill/>
            </a:ln>
          </p:spPr>
          <p:txBody>
            <a:bodyPr wrap="none" lIns="0" tIns="0" rIns="0" bIns="0" anchor="t" anchorCtr="0">
              <a:spAutoFit/>
            </a:bodyPr>
            <a:lstStyle/>
            <a:p>
              <a:pPr algn="l"/>
              <a:r>
                <a:rPr lang="zh-CN" sz="1600" dirty="0">
                  <a:solidFill>
                    <a:srgbClr val="2B2B2B"/>
                  </a:solidFill>
                  <a:latin typeface="Arial" panose="020B0604020202090204"/>
                  <a:ea typeface="微软雅黑"/>
                  <a:cs typeface="Arial" panose="020B0604020202090204"/>
                </a:rPr>
                <a:t>节奏遵循</a:t>
              </a:r>
              <a:r>
                <a:rPr lang="zh-CN" sz="1600" b="1" dirty="0">
                  <a:solidFill>
                    <a:srgbClr val="1B3A5B"/>
                  </a:solidFill>
                  <a:latin typeface="Arial" panose="020B0604020202090204"/>
                  <a:ea typeface="微软雅黑"/>
                  <a:cs typeface="Arial" panose="020B0604020202090204"/>
                </a:rPr>
                <a:t>「先闭环、再优化、再实验」</a:t>
              </a:r>
              <a:r>
                <a:rPr lang="zh-CN" sz="1600" dirty="0">
                  <a:solidFill>
                    <a:srgbClr val="2B2B2B"/>
                  </a:solidFill>
                  <a:latin typeface="Arial" panose="020B0604020202090204"/>
                  <a:ea typeface="微软雅黑"/>
                  <a:cs typeface="Arial" panose="020B0604020202090204"/>
                </a:rPr>
                <a:t>，确保论文写作有稳定系统与实验结果支撑。</a:t>
              </a:r>
            </a:p>
          </p:txBody>
        </p:sp>
      </p:grpSp>
      <p:grpSp>
        <p:nvGrpSpPr>
          <p:cNvPr id="82" name="Group 82"/>
          <p:cNvGrpSpPr/>
          <p:nvPr/>
        </p:nvGrpSpPr>
        <p:grpSpPr>
          <a:xfrm>
            <a:off x="598170" y="6515100"/>
            <a:ext cx="10995661" cy="276225"/>
            <a:chOff x="598170" y="6515100"/>
            <a:chExt cx="10995661" cy="276225"/>
          </a:xfrm>
        </p:grpSpPr>
        <p:sp>
          <p:nvSpPr>
            <p:cNvPr id="79" name="Line 79"/>
            <p:cNvSpPr/>
            <p:nvPr/>
          </p:nvSpPr>
          <p:spPr>
            <a:xfrm>
              <a:off x="609600" y="6515100"/>
              <a:ext cx="10972800" cy="9525"/>
            </a:xfrm>
            <a:custGeom>
              <a:avLst/>
              <a:gdLst/>
              <a:ahLst/>
              <a:cxnLst/>
              <a:rect l="l" t="t" r="r" b="b"/>
              <a:pathLst>
                <a:path w="10972800" h="9525">
                  <a:moveTo>
                    <a:pt x="0" y="0"/>
                  </a:moveTo>
                  <a:lnTo>
                    <a:pt x="10972800" y="0"/>
                  </a:lnTo>
                </a:path>
              </a:pathLst>
            </a:custGeom>
            <a:noFill/>
            <a:ln w="9525">
              <a:solidFill>
                <a:srgbClr val="D8D0C2"/>
              </a:solidFill>
            </a:ln>
          </p:spPr>
          <p:txBody>
            <a:bodyPr/>
            <a:lstStyle/>
            <a:p>
              <a:endParaRPr lang="zh-CN" altLang="en-US"/>
            </a:p>
          </p:txBody>
        </p:sp>
        <p:sp>
          <p:nvSpPr>
            <p:cNvPr id="80" name="TextBox 80"/>
            <p:cNvSpPr txBox="1"/>
            <p:nvPr/>
          </p:nvSpPr>
          <p:spPr>
            <a:xfrm>
              <a:off x="598170" y="6608445"/>
              <a:ext cx="1823085" cy="182880"/>
            </a:xfrm>
            <a:prstGeom prst="rect">
              <a:avLst/>
            </a:prstGeom>
            <a:noFill/>
            <a:ln>
              <a:noFill/>
            </a:ln>
          </p:spPr>
          <p:txBody>
            <a:bodyPr wrap="none" lIns="0" tIns="0" rIns="0" bIns="0" anchor="t" anchorCtr="0">
              <a:spAutoFit/>
            </a:bodyPr>
            <a:lstStyle/>
            <a:p>
              <a:pPr algn="l"/>
              <a:r>
                <a:rPr lang="zh-CN" sz="900" dirty="0">
                  <a:solidFill>
                    <a:srgbClr val="8C8C82"/>
                  </a:solidFill>
                  <a:latin typeface="Arial" panose="020B0604020202090204"/>
                  <a:ea typeface="微软雅黑"/>
                  <a:cs typeface="Arial" panose="020B0604020202090204"/>
                </a:rPr>
                <a:t>融合推荐机制校准的社交仿真平台</a:t>
              </a:r>
            </a:p>
          </p:txBody>
        </p:sp>
        <p:sp>
          <p:nvSpPr>
            <p:cNvPr id="81" name="TextBox 81"/>
            <p:cNvSpPr txBox="1"/>
            <p:nvPr/>
          </p:nvSpPr>
          <p:spPr>
            <a:xfrm>
              <a:off x="11438954" y="6608445"/>
              <a:ext cx="154877" cy="182880"/>
            </a:xfrm>
            <a:prstGeom prst="rect">
              <a:avLst/>
            </a:prstGeom>
            <a:noFill/>
            <a:ln>
              <a:noFill/>
            </a:ln>
          </p:spPr>
          <p:txBody>
            <a:bodyPr wrap="none" lIns="0" tIns="0" rIns="0" bIns="0" anchor="t" anchorCtr="0">
              <a:spAutoFit/>
            </a:bodyPr>
            <a:lstStyle/>
            <a:p>
              <a:pPr algn="r"/>
              <a:r>
                <a:rPr lang="en-US" sz="900" dirty="0">
                  <a:solidFill>
                    <a:srgbClr val="8C8C82"/>
                  </a:solidFill>
                  <a:latin typeface="Cambria"/>
                  <a:ea typeface="Cambria"/>
                  <a:cs typeface="Cambria"/>
                </a:rPr>
                <a:t>16</a:t>
              </a:r>
            </a:p>
          </p:txBody>
        </p:sp>
      </p:grpSp>
      <p:pic>
        <p:nvPicPr>
          <p:cNvPr id="83" name="Image 7"/>
          <p:cNvPicPr>
            <a:picLocks noChangeAspect="1"/>
          </p:cNvPicPr>
          <p:nvPr/>
        </p:nvPicPr>
        <p:blipFill>
          <a:blip r:embed="rId3"/>
          <a:stretch>
            <a:fillRect/>
          </a:stretch>
        </p:blipFill>
        <p:spPr>
          <a:xfrm>
            <a:off x="10919012" y="-13055"/>
            <a:ext cx="663388" cy="846763"/>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AF8F4"/>
            </a:solidFill>
            <a:ln>
              <a:noFill/>
            </a:ln>
          </p:spPr>
          <p:txBody>
            <a:bodyPr/>
            <a:lstStyle/>
            <a:p>
              <a:endParaRPr lang="zh-CN" altLang="en-US"/>
            </a:p>
          </p:txBody>
        </p:sp>
        <p:sp>
          <p:nvSpPr>
            <p:cNvPr id="3" name="Rectangle 3"/>
            <p:cNvSpPr/>
            <p:nvPr/>
          </p:nvSpPr>
          <p:spPr>
            <a:xfrm>
              <a:off x="0" y="0"/>
              <a:ext cx="12192000" cy="57150"/>
            </a:xfrm>
            <a:prstGeom prst="rect">
              <a:avLst/>
            </a:prstGeom>
            <a:solidFill>
              <a:srgbClr val="1B3A5B"/>
            </a:solidFill>
            <a:ln>
              <a:noFill/>
            </a:ln>
          </p:spPr>
          <p:txBody>
            <a:bodyPr/>
            <a:lstStyle/>
            <a:p>
              <a:endParaRPr lang="zh-CN" altLang="en-US"/>
            </a:p>
          </p:txBody>
        </p:sp>
      </p:grpSp>
      <p:grpSp>
        <p:nvGrpSpPr>
          <p:cNvPr id="6" name="Group 6"/>
          <p:cNvGrpSpPr/>
          <p:nvPr/>
        </p:nvGrpSpPr>
        <p:grpSpPr>
          <a:xfrm>
            <a:off x="5572125" y="1714500"/>
            <a:ext cx="1047750" cy="1333500"/>
            <a:chOff x="5572125" y="1714500"/>
            <a:chExt cx="1047750" cy="1333500"/>
          </a:xfrm>
        </p:grpSpPr>
        <p:pic>
          <p:nvPicPr>
            <p:cNvPr id="5" name="Image 5"/>
            <p:cNvPicPr>
              <a:picLocks noChangeAspect="1"/>
            </p:cNvPicPr>
            <p:nvPr/>
          </p:nvPicPr>
          <p:blipFill>
            <a:blip r:embed="rId3"/>
            <a:stretch>
              <a:fillRect/>
            </a:stretch>
          </p:blipFill>
          <p:spPr>
            <a:xfrm>
              <a:off x="5572125" y="1714500"/>
              <a:ext cx="1047750" cy="1333500"/>
            </a:xfrm>
            <a:prstGeom prst="rect">
              <a:avLst/>
            </a:prstGeom>
          </p:spPr>
        </p:pic>
      </p:grpSp>
      <p:grpSp>
        <p:nvGrpSpPr>
          <p:cNvPr id="10" name="Group 10"/>
          <p:cNvGrpSpPr/>
          <p:nvPr/>
        </p:nvGrpSpPr>
        <p:grpSpPr>
          <a:xfrm>
            <a:off x="4711005" y="3512820"/>
            <a:ext cx="2769990" cy="1462861"/>
            <a:chOff x="4711005" y="3512820"/>
            <a:chExt cx="2769990" cy="1462861"/>
          </a:xfrm>
        </p:grpSpPr>
        <p:sp>
          <p:nvSpPr>
            <p:cNvPr id="7" name="TextBox 7"/>
            <p:cNvSpPr txBox="1"/>
            <p:nvPr/>
          </p:nvSpPr>
          <p:spPr>
            <a:xfrm>
              <a:off x="5271326" y="3512820"/>
              <a:ext cx="1649349" cy="1097280"/>
            </a:xfrm>
            <a:prstGeom prst="rect">
              <a:avLst/>
            </a:prstGeom>
            <a:noFill/>
            <a:ln>
              <a:noFill/>
            </a:ln>
          </p:spPr>
          <p:txBody>
            <a:bodyPr wrap="none" lIns="0" tIns="0" rIns="0" bIns="0" anchor="t" anchorCtr="0">
              <a:spAutoFit/>
            </a:bodyPr>
            <a:lstStyle/>
            <a:p>
              <a:pPr algn="ctr"/>
              <a:r>
                <a:rPr lang="zh-CN" sz="5400" b="1" dirty="0">
                  <a:solidFill>
                    <a:srgbClr val="1B3A5B"/>
                  </a:solidFill>
                  <a:latin typeface="Cambria"/>
                  <a:ea typeface="宋体"/>
                  <a:cs typeface="Cambria"/>
                </a:rPr>
                <a:t>谢谢</a:t>
              </a:r>
            </a:p>
          </p:txBody>
        </p:sp>
        <p:sp>
          <p:nvSpPr>
            <p:cNvPr id="8" name="Rectangle 8"/>
            <p:cNvSpPr/>
            <p:nvPr/>
          </p:nvSpPr>
          <p:spPr>
            <a:xfrm>
              <a:off x="5638800" y="4343400"/>
              <a:ext cx="914400" cy="38100"/>
            </a:xfrm>
            <a:prstGeom prst="rect">
              <a:avLst/>
            </a:prstGeom>
            <a:solidFill>
              <a:srgbClr val="C8A24B"/>
            </a:solidFill>
            <a:ln>
              <a:noFill/>
            </a:ln>
          </p:spPr>
          <p:txBody>
            <a:bodyPr/>
            <a:lstStyle/>
            <a:p>
              <a:endParaRPr lang="zh-CN" altLang="en-US"/>
            </a:p>
          </p:txBody>
        </p:sp>
        <p:sp>
          <p:nvSpPr>
            <p:cNvPr id="9" name="TextBox 9"/>
            <p:cNvSpPr txBox="1"/>
            <p:nvPr/>
          </p:nvSpPr>
          <p:spPr>
            <a:xfrm>
              <a:off x="4711005" y="4698682"/>
              <a:ext cx="2769990" cy="276999"/>
            </a:xfrm>
            <a:prstGeom prst="rect">
              <a:avLst/>
            </a:prstGeom>
            <a:noFill/>
            <a:ln>
              <a:noFill/>
            </a:ln>
          </p:spPr>
          <p:txBody>
            <a:bodyPr wrap="none" lIns="0" tIns="0" rIns="0" bIns="0" anchor="t" anchorCtr="0">
              <a:spAutoFit/>
            </a:bodyPr>
            <a:lstStyle/>
            <a:p>
              <a:pPr algn="ctr"/>
              <a:r>
                <a:rPr lang="zh-CN" dirty="0">
                  <a:solidFill>
                    <a:srgbClr val="5A5A52"/>
                  </a:solidFill>
                  <a:latin typeface="Arial" panose="020B0604020202090204"/>
                  <a:ea typeface="微软雅黑"/>
                  <a:cs typeface="Arial" panose="020B0604020202090204"/>
                </a:rPr>
                <a:t>谢谢各位老师，请批评指正</a:t>
              </a:r>
            </a:p>
          </p:txBody>
        </p:sp>
      </p:grpSp>
      <p:grpSp>
        <p:nvGrpSpPr>
          <p:cNvPr id="13" name="Group 13"/>
          <p:cNvGrpSpPr/>
          <p:nvPr/>
        </p:nvGrpSpPr>
        <p:grpSpPr>
          <a:xfrm>
            <a:off x="4075415" y="5448300"/>
            <a:ext cx="4041171" cy="440531"/>
            <a:chOff x="4075415" y="5448300"/>
            <a:chExt cx="4041171" cy="440531"/>
          </a:xfrm>
        </p:grpSpPr>
        <p:sp>
          <p:nvSpPr>
            <p:cNvPr id="11" name="Line 11"/>
            <p:cNvSpPr/>
            <p:nvPr/>
          </p:nvSpPr>
          <p:spPr>
            <a:xfrm>
              <a:off x="4667250" y="5448300"/>
              <a:ext cx="2857500" cy="9525"/>
            </a:xfrm>
            <a:custGeom>
              <a:avLst/>
              <a:gdLst/>
              <a:ahLst/>
              <a:cxnLst/>
              <a:rect l="l" t="t" r="r" b="b"/>
              <a:pathLst>
                <a:path w="2857500" h="9525">
                  <a:moveTo>
                    <a:pt x="0" y="0"/>
                  </a:moveTo>
                  <a:lnTo>
                    <a:pt x="2857500" y="0"/>
                  </a:lnTo>
                </a:path>
              </a:pathLst>
            </a:custGeom>
            <a:noFill/>
            <a:ln w="9525">
              <a:solidFill>
                <a:srgbClr val="D8D0C2"/>
              </a:solidFill>
            </a:ln>
          </p:spPr>
          <p:txBody>
            <a:bodyPr/>
            <a:lstStyle/>
            <a:p>
              <a:endParaRPr lang="zh-CN" altLang="en-US"/>
            </a:p>
          </p:txBody>
        </p:sp>
        <p:sp>
          <p:nvSpPr>
            <p:cNvPr id="12" name="TextBox 12"/>
            <p:cNvSpPr txBox="1"/>
            <p:nvPr/>
          </p:nvSpPr>
          <p:spPr>
            <a:xfrm>
              <a:off x="4075415" y="5642610"/>
              <a:ext cx="4041171" cy="246221"/>
            </a:xfrm>
            <a:prstGeom prst="rect">
              <a:avLst/>
            </a:prstGeom>
            <a:noFill/>
            <a:ln>
              <a:noFill/>
            </a:ln>
          </p:spPr>
          <p:txBody>
            <a:bodyPr wrap="none" lIns="0" tIns="0" rIns="0" bIns="0" anchor="t" anchorCtr="0">
              <a:spAutoFit/>
            </a:bodyPr>
            <a:lstStyle/>
            <a:p>
              <a:pPr algn="ctr"/>
              <a:r>
                <a:rPr lang="zh-CN" sz="1600" dirty="0">
                  <a:solidFill>
                    <a:srgbClr val="8C8C82"/>
                  </a:solidFill>
                  <a:latin typeface="Arial" panose="020B0604020202090204"/>
                  <a:ea typeface="微软雅黑"/>
                  <a:cs typeface="Arial" panose="020B0604020202090204"/>
                </a:rPr>
                <a:t>汇报人 张艺鹏 · 2026 年 </a:t>
              </a:r>
              <a:r>
                <a:rPr lang="en-US" altLang="zh-CN" sz="1600" dirty="0">
                  <a:solidFill>
                    <a:srgbClr val="8C8C82"/>
                  </a:solidFill>
                  <a:latin typeface="Arial" panose="020B0604020202090204"/>
                  <a:ea typeface="微软雅黑"/>
                  <a:cs typeface="Arial" panose="020B0604020202090204"/>
                </a:rPr>
                <a:t>7</a:t>
              </a:r>
              <a:r>
                <a:rPr lang="zh-CN" sz="1600" dirty="0">
                  <a:solidFill>
                    <a:srgbClr val="8C8C82"/>
                  </a:solidFill>
                  <a:latin typeface="Arial" panose="020B0604020202090204"/>
                  <a:ea typeface="微软雅黑"/>
                  <a:cs typeface="Arial" panose="020B0604020202090204"/>
                </a:rPr>
                <a:t> 月 · 中国传媒大学</a:t>
              </a:r>
            </a:p>
          </p:txBody>
        </p:sp>
      </p:grpSp>
      <p:sp>
        <p:nvSpPr>
          <p:cNvPr id="14" name="TextBox 14"/>
          <p:cNvSpPr txBox="1"/>
          <p:nvPr/>
        </p:nvSpPr>
        <p:spPr>
          <a:xfrm>
            <a:off x="4884420" y="6456045"/>
            <a:ext cx="2423160" cy="182880"/>
          </a:xfrm>
          <a:prstGeom prst="rect">
            <a:avLst/>
          </a:prstGeom>
          <a:noFill/>
          <a:ln>
            <a:noFill/>
          </a:ln>
        </p:spPr>
        <p:txBody>
          <a:bodyPr wrap="none" lIns="0" tIns="0" rIns="0" bIns="0" anchor="t" anchorCtr="0">
            <a:spAutoFit/>
          </a:bodyPr>
          <a:lstStyle/>
          <a:p>
            <a:pPr algn="ctr"/>
            <a:r>
              <a:rPr lang="zh-CN" sz="900" dirty="0">
                <a:solidFill>
                  <a:srgbClr val="8C8C82"/>
                </a:solidFill>
                <a:latin typeface="Arial" panose="020B0604020202090204"/>
                <a:ea typeface="微软雅黑"/>
                <a:cs typeface="Arial" panose="020B0604020202090204"/>
              </a:rPr>
              <a:t>融合推荐机制校准的社交仿真平台设计与实现</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3212</Words>
  <Application>Microsoft Macintosh PowerPoint</Application>
  <PresentationFormat>宽屏</PresentationFormat>
  <Paragraphs>214</Paragraphs>
  <Slides>16</Slides>
  <Notes>16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16</vt:i4>
      </vt:variant>
    </vt:vector>
  </HeadingPairs>
  <TitlesOfParts>
    <vt:vector size="21" baseType="lpstr">
      <vt:lpstr>Arial</vt:lpstr>
      <vt:lpstr>Calibri</vt:lpstr>
      <vt:lpstr>Cambria</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艺鹏 张</cp:lastModifiedBy>
  <cp:revision>168</cp:revision>
  <dcterms:created xsi:type="dcterms:W3CDTF">2026-07-01T01:09:23Z</dcterms:created>
  <dcterms:modified xsi:type="dcterms:W3CDTF">2026-07-01T02:14:11Z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214335C6BCDC675FEB2E416A8E3B8AA1_42</vt:lpwstr>
  </property>
  <property fmtid="{D5CDD505-2E9C-101B-9397-08002B2CF9AE}" pid="3" name="KSOProductBuildVer">
    <vt:lpwstr>2052-12.1.26016.26016</vt:lpwstr>
  </property>
</Properties>
</file>