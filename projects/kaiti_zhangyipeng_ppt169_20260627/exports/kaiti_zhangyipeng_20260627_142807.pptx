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张艺鹏，今天向各位汇报我的学位论文选题报告，题目是《融合推荐机制校准的社交仿真平台设计与实现》。我的责任导师是黄浩程老师，研究方向为数据智能技术与应用，培养单位是媒体融合与传播国家重点实验室。这项工作的核心，是从真实传播数据出发校准推荐机制参数，再注入一个大小模型协同运行的在线社交仿真平台。下面我从六个方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整个汇报围绕一个核心问题：如何从真实传播数据校准推荐机制参数，并注入由 LLM Agent 与规则 Agent 协同运行的社交仿真平台。我将分六章逐层展开——选题背景与研究意义、国内外研究现状、研究目标与创新点、技术路线与方案、可行性分析，最后是进度安排。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选题背景。为什么要做一个可校准的社交仿真？有三点动因。第一，社交媒体已经成为公共议题扩散、舆论形成与平台治理的重要空间。第二，真实平台存在算法黑箱，曝光日志难以获取，对照实验又受到伦理与监管的限制。第三，也是最关键的——仿真的真正价值不只是复现宏观现象，而是要解释用户行为、网络结构与平台机制如何共同生成传播结果。这意味着研究要从「结果描述」走向「机制解释」，而推荐曝光正是串联信息接触、互动行为与立场变化的关键环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由此引出本课题的研究意义，可以从三个层面看。理论上，我们把推荐曝光从平台背景提升为传播过程中的机制变量，用来解释信息扩散与态度演化的形成链条。方法上，我们以真实传播结果来校准兴趣匹配、内容热度、时间衰减与随机探索这几类推荐参数。工程上，则形成「数据治理—参数校准—配置注入—在线仿真—结果归档」的完整平台闭环。一句话概括这个转向：推荐参数不再由研究者主观设定，而是由真实传播数据校准之后，再进入在线仿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接下来是国内外研究现状。已有工作大致沿三条脉络展开。第一条是规则 ABM 与传播动力学，比如 Bounded Confidence、SIR、Hawkes、元胞自动机，这类模型成本低、可解释，但弱在文本生成与个体行为解释。第二条是 LLM Agent 与混合仿真，像 Generative Agents、HiSim、FDE-LLM、GASim、TopoSim、APS，推动了画像、记忆、信念与混合架构。第三条是平台化系统与推荐机制，如 OASIS、GGBond、POSIM、PolicySim，已经开始纳入平台环境和推荐排序，但参数多依赖预设或离线调参。总体来看，研究基础已经比较充分，但「真实传播数据到推荐参数校准再到在线仿真注入」这条链条仍然不完整。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研究空白说得更具体一些。已有系统的常见做法有三种：要么没有显式推荐模块，靠邻居传播、时间线或随机曝光；要么有推荐模块，但用的是兴趣公式、hot-score、人工权重或离线调参；政策优化类工作则更关注干预效果本身。本课题要解决的，是把推荐评分拆解为可解释的维度，用真实传播结果拟合校准参数，再把校准后的参数写入 YAML 去驱动在线 Feed 排序。核心就是这一句：从主观预设，走向数据校准。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第三部分，研究目标与创新点。总目标是设计并实现一个融合推荐机制校准的 MOSS 社交仿真平台，形成从真实数据到在线推演的可复现闭环。这个闭环包含四个环节：一是画像生成，从 user 和 post 数据生成稳定画像、行为画像和 Agent 运行画像；二是参数校准，拟合真实传播结果，校准推荐权重、时间衰减与层级影响参数；三是在线仿真，通过 Backend 与 Agent 双进程运行发帖、评论、点赞、转发等行为；四是闭环验证，用传播曲线、态度演化、互动分布和消融实验来评估有效性。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在目标之上，本课题有三个递进的创新点。创新一是推荐系统参数校准方法：把推荐抽象为兴趣匹配、内容热度、时间衰减、随机探索等可解释维度，用规则 ABM 拟合真实传播结果，通过 EM、Optuna、贝叶斯优化来校准权重，让参数由真实传播过程校准，而不是主观假设。创新二是离线校准到在线仿真的全流程闭环：把推荐权重、时间衰减、行为阈值和实验元数据写入统一的 YAML，由在线平台读取驱动推荐服务、Agent 决策与实验记录，实现参数自动流转，提升可复现性与跨领域复用。创新三是大模型与小模型的分层协同架构：高影响力核心用户由大模型驱动承担原创与复杂行为，普通用户由小模型完成低成本互动，在行为保真度、可解释性与运行效率之间取得平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进入第四部分，技术路线与方案。这张图是系统的闭环总览：真实数据经过画像生成，进入参数校准环节，由 EM 加 Optuna 完成；校准结果进入在线仿真，驱动 Feed 排序与 Agent 决策；最后通过 DTW、Pearson、MAE 以及消融实验做验证反馈，再回流到校准。整个系统由一个单一配置中枢 calibration_profile.yaml 串联，它把离线校准与在线推荐服务连接起来。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下面分别介绍三个核心模块。第一个是用户画像生成。输入是 user 和 post 原始数据，包括发帖、互动、活跃时段、粉丝数，以及帖子与账号的影响力指标，还会筛选高质量证据帖。处理上采用五阶段 LLM 流水线：证据抽取、稳定画像、行为画像、Agent 画像压缩，最后是模拟初始状态。为了控制成本，我们按影响力分层：L4 到 L5 的高影响力用户走完整流水线，L1 到 L3 的用户采用 simple profile mode 与行为库。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ABM 推荐参数校准，这也是本课题的方法核心。推荐的可见概率由四类分数加权得到：w_i 兴趣匹配、w_pop 内容热度、w_time 时间衰减、w_rand 随机探索。校准用的是 EMCalibrationEngine：E 步搜索每条内容的 p_base，M 步在 Dirichlet 约束下联合搜索推荐权重和 decay_lambda。最终输出就是 calibration_profile.yaml，可以供在线的 SocialRecSys.configure 直接注入。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第三个模块是在线模拟与验证。上面这张图是在线社交网络的系统架构。运行时由 main.py 启动 Backend 与 Agent 双进程：Backend 负责 Feed 推荐、内容管理、时间控制与持久化，Agent 通过决策循环执行发帖、评论、点赞、转发。验证方面，我们用功能完整性、参数一致性（DTW 与 Pearson）、MAE 与 MRE、随机种子方差以及参数消融等多个指标。验证的重点是确认：校准后的参数是否真的提升了传播曲线、态度演化与互动行为分布的拟合程度。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这张图展示了平台的数据流转时序，把离线与在线两个阶段串成一条可复现的闭环。离线阶段从原始的用户与帖子数据出发，经过五阶段画像生成流水线产出 portraits 目录下的画像 JSON，再由 ABM 参数校准（EM 与 Optuna）拟合传播结果，得到权重、衰减系数与阈值等校准产物。这些参数统一写入单一配置中枢 calibration_profile.yaml。在线阶段从配置中枢读取参数，注入到 SocialRecSys 的 Feed 排序，驱动 Agent 模拟运行，结果归档到 runs 目录用于指标评估与消融实验；误差分析再回流到配置中枢，形成下一轮校准。整个过程参数自动流转、可复现迭代。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这张图给出 MOSS 平台的系统总体架构，采用四层分层设计。最上面是表示层，由 React 前端单页应用承担交互。第二层是应用层，也就是 Backend FastAPI 服务，包含 REST 路由、SocialRecSys 推荐服务、时间与内容管理，以及 SentenceTransformer 嵌入。第三层是 Agent 层，由 AgentGraph 调度、决策循环加记忆系统、以及 LangChain 大小模型分层驱动构成。最下面是数据与配置层，包括 SQLite 加 sqlite-vec 的向量存储、作为配置中枢的 calibration_profile.yaml，以及 runs 运行归档。旁边的离线分析模块产出画像与校准配置，驱动在线运行。整体上各层解耦，离线产物通过配置驱动在线，职责清晰、易于扩展。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第五部分是可行性分析，四个方面都有基础。理论上，HiSim、FDE-LLM、OASIS 等研究已经证明混合仿真与平台化系统可行。方法上，EM、Optuna、贝叶斯优化与相关的奖励建模研究都可以迁移到推荐参数估计。数据与画像方面，用户画像生成和分层建模已有 Two-stage Profiling、TWICE 等研究支撑。工程上，FastAPI、SQLite、向量检索与 LangChain 等工具链足以支撑整个系统的实现。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最后是进度安排，从 2026 年 6 月到 12 月，分六个阶段。6 到 7 月做需求分析与总体方案；7 到 8 月做数据准备与画像模块；8 到 9 月开展 ABM 参数校准的初步实验；9 到 10 月进行在线模拟系统的开发联调；10 到 11 月做系统实验与结果分析；11 到 12 月完成系统优化、论文撰写与答辩。整个节奏遵循「先闭环、再优化、再实验」，确保论文写作有稳定的系统和实验结果支撑。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最后做个总结。本课题以推荐机制校准为核心，把真实传播数据治理、ABM 参数校准、大小模型分层仿真与多指标验证，连接为一个可复用的社交仿真平台闭环。预期带来三方面贡献：现实参照、机制解释力，以及跨议题的复用能力。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我的汇报到此结束，谢谢各位老师，请批评指正。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3280fad541e6f010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a9fb0d589062503e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165094b5f06f08b6.pn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ea2bd0c0ef17ef7f.pn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f8c83bb091a5bd66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4b2c74d30ea31aee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4360" y="899160"/>
            <a:ext cx="11003280" cy="253365"/>
            <a:chOff x="594360" y="899160"/>
            <a:chExt cx="11003280" cy="253365"/>
          </a:xfrm>
        </p:grpSpPr>
        <p:sp>
          <p:nvSpPr>
            <p:cNvPr id="5" name="Line 5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4360" y="899160"/>
              <a:ext cx="25759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中国传媒大学 · 学位论文选题报告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91013" y="899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C8C82"/>
                  </a:solidFill>
                  <a:latin typeface="Cambria"/>
                  <a:ea typeface="SimSun"/>
                  <a:cs typeface="Cambria"/>
                </a:rPr>
                <a:t>2026 · 开题答辩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981200"/>
            <a:ext cx="7045166" cy="2271712"/>
            <a:chOff x="552450" y="1981200"/>
            <a:chExt cx="7045166" cy="2271712"/>
          </a:xfrm>
        </p:grpSpPr>
        <p:sp>
          <p:nvSpPr>
            <p:cNvPr id="9" name="Rectangle 9"/>
            <p:cNvSpPr/>
            <p:nvPr/>
          </p:nvSpPr>
          <p:spPr>
            <a:xfrm>
              <a:off x="609600" y="19812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2450" y="2333625"/>
              <a:ext cx="578500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融合推荐机制校准的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3057525"/>
              <a:ext cx="704516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社交仿真平台</a:t>
              </a:r>
              <a:r>
                <a:rPr lang="zh-CN" sz="4500" b="1" dirty="0">
                  <a:solidFill>
                    <a:srgbClr val="C8A24B"/>
                  </a:solidFill>
                  <a:latin typeface="Cambria"/>
                  <a:ea typeface="SimSun"/>
                  <a:cs typeface="Cambria"/>
                </a:rPr>
                <a:t>设计与实现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8645" y="3917632"/>
              <a:ext cx="64227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从真实传播数据校准推荐参数，注入大小模型协同的在线社交仿真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4629150"/>
            <a:ext cx="10972800" cy="1771650"/>
            <a:chOff x="609600" y="4629150"/>
            <a:chExt cx="10972800" cy="1771650"/>
          </a:xfrm>
        </p:grpSpPr>
        <p:sp>
          <p:nvSpPr>
            <p:cNvPr id="14" name="Line 14"/>
            <p:cNvSpPr/>
            <p:nvPr/>
          </p:nvSpPr>
          <p:spPr>
            <a:xfrm>
              <a:off x="609600" y="4629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53000"/>
              <a:ext cx="1047750" cy="13335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076450" y="5038725"/>
              <a:ext cx="34685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汇报人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张艺鹏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学 号 </a:t>
              </a:r>
              <a:r>
                <a:rPr lang="en-US" sz="1500" dirty="0">
                  <a:solidFill>
                    <a:srgbClr val="2B2B2B"/>
                  </a:solidFill>
                  <a:latin typeface="Arial"/>
                  <a:ea typeface="Arial"/>
                  <a:cs typeface="Arial"/>
                </a:rPr>
                <a:t>202520085411016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76450" y="5419725"/>
              <a:ext cx="41586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责任导师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黄浩程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研究方向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数据智能技术与应用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6450" y="5800725"/>
              <a:ext cx="36985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培养单位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媒体融合与传播国家重点实验室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0260" y="6156960"/>
              <a:ext cx="934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目录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95300" y="1695450"/>
            <a:ext cx="4210050" cy="4495800"/>
            <a:chOff x="495300" y="1695450"/>
            <a:chExt cx="4210050" cy="4495800"/>
          </a:xfrm>
        </p:grpSpPr>
        <p:sp>
          <p:nvSpPr>
            <p:cNvPr id="7" name="TextBox 7"/>
            <p:cNvSpPr txBox="1"/>
            <p:nvPr/>
          </p:nvSpPr>
          <p:spPr>
            <a:xfrm>
              <a:off x="495300" y="1695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B3A5B">
                      <a:alphaMod val="10000"/>
                    </a:srgbClr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785" y="2961322"/>
              <a:ext cx="201987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汇报结构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28650" y="354330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0550" y="3838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围绕一个核心问题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4124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分六章逐层展开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762500"/>
              <a:ext cx="4095750" cy="1428750"/>
            </a:xfrm>
            <a:prstGeom prst="roundRect">
              <a:avLst>
                <a:gd name="adj" fmla="val 2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4762500"/>
              <a:ext cx="47625" cy="14287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296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108" y="5310664"/>
              <a:ext cx="29470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如何从真实传播数据</a:t>
              </a:r>
              <a:r>
                <a:rPr lang="zh-CN" sz="127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校准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推荐机制参数，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并注入 LLM Agent 与规则 Agent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协同运行的社交仿真平台？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05425" y="1471612"/>
            <a:ext cx="6276975" cy="4195763"/>
            <a:chOff x="5305425" y="1471612"/>
            <a:chExt cx="6276975" cy="4195763"/>
          </a:xfrm>
        </p:grpSpPr>
        <p:grpSp>
          <p:nvGrpSpPr>
            <p:cNvPr id="20" name="Group 20"/>
            <p:cNvGrpSpPr/>
            <p:nvPr/>
          </p:nvGrpSpPr>
          <p:grpSpPr>
            <a:xfrm>
              <a:off x="5305425" y="1471612"/>
              <a:ext cx="6276975" cy="481013"/>
              <a:chOff x="5305425" y="1471612"/>
              <a:chExt cx="6276975" cy="48101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305425" y="14716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920740" y="1520190"/>
                <a:ext cx="231400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选题背景与研究意义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5334000" y="19431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5305425" y="2214562"/>
              <a:ext cx="6276975" cy="481013"/>
              <a:chOff x="5305425" y="2214562"/>
              <a:chExt cx="6276975" cy="48101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305425" y="22145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20740" y="22631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国内外研究现状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334000" y="26860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5305425" y="2957512"/>
              <a:ext cx="6276975" cy="481013"/>
              <a:chOff x="5305425" y="2957512"/>
              <a:chExt cx="6276975" cy="48101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305425" y="29575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920740" y="3006090"/>
                <a:ext cx="20619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研究目标与创新点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334000" y="34290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5305425" y="3700462"/>
              <a:ext cx="6276975" cy="481013"/>
              <a:chOff x="5305425" y="3700462"/>
              <a:chExt cx="6276975" cy="48101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305425" y="37004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920740" y="37490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技术路线与方案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5334000" y="41719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305425" y="4443412"/>
              <a:ext cx="6276975" cy="481013"/>
              <a:chOff x="5305425" y="4443412"/>
              <a:chExt cx="6276975" cy="481013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5305425" y="44434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20740" y="44919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可行性分析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334000" y="49149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305425" y="5186362"/>
              <a:ext cx="6276975" cy="481013"/>
              <a:chOff x="5305425" y="5186362"/>
              <a:chExt cx="6276975" cy="48101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5305425" y="51863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06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20740" y="5234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进度安排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5334000" y="56578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</p:grpSp>
      <p:grpSp>
        <p:nvGrpSpPr>
          <p:cNvPr id="45" name="Group 4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2" name="Line 4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7215" y="1324928"/>
            <a:ext cx="5999322" cy="949166"/>
            <a:chOff x="577215" y="1324928"/>
            <a:chExt cx="5999322" cy="949166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3249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为什么要做可校准的社交仿真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7716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3408" y="2015014"/>
              <a:ext cx="5983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真实平台的算法黑箱，使仿真成为从「结果描述」走向「机制解释」的必要路径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92" y="2695575"/>
            <a:ext cx="3604248" cy="2962275"/>
            <a:chOff x="640092" y="2695575"/>
            <a:chExt cx="3604248" cy="2962275"/>
          </a:xfrm>
        </p:grpSpPr>
        <p:grpSp>
          <p:nvGrpSpPr>
            <p:cNvPr id="20" name="Group 20"/>
            <p:cNvGrpSpPr/>
            <p:nvPr/>
          </p:nvGrpSpPr>
          <p:grpSpPr>
            <a:xfrm>
              <a:off x="645319" y="2695575"/>
              <a:ext cx="3278981" cy="790575"/>
              <a:chOff x="645319" y="2695575"/>
              <a:chExt cx="3278981" cy="790575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645319" y="2778919"/>
                <a:ext cx="214313" cy="214313"/>
                <a:chOff x="645319" y="2778919"/>
                <a:chExt cx="214313" cy="214313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645319" y="28503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788194" y="27789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788194" y="29217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13184" y="2830116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40481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13184" y="2901553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0"/>
                      </a:moveTo>
                      <a:lnTo>
                        <a:pt x="78581" y="40481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009650" y="26955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公共议题的关键空间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3460" y="301371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社交媒体已成为公共议题扩散、舆论形成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3460" y="324231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与平台治理的重要空间。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45319" y="3781425"/>
              <a:ext cx="3118961" cy="790575"/>
              <a:chOff x="645319" y="3781425"/>
              <a:chExt cx="3118961" cy="790575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645319" y="3900488"/>
                <a:ext cx="214312" cy="142875"/>
                <a:chOff x="645319" y="3900488"/>
                <a:chExt cx="214312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728662" y="39481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45319" y="390048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214312" y="71438"/>
                      </a:moveTo>
                      <a:cubicBezTo>
                        <a:pt x="185738" y="119062"/>
                        <a:pt x="150019" y="142875"/>
                        <a:pt x="107156" y="142875"/>
                      </a:cubicBezTo>
                      <a:cubicBezTo>
                        <a:pt x="64294" y="142875"/>
                        <a:pt x="28575" y="119062"/>
                        <a:pt x="0" y="71438"/>
                      </a:cubicBezTo>
                      <a:cubicBezTo>
                        <a:pt x="28575" y="23812"/>
                        <a:pt x="64294" y="0"/>
                        <a:pt x="107156" y="0"/>
                      </a:cubicBezTo>
                      <a:cubicBezTo>
                        <a:pt x="150019" y="0"/>
                        <a:pt x="185738" y="23812"/>
                        <a:pt x="214312" y="71438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009650" y="378142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真实平台的研究壁垒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3460" y="40995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算法黑箱、曝光日志难获取、对照实验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13460" y="4328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受伦理与监管限制。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40092" y="4867275"/>
              <a:ext cx="3604248" cy="790575"/>
              <a:chOff x="640092" y="4867275"/>
              <a:chExt cx="3604248" cy="790575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640092" y="4945392"/>
                <a:ext cx="224766" cy="224766"/>
                <a:chOff x="640092" y="4945392"/>
                <a:chExt cx="224766" cy="224766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40092" y="4945392"/>
                  <a:ext cx="224766" cy="224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66" h="224766">
                      <a:moveTo>
                        <a:pt x="92440" y="20907"/>
                      </a:moveTo>
                      <a:cubicBezTo>
                        <a:pt x="97512" y="0"/>
                        <a:pt x="127254" y="0"/>
                        <a:pt x="132326" y="20907"/>
                      </a:cubicBezTo>
                      <a:cubicBezTo>
                        <a:pt x="133870" y="27278"/>
                        <a:pt x="138363" y="32528"/>
                        <a:pt x="144419" y="35037"/>
                      </a:cubicBezTo>
                      <a:cubicBezTo>
                        <a:pt x="150474" y="37546"/>
                        <a:pt x="157364" y="37012"/>
                        <a:pt x="162961" y="33599"/>
                      </a:cubicBezTo>
                      <a:cubicBezTo>
                        <a:pt x="181332" y="22408"/>
                        <a:pt x="202371" y="43434"/>
                        <a:pt x="191179" y="61817"/>
                      </a:cubicBezTo>
                      <a:cubicBezTo>
                        <a:pt x="187771" y="67411"/>
                        <a:pt x="187238" y="74296"/>
                        <a:pt x="189744" y="80348"/>
                      </a:cubicBezTo>
                      <a:cubicBezTo>
                        <a:pt x="192250" y="86400"/>
                        <a:pt x="197494" y="90892"/>
                        <a:pt x="203859" y="92440"/>
                      </a:cubicBezTo>
                      <a:cubicBezTo>
                        <a:pt x="224766" y="97512"/>
                        <a:pt x="224766" y="127254"/>
                        <a:pt x="203859" y="132326"/>
                      </a:cubicBezTo>
                      <a:cubicBezTo>
                        <a:pt x="197488" y="133870"/>
                        <a:pt x="192238" y="138363"/>
                        <a:pt x="189729" y="144419"/>
                      </a:cubicBezTo>
                      <a:cubicBezTo>
                        <a:pt x="187220" y="150474"/>
                        <a:pt x="187754" y="157364"/>
                        <a:pt x="191167" y="162961"/>
                      </a:cubicBezTo>
                      <a:cubicBezTo>
                        <a:pt x="202359" y="181332"/>
                        <a:pt x="181332" y="202371"/>
                        <a:pt x="162949" y="191179"/>
                      </a:cubicBezTo>
                      <a:cubicBezTo>
                        <a:pt x="157355" y="187771"/>
                        <a:pt x="150470" y="187238"/>
                        <a:pt x="144418" y="189744"/>
                      </a:cubicBezTo>
                      <a:cubicBezTo>
                        <a:pt x="138366" y="192250"/>
                        <a:pt x="133874" y="197494"/>
                        <a:pt x="132326" y="203859"/>
                      </a:cubicBezTo>
                      <a:cubicBezTo>
                        <a:pt x="127254" y="224766"/>
                        <a:pt x="97512" y="224766"/>
                        <a:pt x="92440" y="203859"/>
                      </a:cubicBezTo>
                      <a:cubicBezTo>
                        <a:pt x="90897" y="197488"/>
                        <a:pt x="86403" y="192238"/>
                        <a:pt x="80348" y="189729"/>
                      </a:cubicBezTo>
                      <a:cubicBezTo>
                        <a:pt x="74292" y="187220"/>
                        <a:pt x="67402" y="187754"/>
                        <a:pt x="61805" y="191167"/>
                      </a:cubicBezTo>
                      <a:cubicBezTo>
                        <a:pt x="43434" y="202359"/>
                        <a:pt x="22396" y="181332"/>
                        <a:pt x="33588" y="162949"/>
                      </a:cubicBezTo>
                      <a:cubicBezTo>
                        <a:pt x="36995" y="157355"/>
                        <a:pt x="37528" y="150470"/>
                        <a:pt x="35022" y="144418"/>
                      </a:cubicBezTo>
                      <a:cubicBezTo>
                        <a:pt x="32516" y="138366"/>
                        <a:pt x="27272" y="133874"/>
                        <a:pt x="20907" y="132326"/>
                      </a:cubicBezTo>
                      <a:cubicBezTo>
                        <a:pt x="0" y="127254"/>
                        <a:pt x="0" y="97512"/>
                        <a:pt x="20907" y="92440"/>
                      </a:cubicBezTo>
                      <a:cubicBezTo>
                        <a:pt x="27278" y="90897"/>
                        <a:pt x="32528" y="86403"/>
                        <a:pt x="35037" y="80348"/>
                      </a:cubicBezTo>
                      <a:cubicBezTo>
                        <a:pt x="37546" y="74292"/>
                        <a:pt x="37012" y="67402"/>
                        <a:pt x="33599" y="61805"/>
                      </a:cubicBezTo>
                      <a:cubicBezTo>
                        <a:pt x="22408" y="43434"/>
                        <a:pt x="43434" y="22396"/>
                        <a:pt x="61817" y="33588"/>
                      </a:cubicBezTo>
                      <a:cubicBezTo>
                        <a:pt x="73723" y="40827"/>
                        <a:pt x="89154" y="34421"/>
                        <a:pt x="92440" y="20907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16756" y="50220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009650" y="4867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仿真的真正价值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13460" y="51854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不只是复现宏观现象，而是解释用户行为、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13460" y="5414010"/>
                <a:ext cx="32308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网络结构与平台机制如何共同生成传播结果。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6858000" y="2628900"/>
            <a:ext cx="4724400" cy="3162300"/>
            <a:chOff x="6858000" y="2628900"/>
            <a:chExt cx="4724400" cy="3162300"/>
          </a:xfrm>
        </p:grpSpPr>
        <p:sp>
          <p:nvSpPr>
            <p:cNvPr id="36" name="Rectangle 36"/>
            <p:cNvSpPr/>
            <p:nvPr/>
          </p:nvSpPr>
          <p:spPr>
            <a:xfrm>
              <a:off x="6858000" y="2628900"/>
              <a:ext cx="4724400" cy="3162300"/>
            </a:xfrm>
            <a:prstGeom prst="roundRect">
              <a:avLst>
                <a:gd name="adj" fmla="val 1205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3265" y="2858452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 · 推荐曝光串联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32766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843838" y="3476625"/>
              <a:ext cx="200026" cy="133350"/>
              <a:chOff x="7843838" y="3476625"/>
              <a:chExt cx="200026" cy="1333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921625" y="35210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43838" y="347662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212455" y="3454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信息接触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220200" y="3848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163050" y="3981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20000" y="40767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843838" y="4243388"/>
              <a:ext cx="200026" cy="200025"/>
              <a:chOff x="7843838" y="42433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866063" y="42433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843838" y="43767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88301" y="42448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010526" y="437840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212455" y="4254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互动行为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220200" y="4648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163050" y="4781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20000" y="48768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843838" y="5043488"/>
              <a:ext cx="200025" cy="198438"/>
              <a:chOff x="7843838" y="5043488"/>
              <a:chExt cx="200025" cy="1984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888288" y="52324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77175" y="50657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943850" y="50434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84383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97718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212455" y="5054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立场变化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3" name="Line 63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研究意义：推荐机制成为内生变量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09600" y="2019300"/>
            <a:ext cx="10972800" cy="2743200"/>
            <a:chOff x="609600" y="2019300"/>
            <a:chExt cx="10972800" cy="2743200"/>
          </a:xfrm>
        </p:grpSpPr>
        <p:grpSp>
          <p:nvGrpSpPr>
            <p:cNvPr id="20" name="Group 20"/>
            <p:cNvGrpSpPr/>
            <p:nvPr/>
          </p:nvGrpSpPr>
          <p:grpSpPr>
            <a:xfrm>
              <a:off x="609600" y="2019300"/>
              <a:ext cx="3448050" cy="2743200"/>
              <a:chOff x="609600" y="2019300"/>
              <a:chExt cx="3448050" cy="27432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2019300"/>
                <a:ext cx="3448050" cy="571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19162" y="2405062"/>
                <a:ext cx="257175" cy="252413"/>
                <a:chOff x="919162" y="2405062"/>
                <a:chExt cx="257175" cy="252413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76312" y="26479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62025" y="2433638"/>
                  <a:ext cx="171450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8">
                      <a:moveTo>
                        <a:pt x="0" y="14288"/>
                      </a:moveTo>
                      <a:lnTo>
                        <a:pt x="85725" y="0"/>
                      </a:lnTo>
                      <a:lnTo>
                        <a:pt x="171450" y="142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47750" y="2405062"/>
                  <a:ext cx="952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2888">
                      <a:moveTo>
                        <a:pt x="0" y="0"/>
                      </a:moveTo>
                      <a:lnTo>
                        <a:pt x="0" y="2428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1916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9061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85534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理论意义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1060" y="3299460"/>
                <a:ext cx="17068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把推荐曝光从平台背景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提升为传播过程中的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机制变量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，解释信息扩散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与态度演化的形成链条。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371975" y="2019300"/>
              <a:ext cx="3448050" cy="2743200"/>
              <a:chOff x="4371975" y="2019300"/>
              <a:chExt cx="3448050" cy="27432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371975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71975" y="2019300"/>
                <a:ext cx="3448050" cy="571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695825" y="2419350"/>
                <a:ext cx="228600" cy="228600"/>
                <a:chOff x="4695825" y="2419350"/>
                <a:chExt cx="228600" cy="2286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695825" y="2476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724400" y="2419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24400" y="25336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781550" y="25622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10125" y="2419350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810125" y="26193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867275" y="2433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895850" y="2419350"/>
                  <a:ext cx="9525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8">
                      <a:moveTo>
                        <a:pt x="0" y="0"/>
                      </a:move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95850" y="2490788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617720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方法意义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23435" y="3299460"/>
                <a:ext cx="15544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以真实传播结果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校准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兴趣匹配、内容热度、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时间衰减与随机探索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等推荐参数。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134350" y="2019300"/>
              <a:ext cx="3448050" cy="2743200"/>
              <a:chOff x="8134350" y="2019300"/>
              <a:chExt cx="3448050" cy="27432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813435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8134350" y="2019300"/>
                <a:ext cx="3448050" cy="571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8443912" y="2419350"/>
                <a:ext cx="257175" cy="228600"/>
                <a:chOff x="8443912" y="2419350"/>
                <a:chExt cx="257175" cy="2286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443912" y="2419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443912" y="25336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501062" y="2476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501062" y="2590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838009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工程意义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85810" y="3299460"/>
                <a:ext cx="160020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形成「数据治理 — 参数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校准 — 配置注入 — 在线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仿真 — 结果归档」的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平台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闭环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609600" y="5143500"/>
            <a:ext cx="10972800" cy="914400"/>
            <a:chOff x="609600" y="5143500"/>
            <a:chExt cx="10972800" cy="914400"/>
          </a:xfrm>
        </p:grpSpPr>
        <p:sp>
          <p:nvSpPr>
            <p:cNvPr id="47" name="Rectangle 47"/>
            <p:cNvSpPr/>
            <p:nvPr/>
          </p:nvSpPr>
          <p:spPr>
            <a:xfrm>
              <a:off x="609600" y="5143500"/>
              <a:ext cx="10972800" cy="914400"/>
            </a:xfrm>
            <a:prstGeom prst="roundRect">
              <a:avLst>
                <a:gd name="adj" fmla="val 4167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600" y="5143500"/>
              <a:ext cx="57150" cy="9144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9165" y="5392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3450" y="566737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推荐参数不再由研究者主观设定，而是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由真实传播数据校准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后进入在线仿真。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2" name="Line 5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2207038" cy="518160"/>
            <a:chOff x="577215" y="1210628"/>
            <a:chExt cx="2207038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三条相关脉络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9600" y="1962150"/>
            <a:ext cx="10972800" cy="3009900"/>
            <a:chOff x="609600" y="1962150"/>
            <a:chExt cx="10972800" cy="3009900"/>
          </a:xfrm>
        </p:grpSpPr>
        <p:grpSp>
          <p:nvGrpSpPr>
            <p:cNvPr id="22" name="Group 22"/>
            <p:cNvGrpSpPr/>
            <p:nvPr/>
          </p:nvGrpSpPr>
          <p:grpSpPr>
            <a:xfrm>
              <a:off x="609600" y="1962150"/>
              <a:ext cx="3448050" cy="3009900"/>
              <a:chOff x="609600" y="1962150"/>
              <a:chExt cx="3448050" cy="30099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09600" y="2381250"/>
                <a:ext cx="3448050" cy="1905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876300" y="2152650"/>
                <a:ext cx="228600" cy="228599"/>
                <a:chOff x="876300" y="2152650"/>
                <a:chExt cx="228600" cy="228599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876300" y="2152650"/>
                  <a:ext cx="1270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228599">
                      <a:moveTo>
                        <a:pt x="0" y="203199"/>
                      </a:moveTo>
                      <a:cubicBezTo>
                        <a:pt x="0" y="217227"/>
                        <a:pt x="11372" y="228599"/>
                        <a:pt x="25400" y="228599"/>
                      </a:cubicBezTo>
                      <a:cubicBezTo>
                        <a:pt x="50800" y="228599"/>
                        <a:pt x="50800" y="177800"/>
                        <a:pt x="63500" y="114300"/>
                      </a:cubicBezTo>
                      <a:cubicBezTo>
                        <a:pt x="76200" y="50800"/>
                        <a:pt x="76200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01700" y="22669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238250" y="2190750"/>
                <a:ext cx="223287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规则 ABM 与传播动力学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1060" y="2842260"/>
                <a:ext cx="208788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Bounded Confidence、SIR、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Hawkes、元胞自动机等模型。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2012" y="36123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成本低、可解释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2012" y="3917156"/>
                <a:ext cx="10287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弱在文本生成与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个体行为解释。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371975" y="1962150"/>
              <a:ext cx="3448050" cy="3009900"/>
              <a:chOff x="4371975" y="1962150"/>
              <a:chExt cx="3448050" cy="3009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371975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71975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71975" y="2381250"/>
                <a:ext cx="3448050" cy="1905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664075" y="2139950"/>
                <a:ext cx="177800" cy="241300"/>
                <a:chOff x="4664075" y="2139950"/>
                <a:chExt cx="177800" cy="2413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676775" y="216535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52975" y="21399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7148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7910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664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791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714875" y="23431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7275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783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5000625" y="2190750"/>
                <a:ext cx="21803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 Agent 与混合仿真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23435" y="2842260"/>
                <a:ext cx="24993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Generative Agents、HiSim、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FDE-LLM、GASim、TopoSim、APS。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24388" y="3612356"/>
                <a:ext cx="1578769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推动画像、记忆、信念</a:t>
                </a: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与混合架构。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34350" y="1962150"/>
              <a:ext cx="3448050" cy="3009900"/>
              <a:chOff x="8134350" y="1962150"/>
              <a:chExt cx="3448050" cy="30099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13435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13435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134350" y="2381250"/>
                <a:ext cx="3448050" cy="1905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8401050" y="2165350"/>
                <a:ext cx="228599" cy="203200"/>
                <a:chOff x="8401050" y="2165350"/>
                <a:chExt cx="228599" cy="2032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8401050" y="2165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401050" y="2266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451850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451850" y="2317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8763000" y="2190750"/>
                <a:ext cx="213836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平台化系统与推荐机制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85810" y="2842260"/>
                <a:ext cx="22707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OASIS、GGBond、POSIM、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PolicySim 纳入平台环境与排序。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86762" y="3612356"/>
                <a:ext cx="117157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参数多依赖预设或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离线调参。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09600" y="5181600"/>
            <a:ext cx="10972800" cy="876300"/>
            <a:chOff x="609600" y="5181600"/>
            <a:chExt cx="10972800" cy="876300"/>
          </a:xfrm>
        </p:grpSpPr>
        <p:sp>
          <p:nvSpPr>
            <p:cNvPr id="53" name="Rectangle 53"/>
            <p:cNvSpPr/>
            <p:nvPr/>
          </p:nvSpPr>
          <p:spPr>
            <a:xfrm>
              <a:off x="609600" y="5181600"/>
              <a:ext cx="10972800" cy="876300"/>
            </a:xfrm>
            <a:prstGeom prst="roundRect">
              <a:avLst>
                <a:gd name="adj" fmla="val 4348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57150" cy="8763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9165" y="5411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研究空白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3450" y="5686425"/>
              <a:ext cx="76990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研究基础充分，但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「真实传播数据 → 推荐参数校准 → 在线仿真注入」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的链条仍不完整。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8" name="Line 5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研究空白：推荐机制缺少实证校准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962150"/>
            <a:ext cx="10972800" cy="3181350"/>
            <a:chOff x="609600" y="1962150"/>
            <a:chExt cx="10972800" cy="3181350"/>
          </a:xfrm>
        </p:grpSpPr>
        <p:grpSp>
          <p:nvGrpSpPr>
            <p:cNvPr id="21" name="Group 21"/>
            <p:cNvGrpSpPr/>
            <p:nvPr/>
          </p:nvGrpSpPr>
          <p:grpSpPr>
            <a:xfrm>
              <a:off x="609600" y="1962150"/>
              <a:ext cx="5334000" cy="3181350"/>
              <a:chOff x="609600" y="1962150"/>
              <a:chExt cx="5334000" cy="31813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962150"/>
                <a:ext cx="533400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2019" y="22264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11906" y="47625"/>
                    </a:moveTo>
                    <a:lnTo>
                      <a:pt x="47625" y="47625"/>
                    </a:lnTo>
                    <a:cubicBezTo>
                      <a:pt x="54201" y="47625"/>
                      <a:pt x="59531" y="42294"/>
                      <a:pt x="59531" y="35719"/>
                    </a:cubicBezTo>
                    <a:lnTo>
                      <a:pt x="59531" y="23812"/>
                    </a:lnTo>
                    <a:cubicBezTo>
                      <a:pt x="59531" y="10661"/>
                      <a:pt x="70192" y="0"/>
                      <a:pt x="83344" y="0"/>
                    </a:cubicBezTo>
                    <a:cubicBezTo>
                      <a:pt x="96495" y="0"/>
                      <a:pt x="107156" y="10661"/>
                      <a:pt x="107156" y="23812"/>
                    </a:cubicBezTo>
                    <a:lnTo>
                      <a:pt x="107156" y="35719"/>
                    </a:lnTo>
                    <a:cubicBezTo>
                      <a:pt x="107156" y="42294"/>
                      <a:pt x="112487" y="47625"/>
                      <a:pt x="119062" y="47625"/>
                    </a:cubicBezTo>
                    <a:lnTo>
                      <a:pt x="154781" y="47625"/>
                    </a:lnTo>
                    <a:cubicBezTo>
                      <a:pt x="161357" y="47625"/>
                      <a:pt x="166688" y="52956"/>
                      <a:pt x="166688" y="59531"/>
                    </a:cubicBezTo>
                    <a:lnTo>
                      <a:pt x="166688" y="95250"/>
                    </a:lnTo>
                    <a:cubicBezTo>
                      <a:pt x="166688" y="101826"/>
                      <a:pt x="172018" y="107156"/>
                      <a:pt x="178594" y="107156"/>
                    </a:cubicBezTo>
                    <a:lnTo>
                      <a:pt x="190500" y="107156"/>
                    </a:lnTo>
                    <a:cubicBezTo>
                      <a:pt x="203651" y="107156"/>
                      <a:pt x="214312" y="117817"/>
                      <a:pt x="214312" y="130969"/>
                    </a:cubicBezTo>
                    <a:cubicBezTo>
                      <a:pt x="214312" y="144120"/>
                      <a:pt x="203651" y="154781"/>
                      <a:pt x="190500" y="154781"/>
                    </a:cubicBezTo>
                    <a:lnTo>
                      <a:pt x="178594" y="154781"/>
                    </a:lnTo>
                    <a:cubicBezTo>
                      <a:pt x="172018" y="154781"/>
                      <a:pt x="166688" y="160112"/>
                      <a:pt x="166688" y="166688"/>
                    </a:cubicBezTo>
                    <a:lnTo>
                      <a:pt x="166688" y="202406"/>
                    </a:lnTo>
                    <a:cubicBezTo>
                      <a:pt x="166688" y="208982"/>
                      <a:pt x="161357" y="214312"/>
                      <a:pt x="154781" y="214312"/>
                    </a:cubicBezTo>
                    <a:lnTo>
                      <a:pt x="119062" y="214312"/>
                    </a:lnTo>
                    <a:cubicBezTo>
                      <a:pt x="112487" y="214312"/>
                      <a:pt x="107156" y="208982"/>
                      <a:pt x="107156" y="202406"/>
                    </a:cubicBezTo>
                    <a:lnTo>
                      <a:pt x="107156" y="190500"/>
                    </a:lnTo>
                    <a:cubicBezTo>
                      <a:pt x="107156" y="177349"/>
                      <a:pt x="96495" y="166688"/>
                      <a:pt x="83344" y="166688"/>
                    </a:cubicBezTo>
                    <a:cubicBezTo>
                      <a:pt x="70192" y="166688"/>
                      <a:pt x="59531" y="177349"/>
                      <a:pt x="59531" y="190500"/>
                    </a:cubicBezTo>
                    <a:lnTo>
                      <a:pt x="59531" y="202406"/>
                    </a:lnTo>
                    <a:cubicBezTo>
                      <a:pt x="59531" y="208982"/>
                      <a:pt x="54201" y="214312"/>
                      <a:pt x="47625" y="214312"/>
                    </a:cubicBezTo>
                    <a:lnTo>
                      <a:pt x="11906" y="214312"/>
                    </a:ln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66688"/>
                    </a:lnTo>
                    <a:cubicBezTo>
                      <a:pt x="0" y="160112"/>
                      <a:pt x="5331" y="154781"/>
                      <a:pt x="11906" y="154781"/>
                    </a:cubicBezTo>
                    <a:lnTo>
                      <a:pt x="23812" y="154781"/>
                    </a:lnTo>
                    <a:cubicBezTo>
                      <a:pt x="36964" y="154781"/>
                      <a:pt x="47625" y="144120"/>
                      <a:pt x="47625" y="130969"/>
                    </a:cubicBezTo>
                    <a:cubicBezTo>
                      <a:pt x="47625" y="117817"/>
                      <a:pt x="36964" y="107156"/>
                      <a:pt x="23812" y="107156"/>
                    </a:cubicBezTo>
                    <a:lnTo>
                      <a:pt x="11906" y="107156"/>
                    </a:lnTo>
                    <a:cubicBezTo>
                      <a:pt x="5331" y="107156"/>
                      <a:pt x="0" y="101826"/>
                      <a:pt x="0" y="95250"/>
                    </a:cubicBezTo>
                    <a:lnTo>
                      <a:pt x="0" y="59531"/>
                    </a:lnTo>
                    <a:cubicBezTo>
                      <a:pt x="0" y="52956"/>
                      <a:pt x="5331" y="47625"/>
                      <a:pt x="11906" y="47625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36345" y="2241232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已有系统的常见做法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914400" y="2933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89660" y="2899410"/>
                <a:ext cx="27668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无显式推荐模块——邻居传播、时间线或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89660" y="31470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随机曝光。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14400" y="3695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3661410"/>
                <a:ext cx="29028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有推荐模块者用兴趣公式、hot-score、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89660" y="39090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人工权重或离线调参。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914400" y="4457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9660" y="442341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政策优化类工作更关注干预效果。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076950" y="3476625"/>
              <a:ext cx="495300" cy="152400"/>
              <a:chOff x="6076950" y="3476625"/>
              <a:chExt cx="495300" cy="15240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076950" y="35528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77000" y="3476625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0"/>
                    </a:moveTo>
                    <a:lnTo>
                      <a:pt x="9525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6686550" y="1962150"/>
              <a:ext cx="4895850" cy="3181350"/>
              <a:chOff x="6686550" y="1962150"/>
              <a:chExt cx="4895850" cy="31813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86550" y="1962150"/>
                <a:ext cx="489585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686550" y="1962150"/>
                <a:ext cx="57150" cy="3181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988969" y="2226469"/>
                <a:ext cx="214312" cy="214312"/>
                <a:chOff x="6988969" y="2226469"/>
                <a:chExt cx="214312" cy="214312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7084219" y="23217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036594" y="22740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988969" y="22264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7313295" y="22412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本课题拟解决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7010400" y="2933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185660" y="28994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将推荐评分拆解为可解释维度。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7010400" y="35052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185660" y="34709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用真实传播结果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拟合校准</a:t>
                </a:r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参数。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7010400" y="4076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185660" y="40424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把校准参数写入 YAML 并驱动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185660" y="4290060"/>
                <a:ext cx="12786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在线 Feed 排序。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09600" y="5410200"/>
            <a:ext cx="10972800" cy="647700"/>
            <a:chOff x="609600" y="5410200"/>
            <a:chExt cx="10972800" cy="647700"/>
          </a:xfrm>
        </p:grpSpPr>
        <p:sp>
          <p:nvSpPr>
            <p:cNvPr id="41" name="Rectangle 41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1545" y="5632132"/>
              <a:ext cx="261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从主观预设 </a:t>
              </a:r>
              <a:r>
                <a:rPr lang="en-US" sz="165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→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 数据校准。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5" name="Line 4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目标：形成可复现实验闭环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962150"/>
            <a:ext cx="10972800" cy="685800"/>
            <a:chOff x="609600" y="1962150"/>
            <a:chExt cx="10972800" cy="685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962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962150"/>
              <a:ext cx="57150" cy="6858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4402" y="2246471"/>
              <a:ext cx="938536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总目标：设计并实现一个</a:t>
              </a:r>
              <a:r>
                <a:rPr lang="zh-CN" sz="14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融合推荐机制校准的 MOSS 社交仿真平台</a:t>
              </a:r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，形成从真实数据到在线推演的可复现闭环。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552700" y="2914650"/>
            <a:ext cx="7086600" cy="3086100"/>
            <a:chOff x="2552700" y="2914650"/>
            <a:chExt cx="7086600" cy="3086100"/>
          </a:xfrm>
        </p:grpSpPr>
        <p:sp>
          <p:nvSpPr>
            <p:cNvPr id="14" name="Ellipse 14"/>
            <p:cNvSpPr/>
            <p:nvPr/>
          </p:nvSpPr>
          <p:spPr>
            <a:xfrm>
              <a:off x="5505450" y="3867150"/>
              <a:ext cx="1181100" cy="1181100"/>
            </a:xfrm>
            <a:prstGeom prst="ellipse">
              <a:avLst/>
            </a:prstGeom>
            <a:solidFill>
              <a:srgbClr val="1B3A5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943600" y="4164600"/>
              <a:ext cx="304800" cy="319500"/>
              <a:chOff x="5943600" y="4164600"/>
              <a:chExt cx="304800" cy="319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943600" y="41646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43600" y="43434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60708" y="4728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可复现闭环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0960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cubicBezTo>
                    <a:pt x="568135" y="0"/>
                    <a:pt x="1028700" y="460565"/>
                    <a:pt x="102870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60960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0"/>
                  </a:moveTo>
                  <a:cubicBezTo>
                    <a:pt x="1028700" y="568135"/>
                    <a:pt x="568135" y="1028700"/>
                    <a:pt x="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1" name="Freeform 21"/>
            <p:cNvSpPr/>
            <p:nvPr/>
          </p:nvSpPr>
          <p:spPr>
            <a:xfrm>
              <a:off x="50673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1028700"/>
                  </a:moveTo>
                  <a:cubicBezTo>
                    <a:pt x="460565" y="1028700"/>
                    <a:pt x="0" y="568135"/>
                    <a:pt x="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2" name="Freeform 22"/>
            <p:cNvSpPr/>
            <p:nvPr/>
          </p:nvSpPr>
          <p:spPr>
            <a:xfrm>
              <a:off x="50673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267200" y="2914650"/>
              <a:ext cx="2114550" cy="609600"/>
              <a:chOff x="4267200" y="2914650"/>
              <a:chExt cx="2114550" cy="6096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5810250" y="29337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B3A5B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5981700" y="3105150"/>
                <a:ext cx="228599" cy="228600"/>
                <a:chOff x="5981700" y="3105150"/>
                <a:chExt cx="228599" cy="2286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6007100" y="31051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981700" y="32575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146799" y="31068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172199" y="32594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9" name="Rectangle 29"/>
              <p:cNvSpPr/>
              <p:nvPr/>
            </p:nvSpPr>
            <p:spPr>
              <a:xfrm>
                <a:off x="4267200" y="29146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403408" y="30246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① 画像生成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07218" y="328564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稳定 / 行为 / 运行画像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048500" y="4152900"/>
              <a:ext cx="2590800" cy="609600"/>
              <a:chOff x="7048500" y="4152900"/>
              <a:chExt cx="2590800" cy="6096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0485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8A24B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232650" y="4356100"/>
                <a:ext cx="203199" cy="203200"/>
                <a:chOff x="7232650" y="4356100"/>
                <a:chExt cx="203199" cy="2032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232650" y="44069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58050" y="43561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258050" y="445770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308850" y="4483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334250" y="43561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334250" y="45338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85049" y="43688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10449" y="435610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410449" y="44196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44" name="Rectangle 44"/>
              <p:cNvSpPr/>
              <p:nvPr/>
            </p:nvSpPr>
            <p:spPr>
              <a:xfrm>
                <a:off x="77343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705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② 参数校准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743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权重 / 衰减 / 层级影响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810250" y="5391150"/>
              <a:ext cx="2129719" cy="609600"/>
              <a:chOff x="5810250" y="5391150"/>
              <a:chExt cx="2129719" cy="60960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5810250" y="54102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4A6B8A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5981700" y="5594350"/>
                <a:ext cx="228599" cy="203200"/>
                <a:chOff x="5981700" y="5594350"/>
                <a:chExt cx="228599" cy="2032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5981700" y="5594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5981700" y="5695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032500" y="5645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032500" y="5746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54" name="Rectangle 54"/>
              <p:cNvSpPr/>
              <p:nvPr/>
            </p:nvSpPr>
            <p:spPr>
              <a:xfrm>
                <a:off x="6286500" y="53911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422708" y="55011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③ 在线仿真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26518" y="5762149"/>
                <a:ext cx="15134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发帖 / 评论 / 点赞 / 转发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2552700" y="4152900"/>
              <a:ext cx="2590800" cy="609600"/>
              <a:chOff x="2552700" y="4152900"/>
              <a:chExt cx="2590800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45720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C7A5A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68850" y="4356100"/>
                <a:ext cx="190500" cy="215899"/>
                <a:chOff x="4768850" y="4356100"/>
                <a:chExt cx="190500" cy="215899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4768850" y="4356100"/>
                  <a:ext cx="1524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203199">
                      <a:moveTo>
                        <a:pt x="58610" y="203199"/>
                      </a:move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1270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883150" y="45211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19650" y="44069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819650" y="4457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64" name="Rectangle 64"/>
              <p:cNvSpPr/>
              <p:nvPr/>
            </p:nvSpPr>
            <p:spPr>
              <a:xfrm>
                <a:off x="25527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26889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④ 闭环验证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6927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传播曲线 / 态度 / 消融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9" name="Line 6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777484" cy="518160"/>
            <a:chOff x="577215" y="1210628"/>
            <a:chExt cx="5777484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创新点：方法、闭环、架构三重递进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09600" y="1962150"/>
            <a:ext cx="10972800" cy="3886200"/>
            <a:chOff x="609600" y="1962150"/>
            <a:chExt cx="10972800" cy="3886200"/>
          </a:xfrm>
        </p:grpSpPr>
        <p:grpSp>
          <p:nvGrpSpPr>
            <p:cNvPr id="26" name="Group 26"/>
            <p:cNvGrpSpPr/>
            <p:nvPr/>
          </p:nvGrpSpPr>
          <p:grpSpPr>
            <a:xfrm>
              <a:off x="609600" y="1962150"/>
              <a:ext cx="10972800" cy="1219200"/>
              <a:chOff x="609600" y="1962150"/>
              <a:chExt cx="10972800" cy="12192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962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1962150"/>
                <a:ext cx="57150" cy="12192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37260" y="2289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1B3A5B">
                        <a:alphaMod val="16000"/>
                      </a:srgbClr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1930400" y="2406650"/>
                <a:ext cx="254001" cy="254001"/>
                <a:chOff x="1930400" y="2406650"/>
                <a:chExt cx="254001" cy="254001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930400" y="24701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962150" y="24066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962150" y="2533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025650" y="25654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057400" y="2406650"/>
                  <a:ext cx="95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0">
                      <a:moveTo>
                        <a:pt x="0" y="0"/>
                      </a:moveTo>
                      <a:lnTo>
                        <a:pt x="0" y="158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057400" y="2628901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120901" y="2422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2152651" y="2406650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152651" y="2486025"/>
                  <a:ext cx="95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25">
                      <a:moveTo>
                        <a:pt x="0" y="0"/>
                      </a:moveTo>
                      <a:lnTo>
                        <a:pt x="0" y="17462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2493645" y="226028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推荐系统参数校准方法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99360" y="2632710"/>
                <a:ext cx="69833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将推荐抽象为兴趣匹配、内容热度、时间衰减、随机探索等可解释维度，用规则 ABM 拟合真实传播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499360" y="2880360"/>
                <a:ext cx="6511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结果，通过 EM / Optuna / 贝叶斯优化校准权重——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参数由真实传播过程校准而非主观假设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09600" y="3295650"/>
              <a:ext cx="10972800" cy="1219200"/>
              <a:chOff x="609600" y="3295650"/>
              <a:chExt cx="10972800" cy="12192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09600" y="32956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09600" y="3295650"/>
                <a:ext cx="57150" cy="12192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37260" y="3623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C8A24B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1930400" y="3734025"/>
                <a:ext cx="254001" cy="266250"/>
                <a:chOff x="1930400" y="3734025"/>
                <a:chExt cx="254001" cy="2662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1930400" y="3734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254001" y="117250"/>
                      </a:moveTo>
                      <a:cubicBezTo>
                        <a:pt x="246020" y="59823"/>
                        <a:pt x="200595" y="14839"/>
                        <a:pt x="143092" y="7420"/>
                      </a:cubicBezTo>
                      <a:cubicBezTo>
                        <a:pt x="85590" y="0"/>
                        <a:pt x="30234" y="31980"/>
                        <a:pt x="7938" y="85500"/>
                      </a:cubicBezTo>
                      <a:moveTo>
                        <a:pt x="0" y="22000"/>
                      </a:moveTo>
                      <a:lnTo>
                        <a:pt x="0" y="85500"/>
                      </a:lnTo>
                      <a:lnTo>
                        <a:pt x="63500" y="855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930400" y="3883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0" y="0"/>
                      </a:moveTo>
                      <a:cubicBezTo>
                        <a:pt x="7981" y="57427"/>
                        <a:pt x="53406" y="102411"/>
                        <a:pt x="110908" y="109831"/>
                      </a:cubicBezTo>
                      <a:cubicBezTo>
                        <a:pt x="168411" y="117250"/>
                        <a:pt x="223766" y="85271"/>
                        <a:pt x="246063" y="31750"/>
                      </a:cubicBezTo>
                      <a:moveTo>
                        <a:pt x="254001" y="95250"/>
                      </a:moveTo>
                      <a:lnTo>
                        <a:pt x="254001" y="31750"/>
                      </a:lnTo>
                      <a:lnTo>
                        <a:pt x="190500" y="317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2493645" y="3593782"/>
                <a:ext cx="31723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离线校准—在线仿真全流程闭环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499360" y="3966210"/>
                <a:ext cx="68633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将推荐权重、时间衰减、行为阈值与实验元数据写入统一 YAML，由在线平台读取驱动推荐服务、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499360" y="4213860"/>
                <a:ext cx="53191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 决策与实验记录，实现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参数自动流转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，提升可复现性与跨领域复用。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" y="4629150"/>
              <a:ext cx="10972800" cy="1219200"/>
              <a:chOff x="609600" y="4629150"/>
              <a:chExt cx="10972800" cy="12192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09600" y="4629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09600" y="4629150"/>
                <a:ext cx="57150" cy="12192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37260" y="4956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4A6B8A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1930400" y="5105400"/>
                <a:ext cx="254001" cy="190500"/>
                <a:chOff x="1930400" y="5105400"/>
                <a:chExt cx="254001" cy="1905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1930400" y="5105400"/>
                  <a:ext cx="25400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27000">
                      <a:moveTo>
                        <a:pt x="127000" y="0"/>
                      </a:moveTo>
                      <a:lnTo>
                        <a:pt x="0" y="63500"/>
                      </a:lnTo>
                      <a:lnTo>
                        <a:pt x="127000" y="127000"/>
                      </a:lnTo>
                      <a:lnTo>
                        <a:pt x="254001" y="63500"/>
                      </a:ln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930400" y="5232400"/>
                  <a:ext cx="254001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63500">
                      <a:moveTo>
                        <a:pt x="0" y="0"/>
                      </a:moveTo>
                      <a:lnTo>
                        <a:pt x="127000" y="63500"/>
                      </a:ln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2493645" y="492728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大模型与小模型分层协同架构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99360" y="5299710"/>
                <a:ext cx="64312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高影响力核心用户由大模型驱动承担原创与复杂行为，普通用户由小模型完成低成本互动，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499360" y="554736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行为保真度、可解释性与运行效率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间取得平衡。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8" name="Line 4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224340" cy="518160"/>
            <a:chOff x="577215" y="1210628"/>
            <a:chExt cx="422434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2243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数据—校准—运行—反馈闭环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0" name="Rectangle 10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4520" y="2019300"/>
              <a:ext cx="5902960" cy="31623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394055" y="5381149"/>
              <a:ext cx="2124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1 MOSS 数据—校准—运行闭环总览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4" name="Rectangle 1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单一配置中枢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5805964"/>
              <a:ext cx="78193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连接离线校准与在线推荐服务，串联数据 → 画像 → 校准 → 仿真 → 验证反馈。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19" name="Line 1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核心模块一：用户画像生成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95312" y="2033588"/>
            <a:ext cx="4643438" cy="3681412"/>
            <a:chOff x="595312" y="2033588"/>
            <a:chExt cx="4643438" cy="3681412"/>
          </a:xfrm>
        </p:grpSpPr>
        <p:grpSp>
          <p:nvGrpSpPr>
            <p:cNvPr id="13" name="Group 13"/>
            <p:cNvGrpSpPr/>
            <p:nvPr/>
          </p:nvGrpSpPr>
          <p:grpSpPr>
            <a:xfrm>
              <a:off x="654050" y="2033588"/>
              <a:ext cx="177801" cy="200025"/>
              <a:chOff x="654050" y="2033588"/>
              <a:chExt cx="177801" cy="2000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54050" y="20335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54050" y="20669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54050" y="21336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7155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输入与特征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5312" y="2431256"/>
              <a:ext cx="32164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user/post 原始数据；发帖、互动、活跃时段、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5312" y="26408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粉丝数；帖子与账号影响力指标；证据帖筛选。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65163" y="3108325"/>
              <a:ext cx="155575" cy="211138"/>
              <a:chOff x="665163" y="3108325"/>
              <a:chExt cx="155575" cy="2111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76275" y="31305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42950" y="31083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09613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6288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5163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6288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9613" y="32861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6517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71550" y="3133725"/>
              <a:ext cx="18128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五阶段 LLM 流水线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09600" y="3505200"/>
              <a:ext cx="4629150" cy="2209800"/>
              <a:chOff x="609600" y="3505200"/>
              <a:chExt cx="4629150" cy="2209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09600" y="35052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85812" y="36314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A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证据抽取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09600" y="39624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85812" y="40886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B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稳定画像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09600" y="44196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858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行为画像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09600" y="48768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85812" y="50030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D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Agent 画像压缩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09600" y="53340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85812" y="5460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E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模拟初始状态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543550" y="2000250"/>
            <a:ext cx="6038850" cy="3426619"/>
            <a:chOff x="5543550" y="2000250"/>
            <a:chExt cx="6038850" cy="3426619"/>
          </a:xfrm>
        </p:grpSpPr>
        <p:sp>
          <p:nvSpPr>
            <p:cNvPr id="40" name="Rectangle 40"/>
            <p:cNvSpPr/>
            <p:nvPr/>
          </p:nvSpPr>
          <p:spPr>
            <a:xfrm>
              <a:off x="5543550" y="2000250"/>
              <a:ext cx="6038850" cy="3143250"/>
            </a:xfrm>
            <a:prstGeom prst="roundRect">
              <a:avLst>
                <a:gd name="adj" fmla="val 1212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7592" y="2114550"/>
              <a:ext cx="5030766" cy="2914650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9856970" y="522874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2 用户画像生成模块设计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543550" y="5448300"/>
            <a:ext cx="6038850" cy="609600"/>
            <a:chOff x="5543550" y="5448300"/>
            <a:chExt cx="60388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448300"/>
              <a:ext cx="6038850" cy="609600"/>
            </a:xfrm>
            <a:prstGeom prst="roundRect">
              <a:avLst>
                <a:gd name="adj" fmla="val 6250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43550" y="5448300"/>
              <a:ext cx="57150" cy="6096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16918" y="560974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成本控制 · 影响力分层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15012" y="5822156"/>
              <a:ext cx="4986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L4-L5 高影响力用完整流水线；L1-L3 用 simple profile mode 与行为库。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9" name="Line 4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134428"/>
            <a:ext cx="5116951" cy="518160"/>
            <a:chOff x="577215" y="1134428"/>
            <a:chExt cx="5116951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134428"/>
              <a:ext cx="51169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核心模块二：ABM 推荐参数校准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09600" y="1809750"/>
            <a:ext cx="10972800" cy="914400"/>
            <a:chOff x="609600" y="1809750"/>
            <a:chExt cx="10972800" cy="914400"/>
          </a:xfrm>
        </p:grpSpPr>
        <p:grpSp>
          <p:nvGrpSpPr>
            <p:cNvPr id="18" name="Group 18"/>
            <p:cNvGrpSpPr/>
            <p:nvPr/>
          </p:nvGrpSpPr>
          <p:grpSpPr>
            <a:xfrm>
              <a:off x="609600" y="1809750"/>
              <a:ext cx="2628900" cy="914400"/>
              <a:chOff x="609600" y="1809750"/>
              <a:chExt cx="2628900" cy="9144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35819" y="2055019"/>
                <a:ext cx="214313" cy="214313"/>
                <a:chOff x="835819" y="2055019"/>
                <a:chExt cx="214313" cy="214313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859631" y="20550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35819" y="2197894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95250" y="0"/>
                      </a:lnTo>
                      <a:cubicBezTo>
                        <a:pt x="121553" y="0"/>
                        <a:pt x="142875" y="21322"/>
                        <a:pt x="142875" y="47625"/>
                      </a:cubicBezTo>
                      <a:lnTo>
                        <a:pt x="142875" y="7143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90600" y="2056567"/>
                  <a:ext cx="35812" cy="92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12" h="92273">
                      <a:moveTo>
                        <a:pt x="0" y="0"/>
                      </a:moveTo>
                      <a:cubicBezTo>
                        <a:pt x="21073" y="5396"/>
                        <a:pt x="35812" y="24384"/>
                        <a:pt x="35812" y="46137"/>
                      </a:cubicBezTo>
                      <a:cubicBezTo>
                        <a:pt x="35812" y="67890"/>
                        <a:pt x="21073" y="86878"/>
                        <a:pt x="0" y="92273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14413" y="2199680"/>
                  <a:ext cx="357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69652">
                      <a:moveTo>
                        <a:pt x="35719" y="69652"/>
                      </a:moveTo>
                      <a:lnTo>
                        <a:pt x="35719" y="45839"/>
                      </a:lnTo>
                      <a:cubicBezTo>
                        <a:pt x="35594" y="24224"/>
                        <a:pt x="20929" y="5403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184910" y="2023110"/>
                <a:ext cx="2993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w_i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48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兴趣匹配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390900" y="1809750"/>
              <a:ext cx="2628900" cy="914400"/>
              <a:chOff x="3390900" y="1809750"/>
              <a:chExt cx="26289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3909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640931" y="2043112"/>
                <a:ext cx="166688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26219">
                    <a:moveTo>
                      <a:pt x="83344" y="106454"/>
                    </a:moveTo>
                    <a:cubicBezTo>
                      <a:pt x="111121" y="67068"/>
                      <a:pt x="85332" y="13311"/>
                      <a:pt x="71438" y="0"/>
                    </a:cubicBezTo>
                    <a:cubicBezTo>
                      <a:pt x="71438" y="40422"/>
                      <a:pt x="44827" y="63091"/>
                      <a:pt x="27777" y="79843"/>
                    </a:cubicBezTo>
                    <a:cubicBezTo>
                      <a:pt x="10751" y="96607"/>
                      <a:pt x="0" y="119062"/>
                      <a:pt x="0" y="146375"/>
                    </a:cubicBezTo>
                    <a:cubicBezTo>
                      <a:pt x="0" y="190476"/>
                      <a:pt x="37314" y="226219"/>
                      <a:pt x="83344" y="226219"/>
                    </a:cubicBezTo>
                    <a:cubicBezTo>
                      <a:pt x="129373" y="226219"/>
                      <a:pt x="166688" y="190476"/>
                      <a:pt x="166688" y="146375"/>
                    </a:cubicBezTo>
                    <a:cubicBezTo>
                      <a:pt x="166688" y="125992"/>
                      <a:pt x="152019" y="93952"/>
                      <a:pt x="138910" y="79843"/>
                    </a:cubicBezTo>
                    <a:cubicBezTo>
                      <a:pt x="114098" y="119765"/>
                      <a:pt x="100132" y="119765"/>
                      <a:pt x="83344" y="106454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966210" y="2023110"/>
                <a:ext cx="5261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w_pop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661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内容热度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72200" y="1809750"/>
              <a:ext cx="2628900" cy="914400"/>
              <a:chOff x="6172200" y="1809750"/>
              <a:chExt cx="2628900" cy="914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722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398419" y="2055019"/>
                <a:ext cx="214312" cy="214312"/>
                <a:chOff x="6398419" y="2055019"/>
                <a:chExt cx="214312" cy="214312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3984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05575" y="2102644"/>
                  <a:ext cx="35719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95250">
                      <a:moveTo>
                        <a:pt x="0" y="0"/>
                      </a:moveTo>
                      <a:lnTo>
                        <a:pt x="0" y="59531"/>
                      </a:lnTo>
                      <a:lnTo>
                        <a:pt x="35719" y="9525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747510" y="2023110"/>
                <a:ext cx="6101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w_time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474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时间衰减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8953500" y="1809750"/>
              <a:ext cx="2628900" cy="914400"/>
              <a:chOff x="8953500" y="1809750"/>
              <a:chExt cx="2628900" cy="9144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9535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179719" y="2055019"/>
                <a:ext cx="214312" cy="214312"/>
                <a:chOff x="9179719" y="2055019"/>
                <a:chExt cx="214312" cy="214312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91797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90500" y="0"/>
                      </a:lnTo>
                      <a:cubicBezTo>
                        <a:pt x="203651" y="0"/>
                        <a:pt x="214312" y="10661"/>
                        <a:pt x="214312" y="23812"/>
                      </a:cubicBezTo>
                      <a:lnTo>
                        <a:pt x="214312" y="190500"/>
                      </a:lnTo>
                      <a:cubicBezTo>
                        <a:pt x="214312" y="203651"/>
                        <a:pt x="203651" y="214312"/>
                        <a:pt x="190500" y="214312"/>
                      </a:cubicBezTo>
                      <a:lnTo>
                        <a:pt x="23812" y="214312"/>
                      </a:lnTo>
                      <a:cubicBezTo>
                        <a:pt x="10661" y="214312"/>
                        <a:pt x="0" y="203651"/>
                        <a:pt x="0" y="190500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239250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322594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322594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39250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9528810" y="2023110"/>
                <a:ext cx="61855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w_rand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287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随机探索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609600" y="2876550"/>
            <a:ext cx="10972800" cy="2664619"/>
            <a:chOff x="609600" y="2876550"/>
            <a:chExt cx="10972800" cy="2664619"/>
          </a:xfrm>
        </p:grpSpPr>
        <p:sp>
          <p:nvSpPr>
            <p:cNvPr id="42" name="Rectangle 42"/>
            <p:cNvSpPr/>
            <p:nvPr/>
          </p:nvSpPr>
          <p:spPr>
            <a:xfrm>
              <a:off x="609600" y="2876550"/>
              <a:ext cx="6667500" cy="2400300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2489" y="2971800"/>
              <a:ext cx="4321721" cy="22098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5291185" y="53430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3 ABM 推荐参数校准模块设计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29500" y="2876550"/>
              <a:ext cx="4152900" cy="2400300"/>
            </a:xfrm>
            <a:prstGeom prst="roundRect">
              <a:avLst>
                <a:gd name="adj" fmla="val 158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40955" y="3073718"/>
              <a:ext cx="1858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B3A5B"/>
                  </a:solidFill>
                  <a:latin typeface="Arial"/>
                  <a:ea typeface="Arial"/>
                  <a:cs typeface="Arial"/>
                </a:rPr>
                <a:t>EMCalibrationEngine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58100" y="3409950"/>
              <a:ext cx="3695700" cy="19050"/>
            </a:xfrm>
            <a:prstGeom prst="rect">
              <a:avLst/>
            </a:prstGeom>
            <a:solidFill>
              <a:srgbClr val="D8D0C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43812" y="3612356"/>
              <a:ext cx="16412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E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搜索内容级 p_base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43812" y="3974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M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Dirichlet 约束下联合搜索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43812" y="4221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推荐权重与 decay_lambda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43812" y="46982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推荐可见概率由四类分数</a:t>
              </a:r>
              <a:r>
                <a:rPr lang="zh-CN" sz="11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加权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4945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得到，拟合真实传播结果。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5429250"/>
            <a:ext cx="10972800" cy="628650"/>
            <a:chOff x="609600" y="5429250"/>
            <a:chExt cx="10972800" cy="628650"/>
          </a:xfrm>
        </p:grpSpPr>
        <p:sp>
          <p:nvSpPr>
            <p:cNvPr id="54" name="Rectangle 54"/>
            <p:cNvSpPr/>
            <p:nvPr/>
          </p:nvSpPr>
          <p:spPr>
            <a:xfrm>
              <a:off x="609600" y="5429250"/>
              <a:ext cx="10972800" cy="628650"/>
            </a:xfrm>
            <a:prstGeom prst="roundRect">
              <a:avLst>
                <a:gd name="adj" fmla="val 6061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9600" y="5429250"/>
              <a:ext cx="57150" cy="6286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0118" y="560022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7260" y="5804535"/>
              <a:ext cx="5287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，供在线 SocialRecSys.configure 直接注入。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9" name="Line 5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134428"/>
            <a:ext cx="5420439" cy="518160"/>
            <a:chOff x="577215" y="1134428"/>
            <a:chExt cx="542043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1344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核心模块三：在线模拟与验证方案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809750"/>
            <a:ext cx="10972800" cy="2531269"/>
            <a:chOff x="609600" y="1809750"/>
            <a:chExt cx="10972800" cy="2531269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10972800" cy="22479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8310" y="1905000"/>
              <a:ext cx="3255380" cy="20574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654088" y="41428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4 在线社交网络模拟系统架构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400550"/>
            <a:ext cx="10972800" cy="1657350"/>
            <a:chOff x="609600" y="4400550"/>
            <a:chExt cx="10972800" cy="1657350"/>
          </a:xfrm>
        </p:grpSpPr>
        <p:grpSp>
          <p:nvGrpSpPr>
            <p:cNvPr id="24" name="Group 24"/>
            <p:cNvGrpSpPr/>
            <p:nvPr/>
          </p:nvGrpSpPr>
          <p:grpSpPr>
            <a:xfrm>
              <a:off x="609600" y="4400550"/>
              <a:ext cx="5391150" cy="1657350"/>
              <a:chOff x="609600" y="4400550"/>
              <a:chExt cx="5391150" cy="16573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71538" y="4654550"/>
                <a:ext cx="200026" cy="177800"/>
                <a:chOff x="871538" y="4654550"/>
                <a:chExt cx="200026" cy="1778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871538" y="46545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71538" y="47434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15988" y="4699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15988" y="47879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201102" y="46658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在线社交网络模拟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3912" y="5060156"/>
                <a:ext cx="286392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main.py 启动 </a:t>
                </a:r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Backend 与 Agent 双进程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3912" y="5345906"/>
                <a:ext cx="36815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Backend：Feed 推荐、内容管理、时间控制、持久化。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3912" y="5631656"/>
                <a:ext cx="32914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Agent：决策循环执行发帖、评论、点赞、转发。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91250" y="4400550"/>
              <a:ext cx="5391150" cy="1657350"/>
              <a:chOff x="6191250" y="4400550"/>
              <a:chExt cx="5391150" cy="16573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19125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91250" y="4400550"/>
                <a:ext cx="57150" cy="1657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532563" y="4654550"/>
                <a:ext cx="166687" cy="188913"/>
                <a:chOff x="6532563" y="4654550"/>
                <a:chExt cx="166687" cy="18891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532563" y="4654550"/>
                  <a:ext cx="1333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7801">
                      <a:moveTo>
                        <a:pt x="51284" y="177801"/>
                      </a:moveTo>
                      <a:lnTo>
                        <a:pt x="22225" y="177801"/>
                      </a:lnTo>
                      <a:cubicBezTo>
                        <a:pt x="9950" y="177801"/>
                        <a:pt x="0" y="167850"/>
                        <a:pt x="0" y="1555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32575" y="47990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77013" y="4699000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77013" y="4743450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839902" y="46658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验证指标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2712" y="50601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功能完整性 · 参数一致性（DTW / Pearson）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62712" y="5345906"/>
                <a:ext cx="26013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MAE / MRE · 随机种子方差 · 参数消融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63665" y="571595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验证重点：校准参数是否提升拟合程度。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8" name="Line 3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6134529" cy="518160"/>
            <a:chOff x="577215" y="1210628"/>
            <a:chExt cx="613452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数据流转时序：从离线数据到在线归档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0" name="Rectangle 10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487" y="2019300"/>
              <a:ext cx="7061026" cy="31623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8444936" y="538114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5 数据流转时序：离线数据 → 配置中枢 → 在线归档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4" name="Rectangle 1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参数自动流转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5805964"/>
              <a:ext cx="7615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离线产出 </a:t>
              </a:r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portraits/*.json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与校准参数写入 YAML，在线运行结果回流校准，形成可复现迭代闭环。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19" name="Line 1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系统总体架构：四层分层设计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0" name="Rectangle 10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9761" y="2019300"/>
              <a:ext cx="5032477" cy="31623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797105" y="53811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6 MOSS 平台系统总体架构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4" name="Rectangle 1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165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分层解耦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5805964"/>
              <a:ext cx="75218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表示层 → 应用层（Backend）→ Agent 层 → 数据与配置层，离线分析产出画像与配置驱动在线运行。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19" name="Line 1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05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可行性分析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理论、方法、工程基础均具备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9600" y="2019300"/>
            <a:ext cx="10972800" cy="3867150"/>
            <a:chOff x="609600" y="2019300"/>
            <a:chExt cx="10972800" cy="3867150"/>
          </a:xfrm>
        </p:grpSpPr>
        <p:grpSp>
          <p:nvGrpSpPr>
            <p:cNvPr id="19" name="Group 19"/>
            <p:cNvGrpSpPr/>
            <p:nvPr/>
          </p:nvGrpSpPr>
          <p:grpSpPr>
            <a:xfrm>
              <a:off x="609600" y="2019300"/>
              <a:ext cx="5391150" cy="1847850"/>
              <a:chOff x="609600" y="2019300"/>
              <a:chExt cx="5391150" cy="1847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2019300"/>
                <a:ext cx="57150" cy="18478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14400" y="2305050"/>
                <a:ext cx="228599" cy="228600"/>
                <a:chOff x="914400" y="2305050"/>
                <a:chExt cx="228599" cy="2286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14400" y="2305050"/>
                  <a:ext cx="2285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14300">
                      <a:moveTo>
                        <a:pt x="0" y="114300"/>
                      </a:moveTo>
                      <a:lnTo>
                        <a:pt x="12700" y="114300"/>
                      </a:lnTo>
                      <a:moveTo>
                        <a:pt x="114300" y="0"/>
                      </a:moveTo>
                      <a:lnTo>
                        <a:pt x="114300" y="12700"/>
                      </a:lnTo>
                      <a:moveTo>
                        <a:pt x="215899" y="114300"/>
                      </a:moveTo>
                      <a:lnTo>
                        <a:pt x="228599" y="114300"/>
                      </a:lnTo>
                      <a:moveTo>
                        <a:pt x="33020" y="33020"/>
                      </a:moveTo>
                      <a:lnTo>
                        <a:pt x="41910" y="41910"/>
                      </a:lnTo>
                      <a:moveTo>
                        <a:pt x="195580" y="33020"/>
                      </a:moveTo>
                      <a:lnTo>
                        <a:pt x="186690" y="4191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59815" y="2355850"/>
                  <a:ext cx="13776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69" h="177800">
                      <a:moveTo>
                        <a:pt x="30785" y="114300"/>
                      </a:moveTo>
                      <a:cubicBezTo>
                        <a:pt x="8919" y="97900"/>
                        <a:pt x="0" y="69349"/>
                        <a:pt x="8643" y="43419"/>
                      </a:cubicBezTo>
                      <a:cubicBezTo>
                        <a:pt x="17286" y="17490"/>
                        <a:pt x="41552" y="0"/>
                        <a:pt x="68884" y="0"/>
                      </a:cubicBezTo>
                      <a:cubicBezTo>
                        <a:pt x="96217" y="0"/>
                        <a:pt x="120482" y="17490"/>
                        <a:pt x="129126" y="43419"/>
                      </a:cubicBezTo>
                      <a:cubicBezTo>
                        <a:pt x="137769" y="69349"/>
                        <a:pt x="128850" y="97900"/>
                        <a:pt x="106984" y="114300"/>
                      </a:cubicBezTo>
                      <a:cubicBezTo>
                        <a:pt x="96928" y="124254"/>
                        <a:pt x="92212" y="138402"/>
                        <a:pt x="94284" y="152400"/>
                      </a:cubicBezTo>
                      <a:cubicBezTo>
                        <a:pt x="94284" y="166428"/>
                        <a:pt x="82912" y="177800"/>
                        <a:pt x="68884" y="177800"/>
                      </a:cubicBezTo>
                      <a:cubicBezTo>
                        <a:pt x="54856" y="177800"/>
                        <a:pt x="43485" y="166428"/>
                        <a:pt x="43485" y="152400"/>
                      </a:cubicBezTo>
                      <a:cubicBezTo>
                        <a:pt x="45557" y="138402"/>
                        <a:pt x="40841" y="124254"/>
                        <a:pt x="30785" y="1143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99490" y="2482849"/>
                  <a:ext cx="584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20" h="9525">
                      <a:moveTo>
                        <a:pt x="0" y="0"/>
                      </a:moveTo>
                      <a:lnTo>
                        <a:pt x="58420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7539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理论基础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61060" y="2880360"/>
                <a:ext cx="23507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HiSim、FDE-LLM、OASIS 等研究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6106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证明混合仿真与平台化系统可行。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191250" y="2019300"/>
              <a:ext cx="5391150" cy="1847850"/>
              <a:chOff x="6191250" y="2019300"/>
              <a:chExt cx="5391150" cy="1847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19125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191250" y="2019300"/>
                <a:ext cx="57150" cy="18478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508750" y="2317750"/>
                <a:ext cx="203199" cy="203200"/>
                <a:chOff x="6508750" y="2317750"/>
                <a:chExt cx="203199" cy="2032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6508750" y="23685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534150" y="231775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34150" y="241935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584950" y="24447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10350" y="23177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10350" y="2495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61149" y="23304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686549" y="231775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86549" y="238125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85704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方法基础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42710" y="2880360"/>
                <a:ext cx="23987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EM、Optuna、贝叶斯优化与奖励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4271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建模研究可迁移到推荐参数估计。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" y="4038600"/>
              <a:ext cx="5391150" cy="1847850"/>
              <a:chOff x="609600" y="4038600"/>
              <a:chExt cx="5391150" cy="18478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0960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09600" y="4038600"/>
                <a:ext cx="57150" cy="18478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14400" y="4324350"/>
                <a:ext cx="228599" cy="228600"/>
                <a:chOff x="914400" y="4324350"/>
                <a:chExt cx="228599" cy="2286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939800" y="43243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14400" y="44767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79499" y="43260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104899" y="44786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275398" y="43448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数据与画像基础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1060" y="48996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用户画像生成与分层建模已有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61060" y="516636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Two-stage Profiling、TWICE 支撑。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191250" y="4038600"/>
              <a:ext cx="5391150" cy="1847850"/>
              <a:chOff x="6191250" y="4038600"/>
              <a:chExt cx="5391150" cy="18478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19125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191250" y="4038600"/>
                <a:ext cx="57150" cy="1847850"/>
              </a:xfrm>
              <a:prstGeom prst="rect">
                <a:avLst/>
              </a:prstGeom>
              <a:solidFill>
                <a:srgbClr val="3C7A5A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6496050" y="4337050"/>
                <a:ext cx="228599" cy="203200"/>
                <a:chOff x="6496050" y="4337050"/>
                <a:chExt cx="228599" cy="2032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496050" y="4337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96050" y="44386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546850" y="4387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546850" y="44894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6857048" y="43448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工程基础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442710" y="48996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FastAPI、SQLite、向量检索与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42710" y="51663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LangChain 等工具链可支撑实现。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9" name="Line 5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1722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06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进度安排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188360" cy="518160"/>
            <a:chOff x="577215" y="1210628"/>
            <a:chExt cx="518836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1883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进度安排：2026 年 6 月至 12 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33400" y="2286000"/>
            <a:ext cx="11125200" cy="3200400"/>
            <a:chOff x="533400" y="2286000"/>
            <a:chExt cx="11125200" cy="3200400"/>
          </a:xfrm>
        </p:grpSpPr>
        <p:sp>
          <p:nvSpPr>
            <p:cNvPr id="10" name="Line 10"/>
            <p:cNvSpPr/>
            <p:nvPr/>
          </p:nvSpPr>
          <p:spPr>
            <a:xfrm>
              <a:off x="1333500" y="38862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 cap="rnd">
              <a:solidFill>
                <a:srgbClr val="D8D0C2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33400" y="2286000"/>
              <a:ext cx="1600200" cy="1733550"/>
              <a:chOff x="533400" y="2286000"/>
              <a:chExt cx="1600200" cy="173355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20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27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33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3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3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6-7 月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4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需求分析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7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与总体方案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438400" y="3752850"/>
              <a:ext cx="1600200" cy="1733550"/>
              <a:chOff x="2438400" y="3752850"/>
              <a:chExt cx="1600200" cy="173355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310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18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323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43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43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243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991871" y="44410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7-8 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94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数据准备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7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与画像模块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343400" y="2286000"/>
              <a:ext cx="1600200" cy="1733550"/>
              <a:chOff x="4343400" y="2286000"/>
              <a:chExt cx="1600200" cy="173355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501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08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514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434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34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34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89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8-9 月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99611" y="2782252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ABM 参数校准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50130" y="30108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初步实验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248400" y="3752850"/>
              <a:ext cx="1600200" cy="1733550"/>
              <a:chOff x="6248400" y="3752850"/>
              <a:chExt cx="1600200" cy="173355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691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99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04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24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24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24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58553" y="4441031"/>
                <a:ext cx="579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9-10 月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15112" y="4839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在线模拟系统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755130" y="5068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开发联调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53400" y="2286000"/>
              <a:ext cx="1600200" cy="1733550"/>
              <a:chOff x="8153400" y="2286000"/>
              <a:chExt cx="1600200" cy="173355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882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89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895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15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815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815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620235" y="23836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10-11 月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66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系统实验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59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与结果分析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0058400" y="3733800"/>
              <a:ext cx="1600200" cy="1752600"/>
              <a:chOff x="10058400" y="3733800"/>
              <a:chExt cx="1600200" cy="17526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10706100" y="3733800"/>
                <a:ext cx="304800" cy="3048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10791825" y="3819525"/>
                <a:ext cx="133350" cy="13335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0858500" y="40386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14288">
                <a:solidFill>
                  <a:srgbClr val="C8A24B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1005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005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10058400" y="4552950"/>
                <a:ext cx="1600200" cy="1143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525235" y="44410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11-12 月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56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系统优化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49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论文与答辩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72" name="Rectangle 72"/>
            <p:cNvSpPr/>
            <p:nvPr/>
          </p:nvSpPr>
          <p:spPr>
            <a:xfrm>
              <a:off x="609600" y="5715000"/>
              <a:ext cx="10972800" cy="571500"/>
            </a:xfrm>
            <a:prstGeom prst="roundRect">
              <a:avLst>
                <a:gd name="adj" fmla="val 6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9600" y="5715000"/>
              <a:ext cx="57150" cy="5715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5355" y="5921692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节奏遵循</a:t>
              </a:r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「先闭环、再优化、再实验」</a:t>
              </a:r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，确保论文写作有稳定系统与实验结果支撑。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6" name="Line 76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总结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009900" y="1905000"/>
            <a:ext cx="5329237" cy="2062162"/>
            <a:chOff x="3009900" y="1905000"/>
            <a:chExt cx="5329237" cy="2062162"/>
          </a:xfrm>
        </p:grpSpPr>
        <p:sp>
          <p:nvSpPr>
            <p:cNvPr id="7" name="Rectangle 7"/>
            <p:cNvSpPr/>
            <p:nvPr/>
          </p:nvSpPr>
          <p:spPr>
            <a:xfrm>
              <a:off x="3048000" y="19050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09900" y="24193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以推荐机制校准为核心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27045" y="3250882"/>
              <a:ext cx="5312092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将真实传播数据治理、ABM 参数校准、大小模型分层仿真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与多指标验证，连接为一个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可复用的社交仿真平台闭环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034665" y="4420552"/>
            <a:ext cx="8109585" cy="1103948"/>
            <a:chOff x="3034665" y="4420552"/>
            <a:chExt cx="8109585" cy="1103948"/>
          </a:xfrm>
        </p:grpSpPr>
        <p:sp>
          <p:nvSpPr>
            <p:cNvPr id="11" name="TextBox 11"/>
            <p:cNvSpPr txBox="1"/>
            <p:nvPr/>
          </p:nvSpPr>
          <p:spPr>
            <a:xfrm>
              <a:off x="3034665" y="4420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预期贡献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048000" y="4724400"/>
              <a:ext cx="2571750" cy="800100"/>
              <a:chOff x="3048000" y="4724400"/>
              <a:chExt cx="2571750" cy="8001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0480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048000" y="4724400"/>
                <a:ext cx="57150" cy="8001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365500" y="4991100"/>
                <a:ext cx="203199" cy="228600"/>
                <a:chOff x="3365500" y="4991100"/>
                <a:chExt cx="203199" cy="2286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3365500" y="49911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365500" y="50292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365500" y="51054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714750" y="50387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现实参照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810250" y="4724400"/>
              <a:ext cx="2571750" cy="800100"/>
              <a:chOff x="5810250" y="4724400"/>
              <a:chExt cx="2571750" cy="8001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81025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810250" y="4724400"/>
                <a:ext cx="57150" cy="8001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109475" y="4985525"/>
                <a:ext cx="239750" cy="239750"/>
                <a:chOff x="6109475" y="4985525"/>
                <a:chExt cx="239750" cy="239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6109475" y="4985525"/>
                  <a:ext cx="239750" cy="2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50" h="239750">
                      <a:moveTo>
                        <a:pt x="98603" y="22301"/>
                      </a:moveTo>
                      <a:cubicBezTo>
                        <a:pt x="104013" y="0"/>
                        <a:pt x="135737" y="0"/>
                        <a:pt x="141147" y="22301"/>
                      </a:cubicBezTo>
                      <a:cubicBezTo>
                        <a:pt x="142794" y="29096"/>
                        <a:pt x="147587" y="34697"/>
                        <a:pt x="154046" y="37373"/>
                      </a:cubicBezTo>
                      <a:cubicBezTo>
                        <a:pt x="160506" y="40049"/>
                        <a:pt x="167855" y="39479"/>
                        <a:pt x="173824" y="35839"/>
                      </a:cubicBezTo>
                      <a:cubicBezTo>
                        <a:pt x="193421" y="23901"/>
                        <a:pt x="215861" y="46329"/>
                        <a:pt x="203923" y="65938"/>
                      </a:cubicBezTo>
                      <a:cubicBezTo>
                        <a:pt x="200289" y="71905"/>
                        <a:pt x="199720" y="79249"/>
                        <a:pt x="202393" y="85704"/>
                      </a:cubicBezTo>
                      <a:cubicBezTo>
                        <a:pt x="205066" y="92160"/>
                        <a:pt x="210660" y="96952"/>
                        <a:pt x="217449" y="98603"/>
                      </a:cubicBezTo>
                      <a:cubicBezTo>
                        <a:pt x="239750" y="104013"/>
                        <a:pt x="239750" y="135737"/>
                        <a:pt x="217449" y="141147"/>
                      </a:cubicBezTo>
                      <a:cubicBezTo>
                        <a:pt x="210654" y="142794"/>
                        <a:pt x="205053" y="147587"/>
                        <a:pt x="202377" y="154046"/>
                      </a:cubicBezTo>
                      <a:cubicBezTo>
                        <a:pt x="199701" y="160506"/>
                        <a:pt x="200271" y="167855"/>
                        <a:pt x="203911" y="173824"/>
                      </a:cubicBezTo>
                      <a:cubicBezTo>
                        <a:pt x="215849" y="193421"/>
                        <a:pt x="193421" y="215861"/>
                        <a:pt x="173812" y="203923"/>
                      </a:cubicBezTo>
                      <a:cubicBezTo>
                        <a:pt x="167845" y="200289"/>
                        <a:pt x="160501" y="199720"/>
                        <a:pt x="154046" y="202393"/>
                      </a:cubicBezTo>
                      <a:cubicBezTo>
                        <a:pt x="147590" y="205066"/>
                        <a:pt x="142798" y="210660"/>
                        <a:pt x="141147" y="217449"/>
                      </a:cubicBezTo>
                      <a:cubicBezTo>
                        <a:pt x="135737" y="239750"/>
                        <a:pt x="104013" y="239750"/>
                        <a:pt x="98603" y="217449"/>
                      </a:cubicBezTo>
                      <a:cubicBezTo>
                        <a:pt x="96956" y="210654"/>
                        <a:pt x="92163" y="205053"/>
                        <a:pt x="85704" y="202377"/>
                      </a:cubicBezTo>
                      <a:cubicBezTo>
                        <a:pt x="79244" y="199701"/>
                        <a:pt x="71895" y="200271"/>
                        <a:pt x="65926" y="203911"/>
                      </a:cubicBezTo>
                      <a:cubicBezTo>
                        <a:pt x="46329" y="215849"/>
                        <a:pt x="23889" y="193421"/>
                        <a:pt x="35827" y="173812"/>
                      </a:cubicBezTo>
                      <a:cubicBezTo>
                        <a:pt x="39461" y="167845"/>
                        <a:pt x="40030" y="160501"/>
                        <a:pt x="37357" y="154046"/>
                      </a:cubicBezTo>
                      <a:cubicBezTo>
                        <a:pt x="34684" y="147590"/>
                        <a:pt x="29090" y="142798"/>
                        <a:pt x="22301" y="141147"/>
                      </a:cubicBezTo>
                      <a:cubicBezTo>
                        <a:pt x="0" y="135737"/>
                        <a:pt x="0" y="104013"/>
                        <a:pt x="22301" y="98603"/>
                      </a:cubicBezTo>
                      <a:cubicBezTo>
                        <a:pt x="29096" y="96956"/>
                        <a:pt x="34697" y="92163"/>
                        <a:pt x="37373" y="85704"/>
                      </a:cubicBezTo>
                      <a:cubicBezTo>
                        <a:pt x="40049" y="79244"/>
                        <a:pt x="39479" y="71895"/>
                        <a:pt x="35839" y="65926"/>
                      </a:cubicBezTo>
                      <a:cubicBezTo>
                        <a:pt x="23901" y="46329"/>
                        <a:pt x="46329" y="23889"/>
                        <a:pt x="65938" y="35827"/>
                      </a:cubicBezTo>
                      <a:cubicBezTo>
                        <a:pt x="78638" y="43548"/>
                        <a:pt x="95097" y="36716"/>
                        <a:pt x="98603" y="2230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191250" y="5067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647700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机制解释力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572500" y="4724400"/>
              <a:ext cx="2571750" cy="800100"/>
              <a:chOff x="8572500" y="4724400"/>
              <a:chExt cx="2571750" cy="8001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5725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572500" y="4724400"/>
                <a:ext cx="57150" cy="8001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890000" y="5029200"/>
                <a:ext cx="203199" cy="152400"/>
                <a:chOff x="8890000" y="5029200"/>
                <a:chExt cx="203199" cy="1524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890000" y="5029200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101600" y="0"/>
                      </a:moveTo>
                      <a:lnTo>
                        <a:pt x="0" y="50800"/>
                      </a:lnTo>
                      <a:lnTo>
                        <a:pt x="101600" y="101600"/>
                      </a:lnTo>
                      <a:lnTo>
                        <a:pt x="203199" y="5080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890000" y="5130800"/>
                  <a:ext cx="203199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50800">
                      <a:moveTo>
                        <a:pt x="0" y="0"/>
                      </a:moveTo>
                      <a:lnTo>
                        <a:pt x="101600" y="508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923925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跨议题复用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5" name="Line 3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572125" y="1714500"/>
            <a:ext cx="1047750" cy="1333500"/>
            <a:chOff x="5572125" y="1714500"/>
            <a:chExt cx="1047750" cy="13335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25" y="1714500"/>
              <a:ext cx="1047750" cy="13335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754880" y="3512820"/>
            <a:ext cx="2682240" cy="1521142"/>
            <a:chOff x="4754880" y="3512820"/>
            <a:chExt cx="2682240" cy="1521142"/>
          </a:xfrm>
        </p:grpSpPr>
        <p:sp>
          <p:nvSpPr>
            <p:cNvPr id="7" name="TextBox 7"/>
            <p:cNvSpPr txBox="1"/>
            <p:nvPr/>
          </p:nvSpPr>
          <p:spPr>
            <a:xfrm>
              <a:off x="5271326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638800" y="4343400"/>
              <a:ext cx="914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54880" y="46986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谢谢各位老师，请批评指正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0557" y="5448300"/>
            <a:ext cx="3270885" cy="438150"/>
            <a:chOff x="4460557" y="5448300"/>
            <a:chExt cx="3270885" cy="438150"/>
          </a:xfrm>
        </p:grpSpPr>
        <p:sp>
          <p:nvSpPr>
            <p:cNvPr id="11" name="Line 11"/>
            <p:cNvSpPr/>
            <p:nvPr/>
          </p:nvSpPr>
          <p:spPr>
            <a:xfrm>
              <a:off x="4667250" y="54483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0557" y="5642610"/>
              <a:ext cx="32708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汇报人 张艺鹏 · 2026 年 6 月 · 中国传媒大学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84420" y="64560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C8C82"/>
                </a:solidFill>
                <a:latin typeface="Arial"/>
                <a:ea typeface="Microsoft YaHei"/>
                <a:cs typeface="Arial"/>
              </a:rPr>
              <a:t>融合推荐机制校准的社交仿真平台设计与实现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2026-06-27T06:28:07Z</dcterms:created>
  <dcterms:modified xsi:type="dcterms:W3CDTF">2026-06-27T06:28:07Z</dcterms:modified>
  <cp:category/>
  <cp:contentStatus/>
</cp:coreProperties>
</file>