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是张艺鹏，今天向各位汇报我的学位论文选题报告，题目是《融合推荐机制校准的社交仿真平台设计与实现》。我的责任导师是黄浩程老师，研究方向为数据智能技术与应用，培养单位是媒体融合与传播国家重点实验室。这项工作的核心，是从真实传播数据出发校准推荐机制参数，再注入一个大小模型协同运行的在线社交仿真平台。下面我从六个方面展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整个汇报围绕一个核心问题：如何从真实传播数据校准推荐机制参数，并注入由 LLM Agent 与规则 Agent 协同运行的社交仿真平台。我将分六章逐层展开——选题背景与研究意义、国内外研究现状、研究目标与创新点、技术路线与方案、可行性分析，最后是进度安排。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是选题背景。为什么要做一个可校准的社交仿真？有三点动因。第一，社交媒体已经成为公共议题扩散、舆论形成与平台治理的重要空间。第二，真实平台存在算法黑箱，曝光日志难以获取，对照实验又受到伦理与监管的限制。第三，也是最关键的——仿真的真正价值不只是复现宏观现象，而是要解释用户行为、网络结构与平台机制如何共同生成传播结果。这意味着研究要从「结果描述」走向「机制解释」，而推荐曝光正是串联信息接触、互动行为与立场变化的关键环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由此引出本课题的研究意义，可以从三个层面看。理论上，我们把推荐曝光从平台背景提升为传播过程中的机制变量，用来解释信息扩散与态度演化的形成链条。方法上，我们以真实传播结果来校准兴趣匹配、内容热度、时间衰减与随机探索这几类推荐参数。工程上，则形成「数据治理—参数校准—配置注入—在线仿真—结果归档」的完整平台闭环。一句话概括这个转向：推荐参数不再由研究者主观设定，而是由真实传播数据校准之后，再进入在线仿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接下来是国内外研究现状。已有工作大致沿三条脉络展开。第一条是规则 ABM 与传播动力学，比如 Bounded Confidence、SIR、Hawkes、元胞自动机，这类模型成本低、可解释，但弱在文本生成与个体行为解释。第二条是 LLM Agent 与混合仿真，像 Generative Agents、HiSim、FDE-LLM、GASim、TopoSim、APS，推动了画像、记忆、信念与混合架构。第三条是平台化系统与推荐机制，如 OASIS、GGBond、POSIM、PolicySim，已经开始纳入平台环境和推荐排序，但参数多依赖预设或离线调参。总体来看，研究基础已经比较充分，但「真实传播数据到推荐参数校准再到在线仿真注入」这条链条仍然不完整。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研究空白说得更具体一些。已有系统的常见做法有三种：要么没有显式推荐模块，靠邻居传播、时间线或随机曝光；要么有推荐模块，但用的是兴趣公式、hot-score、人工权重或离线调参；政策优化类工作则更关注干预效果本身。本课题要解决的，是把推荐评分拆解为可解释的维度，用真实传播结果拟合校准参数，再把校准后的参数写入 YAML 去驱动在线 Feed 排序。核心就是这一句：从主观预设，走向数据校准。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第三部分，研究目标与创新点。总目标是设计并实现一个融合推荐机制校准的 MOSS 社交仿真平台，形成从真实数据到在线推演的可复现闭环。这个闭环包含四个环节：一是画像生成，从 user 和 post 数据生成稳定画像、行为画像和 Agent 运行画像；二是参数校准，拟合真实传播结果，校准推荐权重、时间衰减与层级影响参数；三是在线仿真，通过 Backend 与 Agent 双进程运行发帖、评论、点赞、转发等行为；四是闭环验证，用传播曲线、态度演化、互动分布和消融实验来评估有效性。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在目标之上，本课题有三个递进的创新点。创新一是推荐系统参数校准方法：把推荐抽象为兴趣匹配、内容热度、时间衰减、随机探索等可解释维度，用规则 ABM 拟合真实传播结果，通过 EM、Optuna、贝叶斯优化来校准权重，让参数由真实传播过程校准，而不是主观假设。创新二是离线校准到在线仿真的全流程闭环：把推荐权重、时间衰减、行为阈值和实验元数据写入统一的 YAML，由在线平台读取驱动推荐服务、Agent 决策与实验记录，实现参数自动流转，提升可复现性与跨领域复用。创新三是大模型与小模型的分层协同架构：高影响力核心用户由大模型驱动承担原创与复杂行为，普通用户由小模型完成低成本互动，在行为保真度、可解释性与运行效率之间取得平衡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进入第四部分，技术路线与方案。这张图是系统的闭环总览：真实数据经过画像生成，进入参数校准环节，由 EM 加 Optuna 完成；校准结果进入在线仿真，驱动 Feed 排序与 Agent 决策；最后通过 DTW、Pearson、MAE 以及消融实验做验证反馈，再回流到校准。整个系统由一个单一配置中枢 calibration_profile.yaml 串联，它把离线校准与在线推荐服务连接起来。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下面分别介绍三个核心模块。第一个是用户画像生成。输入是 user 和 post 原始数据，包括发帖、互动、活跃时段、粉丝数，以及帖子与账号的影响力指标，还会筛选高质量证据帖。处理上采用五阶段 LLM 流水线：证据抽取、稳定画像、行为画像、Agent 画像压缩，最后是模拟初始状态。为了控制成本，我们按影响力分层：L4 到 L5 的高影响力用户走完整流水线，L1 到 L3 的用户采用 simple profile mode 与行为库。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第二个模块是 ABM 推荐参数校准，这也是本课题的方法核心。推荐的可见概率由四类分数加权得到：w_i 兴趣匹配、w_pop 内容热度、w_time 时间衰减、w_rand 随机探索。校准用的是 EMCalibrationEngine：E 步搜索每条内容的 p_base，M 步在 Dirichlet 约束下联合搜索推荐权重和 decay_lambda。最终输出就是 calibration_profile.yaml，可以供在线的 SocialRecSys.configure 直接注入。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第三个模块是在线模拟与验证。上面这张图是在线社交网络的系统架构。运行时由 main.py 启动 Backend 与 Agent 双进程：Backend 负责 Feed 推荐、内容管理、时间控制与持久化，Agent 通过决策循环执行发帖、评论、点赞、转发。验证方面，我们用功能完整性、参数一致性（DTW 与 Pearson）、MAE 与 MRE、随机种子方差以及参数消融等多个指标。验证的重点是确认：校准后的参数是否真的提升了传播曲线、态度演化与互动行为分布的拟合程度。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这张图展示平台的数据流转时序：离线与在线通过单一配置中枢 calibration_profile.yaml 实现单向贯通，而非误差反馈循环。离线阶段从原始用户与帖子数据出发，经五阶段画像生成流水线产出 portraits 目录下的画像 JSON；ABM 参数校准（EM 与 Optuna）以真实传播观测数据（repost / view 比率）为拟合目标，反推得到四维推荐权重、衰减系数与阈值等校准产物，统一写入配置中枢。在线阶段从配置中枢读取参数，注入 SocialRecSys 的 Feed 排序；画像 JSON 则经 agents.csv 填充为 Agent 人格模板——两条接口并行汇入在线阶段，驱动 Agent 模拟运行，结果归档到 runs 目录用于指标评估与消融实验。需要强调的是，离线校准是一次性过程，其误差信号来自真实历史观测而非在线模拟结果；在线运行产物只落到 runs 归档，是流程终点，不回流到离线重新校准。若需迭代，由人工修改原始数据后重跑离线流水线触发，并非在线误差自动驱动。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这张图给出 MOSS 平台的系统总体架构，采用四层分层设计。最上面是表示层，由 React 前端单页应用承担交互。第二层是应用层，也就是 Backend FastAPI 服务，包含 REST 路由、SocialRecSys 推荐服务、时间与内容管理，以及 SentenceTransformer 嵌入。第三层是 Agent 层，由 AgentGraph 调度、决策循环加记忆系统、以及 LangChain 大小模型分层驱动构成。最下面是数据与配置层，包括 SQLite 加 sqlite-vec 的向量存储、作为配置中枢的 calibration_profile.yaml，以及 runs 运行归档。旁边的离线分析模块产出画像与校准配置，驱动在线运行。整体上各层解耦，离线产物通过配置驱动在线，职责清晰、易于扩展。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第五部分是可行性分析，四个方面都有基础。理论上，HiSim、FDE-LLM、OASIS 等研究已经证明混合仿真与平台化系统可行。方法上，EM、Optuna、贝叶斯优化与相关的奖励建模研究都可以迁移到推荐参数估计。数据与画像方面，用户画像生成和分层建模已有 Two-stage Profiling、TWICE 等研究支撑。工程上，FastAPI、SQLite、向量检索与 LangChain 等工具链足以支撑整个系统的实现。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最后是进度安排，从 2026 年 6 月到 12 月，分六个阶段。6 到 7 月做需求分析与总体方案；7 到 8 月做数据准备与画像模块；8 到 9 月开展 ABM 参数校准的初步实验；9 到 10 月进行在线模拟系统的开发联调；10 到 11 月做系统实验与结果分析；11 到 12 月完成系统优化、论文撰写与答辩。整个节奏遵循「先闭环、再优化、再实验」，确保论文写作有稳定的系统和实验结果支撑。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最后做个总结。本课题以推荐机制校准为核心，把真实传播数据治理、ABM 参数校准、大小模型分层仿真与多指标验证，连接为一个可复用的社交仿真平台闭环。预期带来三方面贡献：现实参照、机制解释力，以及跨议题的复用能力。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我的汇报到此结束，谢谢各位老师，请批评指正。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96a1abef9cd9fbf3.png"/>
  <Relationship Id="rId4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8d503c85e01ea50d.png"/>
  <Relationship Id="rId4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ed54caa4e61ecf92.png"/>
  <Relationship Id="rId4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5b2683a55bf20506.png"/>
  <Relationship Id="rId4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a5e6b1b87f71ba5d.png"/>
  <Relationship Id="rId4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6d2da7e1d78df9dd.png"/>
  <Relationship Id="rId4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B3A5B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94360" y="899160"/>
            <a:ext cx="11003280" cy="253365"/>
            <a:chOff x="594360" y="899160"/>
            <a:chExt cx="11003280" cy="253365"/>
          </a:xfrm>
        </p:grpSpPr>
        <p:sp>
          <p:nvSpPr>
            <p:cNvPr id="5" name="Line 5"/>
            <p:cNvSpPr/>
            <p:nvPr/>
          </p:nvSpPr>
          <p:spPr>
            <a:xfrm>
              <a:off x="609600" y="1143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94360" y="899160"/>
              <a:ext cx="25759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中国传媒大学 · 学位论文选题报告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91013" y="8991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C8C82"/>
                  </a:solidFill>
                  <a:latin typeface="Cambria"/>
                  <a:ea typeface="SimSun"/>
                  <a:cs typeface="Cambria"/>
                </a:rPr>
                <a:t>2026 · 开题答辩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981200"/>
            <a:ext cx="7045166" cy="2271712"/>
            <a:chOff x="552450" y="1981200"/>
            <a:chExt cx="7045166" cy="2271712"/>
          </a:xfrm>
        </p:grpSpPr>
        <p:sp>
          <p:nvSpPr>
            <p:cNvPr id="9" name="Rectangle 9"/>
            <p:cNvSpPr/>
            <p:nvPr/>
          </p:nvSpPr>
          <p:spPr>
            <a:xfrm>
              <a:off x="609600" y="1981200"/>
              <a:ext cx="609600" cy="47625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2450" y="2333625"/>
              <a:ext cx="5785009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融合推荐机制校准的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2450" y="3057525"/>
              <a:ext cx="7045166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社交仿真平台</a:t>
              </a:r>
              <a:r>
                <a:rPr lang="zh-CN" sz="4500" b="1" dirty="0">
                  <a:solidFill>
                    <a:srgbClr val="C8A24B"/>
                  </a:solidFill>
                  <a:latin typeface="Cambria"/>
                  <a:ea typeface="SimSun"/>
                  <a:cs typeface="Cambria"/>
                </a:rPr>
                <a:t>设计与实现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8645" y="3917632"/>
              <a:ext cx="64227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从真实传播数据校准推荐参数，注入大小模型协同的在线社交仿真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4629150"/>
            <a:ext cx="10972800" cy="1771650"/>
            <a:chOff x="609600" y="4629150"/>
            <a:chExt cx="10972800" cy="1771650"/>
          </a:xfrm>
        </p:grpSpPr>
        <p:sp>
          <p:nvSpPr>
            <p:cNvPr id="14" name="Line 14"/>
            <p:cNvSpPr/>
            <p:nvPr/>
          </p:nvSpPr>
          <p:spPr>
            <a:xfrm>
              <a:off x="609600" y="4629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4953000"/>
              <a:ext cx="1047750" cy="133350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2076450" y="5038725"/>
              <a:ext cx="34685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汇报人 </a:t>
              </a:r>
              <a:r>
                <a:rPr lang="zh-CN" sz="150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张艺鹏</a:t>
              </a:r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学 号 </a:t>
              </a:r>
              <a:r>
                <a:rPr lang="en-US" sz="1500" dirty="0">
                  <a:solidFill>
                    <a:srgbClr val="2B2B2B"/>
                  </a:solidFill>
                  <a:latin typeface="Arial"/>
                  <a:ea typeface="Arial"/>
                  <a:cs typeface="Arial"/>
                </a:rPr>
                <a:t>202520085411016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76450" y="5419725"/>
              <a:ext cx="41586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责任导师 </a:t>
              </a:r>
              <a:r>
                <a:rPr lang="zh-CN" sz="150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黄浩程</a:t>
              </a:r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研究方向 </a:t>
              </a:r>
              <a:r>
                <a:rPr lang="zh-CN" sz="150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数据智能技术与应用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76450" y="5800725"/>
              <a:ext cx="36985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培养单位 </a:t>
              </a:r>
              <a:r>
                <a:rPr lang="zh-CN" sz="150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媒体融合与传播国家重点实验室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80260" y="6156960"/>
              <a:ext cx="9345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2026 年 6 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48728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 xml:space="preserve">目录 </a:t>
              </a:r>
              <a:r>
                <a:rPr lang="en-US" sz="1050" b="1" dirty="0">
                  <a:solidFill>
                    <a:srgbClr val="8C8C82"/>
                  </a:solidFill>
                  <a:latin typeface="Arial"/>
                  <a:ea typeface="Arial"/>
                  <a:cs typeface="Arial"/>
                </a:rPr>
                <a:t>CONTENTS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495300" y="1695450"/>
            <a:ext cx="4210050" cy="4495800"/>
            <a:chOff x="495300" y="1695450"/>
            <a:chExt cx="4210050" cy="4495800"/>
          </a:xfrm>
        </p:grpSpPr>
        <p:sp>
          <p:nvSpPr>
            <p:cNvPr id="10" name="TextBox 10"/>
            <p:cNvSpPr txBox="1"/>
            <p:nvPr/>
          </p:nvSpPr>
          <p:spPr>
            <a:xfrm>
              <a:off x="495300" y="1695450"/>
              <a:ext cx="1614773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0" b="1" dirty="0">
                  <a:solidFill>
                    <a:srgbClr val="1B3A5B">
                      <a:alphaMod val="10000"/>
                    </a:srgbClr>
                  </a:solidFill>
                  <a:latin typeface="Cambria"/>
                  <a:ea typeface="Cambria"/>
                  <a:cs typeface="Cambria"/>
                </a:rPr>
                <a:t>06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785" y="2961322"/>
              <a:ext cx="2019872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汇报结构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" y="354330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0550" y="3838575"/>
              <a:ext cx="1638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围绕一个核心问题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0550" y="412432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分六章逐层展开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" y="4762500"/>
              <a:ext cx="4095750" cy="1428750"/>
            </a:xfrm>
            <a:prstGeom prst="roundRect">
              <a:avLst>
                <a:gd name="adj" fmla="val 2667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" y="4762500"/>
              <a:ext cx="47625" cy="142875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2965" y="50111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核心问题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0108" y="5310664"/>
              <a:ext cx="2947035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如何从真实传播数据</a:t>
              </a:r>
              <a:r>
                <a:rPr lang="zh-CN" sz="1275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校准</a:t>
              </a:r>
              <a:r>
                <a:rPr lang="zh-CN" sz="12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推荐机制参数，</a:t>
              </a:r>
              <a:r>
                <a:rPr lang="zh-CN" sz="12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并注入 LLM Agent 与规则 Agent</a:t>
              </a:r>
              <a:r>
                <a:rPr lang="zh-CN" sz="12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协同运行的社交仿真平台？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305425" y="1471612"/>
            <a:ext cx="6276975" cy="4195763"/>
            <a:chOff x="5305425" y="1471612"/>
            <a:chExt cx="6276975" cy="4195763"/>
          </a:xfrm>
        </p:grpSpPr>
        <p:grpSp>
          <p:nvGrpSpPr>
            <p:cNvPr id="23" name="Group 23"/>
            <p:cNvGrpSpPr/>
            <p:nvPr/>
          </p:nvGrpSpPr>
          <p:grpSpPr>
            <a:xfrm>
              <a:off x="5305425" y="1471612"/>
              <a:ext cx="6276975" cy="481013"/>
              <a:chOff x="5305425" y="1471612"/>
              <a:chExt cx="6276975" cy="481013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5305425" y="147161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01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920740" y="1520190"/>
                <a:ext cx="2314004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选题背景与研究意义</a:t>
                </a:r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5334000" y="194310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5305425" y="2214562"/>
              <a:ext cx="6276975" cy="481013"/>
              <a:chOff x="5305425" y="2214562"/>
              <a:chExt cx="6276975" cy="481013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5305425" y="221456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02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920740" y="2263140"/>
                <a:ext cx="1809941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国内外研究现状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5334000" y="268605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5305425" y="2957512"/>
              <a:ext cx="6276975" cy="481013"/>
              <a:chOff x="5305425" y="2957512"/>
              <a:chExt cx="6276975" cy="481013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5305425" y="295751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03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920740" y="3006090"/>
                <a:ext cx="206197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研究目标与创新点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5334000" y="342900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5305425" y="3700462"/>
              <a:ext cx="6276975" cy="481013"/>
              <a:chOff x="5305425" y="3700462"/>
              <a:chExt cx="6276975" cy="481013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5305425" y="370046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920740" y="3749040"/>
                <a:ext cx="1809941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技术路线与方案</a:t>
                </a:r>
              </a:p>
            </p:txBody>
          </p:sp>
          <p:sp>
            <p:nvSpPr>
              <p:cNvPr id="34" name="Line 34"/>
              <p:cNvSpPr/>
              <p:nvPr/>
            </p:nvSpPr>
            <p:spPr>
              <a:xfrm>
                <a:off x="5334000" y="417195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5305425" y="4443412"/>
              <a:ext cx="6276975" cy="481013"/>
              <a:chOff x="5305425" y="4443412"/>
              <a:chExt cx="6276975" cy="481013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5305425" y="444341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05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920740" y="4491990"/>
                <a:ext cx="130587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可行性分析</a:t>
                </a:r>
              </a:p>
            </p:txBody>
          </p:sp>
          <p:sp>
            <p:nvSpPr>
              <p:cNvPr id="38" name="Line 38"/>
              <p:cNvSpPr/>
              <p:nvPr/>
            </p:nvSpPr>
            <p:spPr>
              <a:xfrm>
                <a:off x="5334000" y="491490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5305425" y="5186362"/>
              <a:ext cx="6276975" cy="481013"/>
              <a:chOff x="5305425" y="5186362"/>
              <a:chExt cx="6276975" cy="481013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5305425" y="518636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06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920740" y="5234940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进度安排</a:t>
                </a:r>
              </a:p>
            </p:txBody>
          </p:sp>
          <p:sp>
            <p:nvSpPr>
              <p:cNvPr id="42" name="Line 42"/>
              <p:cNvSpPr/>
              <p:nvPr/>
            </p:nvSpPr>
            <p:spPr>
              <a:xfrm>
                <a:off x="5334000" y="565785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</p:grpSp>
      <p:grpSp>
        <p:nvGrpSpPr>
          <p:cNvPr id="48" name="Group 48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45" name="Line 45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222237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01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选题背景与研究意义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77215" y="1324928"/>
            <a:ext cx="5999322" cy="949166"/>
            <a:chOff x="577215" y="1324928"/>
            <a:chExt cx="5999322" cy="949166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32492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为什么要做可校准的社交仿真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7716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3408" y="2015014"/>
              <a:ext cx="59831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真实平台的算法黑箱，使仿真成为从「结果描述」走向「机制解释」的必要路径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40092" y="2695575"/>
            <a:ext cx="3604248" cy="2962275"/>
            <a:chOff x="640092" y="2695575"/>
            <a:chExt cx="3604248" cy="2962275"/>
          </a:xfrm>
        </p:grpSpPr>
        <p:grpSp>
          <p:nvGrpSpPr>
            <p:cNvPr id="23" name="Group 23"/>
            <p:cNvGrpSpPr/>
            <p:nvPr/>
          </p:nvGrpSpPr>
          <p:grpSpPr>
            <a:xfrm>
              <a:off x="645319" y="2695575"/>
              <a:ext cx="3278981" cy="790575"/>
              <a:chOff x="645319" y="2695575"/>
              <a:chExt cx="3278981" cy="790575"/>
            </a:xfrm>
          </p:grpSpPr>
          <p:grpSp>
            <p:nvGrpSpPr>
              <p:cNvPr id="19" name="Group 19"/>
              <p:cNvGrpSpPr/>
              <p:nvPr/>
            </p:nvGrpSpPr>
            <p:grpSpPr>
              <a:xfrm>
                <a:off x="645319" y="2778919"/>
                <a:ext cx="214313" cy="214313"/>
                <a:chOff x="645319" y="2778919"/>
                <a:chExt cx="214313" cy="214313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645319" y="2850356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cubicBezTo>
                        <a:pt x="0" y="55446"/>
                        <a:pt x="15992" y="71438"/>
                        <a:pt x="35719" y="71438"/>
                      </a:cubicBez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788194" y="2778919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cubicBezTo>
                        <a:pt x="0" y="55446"/>
                        <a:pt x="15992" y="71438"/>
                        <a:pt x="35719" y="71438"/>
                      </a:cubicBez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788194" y="2921794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cubicBezTo>
                        <a:pt x="0" y="55446"/>
                        <a:pt x="15992" y="71438"/>
                        <a:pt x="35719" y="71438"/>
                      </a:cubicBez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713184" y="2830116"/>
                  <a:ext cx="78581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40481">
                      <a:moveTo>
                        <a:pt x="0" y="40481"/>
                      </a:moveTo>
                      <a:lnTo>
                        <a:pt x="78581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713184" y="2901553"/>
                  <a:ext cx="78581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40481">
                      <a:moveTo>
                        <a:pt x="0" y="0"/>
                      </a:moveTo>
                      <a:lnTo>
                        <a:pt x="78581" y="40481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1009650" y="2695575"/>
                <a:ext cx="192833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公共议题的关键空间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13460" y="3013710"/>
                <a:ext cx="29108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社交媒体已成为公共议题扩散、舆论形成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13460" y="3242310"/>
                <a:ext cx="17907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与平台治理的重要空间。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45319" y="3781425"/>
              <a:ext cx="3118961" cy="790575"/>
              <a:chOff x="645319" y="3781425"/>
              <a:chExt cx="3118961" cy="790575"/>
            </a:xfrm>
          </p:grpSpPr>
          <p:grpSp>
            <p:nvGrpSpPr>
              <p:cNvPr id="26" name="Group 26"/>
              <p:cNvGrpSpPr/>
              <p:nvPr/>
            </p:nvGrpSpPr>
            <p:grpSpPr>
              <a:xfrm>
                <a:off x="645319" y="3900488"/>
                <a:ext cx="214312" cy="142875"/>
                <a:chOff x="645319" y="3900488"/>
                <a:chExt cx="214312" cy="142875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728662" y="3948112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23812"/>
                      </a:move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45319" y="3900488"/>
                  <a:ext cx="214312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142875">
                      <a:moveTo>
                        <a:pt x="214312" y="71438"/>
                      </a:moveTo>
                      <a:cubicBezTo>
                        <a:pt x="185738" y="119062"/>
                        <a:pt x="150019" y="142875"/>
                        <a:pt x="107156" y="142875"/>
                      </a:cubicBezTo>
                      <a:cubicBezTo>
                        <a:pt x="64294" y="142875"/>
                        <a:pt x="28575" y="119062"/>
                        <a:pt x="0" y="71438"/>
                      </a:cubicBezTo>
                      <a:cubicBezTo>
                        <a:pt x="28575" y="23812"/>
                        <a:pt x="64294" y="0"/>
                        <a:pt x="107156" y="0"/>
                      </a:cubicBezTo>
                      <a:cubicBezTo>
                        <a:pt x="150019" y="0"/>
                        <a:pt x="185738" y="23812"/>
                        <a:pt x="214312" y="71438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009650" y="3781425"/>
                <a:ext cx="192833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真实平台的研究壁垒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13460" y="4099560"/>
                <a:ext cx="2750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算法黑箱、曝光日志难获取、对照实验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13460" y="4328160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受伦理与监管限制。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40092" y="4867275"/>
              <a:ext cx="3604248" cy="790575"/>
              <a:chOff x="640092" y="4867275"/>
              <a:chExt cx="3604248" cy="790575"/>
            </a:xfrm>
          </p:grpSpPr>
          <p:grpSp>
            <p:nvGrpSpPr>
              <p:cNvPr id="33" name="Group 33"/>
              <p:cNvGrpSpPr/>
              <p:nvPr/>
            </p:nvGrpSpPr>
            <p:grpSpPr>
              <a:xfrm>
                <a:off x="640092" y="4945392"/>
                <a:ext cx="224766" cy="224766"/>
                <a:chOff x="640092" y="4945392"/>
                <a:chExt cx="224766" cy="224766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640092" y="4945392"/>
                  <a:ext cx="224766" cy="2247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766" h="224766">
                      <a:moveTo>
                        <a:pt x="92440" y="20907"/>
                      </a:moveTo>
                      <a:cubicBezTo>
                        <a:pt x="97512" y="0"/>
                        <a:pt x="127254" y="0"/>
                        <a:pt x="132326" y="20907"/>
                      </a:cubicBezTo>
                      <a:cubicBezTo>
                        <a:pt x="133870" y="27278"/>
                        <a:pt x="138363" y="32528"/>
                        <a:pt x="144419" y="35037"/>
                      </a:cubicBezTo>
                      <a:cubicBezTo>
                        <a:pt x="150474" y="37546"/>
                        <a:pt x="157364" y="37012"/>
                        <a:pt x="162961" y="33599"/>
                      </a:cubicBezTo>
                      <a:cubicBezTo>
                        <a:pt x="181332" y="22408"/>
                        <a:pt x="202371" y="43434"/>
                        <a:pt x="191179" y="61817"/>
                      </a:cubicBezTo>
                      <a:cubicBezTo>
                        <a:pt x="187771" y="67411"/>
                        <a:pt x="187238" y="74296"/>
                        <a:pt x="189744" y="80348"/>
                      </a:cubicBezTo>
                      <a:cubicBezTo>
                        <a:pt x="192250" y="86400"/>
                        <a:pt x="197494" y="90892"/>
                        <a:pt x="203859" y="92440"/>
                      </a:cubicBezTo>
                      <a:cubicBezTo>
                        <a:pt x="224766" y="97512"/>
                        <a:pt x="224766" y="127254"/>
                        <a:pt x="203859" y="132326"/>
                      </a:cubicBezTo>
                      <a:cubicBezTo>
                        <a:pt x="197488" y="133870"/>
                        <a:pt x="192238" y="138363"/>
                        <a:pt x="189729" y="144419"/>
                      </a:cubicBezTo>
                      <a:cubicBezTo>
                        <a:pt x="187220" y="150474"/>
                        <a:pt x="187754" y="157364"/>
                        <a:pt x="191167" y="162961"/>
                      </a:cubicBezTo>
                      <a:cubicBezTo>
                        <a:pt x="202359" y="181332"/>
                        <a:pt x="181332" y="202371"/>
                        <a:pt x="162949" y="191179"/>
                      </a:cubicBezTo>
                      <a:cubicBezTo>
                        <a:pt x="157355" y="187771"/>
                        <a:pt x="150470" y="187238"/>
                        <a:pt x="144418" y="189744"/>
                      </a:cubicBezTo>
                      <a:cubicBezTo>
                        <a:pt x="138366" y="192250"/>
                        <a:pt x="133874" y="197494"/>
                        <a:pt x="132326" y="203859"/>
                      </a:cubicBezTo>
                      <a:cubicBezTo>
                        <a:pt x="127254" y="224766"/>
                        <a:pt x="97512" y="224766"/>
                        <a:pt x="92440" y="203859"/>
                      </a:cubicBezTo>
                      <a:cubicBezTo>
                        <a:pt x="90897" y="197488"/>
                        <a:pt x="86403" y="192238"/>
                        <a:pt x="80348" y="189729"/>
                      </a:cubicBezTo>
                      <a:cubicBezTo>
                        <a:pt x="74292" y="187220"/>
                        <a:pt x="67402" y="187754"/>
                        <a:pt x="61805" y="191167"/>
                      </a:cubicBezTo>
                      <a:cubicBezTo>
                        <a:pt x="43434" y="202359"/>
                        <a:pt x="22396" y="181332"/>
                        <a:pt x="33588" y="162949"/>
                      </a:cubicBezTo>
                      <a:cubicBezTo>
                        <a:pt x="36995" y="157355"/>
                        <a:pt x="37528" y="150470"/>
                        <a:pt x="35022" y="144418"/>
                      </a:cubicBezTo>
                      <a:cubicBezTo>
                        <a:pt x="32516" y="138366"/>
                        <a:pt x="27272" y="133874"/>
                        <a:pt x="20907" y="132326"/>
                      </a:cubicBezTo>
                      <a:cubicBezTo>
                        <a:pt x="0" y="127254"/>
                        <a:pt x="0" y="97512"/>
                        <a:pt x="20907" y="92440"/>
                      </a:cubicBezTo>
                      <a:cubicBezTo>
                        <a:pt x="27278" y="90897"/>
                        <a:pt x="32528" y="86403"/>
                        <a:pt x="35037" y="80348"/>
                      </a:cubicBezTo>
                      <a:cubicBezTo>
                        <a:pt x="37546" y="74292"/>
                        <a:pt x="37012" y="67402"/>
                        <a:pt x="33599" y="61805"/>
                      </a:cubicBezTo>
                      <a:cubicBezTo>
                        <a:pt x="22408" y="43434"/>
                        <a:pt x="43434" y="22396"/>
                        <a:pt x="61817" y="33588"/>
                      </a:cubicBezTo>
                      <a:cubicBezTo>
                        <a:pt x="73723" y="40827"/>
                        <a:pt x="89154" y="34421"/>
                        <a:pt x="92440" y="20907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716756" y="5022056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cubicBezTo>
                        <a:pt x="0" y="55446"/>
                        <a:pt x="15992" y="71438"/>
                        <a:pt x="35719" y="71438"/>
                      </a:cubicBez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1009650" y="4867275"/>
                <a:ext cx="15082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仿真的真正价值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013460" y="5185410"/>
                <a:ext cx="30708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不只是复现宏观现象，而是解释用户行为、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013460" y="5414010"/>
                <a:ext cx="32308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网络结构与平台机制如何共同生成传播结果。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6858000" y="2628900"/>
            <a:ext cx="4724400" cy="3162300"/>
            <a:chOff x="6858000" y="2628900"/>
            <a:chExt cx="4724400" cy="3162300"/>
          </a:xfrm>
        </p:grpSpPr>
        <p:sp>
          <p:nvSpPr>
            <p:cNvPr id="39" name="Rectangle 39"/>
            <p:cNvSpPr/>
            <p:nvPr/>
          </p:nvSpPr>
          <p:spPr>
            <a:xfrm>
              <a:off x="6858000" y="2628900"/>
              <a:ext cx="4724400" cy="3162300"/>
            </a:xfrm>
            <a:prstGeom prst="roundRect">
              <a:avLst>
                <a:gd name="adj" fmla="val 1205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73265" y="2858452"/>
              <a:ext cx="16659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关键转向 · 推荐曝光串联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620000" y="3276600"/>
              <a:ext cx="3200400" cy="533400"/>
            </a:xfrm>
            <a:prstGeom prst="roundRect">
              <a:avLst>
                <a:gd name="adj" fmla="val 7143"/>
              </a:avLst>
            </a:prstGeom>
            <a:solidFill>
              <a:srgbClr val="FAF8F4"/>
            </a:solidFill>
            <a:ln w="9525">
              <a:solidFill>
                <a:srgbClr val="D8D0C2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843838" y="3476625"/>
              <a:ext cx="200026" cy="133350"/>
              <a:chOff x="7843838" y="3476625"/>
              <a:chExt cx="200026" cy="13335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921625" y="352107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843838" y="3476625"/>
                <a:ext cx="200026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33350">
                    <a:moveTo>
                      <a:pt x="200026" y="66675"/>
                    </a:moveTo>
                    <a:cubicBezTo>
                      <a:pt x="173355" y="111125"/>
                      <a:pt x="140018" y="133350"/>
                      <a:pt x="100013" y="133350"/>
                    </a:cubicBezTo>
                    <a:cubicBezTo>
                      <a:pt x="60008" y="133350"/>
                      <a:pt x="26670" y="111125"/>
                      <a:pt x="0" y="66675"/>
                    </a:cubicBezTo>
                    <a:cubicBezTo>
                      <a:pt x="26670" y="22225"/>
                      <a:pt x="60008" y="0"/>
                      <a:pt x="100013" y="0"/>
                    </a:cubicBezTo>
                    <a:cubicBezTo>
                      <a:pt x="140018" y="0"/>
                      <a:pt x="173355" y="22225"/>
                      <a:pt x="200026" y="66675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8212455" y="34547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信息接触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9220200" y="38481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C8A24B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163050" y="39814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C8A24B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620000" y="4076700"/>
              <a:ext cx="3200400" cy="533400"/>
            </a:xfrm>
            <a:prstGeom prst="roundRect">
              <a:avLst>
                <a:gd name="adj" fmla="val 7143"/>
              </a:avLst>
            </a:prstGeom>
            <a:solidFill>
              <a:srgbClr val="FAF8F4"/>
            </a:solidFill>
            <a:ln w="9525">
              <a:solidFill>
                <a:srgbClr val="D8D0C2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843838" y="4243388"/>
              <a:ext cx="200026" cy="200025"/>
              <a:chOff x="7843838" y="4243388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866063" y="424338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843838" y="437673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988301" y="4244832"/>
                <a:ext cx="33425" cy="86122"/>
              </a:xfrm>
              <a:custGeom>
                <a:avLst/>
                <a:gdLst/>
                <a:ahLst/>
                <a:cxnLst/>
                <a:rect l="l" t="t" r="r" b="b"/>
                <a:pathLst>
                  <a:path w="33425" h="86122">
                    <a:moveTo>
                      <a:pt x="0" y="0"/>
                    </a:moveTo>
                    <a:cubicBezTo>
                      <a:pt x="19668" y="5036"/>
                      <a:pt x="33425" y="22758"/>
                      <a:pt x="33425" y="43061"/>
                    </a:cubicBezTo>
                    <a:cubicBezTo>
                      <a:pt x="33425" y="63364"/>
                      <a:pt x="19668" y="81086"/>
                      <a:pt x="0" y="86122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010526" y="4378405"/>
                <a:ext cx="33338" cy="6500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5008">
                    <a:moveTo>
                      <a:pt x="33338" y="65008"/>
                    </a:moveTo>
                    <a:lnTo>
                      <a:pt x="33338" y="42783"/>
                    </a:lnTo>
                    <a:cubicBezTo>
                      <a:pt x="33222" y="22609"/>
                      <a:pt x="19534" y="5043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8212455" y="42548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互动行为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9220200" y="46482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C8A24B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9163050" y="47815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C8A24B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620000" y="4876800"/>
              <a:ext cx="3200400" cy="533400"/>
            </a:xfrm>
            <a:prstGeom prst="roundRect">
              <a:avLst>
                <a:gd name="adj" fmla="val 7143"/>
              </a:avLst>
            </a:prstGeom>
            <a:solidFill>
              <a:srgbClr val="FAF8F4"/>
            </a:solidFill>
            <a:ln w="9525">
              <a:solidFill>
                <a:srgbClr val="D8D0C2"/>
              </a:solidFill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843838" y="5043488"/>
              <a:ext cx="200025" cy="198438"/>
              <a:chOff x="7843838" y="5043488"/>
              <a:chExt cx="200025" cy="198438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888288" y="5232401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877175" y="5065713"/>
                <a:ext cx="133350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1113">
                    <a:moveTo>
                      <a:pt x="0" y="11113"/>
                    </a:moveTo>
                    <a:lnTo>
                      <a:pt x="66675" y="0"/>
                    </a:lnTo>
                    <a:lnTo>
                      <a:pt x="133350" y="11113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943850" y="5043488"/>
                <a:ext cx="9525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8913">
                    <a:moveTo>
                      <a:pt x="0" y="0"/>
                    </a:moveTo>
                    <a:lnTo>
                      <a:pt x="0" y="188913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843838" y="5076825"/>
                <a:ext cx="6667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0013">
                    <a:moveTo>
                      <a:pt x="66675" y="66675"/>
                    </a:moveTo>
                    <a:lnTo>
                      <a:pt x="33338" y="0"/>
                    </a:lnTo>
                    <a:lnTo>
                      <a:pt x="0" y="66675"/>
                    </a:lnTo>
                    <a:cubicBezTo>
                      <a:pt x="0" y="85087"/>
                      <a:pt x="14926" y="100013"/>
                      <a:pt x="33338" y="100013"/>
                    </a:cubicBezTo>
                    <a:cubicBezTo>
                      <a:pt x="51749" y="100013"/>
                      <a:pt x="66675" y="85087"/>
                      <a:pt x="66675" y="66675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977188" y="5076825"/>
                <a:ext cx="6667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0013">
                    <a:moveTo>
                      <a:pt x="66675" y="66675"/>
                    </a:moveTo>
                    <a:lnTo>
                      <a:pt x="33338" y="0"/>
                    </a:lnTo>
                    <a:lnTo>
                      <a:pt x="0" y="66675"/>
                    </a:lnTo>
                    <a:cubicBezTo>
                      <a:pt x="0" y="85087"/>
                      <a:pt x="14926" y="100013"/>
                      <a:pt x="33338" y="100013"/>
                    </a:cubicBezTo>
                    <a:cubicBezTo>
                      <a:pt x="51749" y="100013"/>
                      <a:pt x="66675" y="85087"/>
                      <a:pt x="66675" y="66675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8212455" y="50549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立场变化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66" name="Line 66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222237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01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选题背景与研究意义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5420439" cy="518160"/>
            <a:chOff x="577215" y="1210628"/>
            <a:chExt cx="5420439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542043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研究意义：推荐机制成为内生变量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609600" y="2019300"/>
            <a:ext cx="10972800" cy="2743200"/>
            <a:chOff x="609600" y="2019300"/>
            <a:chExt cx="10972800" cy="2743200"/>
          </a:xfrm>
        </p:grpSpPr>
        <p:grpSp>
          <p:nvGrpSpPr>
            <p:cNvPr id="23" name="Group 23"/>
            <p:cNvGrpSpPr/>
            <p:nvPr/>
          </p:nvGrpSpPr>
          <p:grpSpPr>
            <a:xfrm>
              <a:off x="609600" y="2019300"/>
              <a:ext cx="3448050" cy="2743200"/>
              <a:chOff x="609600" y="2019300"/>
              <a:chExt cx="3448050" cy="27432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09600" y="2019300"/>
                <a:ext cx="3448050" cy="2743200"/>
              </a:xfrm>
              <a:prstGeom prst="roundRect">
                <a:avLst>
                  <a:gd name="adj" fmla="val 1389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09600" y="2019300"/>
                <a:ext cx="3448050" cy="5715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919162" y="2405062"/>
                <a:ext cx="257175" cy="252413"/>
                <a:chOff x="919162" y="2405062"/>
                <a:chExt cx="257175" cy="252413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976312" y="2647950"/>
                  <a:ext cx="142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">
                      <a:moveTo>
                        <a:pt x="0" y="0"/>
                      </a:moveTo>
                      <a:lnTo>
                        <a:pt x="142875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962025" y="2433638"/>
                  <a:ext cx="171450" cy="14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4288">
                      <a:moveTo>
                        <a:pt x="0" y="14288"/>
                      </a:moveTo>
                      <a:lnTo>
                        <a:pt x="85725" y="0"/>
                      </a:lnTo>
                      <a:lnTo>
                        <a:pt x="171450" y="14288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047750" y="2405062"/>
                  <a:ext cx="9525" cy="242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42888">
                      <a:moveTo>
                        <a:pt x="0" y="0"/>
                      </a:moveTo>
                      <a:lnTo>
                        <a:pt x="0" y="242888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919162" y="2447925"/>
                  <a:ext cx="857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128588">
                      <a:moveTo>
                        <a:pt x="85725" y="85725"/>
                      </a:moveTo>
                      <a:lnTo>
                        <a:pt x="42862" y="0"/>
                      </a:lnTo>
                      <a:lnTo>
                        <a:pt x="0" y="85725"/>
                      </a:lnTo>
                      <a:cubicBezTo>
                        <a:pt x="0" y="109397"/>
                        <a:pt x="19190" y="128588"/>
                        <a:pt x="42862" y="128588"/>
                      </a:cubicBezTo>
                      <a:cubicBezTo>
                        <a:pt x="66535" y="128588"/>
                        <a:pt x="85725" y="109397"/>
                        <a:pt x="85725" y="85725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090612" y="2447925"/>
                  <a:ext cx="857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128588">
                      <a:moveTo>
                        <a:pt x="85725" y="85725"/>
                      </a:moveTo>
                      <a:lnTo>
                        <a:pt x="42862" y="0"/>
                      </a:lnTo>
                      <a:lnTo>
                        <a:pt x="0" y="85725"/>
                      </a:lnTo>
                      <a:cubicBezTo>
                        <a:pt x="0" y="109397"/>
                        <a:pt x="19190" y="128588"/>
                        <a:pt x="42862" y="128588"/>
                      </a:cubicBezTo>
                      <a:cubicBezTo>
                        <a:pt x="66535" y="128588"/>
                        <a:pt x="85725" y="109397"/>
                        <a:pt x="85725" y="85725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855345" y="286988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理论意义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61060" y="3299460"/>
                <a:ext cx="1706880" cy="10439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把推荐曝光从平台背景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提升为传播过程中的</a:t>
                </a:r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机制变量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，解释信息扩散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与态度演化的形成链条。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4371975" y="2019300"/>
              <a:ext cx="3448050" cy="2743200"/>
              <a:chOff x="4371975" y="2019300"/>
              <a:chExt cx="3448050" cy="27432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4371975" y="2019300"/>
                <a:ext cx="3448050" cy="2743200"/>
              </a:xfrm>
              <a:prstGeom prst="roundRect">
                <a:avLst>
                  <a:gd name="adj" fmla="val 1389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4371975" y="2019300"/>
                <a:ext cx="3448050" cy="5715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4695825" y="2419350"/>
                <a:ext cx="228600" cy="228600"/>
                <a:chOff x="4695825" y="2419350"/>
                <a:chExt cx="228600" cy="228600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4695825" y="247650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4724400" y="2419350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4724400" y="253365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4781550" y="25622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810125" y="2419350"/>
                  <a:ext cx="952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42875">
                      <a:moveTo>
                        <a:pt x="0" y="0"/>
                      </a:moveTo>
                      <a:lnTo>
                        <a:pt x="0" y="142875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810125" y="2619375"/>
                  <a:ext cx="952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">
                      <a:moveTo>
                        <a:pt x="0" y="0"/>
                      </a:move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867275" y="243363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895850" y="2419350"/>
                  <a:ext cx="9525" cy="14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4288">
                      <a:moveTo>
                        <a:pt x="0" y="0"/>
                      </a:moveTo>
                      <a:lnTo>
                        <a:pt x="0" y="14288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895850" y="2490788"/>
                  <a:ext cx="9525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7162">
                      <a:moveTo>
                        <a:pt x="0" y="0"/>
                      </a:moveTo>
                      <a:lnTo>
                        <a:pt x="0" y="157162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4617720" y="286988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方法意义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623435" y="3299460"/>
                <a:ext cx="1554480" cy="10439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以真实传播结果</a:t>
                </a:r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校准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兴趣匹配、内容热度、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时间衰减与随机探索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等推荐参数。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8134350" y="2019300"/>
              <a:ext cx="3448050" cy="2743200"/>
              <a:chOff x="8134350" y="2019300"/>
              <a:chExt cx="3448050" cy="27432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8134350" y="2019300"/>
                <a:ext cx="3448050" cy="2743200"/>
              </a:xfrm>
              <a:prstGeom prst="roundRect">
                <a:avLst>
                  <a:gd name="adj" fmla="val 1389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8134350" y="2019300"/>
                <a:ext cx="3448050" cy="5715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8443912" y="2419350"/>
                <a:ext cx="257175" cy="228600"/>
                <a:chOff x="8443912" y="2419350"/>
                <a:chExt cx="257175" cy="228600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8443912" y="2419350"/>
                  <a:ext cx="25717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14300">
                      <a:moveTo>
                        <a:pt x="0" y="42862"/>
                      </a:moveTo>
                      <a:cubicBezTo>
                        <a:pt x="0" y="19190"/>
                        <a:pt x="19190" y="0"/>
                        <a:pt x="42862" y="0"/>
                      </a:cubicBezTo>
                      <a:lnTo>
                        <a:pt x="214312" y="0"/>
                      </a:lnTo>
                      <a:cubicBezTo>
                        <a:pt x="237985" y="0"/>
                        <a:pt x="257175" y="19190"/>
                        <a:pt x="257175" y="42862"/>
                      </a:cubicBezTo>
                      <a:lnTo>
                        <a:pt x="257175" y="71438"/>
                      </a:lnTo>
                      <a:cubicBezTo>
                        <a:pt x="257175" y="95110"/>
                        <a:pt x="237985" y="114300"/>
                        <a:pt x="214312" y="114300"/>
                      </a:cubicBezTo>
                      <a:lnTo>
                        <a:pt x="42862" y="114300"/>
                      </a:lnTo>
                      <a:cubicBezTo>
                        <a:pt x="19190" y="114300"/>
                        <a:pt x="0" y="95110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8443912" y="2533650"/>
                  <a:ext cx="25717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14300">
                      <a:moveTo>
                        <a:pt x="0" y="42862"/>
                      </a:moveTo>
                      <a:cubicBezTo>
                        <a:pt x="0" y="19190"/>
                        <a:pt x="19190" y="0"/>
                        <a:pt x="42862" y="0"/>
                      </a:cubicBezTo>
                      <a:lnTo>
                        <a:pt x="214312" y="0"/>
                      </a:lnTo>
                      <a:cubicBezTo>
                        <a:pt x="237985" y="0"/>
                        <a:pt x="257175" y="19190"/>
                        <a:pt x="257175" y="42862"/>
                      </a:cubicBezTo>
                      <a:lnTo>
                        <a:pt x="257175" y="71438"/>
                      </a:lnTo>
                      <a:cubicBezTo>
                        <a:pt x="257175" y="95110"/>
                        <a:pt x="237985" y="114300"/>
                        <a:pt x="214312" y="114300"/>
                      </a:cubicBezTo>
                      <a:lnTo>
                        <a:pt x="42862" y="114300"/>
                      </a:lnTo>
                      <a:cubicBezTo>
                        <a:pt x="19190" y="114300"/>
                        <a:pt x="0" y="95110"/>
                        <a:pt x="0" y="71438"/>
                      </a:cubicBezTo>
                      <a:lnTo>
                        <a:pt x="0" y="42862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8501062" y="24765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8501062" y="25908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8380095" y="286988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工程意义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385810" y="3299460"/>
                <a:ext cx="1600200" cy="10439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形成「数据治理 — 参数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校准 — 配置注入 — 在线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仿真 — 结果归档」的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平台</a:t>
                </a:r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闭环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。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609600" y="5143500"/>
            <a:ext cx="10972800" cy="914400"/>
            <a:chOff x="609600" y="5143500"/>
            <a:chExt cx="10972800" cy="914400"/>
          </a:xfrm>
        </p:grpSpPr>
        <p:sp>
          <p:nvSpPr>
            <p:cNvPr id="50" name="Rectangle 50"/>
            <p:cNvSpPr/>
            <p:nvPr/>
          </p:nvSpPr>
          <p:spPr>
            <a:xfrm>
              <a:off x="609600" y="5143500"/>
              <a:ext cx="10972800" cy="914400"/>
            </a:xfrm>
            <a:prstGeom prst="roundRect">
              <a:avLst>
                <a:gd name="adj" fmla="val 4167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9600" y="5143500"/>
              <a:ext cx="57150" cy="9144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39165" y="53921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关键转向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3450" y="5667375"/>
              <a:ext cx="68389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推荐参数不再由研究者主观设定，而是</a:t>
              </a:r>
              <a:r>
                <a:rPr lang="zh-CN" sz="150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由真实传播数据校准</a:t>
              </a:r>
              <a:r>
                <a:rPr lang="zh-CN" sz="15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后进入在线仿真。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55" name="Line 55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02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国内外研究现状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2207038" cy="518160"/>
            <a:chOff x="577215" y="1210628"/>
            <a:chExt cx="2207038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三条相关脉络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609600" y="1962150"/>
            <a:ext cx="10972800" cy="3009900"/>
            <a:chOff x="609600" y="1962150"/>
            <a:chExt cx="10972800" cy="3009900"/>
          </a:xfrm>
        </p:grpSpPr>
        <p:grpSp>
          <p:nvGrpSpPr>
            <p:cNvPr id="25" name="Group 25"/>
            <p:cNvGrpSpPr/>
            <p:nvPr/>
          </p:nvGrpSpPr>
          <p:grpSpPr>
            <a:xfrm>
              <a:off x="609600" y="1962150"/>
              <a:ext cx="3448050" cy="3009900"/>
              <a:chOff x="609600" y="1962150"/>
              <a:chExt cx="3448050" cy="30099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09600" y="1962150"/>
                <a:ext cx="3448050" cy="3009900"/>
              </a:xfrm>
              <a:prstGeom prst="roundRect">
                <a:avLst>
                  <a:gd name="adj" fmla="val 1266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09600" y="1962150"/>
                <a:ext cx="3448050" cy="609600"/>
              </a:xfrm>
              <a:prstGeom prst="roundRect">
                <a:avLst>
                  <a:gd name="adj" fmla="val 6250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609600" y="2381250"/>
                <a:ext cx="3448050" cy="1905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876300" y="2152650"/>
                <a:ext cx="228600" cy="228599"/>
                <a:chOff x="876300" y="2152650"/>
                <a:chExt cx="228600" cy="228599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876300" y="2152650"/>
                  <a:ext cx="127000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228599">
                      <a:moveTo>
                        <a:pt x="0" y="203199"/>
                      </a:moveTo>
                      <a:cubicBezTo>
                        <a:pt x="0" y="217227"/>
                        <a:pt x="11372" y="228599"/>
                        <a:pt x="25400" y="228599"/>
                      </a:cubicBezTo>
                      <a:cubicBezTo>
                        <a:pt x="50800" y="228599"/>
                        <a:pt x="50800" y="177800"/>
                        <a:pt x="63500" y="114300"/>
                      </a:cubicBezTo>
                      <a:cubicBezTo>
                        <a:pt x="76200" y="50800"/>
                        <a:pt x="76200" y="0"/>
                        <a:pt x="101600" y="0"/>
                      </a:cubicBezTo>
                      <a:cubicBezTo>
                        <a:pt x="115628" y="0"/>
                        <a:pt x="127000" y="11372"/>
                        <a:pt x="127000" y="25400"/>
                      </a:cubicBezTo>
                    </a:path>
                  </a:pathLst>
                </a:custGeom>
                <a:noFill/>
                <a:ln w="19050">
                  <a:solidFill>
                    <a:srgbClr val="FAF8F4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901700" y="2266950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FAF8F4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028700" y="22669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0"/>
                      </a:moveTo>
                      <a:lnTo>
                        <a:pt x="76200" y="76200"/>
                      </a:lnTo>
                    </a:path>
                  </a:pathLst>
                </a:custGeom>
                <a:noFill/>
                <a:ln w="19050">
                  <a:solidFill>
                    <a:srgbClr val="FAF8F4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028700" y="22669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FAF8F4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1238250" y="2190750"/>
                <a:ext cx="223287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规则 ABM 与传播动力学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61060" y="2842260"/>
                <a:ext cx="2087880" cy="510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Bounded Confidence、SIR、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Hawkes、元胞自动机等模型。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62012" y="3612356"/>
                <a:ext cx="120622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C7A5A"/>
                    </a:solidFill>
                    <a:latin typeface="Arial"/>
                    <a:ea typeface="Microsoft YaHei"/>
                    <a:cs typeface="Arial"/>
                  </a:rPr>
                  <a:t>✓ 成本低、可解释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62012" y="3917156"/>
                <a:ext cx="10287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950"/>
                  </a:lnSpc>
                </a:pPr>
                <a:r>
                  <a:rPr lang="zh-CN" sz="1125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弱在文本生成与</a:t>
                </a:r>
                <a:r>
                  <a:rPr lang="zh-CN" sz="1125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个体行为解释。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4371975" y="1962150"/>
              <a:ext cx="3448050" cy="3009900"/>
              <a:chOff x="4371975" y="1962150"/>
              <a:chExt cx="3448050" cy="30099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371975" y="1962150"/>
                <a:ext cx="3448050" cy="3009900"/>
              </a:xfrm>
              <a:prstGeom prst="roundRect">
                <a:avLst>
                  <a:gd name="adj" fmla="val 1266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4371975" y="1962150"/>
                <a:ext cx="3448050" cy="609600"/>
              </a:xfrm>
              <a:prstGeom prst="roundRect">
                <a:avLst>
                  <a:gd name="adj" fmla="val 6250"/>
                </a:avLst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4371975" y="2381250"/>
                <a:ext cx="3448050" cy="19050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4664075" y="2139950"/>
                <a:ext cx="177800" cy="241300"/>
                <a:chOff x="4664075" y="2139950"/>
                <a:chExt cx="177800" cy="24130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4676775" y="2165350"/>
                  <a:ext cx="1524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01600">
                      <a:moveTo>
                        <a:pt x="0" y="25400"/>
                      </a:move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27000" y="0"/>
                      </a:lnTo>
                      <a:cubicBezTo>
                        <a:pt x="141028" y="0"/>
                        <a:pt x="152400" y="11372"/>
                        <a:pt x="152400" y="25400"/>
                      </a:cubicBezTo>
                      <a:lnTo>
                        <a:pt x="152400" y="76200"/>
                      </a:lnTo>
                      <a:cubicBezTo>
                        <a:pt x="152400" y="90228"/>
                        <a:pt x="141028" y="101600"/>
                        <a:pt x="127000" y="101600"/>
                      </a:cubicBezTo>
                      <a:lnTo>
                        <a:pt x="25400" y="101600"/>
                      </a:lnTo>
                      <a:cubicBezTo>
                        <a:pt x="11372" y="101600"/>
                        <a:pt x="0" y="90228"/>
                        <a:pt x="0" y="76200"/>
                      </a:cubicBezTo>
                      <a:lnTo>
                        <a:pt x="0" y="254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752975" y="2139950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714875" y="226695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791075" y="226695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664075" y="2292350"/>
                  <a:ext cx="508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25400">
                      <a:moveTo>
                        <a:pt x="0" y="25400"/>
                      </a:moveTo>
                      <a:lnTo>
                        <a:pt x="508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791075" y="2292350"/>
                  <a:ext cx="508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25400">
                      <a:moveTo>
                        <a:pt x="0" y="0"/>
                      </a:moveTo>
                      <a:lnTo>
                        <a:pt x="50800" y="254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714875" y="2343149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4727575" y="22161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4778375" y="22161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5000625" y="2190750"/>
                <a:ext cx="218036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LLM Agent 与混合仿真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623435" y="2842260"/>
                <a:ext cx="2499360" cy="510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Generative Agents、HiSim、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FDE-LLM、GASim、TopoSim、APS。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624388" y="3612356"/>
                <a:ext cx="1578769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950"/>
                  </a:lnSpc>
                </a:pPr>
                <a:r>
                  <a:rPr lang="zh-CN" sz="1125" dirty="0">
                    <a:solidFill>
                      <a:srgbClr val="3C7A5A"/>
                    </a:solidFill>
                    <a:latin typeface="Arial"/>
                    <a:ea typeface="Microsoft YaHei"/>
                    <a:cs typeface="Arial"/>
                  </a:rPr>
                  <a:t>✓ 推动画像、记忆、信念</a:t>
                </a:r>
                <a:r>
                  <a:rPr lang="zh-CN" sz="1125" dirty="0">
                    <a:solidFill>
                      <a:srgbClr val="3C7A5A"/>
                    </a:solidFill>
                    <a:latin typeface="Arial"/>
                    <a:ea typeface="Microsoft YaHei"/>
                    <a:cs typeface="Arial"/>
                  </a:rPr>
                  <a:t>与混合架构。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8134350" y="1962150"/>
              <a:ext cx="3448050" cy="3009900"/>
              <a:chOff x="8134350" y="1962150"/>
              <a:chExt cx="3448050" cy="30099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8134350" y="1962150"/>
                <a:ext cx="3448050" cy="3009900"/>
              </a:xfrm>
              <a:prstGeom prst="roundRect">
                <a:avLst>
                  <a:gd name="adj" fmla="val 1266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8134350" y="1962150"/>
                <a:ext cx="3448050" cy="609600"/>
              </a:xfrm>
              <a:prstGeom prst="roundRect">
                <a:avLst>
                  <a:gd name="adj" fmla="val 6250"/>
                </a:avLst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8134350" y="2381250"/>
                <a:ext cx="3448050" cy="1905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8401050" y="2165350"/>
                <a:ext cx="228599" cy="203200"/>
                <a:chOff x="8401050" y="2165350"/>
                <a:chExt cx="228599" cy="203200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8401050" y="21653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8401050" y="22669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8451850" y="22161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8451850" y="231774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8763000" y="2190750"/>
                <a:ext cx="213836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平台化系统与推荐机制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385810" y="2842260"/>
                <a:ext cx="2270760" cy="510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OASIS、GGBond、POSIM、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PolicySim 纳入平台环境与排序。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386762" y="3612356"/>
                <a:ext cx="1171575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950"/>
                  </a:lnSpc>
                </a:pPr>
                <a:r>
                  <a:rPr lang="zh-CN" sz="1125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参数多依赖预设或</a:t>
                </a:r>
                <a:r>
                  <a:rPr lang="zh-CN" sz="1125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离线调参。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609600" y="5181600"/>
            <a:ext cx="10972800" cy="876300"/>
            <a:chOff x="609600" y="5181600"/>
            <a:chExt cx="10972800" cy="876300"/>
          </a:xfrm>
        </p:grpSpPr>
        <p:sp>
          <p:nvSpPr>
            <p:cNvPr id="56" name="Rectangle 56"/>
            <p:cNvSpPr/>
            <p:nvPr/>
          </p:nvSpPr>
          <p:spPr>
            <a:xfrm>
              <a:off x="609600" y="5181600"/>
              <a:ext cx="10972800" cy="876300"/>
            </a:xfrm>
            <a:prstGeom prst="roundRect">
              <a:avLst>
                <a:gd name="adj" fmla="val 4348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9600" y="5181600"/>
              <a:ext cx="57150" cy="8763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39165" y="54111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研究空白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33450" y="5686425"/>
              <a:ext cx="76990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研究基础充分，但</a:t>
              </a:r>
              <a:r>
                <a:rPr lang="zh-CN" sz="150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「真实传播数据 → 推荐参数校准 → 在线仿真注入」</a:t>
              </a:r>
              <a:r>
                <a:rPr lang="zh-CN" sz="15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的链条仍不完整。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61" name="Line 61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02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国内外研究现状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5420439" cy="518160"/>
            <a:chOff x="577215" y="1210628"/>
            <a:chExt cx="5420439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542043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研究空白：推荐机制缺少实证校准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609600" y="1962150"/>
            <a:ext cx="10972800" cy="3181350"/>
            <a:chOff x="609600" y="1962150"/>
            <a:chExt cx="10972800" cy="3181350"/>
          </a:xfrm>
        </p:grpSpPr>
        <p:grpSp>
          <p:nvGrpSpPr>
            <p:cNvPr id="24" name="Group 24"/>
            <p:cNvGrpSpPr/>
            <p:nvPr/>
          </p:nvGrpSpPr>
          <p:grpSpPr>
            <a:xfrm>
              <a:off x="609600" y="1962150"/>
              <a:ext cx="5334000" cy="3181350"/>
              <a:chOff x="609600" y="1962150"/>
              <a:chExt cx="5334000" cy="31813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09600" y="1962150"/>
                <a:ext cx="5334000" cy="3181350"/>
              </a:xfrm>
              <a:prstGeom prst="roundRect">
                <a:avLst>
                  <a:gd name="adj" fmla="val 1198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12019" y="222646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11906" y="47625"/>
                    </a:moveTo>
                    <a:lnTo>
                      <a:pt x="47625" y="47625"/>
                    </a:lnTo>
                    <a:cubicBezTo>
                      <a:pt x="54201" y="47625"/>
                      <a:pt x="59531" y="42294"/>
                      <a:pt x="59531" y="35719"/>
                    </a:cubicBezTo>
                    <a:lnTo>
                      <a:pt x="59531" y="23812"/>
                    </a:lnTo>
                    <a:cubicBezTo>
                      <a:pt x="59531" y="10661"/>
                      <a:pt x="70192" y="0"/>
                      <a:pt x="83344" y="0"/>
                    </a:cubicBezTo>
                    <a:cubicBezTo>
                      <a:pt x="96495" y="0"/>
                      <a:pt x="107156" y="10661"/>
                      <a:pt x="107156" y="23812"/>
                    </a:cubicBezTo>
                    <a:lnTo>
                      <a:pt x="107156" y="35719"/>
                    </a:lnTo>
                    <a:cubicBezTo>
                      <a:pt x="107156" y="42294"/>
                      <a:pt x="112487" y="47625"/>
                      <a:pt x="119062" y="47625"/>
                    </a:cubicBezTo>
                    <a:lnTo>
                      <a:pt x="154781" y="47625"/>
                    </a:lnTo>
                    <a:cubicBezTo>
                      <a:pt x="161357" y="47625"/>
                      <a:pt x="166688" y="52956"/>
                      <a:pt x="166688" y="59531"/>
                    </a:cubicBezTo>
                    <a:lnTo>
                      <a:pt x="166688" y="95250"/>
                    </a:lnTo>
                    <a:cubicBezTo>
                      <a:pt x="166688" y="101826"/>
                      <a:pt x="172018" y="107156"/>
                      <a:pt x="178594" y="107156"/>
                    </a:cubicBezTo>
                    <a:lnTo>
                      <a:pt x="190500" y="107156"/>
                    </a:lnTo>
                    <a:cubicBezTo>
                      <a:pt x="203651" y="107156"/>
                      <a:pt x="214312" y="117817"/>
                      <a:pt x="214312" y="130969"/>
                    </a:cubicBezTo>
                    <a:cubicBezTo>
                      <a:pt x="214312" y="144120"/>
                      <a:pt x="203651" y="154781"/>
                      <a:pt x="190500" y="154781"/>
                    </a:cubicBezTo>
                    <a:lnTo>
                      <a:pt x="178594" y="154781"/>
                    </a:lnTo>
                    <a:cubicBezTo>
                      <a:pt x="172018" y="154781"/>
                      <a:pt x="166688" y="160112"/>
                      <a:pt x="166688" y="166688"/>
                    </a:cubicBezTo>
                    <a:lnTo>
                      <a:pt x="166688" y="202406"/>
                    </a:lnTo>
                    <a:cubicBezTo>
                      <a:pt x="166688" y="208982"/>
                      <a:pt x="161357" y="214312"/>
                      <a:pt x="154781" y="214312"/>
                    </a:cubicBezTo>
                    <a:lnTo>
                      <a:pt x="119062" y="214312"/>
                    </a:lnTo>
                    <a:cubicBezTo>
                      <a:pt x="112487" y="214312"/>
                      <a:pt x="107156" y="208982"/>
                      <a:pt x="107156" y="202406"/>
                    </a:cubicBezTo>
                    <a:lnTo>
                      <a:pt x="107156" y="190500"/>
                    </a:lnTo>
                    <a:cubicBezTo>
                      <a:pt x="107156" y="177349"/>
                      <a:pt x="96495" y="166688"/>
                      <a:pt x="83344" y="166688"/>
                    </a:cubicBezTo>
                    <a:cubicBezTo>
                      <a:pt x="70192" y="166688"/>
                      <a:pt x="59531" y="177349"/>
                      <a:pt x="59531" y="190500"/>
                    </a:cubicBezTo>
                    <a:lnTo>
                      <a:pt x="59531" y="202406"/>
                    </a:lnTo>
                    <a:cubicBezTo>
                      <a:pt x="59531" y="208982"/>
                      <a:pt x="54201" y="214312"/>
                      <a:pt x="47625" y="214312"/>
                    </a:cubicBezTo>
                    <a:lnTo>
                      <a:pt x="11906" y="214312"/>
                    </a:lnTo>
                    <a:cubicBezTo>
                      <a:pt x="5331" y="214312"/>
                      <a:pt x="0" y="208982"/>
                      <a:pt x="0" y="202406"/>
                    </a:cubicBezTo>
                    <a:lnTo>
                      <a:pt x="0" y="166688"/>
                    </a:lnTo>
                    <a:cubicBezTo>
                      <a:pt x="0" y="160112"/>
                      <a:pt x="5331" y="154781"/>
                      <a:pt x="11906" y="154781"/>
                    </a:cubicBezTo>
                    <a:lnTo>
                      <a:pt x="23812" y="154781"/>
                    </a:lnTo>
                    <a:cubicBezTo>
                      <a:pt x="36964" y="154781"/>
                      <a:pt x="47625" y="144120"/>
                      <a:pt x="47625" y="130969"/>
                    </a:cubicBezTo>
                    <a:cubicBezTo>
                      <a:pt x="47625" y="117817"/>
                      <a:pt x="36964" y="107156"/>
                      <a:pt x="23812" y="107156"/>
                    </a:cubicBezTo>
                    <a:lnTo>
                      <a:pt x="11906" y="107156"/>
                    </a:lnTo>
                    <a:cubicBezTo>
                      <a:pt x="5331" y="107156"/>
                      <a:pt x="0" y="101826"/>
                      <a:pt x="0" y="95250"/>
                    </a:cubicBezTo>
                    <a:lnTo>
                      <a:pt x="0" y="59531"/>
                    </a:lnTo>
                    <a:cubicBezTo>
                      <a:pt x="0" y="52956"/>
                      <a:pt x="5331" y="47625"/>
                      <a:pt x="11906" y="47625"/>
                    </a:cubicBezTo>
                  </a:path>
                </a:pathLst>
              </a:custGeom>
              <a:noFill/>
              <a:ln w="19050">
                <a:solidFill>
                  <a:srgbClr val="B24A38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36345" y="2241232"/>
                <a:ext cx="212117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已有系统的常见做法</a:t>
                </a:r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914400" y="2933700"/>
                <a:ext cx="76200" cy="76200"/>
              </a:xfrm>
              <a:prstGeom prst="ellipse">
                <a:avLst/>
              </a:prstGeom>
              <a:solidFill>
                <a:srgbClr val="5A5A5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89660" y="2899410"/>
                <a:ext cx="27668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无显式推荐模块——邻居传播、时间线或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89660" y="3147060"/>
                <a:ext cx="8305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随机曝光。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914400" y="3695700"/>
                <a:ext cx="76200" cy="76200"/>
              </a:xfrm>
              <a:prstGeom prst="ellipse">
                <a:avLst/>
              </a:prstGeom>
              <a:solidFill>
                <a:srgbClr val="5A5A52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89660" y="3661410"/>
                <a:ext cx="290283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有推荐模块者用兴趣公式、hot-score、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89660" y="3909060"/>
                <a:ext cx="16306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人工权重或离线调参。</a:t>
                </a:r>
              </a:p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914400" y="4457700"/>
                <a:ext cx="76200" cy="76200"/>
              </a:xfrm>
              <a:prstGeom prst="ellipse">
                <a:avLst/>
              </a:prstGeom>
              <a:solidFill>
                <a:srgbClr val="5A5A5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89660" y="442341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政策优化类工作更关注干预效果。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076950" y="3476625"/>
              <a:ext cx="495300" cy="152400"/>
              <a:chOff x="6076950" y="3476625"/>
              <a:chExt cx="495300" cy="152400"/>
            </a:xfrm>
          </p:grpSpPr>
          <p:sp>
            <p:nvSpPr>
              <p:cNvPr id="25" name="Line 25"/>
              <p:cNvSpPr/>
              <p:nvPr/>
            </p:nvSpPr>
            <p:spPr>
              <a:xfrm>
                <a:off x="6076950" y="3552825"/>
                <a:ext cx="47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9525">
                    <a:moveTo>
                      <a:pt x="0" y="0"/>
                    </a:moveTo>
                    <a:lnTo>
                      <a:pt x="476250" y="0"/>
                    </a:lnTo>
                  </a:path>
                </a:pathLst>
              </a:custGeom>
              <a:noFill/>
              <a:ln w="28575">
                <a:solidFill>
                  <a:srgbClr val="C8A24B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477000" y="3476625"/>
                <a:ext cx="952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52400">
                    <a:moveTo>
                      <a:pt x="0" y="0"/>
                    </a:moveTo>
                    <a:lnTo>
                      <a:pt x="95250" y="76200"/>
                    </a:lnTo>
                    <a:lnTo>
                      <a:pt x="0" y="152400"/>
                    </a:lnTo>
                  </a:path>
                </a:pathLst>
              </a:custGeom>
              <a:noFill/>
              <a:ln w="28575">
                <a:solidFill>
                  <a:srgbClr val="C8A24B"/>
                </a:solidFill>
              </a:ln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6686550" y="1962150"/>
              <a:ext cx="4895850" cy="3181350"/>
              <a:chOff x="6686550" y="1962150"/>
              <a:chExt cx="4895850" cy="31813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686550" y="1962150"/>
                <a:ext cx="4895850" cy="3181350"/>
              </a:xfrm>
              <a:prstGeom prst="roundRect">
                <a:avLst>
                  <a:gd name="adj" fmla="val 1198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6686550" y="1962150"/>
                <a:ext cx="57150" cy="318135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6988969" y="2226469"/>
                <a:ext cx="214312" cy="214312"/>
                <a:chOff x="6988969" y="2226469"/>
                <a:chExt cx="214312" cy="214312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084219" y="2321719"/>
                  <a:ext cx="23812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23812">
                      <a:moveTo>
                        <a:pt x="0" y="11906"/>
                      </a:moveTo>
                      <a:cubicBezTo>
                        <a:pt x="0" y="18482"/>
                        <a:pt x="5331" y="23812"/>
                        <a:pt x="11906" y="23812"/>
                      </a:cubicBezTo>
                      <a:cubicBezTo>
                        <a:pt x="18482" y="23812"/>
                        <a:pt x="23812" y="18482"/>
                        <a:pt x="23812" y="11906"/>
                      </a:cubicBezTo>
                      <a:cubicBezTo>
                        <a:pt x="23812" y="5331"/>
                        <a:pt x="18482" y="0"/>
                        <a:pt x="11906" y="0"/>
                      </a:cubicBezTo>
                      <a:cubicBezTo>
                        <a:pt x="5331" y="0"/>
                        <a:pt x="0" y="5331"/>
                        <a:pt x="0" y="11906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7036594" y="2274094"/>
                  <a:ext cx="119062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119062">
                      <a:moveTo>
                        <a:pt x="0" y="59531"/>
                      </a:moveTo>
                      <a:cubicBezTo>
                        <a:pt x="0" y="92409"/>
                        <a:pt x="26653" y="119062"/>
                        <a:pt x="59531" y="119062"/>
                      </a:cubicBezTo>
                      <a:cubicBezTo>
                        <a:pt x="92409" y="119062"/>
                        <a:pt x="119062" y="92409"/>
                        <a:pt x="119062" y="59531"/>
                      </a:cubicBezTo>
                      <a:cubicBezTo>
                        <a:pt x="119062" y="26653"/>
                        <a:pt x="92409" y="0"/>
                        <a:pt x="59531" y="0"/>
                      </a:cubicBezTo>
                      <a:cubicBezTo>
                        <a:pt x="26653" y="0"/>
                        <a:pt x="0" y="26653"/>
                        <a:pt x="0" y="59531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6988969" y="222646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107156"/>
                      </a:moveTo>
                      <a:cubicBezTo>
                        <a:pt x="0" y="166337"/>
                        <a:pt x="47975" y="214312"/>
                        <a:pt x="107156" y="214312"/>
                      </a:cubicBezTo>
                      <a:cubicBezTo>
                        <a:pt x="166337" y="214312"/>
                        <a:pt x="214312" y="166337"/>
                        <a:pt x="214312" y="107156"/>
                      </a:cubicBezTo>
                      <a:cubicBezTo>
                        <a:pt x="214312" y="47975"/>
                        <a:pt x="166337" y="0"/>
                        <a:pt x="107156" y="0"/>
                      </a:cubicBezTo>
                      <a:cubicBezTo>
                        <a:pt x="47975" y="0"/>
                        <a:pt x="0" y="47975"/>
                        <a:pt x="0" y="107156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7313295" y="2241232"/>
                <a:ext cx="142808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本课题拟解决</a:t>
                </a:r>
              </a:p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010400" y="2933700"/>
                <a:ext cx="76200" cy="762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185660" y="2899410"/>
                <a:ext cx="22707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将推荐评分拆解为可解释维度。</a:t>
                </a:r>
              </a:p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7010400" y="3505200"/>
                <a:ext cx="76200" cy="762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185660" y="3470910"/>
                <a:ext cx="22707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用真实传播结果</a:t>
                </a:r>
                <a:r>
                  <a:rPr lang="zh-CN" sz="120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拟合校准</a:t>
                </a:r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参数。</a:t>
                </a:r>
              </a:p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010400" y="4076700"/>
                <a:ext cx="76200" cy="762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185660" y="4042410"/>
                <a:ext cx="21107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把校准参数写入 YAML 并驱动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185660" y="4290060"/>
                <a:ext cx="127863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在线 Feed 排序。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609600" y="5410200"/>
            <a:ext cx="10972800" cy="647700"/>
            <a:chOff x="609600" y="5410200"/>
            <a:chExt cx="10972800" cy="647700"/>
          </a:xfrm>
        </p:grpSpPr>
        <p:sp>
          <p:nvSpPr>
            <p:cNvPr id="44" name="Rectangle 44"/>
            <p:cNvSpPr/>
            <p:nvPr/>
          </p:nvSpPr>
          <p:spPr>
            <a:xfrm>
              <a:off x="609600" y="5410200"/>
              <a:ext cx="10972800" cy="647700"/>
            </a:xfrm>
            <a:prstGeom prst="roundRect">
              <a:avLst>
                <a:gd name="adj" fmla="val 5882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9600" y="5410200"/>
              <a:ext cx="57150" cy="6477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31545" y="5632132"/>
              <a:ext cx="261788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从主观预设 </a:t>
              </a:r>
              <a:r>
                <a:rPr lang="en-US" sz="1650" b="1" dirty="0">
                  <a:solidFill>
                    <a:srgbClr val="C8A24B"/>
                  </a:solidFill>
                  <a:latin typeface="Arial"/>
                  <a:ea typeface="Arial"/>
                  <a:cs typeface="Arial"/>
                </a:rPr>
                <a:t>→</a:t>
              </a:r>
              <a:r>
                <a:rPr lang="zh-CN" sz="16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 数据校准。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48" name="Line 48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20123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03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研究目标与创新点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4349306" cy="518160"/>
            <a:chOff x="577215" y="1210628"/>
            <a:chExt cx="4349306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434930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目标：形成可复现实验闭环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962150"/>
            <a:ext cx="10972800" cy="685800"/>
            <a:chOff x="609600" y="1962150"/>
            <a:chExt cx="10972800" cy="685800"/>
          </a:xfrm>
        </p:grpSpPr>
        <p:sp>
          <p:nvSpPr>
            <p:cNvPr id="13" name="Rectangle 13"/>
            <p:cNvSpPr/>
            <p:nvPr/>
          </p:nvSpPr>
          <p:spPr>
            <a:xfrm>
              <a:off x="609600" y="1962150"/>
              <a:ext cx="10972800" cy="685800"/>
            </a:xfrm>
            <a:prstGeom prst="roundRect">
              <a:avLst>
                <a:gd name="adj" fmla="val 5556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9600" y="1962150"/>
              <a:ext cx="57150" cy="6858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4402" y="2246471"/>
              <a:ext cx="938536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总目标：设计并实现一个</a:t>
              </a:r>
              <a:r>
                <a:rPr lang="zh-CN" sz="1425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融合推荐机制校准的 MOSS 社交仿真平台</a:t>
              </a:r>
              <a:r>
                <a:rPr lang="zh-CN" sz="14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，形成从真实数据到在线推演的可复现闭环。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2552700" y="2914650"/>
            <a:ext cx="7086600" cy="3086100"/>
            <a:chOff x="2552700" y="2914650"/>
            <a:chExt cx="7086600" cy="3086100"/>
          </a:xfrm>
        </p:grpSpPr>
        <p:sp>
          <p:nvSpPr>
            <p:cNvPr id="17" name="Ellipse 17"/>
            <p:cNvSpPr/>
            <p:nvPr/>
          </p:nvSpPr>
          <p:spPr>
            <a:xfrm>
              <a:off x="5505450" y="3867150"/>
              <a:ext cx="1181100" cy="1181100"/>
            </a:xfrm>
            <a:prstGeom prst="ellipse">
              <a:avLst/>
            </a:prstGeom>
            <a:solidFill>
              <a:srgbClr val="1B3A5B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943600" y="4164600"/>
              <a:ext cx="304800" cy="319500"/>
              <a:chOff x="5943600" y="4164600"/>
              <a:chExt cx="304800" cy="3195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943600" y="4164600"/>
                <a:ext cx="304800" cy="140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40700">
                    <a:moveTo>
                      <a:pt x="304800" y="140700"/>
                    </a:moveTo>
                    <a:cubicBezTo>
                      <a:pt x="295223" y="71787"/>
                      <a:pt x="240713" y="17807"/>
                      <a:pt x="171710" y="8904"/>
                    </a:cubicBezTo>
                    <a:cubicBezTo>
                      <a:pt x="102708" y="0"/>
                      <a:pt x="36281" y="38375"/>
                      <a:pt x="9525" y="102600"/>
                    </a:cubicBezTo>
                    <a:moveTo>
                      <a:pt x="0" y="26400"/>
                    </a:moveTo>
                    <a:lnTo>
                      <a:pt x="0" y="102600"/>
                    </a:lnTo>
                    <a:lnTo>
                      <a:pt x="76200" y="102600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943600" y="4343400"/>
                <a:ext cx="304800" cy="140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40700">
                    <a:moveTo>
                      <a:pt x="0" y="0"/>
                    </a:moveTo>
                    <a:cubicBezTo>
                      <a:pt x="9577" y="68913"/>
                      <a:pt x="64087" y="122893"/>
                      <a:pt x="133090" y="131796"/>
                    </a:cubicBezTo>
                    <a:cubicBezTo>
                      <a:pt x="202092" y="140700"/>
                      <a:pt x="268519" y="102325"/>
                      <a:pt x="295275" y="38100"/>
                    </a:cubicBezTo>
                    <a:moveTo>
                      <a:pt x="304800" y="114300"/>
                    </a:moveTo>
                    <a:lnTo>
                      <a:pt x="304800" y="38100"/>
                    </a:lnTo>
                    <a:lnTo>
                      <a:pt x="228600" y="38100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5660708" y="47282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可复现闭环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096000" y="3429000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0" y="0"/>
                  </a:moveTo>
                  <a:cubicBezTo>
                    <a:pt x="568135" y="0"/>
                    <a:pt x="1028700" y="460565"/>
                    <a:pt x="1028700" y="1028700"/>
                  </a:cubicBezTo>
                </a:path>
              </a:pathLst>
            </a:custGeom>
            <a:noFill/>
            <a:ln w="19050">
              <a:solidFill>
                <a:srgbClr val="C8A24B"/>
              </a:solidFill>
              <a:prstDash val="dash"/>
            </a:ln>
          </p:spPr>
        </p:sp>
        <p:sp>
          <p:nvSpPr>
            <p:cNvPr id="23" name="Freeform 23"/>
            <p:cNvSpPr/>
            <p:nvPr/>
          </p:nvSpPr>
          <p:spPr>
            <a:xfrm>
              <a:off x="6096000" y="4457700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1028700" y="0"/>
                  </a:moveTo>
                  <a:cubicBezTo>
                    <a:pt x="1028700" y="568135"/>
                    <a:pt x="568135" y="1028700"/>
                    <a:pt x="0" y="1028700"/>
                  </a:cubicBezTo>
                </a:path>
              </a:pathLst>
            </a:custGeom>
            <a:noFill/>
            <a:ln w="19050">
              <a:solidFill>
                <a:srgbClr val="C8A24B"/>
              </a:solidFill>
              <a:prstDash val="dash"/>
            </a:ln>
          </p:spPr>
        </p:sp>
        <p:sp>
          <p:nvSpPr>
            <p:cNvPr id="24" name="Freeform 24"/>
            <p:cNvSpPr/>
            <p:nvPr/>
          </p:nvSpPr>
          <p:spPr>
            <a:xfrm>
              <a:off x="5067300" y="4457700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1028700" y="1028700"/>
                  </a:moveTo>
                  <a:cubicBezTo>
                    <a:pt x="460565" y="1028700"/>
                    <a:pt x="0" y="568135"/>
                    <a:pt x="0" y="0"/>
                  </a:cubicBezTo>
                </a:path>
              </a:pathLst>
            </a:custGeom>
            <a:noFill/>
            <a:ln w="19050">
              <a:solidFill>
                <a:srgbClr val="C8A24B"/>
              </a:solidFill>
              <a:prstDash val="dash"/>
            </a:ln>
          </p:spPr>
        </p:sp>
        <p:sp>
          <p:nvSpPr>
            <p:cNvPr id="25" name="Freeform 25"/>
            <p:cNvSpPr/>
            <p:nvPr/>
          </p:nvSpPr>
          <p:spPr>
            <a:xfrm>
              <a:off x="5067300" y="3429000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0" y="1028700"/>
                  </a:moveTo>
                  <a:cubicBezTo>
                    <a:pt x="0" y="460565"/>
                    <a:pt x="460565" y="0"/>
                    <a:pt x="1028700" y="0"/>
                  </a:cubicBezTo>
                </a:path>
              </a:pathLst>
            </a:custGeom>
            <a:noFill/>
            <a:ln w="19050">
              <a:solidFill>
                <a:srgbClr val="C8A24B"/>
              </a:solidFill>
              <a:prstDash val="dash"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4267200" y="2914650"/>
              <a:ext cx="2114550" cy="609600"/>
              <a:chOff x="4267200" y="2914650"/>
              <a:chExt cx="2114550" cy="609600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5810250" y="2933700"/>
                <a:ext cx="571500" cy="5715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1B3A5B"/>
                </a:solidFill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5981700" y="3105150"/>
                <a:ext cx="228599" cy="228600"/>
                <a:chOff x="5981700" y="3105150"/>
                <a:chExt cx="228599" cy="228600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6007100" y="3105150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50800"/>
                      </a:moveTo>
                      <a:cubicBezTo>
                        <a:pt x="0" y="78856"/>
                        <a:pt x="22744" y="101600"/>
                        <a:pt x="50800" y="101600"/>
                      </a:cubicBezTo>
                      <a:cubicBezTo>
                        <a:pt x="78856" y="101600"/>
                        <a:pt x="101600" y="78856"/>
                        <a:pt x="101600" y="50800"/>
                      </a:cubicBezTo>
                      <a:cubicBezTo>
                        <a:pt x="101600" y="22744"/>
                        <a:pt x="78856" y="0"/>
                        <a:pt x="50800" y="0"/>
                      </a:cubicBezTo>
                      <a:cubicBezTo>
                        <a:pt x="22744" y="0"/>
                        <a:pt x="0" y="22744"/>
                        <a:pt x="0" y="5080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5981700" y="3257550"/>
                  <a:ext cx="1524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76200">
                      <a:moveTo>
                        <a:pt x="0" y="76200"/>
                      </a:moveTo>
                      <a:lnTo>
                        <a:pt x="0" y="50800"/>
                      </a:lnTo>
                      <a:cubicBezTo>
                        <a:pt x="0" y="22744"/>
                        <a:pt x="22744" y="0"/>
                        <a:pt x="50800" y="0"/>
                      </a:cubicBezTo>
                      <a:lnTo>
                        <a:pt x="101600" y="0"/>
                      </a:lnTo>
                      <a:cubicBezTo>
                        <a:pt x="129656" y="0"/>
                        <a:pt x="152400" y="22744"/>
                        <a:pt x="152400" y="50800"/>
                      </a:cubicBezTo>
                      <a:lnTo>
                        <a:pt x="152400" y="7620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146799" y="3106801"/>
                  <a:ext cx="38200" cy="98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00" h="98425">
                      <a:moveTo>
                        <a:pt x="0" y="0"/>
                      </a:moveTo>
                      <a:cubicBezTo>
                        <a:pt x="22478" y="5755"/>
                        <a:pt x="38200" y="26009"/>
                        <a:pt x="38200" y="49212"/>
                      </a:cubicBezTo>
                      <a:cubicBezTo>
                        <a:pt x="38200" y="72415"/>
                        <a:pt x="22478" y="92670"/>
                        <a:pt x="0" y="98425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6172199" y="3259455"/>
                  <a:ext cx="38100" cy="74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74295">
                      <a:moveTo>
                        <a:pt x="38100" y="74295"/>
                      </a:moveTo>
                      <a:lnTo>
                        <a:pt x="38100" y="48895"/>
                      </a:lnTo>
                      <a:cubicBezTo>
                        <a:pt x="37967" y="25839"/>
                        <a:pt x="22324" y="5764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32" name="Rectangle 32"/>
              <p:cNvSpPr/>
              <p:nvPr/>
            </p:nvSpPr>
            <p:spPr>
              <a:xfrm>
                <a:off x="4267200" y="2914650"/>
                <a:ext cx="1638300" cy="6096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403408" y="3024664"/>
                <a:ext cx="89821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① 画像生成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07218" y="3285649"/>
                <a:ext cx="13639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5A52"/>
                    </a:solidFill>
                    <a:latin typeface="Arial"/>
                    <a:ea typeface="Microsoft YaHei"/>
                    <a:cs typeface="Arial"/>
                  </a:rPr>
                  <a:t>稳定 / 行为 / 运行画像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048500" y="4152900"/>
              <a:ext cx="2590800" cy="609600"/>
              <a:chOff x="7048500" y="4152900"/>
              <a:chExt cx="2590800" cy="609600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7048500" y="4171950"/>
                <a:ext cx="571500" cy="5715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C8A24B"/>
                </a:solidFill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7232650" y="4356100"/>
                <a:ext cx="203199" cy="203200"/>
                <a:chOff x="7232650" y="4356100"/>
                <a:chExt cx="203199" cy="203200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7232650" y="44069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7258050" y="4356100"/>
                  <a:ext cx="9525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7258050" y="4457700"/>
                  <a:ext cx="9525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1600">
                      <a:moveTo>
                        <a:pt x="0" y="0"/>
                      </a:moveTo>
                      <a:lnTo>
                        <a:pt x="0" y="1016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7308850" y="44831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7334250" y="4356100"/>
                  <a:ext cx="95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0">
                      <a:moveTo>
                        <a:pt x="0" y="0"/>
                      </a:move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7334250" y="4533899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7385049" y="43688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7410449" y="4356100"/>
                  <a:ext cx="9525" cy="1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">
                      <a:moveTo>
                        <a:pt x="0" y="0"/>
                      </a:moveTo>
                      <a:lnTo>
                        <a:pt x="0" y="127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7410449" y="4419600"/>
                  <a:ext cx="9525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9700">
                      <a:moveTo>
                        <a:pt x="0" y="0"/>
                      </a:moveTo>
                      <a:lnTo>
                        <a:pt x="0" y="1397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47" name="Rectangle 47"/>
              <p:cNvSpPr/>
              <p:nvPr/>
            </p:nvSpPr>
            <p:spPr>
              <a:xfrm>
                <a:off x="7734300" y="4152900"/>
                <a:ext cx="1905000" cy="6096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870508" y="4262914"/>
                <a:ext cx="89821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② 参数校准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874318" y="4523899"/>
                <a:ext cx="13639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5A52"/>
                    </a:solidFill>
                    <a:latin typeface="Arial"/>
                    <a:ea typeface="Microsoft YaHei"/>
                    <a:cs typeface="Arial"/>
                  </a:rPr>
                  <a:t>权重 / 衰减 / 层级影响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5810250" y="5391150"/>
              <a:ext cx="2129719" cy="609600"/>
              <a:chOff x="5810250" y="5391150"/>
              <a:chExt cx="2129719" cy="609600"/>
            </a:xfrm>
          </p:grpSpPr>
          <p:sp>
            <p:nvSpPr>
              <p:cNvPr id="51" name="Ellipse 51"/>
              <p:cNvSpPr/>
              <p:nvPr/>
            </p:nvSpPr>
            <p:spPr>
              <a:xfrm>
                <a:off x="5810250" y="5410200"/>
                <a:ext cx="571500" cy="5715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4A6B8A"/>
                </a:solidFill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5981700" y="5594350"/>
                <a:ext cx="228599" cy="203200"/>
                <a:chOff x="5981700" y="5594350"/>
                <a:chExt cx="228599" cy="203200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5981700" y="55943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5981700" y="56959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6032500" y="56451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6032500" y="574674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57" name="Rectangle 57"/>
              <p:cNvSpPr/>
              <p:nvPr/>
            </p:nvSpPr>
            <p:spPr>
              <a:xfrm>
                <a:off x="6286500" y="5391150"/>
                <a:ext cx="1638300" cy="6096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6422708" y="5501164"/>
                <a:ext cx="89821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③ 在线仿真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426518" y="5762149"/>
                <a:ext cx="151345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5A52"/>
                    </a:solidFill>
                    <a:latin typeface="Arial"/>
                    <a:ea typeface="Microsoft YaHei"/>
                    <a:cs typeface="Arial"/>
                  </a:rPr>
                  <a:t>发帖 / 评论 / 点赞 / 转发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2552700" y="4152900"/>
              <a:ext cx="2590800" cy="609600"/>
              <a:chOff x="2552700" y="4152900"/>
              <a:chExt cx="2590800" cy="609600"/>
            </a:xfrm>
          </p:grpSpPr>
          <p:sp>
            <p:nvSpPr>
              <p:cNvPr id="61" name="Ellipse 61"/>
              <p:cNvSpPr/>
              <p:nvPr/>
            </p:nvSpPr>
            <p:spPr>
              <a:xfrm>
                <a:off x="4572000" y="4171950"/>
                <a:ext cx="571500" cy="5715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3C7A5A"/>
                </a:solidFill>
              </a:ln>
            </p:spPr>
          </p:sp>
          <p:grpSp>
            <p:nvGrpSpPr>
              <p:cNvPr id="66" name="Group 66"/>
              <p:cNvGrpSpPr/>
              <p:nvPr/>
            </p:nvGrpSpPr>
            <p:grpSpPr>
              <a:xfrm>
                <a:off x="4768850" y="4356100"/>
                <a:ext cx="190500" cy="215899"/>
                <a:chOff x="4768850" y="4356100"/>
                <a:chExt cx="190500" cy="215899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4768850" y="4356100"/>
                  <a:ext cx="152400" cy="203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203199">
                      <a:moveTo>
                        <a:pt x="58610" y="203199"/>
                      </a:moveTo>
                      <a:lnTo>
                        <a:pt x="25400" y="203199"/>
                      </a:lnTo>
                      <a:cubicBezTo>
                        <a:pt x="11372" y="203199"/>
                        <a:pt x="0" y="191828"/>
                        <a:pt x="0" y="177800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27000" y="0"/>
                      </a:lnTo>
                      <a:cubicBezTo>
                        <a:pt x="141028" y="0"/>
                        <a:pt x="152400" y="11372"/>
                        <a:pt x="152400" y="25400"/>
                      </a:cubicBezTo>
                      <a:lnTo>
                        <a:pt x="152400" y="12700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4883150" y="4521199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4819650" y="4406900"/>
                  <a:ext cx="50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9525">
                      <a:moveTo>
                        <a:pt x="0" y="0"/>
                      </a:moveTo>
                      <a:lnTo>
                        <a:pt x="50800" y="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4819650" y="4457700"/>
                  <a:ext cx="25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9525">
                      <a:moveTo>
                        <a:pt x="0" y="0"/>
                      </a:moveTo>
                      <a:lnTo>
                        <a:pt x="25400" y="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</p:grpSp>
          <p:sp>
            <p:nvSpPr>
              <p:cNvPr id="67" name="Rectangle 67"/>
              <p:cNvSpPr/>
              <p:nvPr/>
            </p:nvSpPr>
            <p:spPr>
              <a:xfrm>
                <a:off x="2552700" y="4152900"/>
                <a:ext cx="1905000" cy="6096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2688908" y="4262914"/>
                <a:ext cx="89821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④ 闭环验证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2692718" y="4523899"/>
                <a:ext cx="13639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5A52"/>
                    </a:solidFill>
                    <a:latin typeface="Arial"/>
                    <a:ea typeface="Microsoft YaHei"/>
                    <a:cs typeface="Arial"/>
                  </a:rPr>
                  <a:t>传播曲线 / 态度 / 消融</a:t>
                </a: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72" name="Line 7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20123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03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研究目标与创新点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5777484" cy="518160"/>
            <a:chOff x="577215" y="1210628"/>
            <a:chExt cx="5777484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577748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创新点：方法、闭环、架构三重递进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609600" y="1962150"/>
            <a:ext cx="10972800" cy="3886200"/>
            <a:chOff x="609600" y="1962150"/>
            <a:chExt cx="10972800" cy="3886200"/>
          </a:xfrm>
        </p:grpSpPr>
        <p:grpSp>
          <p:nvGrpSpPr>
            <p:cNvPr id="29" name="Group 29"/>
            <p:cNvGrpSpPr/>
            <p:nvPr/>
          </p:nvGrpSpPr>
          <p:grpSpPr>
            <a:xfrm>
              <a:off x="609600" y="1962150"/>
              <a:ext cx="10972800" cy="1219200"/>
              <a:chOff x="609600" y="1962150"/>
              <a:chExt cx="10972800" cy="12192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09600" y="1962150"/>
                <a:ext cx="10972800" cy="1219200"/>
              </a:xfrm>
              <a:prstGeom prst="roundRect">
                <a:avLst>
                  <a:gd name="adj" fmla="val 3125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09600" y="1962150"/>
                <a:ext cx="57150" cy="12192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937260" y="2289810"/>
                <a:ext cx="753561" cy="853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rgbClr val="1B3A5B">
                        <a:alphaMod val="16000"/>
                      </a:srgbClr>
                    </a:solidFill>
                    <a:latin typeface="Cambria"/>
                    <a:ea typeface="Cambria"/>
                    <a:cs typeface="Cambria"/>
                  </a:rPr>
                  <a:t>01</a:t>
                </a:r>
              </a:p>
            </p:txBody>
          </p:sp>
          <p:grpSp>
            <p:nvGrpSpPr>
              <p:cNvPr id="25" name="Group 25"/>
              <p:cNvGrpSpPr/>
              <p:nvPr/>
            </p:nvGrpSpPr>
            <p:grpSpPr>
              <a:xfrm>
                <a:off x="1930400" y="2406650"/>
                <a:ext cx="254001" cy="254001"/>
                <a:chOff x="1930400" y="2406650"/>
                <a:chExt cx="254001" cy="254001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1930400" y="24701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962150" y="2406650"/>
                  <a:ext cx="952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3500">
                      <a:moveTo>
                        <a:pt x="0" y="0"/>
                      </a:moveTo>
                      <a:lnTo>
                        <a:pt x="0" y="6350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962150" y="2533650"/>
                  <a:ext cx="95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0">
                      <a:moveTo>
                        <a:pt x="0" y="0"/>
                      </a:move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2025650" y="256540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2057400" y="2406650"/>
                  <a:ext cx="9525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0">
                      <a:moveTo>
                        <a:pt x="0" y="0"/>
                      </a:moveTo>
                      <a:lnTo>
                        <a:pt x="0" y="15875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2057400" y="2628901"/>
                  <a:ext cx="95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1750">
                      <a:moveTo>
                        <a:pt x="0" y="0"/>
                      </a:moveTo>
                      <a:lnTo>
                        <a:pt x="0" y="3175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2120901" y="24225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2152651" y="2406650"/>
                  <a:ext cx="95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">
                      <a:moveTo>
                        <a:pt x="0" y="0"/>
                      </a:moveTo>
                      <a:lnTo>
                        <a:pt x="0" y="15875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2152651" y="2486025"/>
                  <a:ext cx="9525" cy="17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4625">
                      <a:moveTo>
                        <a:pt x="0" y="0"/>
                      </a:moveTo>
                      <a:lnTo>
                        <a:pt x="0" y="174625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2493645" y="2260282"/>
                <a:ext cx="235219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推荐系统参数校准方法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499360" y="2632710"/>
                <a:ext cx="698334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将推荐抽象为兴趣匹配、内容热度、时间衰减、随机探索等可解释维度，用规则 ABM 拟合真实传播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499360" y="2880360"/>
                <a:ext cx="651129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结果，通过 EM / Optuna / 贝叶斯优化校准权重——</a:t>
                </a:r>
                <a:r>
                  <a:rPr lang="zh-CN" sz="120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参数由真实传播过程校准而非主观假设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。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09600" y="3295650"/>
              <a:ext cx="10972800" cy="1219200"/>
              <a:chOff x="609600" y="3295650"/>
              <a:chExt cx="10972800" cy="12192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609600" y="3295650"/>
                <a:ext cx="10972800" cy="1219200"/>
              </a:xfrm>
              <a:prstGeom prst="roundRect">
                <a:avLst>
                  <a:gd name="adj" fmla="val 3125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609600" y="3295650"/>
                <a:ext cx="57150" cy="121920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37260" y="3623310"/>
                <a:ext cx="753561" cy="853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rgbClr val="C8A24B">
                        <a:alphaMod val="20000"/>
                      </a:srgbClr>
                    </a:solidFill>
                    <a:latin typeface="Cambria"/>
                    <a:ea typeface="Cambria"/>
                    <a:cs typeface="Cambria"/>
                  </a:rPr>
                  <a:t>02</a:t>
                </a:r>
              </a:p>
            </p:txBody>
          </p:sp>
          <p:grpSp>
            <p:nvGrpSpPr>
              <p:cNvPr id="35" name="Group 35"/>
              <p:cNvGrpSpPr/>
              <p:nvPr/>
            </p:nvGrpSpPr>
            <p:grpSpPr>
              <a:xfrm>
                <a:off x="1930400" y="3734025"/>
                <a:ext cx="254001" cy="266250"/>
                <a:chOff x="1930400" y="3734025"/>
                <a:chExt cx="254001" cy="26625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1930400" y="3734025"/>
                  <a:ext cx="254001" cy="11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17250">
                      <a:moveTo>
                        <a:pt x="254001" y="117250"/>
                      </a:moveTo>
                      <a:cubicBezTo>
                        <a:pt x="246020" y="59823"/>
                        <a:pt x="200595" y="14839"/>
                        <a:pt x="143092" y="7420"/>
                      </a:cubicBezTo>
                      <a:cubicBezTo>
                        <a:pt x="85590" y="0"/>
                        <a:pt x="30234" y="31980"/>
                        <a:pt x="7938" y="85500"/>
                      </a:cubicBezTo>
                      <a:moveTo>
                        <a:pt x="0" y="22000"/>
                      </a:moveTo>
                      <a:lnTo>
                        <a:pt x="0" y="85500"/>
                      </a:lnTo>
                      <a:lnTo>
                        <a:pt x="63500" y="855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930400" y="3883025"/>
                  <a:ext cx="254001" cy="11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17250">
                      <a:moveTo>
                        <a:pt x="0" y="0"/>
                      </a:moveTo>
                      <a:cubicBezTo>
                        <a:pt x="7981" y="57427"/>
                        <a:pt x="53406" y="102411"/>
                        <a:pt x="110908" y="109831"/>
                      </a:cubicBezTo>
                      <a:cubicBezTo>
                        <a:pt x="168411" y="117250"/>
                        <a:pt x="223766" y="85271"/>
                        <a:pt x="246063" y="31750"/>
                      </a:cubicBezTo>
                      <a:moveTo>
                        <a:pt x="254001" y="95250"/>
                      </a:moveTo>
                      <a:lnTo>
                        <a:pt x="254001" y="31750"/>
                      </a:lnTo>
                      <a:lnTo>
                        <a:pt x="190500" y="3175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2493645" y="3593782"/>
                <a:ext cx="317235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离线校准—在线仿真全流程闭环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499360" y="3966210"/>
                <a:ext cx="686333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将推荐权重、时间衰减、行为阈值与实验元数据写入统一 YAML，由在线平台读取驱动推荐服务、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499360" y="4213860"/>
                <a:ext cx="531914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Agent 决策与实验记录，实现</a:t>
                </a:r>
                <a:r>
                  <a:rPr lang="zh-CN" sz="120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参数自动流转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，提升可复现性与跨领域复用。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09600" y="4629150"/>
              <a:ext cx="10972800" cy="1219200"/>
              <a:chOff x="609600" y="4629150"/>
              <a:chExt cx="10972800" cy="12192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609600" y="4629150"/>
                <a:ext cx="10972800" cy="1219200"/>
              </a:xfrm>
              <a:prstGeom prst="roundRect">
                <a:avLst>
                  <a:gd name="adj" fmla="val 3125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609600" y="4629150"/>
                <a:ext cx="57150" cy="12192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37260" y="4956810"/>
                <a:ext cx="753561" cy="853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rgbClr val="4A6B8A">
                        <a:alphaMod val="20000"/>
                      </a:srgbClr>
                    </a:solidFill>
                    <a:latin typeface="Cambria"/>
                    <a:ea typeface="Cambria"/>
                    <a:cs typeface="Cambria"/>
                  </a:rPr>
                  <a:t>03</a:t>
                </a:r>
              </a:p>
            </p:txBody>
          </p:sp>
          <p:grpSp>
            <p:nvGrpSpPr>
              <p:cNvPr id="45" name="Group 45"/>
              <p:cNvGrpSpPr/>
              <p:nvPr/>
            </p:nvGrpSpPr>
            <p:grpSpPr>
              <a:xfrm>
                <a:off x="1930400" y="5105400"/>
                <a:ext cx="254001" cy="190500"/>
                <a:chOff x="1930400" y="5105400"/>
                <a:chExt cx="254001" cy="190500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1930400" y="5105400"/>
                  <a:ext cx="254001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27000">
                      <a:moveTo>
                        <a:pt x="127000" y="0"/>
                      </a:moveTo>
                      <a:lnTo>
                        <a:pt x="0" y="63500"/>
                      </a:lnTo>
                      <a:lnTo>
                        <a:pt x="127000" y="127000"/>
                      </a:lnTo>
                      <a:lnTo>
                        <a:pt x="254001" y="63500"/>
                      </a:lnTo>
                      <a:lnTo>
                        <a:pt x="127000" y="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1930400" y="5232400"/>
                  <a:ext cx="254001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63500">
                      <a:moveTo>
                        <a:pt x="0" y="0"/>
                      </a:moveTo>
                      <a:lnTo>
                        <a:pt x="127000" y="63500"/>
                      </a:lnTo>
                      <a:lnTo>
                        <a:pt x="254001" y="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2493645" y="4927282"/>
                <a:ext cx="304528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大模型与小模型分层协同架构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2499360" y="5299710"/>
                <a:ext cx="64312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高影响力核心用户由大模型驱动承担原创与复杂行为，普通用户由小模型完成低成本互动，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2499360" y="5547360"/>
                <a:ext cx="35509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在</a:t>
                </a:r>
                <a:r>
                  <a:rPr lang="zh-CN" sz="120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行为保真度、可解释性与运行效率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间取得平衡。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51" name="Line 51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4027965" cy="518160"/>
            <a:chOff x="577215" y="1210628"/>
            <a:chExt cx="4027965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402796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数据—校准—运行单向贯通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905000"/>
            <a:ext cx="10972800" cy="3674269"/>
            <a:chOff x="609600" y="1905000"/>
            <a:chExt cx="10972800" cy="3674269"/>
          </a:xfrm>
        </p:grpSpPr>
        <p:sp>
          <p:nvSpPr>
            <p:cNvPr id="13" name="Rectangle 13"/>
            <p:cNvSpPr/>
            <p:nvPr/>
          </p:nvSpPr>
          <p:spPr>
            <a:xfrm>
              <a:off x="609600" y="1905000"/>
              <a:ext cx="10972800" cy="3390900"/>
            </a:xfrm>
            <a:prstGeom prst="roundRect">
              <a:avLst>
                <a:gd name="adj" fmla="val 1124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0904" y="2019300"/>
              <a:ext cx="6250193" cy="31623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9134023" y="5381149"/>
              <a:ext cx="23845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1 MOSS 数据—校准—运行单向贯通总览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5410200"/>
            <a:ext cx="10972800" cy="654844"/>
            <a:chOff x="609600" y="5410200"/>
            <a:chExt cx="10972800" cy="654844"/>
          </a:xfrm>
        </p:grpSpPr>
        <p:sp>
          <p:nvSpPr>
            <p:cNvPr id="17" name="Rectangle 17"/>
            <p:cNvSpPr/>
            <p:nvPr/>
          </p:nvSpPr>
          <p:spPr>
            <a:xfrm>
              <a:off x="609600" y="5410200"/>
              <a:ext cx="10972800" cy="647700"/>
            </a:xfrm>
            <a:prstGeom prst="roundRect">
              <a:avLst>
                <a:gd name="adj" fmla="val 5882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9600" y="5410200"/>
              <a:ext cx="57150" cy="6477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165" y="560165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单一配置中枢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6308" y="5805964"/>
              <a:ext cx="78193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C8A24B"/>
                  </a:solidFill>
                  <a:latin typeface="Arial"/>
                  <a:ea typeface="Arial"/>
                  <a:cs typeface="Arial"/>
                </a:rPr>
                <a:t>calibration_profile.yaml</a:t>
              </a:r>
              <a:r>
                <a:rPr lang="zh-CN" sz="1275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 xml:space="preserve"> 是离线到在线的唯一配置接口，单向串联数据 → 画像 → 校准 → 仿真 → 归档。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22" name="Line 2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4349306" cy="518160"/>
            <a:chOff x="577215" y="1210628"/>
            <a:chExt cx="4349306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434930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核心模块一：用户画像生成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595312" y="2033588"/>
            <a:ext cx="4643438" cy="3681412"/>
            <a:chOff x="595312" y="2033588"/>
            <a:chExt cx="4643438" cy="3681412"/>
          </a:xfrm>
        </p:grpSpPr>
        <p:grpSp>
          <p:nvGrpSpPr>
            <p:cNvPr id="16" name="Group 16"/>
            <p:cNvGrpSpPr/>
            <p:nvPr/>
          </p:nvGrpSpPr>
          <p:grpSpPr>
            <a:xfrm>
              <a:off x="654050" y="2033588"/>
              <a:ext cx="177801" cy="200025"/>
              <a:chOff x="654050" y="2033588"/>
              <a:chExt cx="177801" cy="20002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654050" y="2033588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9" y="66675"/>
                      <a:pt x="177801" y="51749"/>
                      <a:pt x="177801" y="33338"/>
                    </a:cubicBezTo>
                    <a:cubicBezTo>
                      <a:pt x="177801" y="14926"/>
                      <a:pt x="137999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54050" y="206692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54050" y="213360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971550" y="20478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输入与特征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5312" y="2431256"/>
              <a:ext cx="32164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user/post 原始数据；发帖、互动、活跃时段、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5312" y="2640806"/>
              <a:ext cx="31789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粉丝数；帖子与账号影响力指标；证据帖筛选。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665163" y="3108325"/>
              <a:ext cx="155575" cy="211138"/>
              <a:chOff x="665163" y="3108325"/>
              <a:chExt cx="155575" cy="21113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76275" y="3130550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66675"/>
                    </a:lnTo>
                    <a:cubicBezTo>
                      <a:pt x="133350" y="78950"/>
                      <a:pt x="123400" y="88900"/>
                      <a:pt x="111125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42950" y="310832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09613" y="32194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76288" y="32194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65163" y="32416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22225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6288" y="32416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0"/>
                    </a:moveTo>
                    <a:lnTo>
                      <a:pt x="44450" y="22225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09613" y="3286126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20725" y="3175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65175" y="3175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971550" y="3133725"/>
              <a:ext cx="18128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五阶段 LLM 流水线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609600" y="3505200"/>
              <a:ext cx="4629150" cy="2209800"/>
              <a:chOff x="609600" y="3505200"/>
              <a:chExt cx="4629150" cy="22098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09600" y="35052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85812" y="36314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A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证据抽取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09600" y="39624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85812" y="40886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B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稳定画像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09600" y="44196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85812" y="45458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C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行为画像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609600" y="48768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85812" y="5003006"/>
                <a:ext cx="121372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D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Agent 画像压缩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609600" y="53340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85812" y="5460206"/>
                <a:ext cx="105620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E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模拟初始状态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5543550" y="2000250"/>
            <a:ext cx="6038850" cy="3426619"/>
            <a:chOff x="5543550" y="2000250"/>
            <a:chExt cx="6038850" cy="3426619"/>
          </a:xfrm>
        </p:grpSpPr>
        <p:sp>
          <p:nvSpPr>
            <p:cNvPr id="43" name="Rectangle 43"/>
            <p:cNvSpPr/>
            <p:nvPr/>
          </p:nvSpPr>
          <p:spPr>
            <a:xfrm>
              <a:off x="5543550" y="2000250"/>
              <a:ext cx="6038850" cy="3143250"/>
            </a:xfrm>
            <a:prstGeom prst="roundRect">
              <a:avLst>
                <a:gd name="adj" fmla="val 1212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47592" y="2114550"/>
              <a:ext cx="5030766" cy="2914650"/>
            </a:xfrm>
            <a:prstGeom prst="rect">
              <a:avLst/>
            </a:prstGeom>
          </p:spPr>
        </p:pic>
        <p:sp>
          <p:nvSpPr>
            <p:cNvPr id="45" name="TextBox 45"/>
            <p:cNvSpPr txBox="1"/>
            <p:nvPr/>
          </p:nvSpPr>
          <p:spPr>
            <a:xfrm>
              <a:off x="9856970" y="522874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2 用户画像生成模块设计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543550" y="5448300"/>
            <a:ext cx="6038850" cy="609600"/>
            <a:chOff x="5543550" y="5448300"/>
            <a:chExt cx="6038850" cy="609600"/>
          </a:xfrm>
        </p:grpSpPr>
        <p:sp>
          <p:nvSpPr>
            <p:cNvPr id="47" name="Rectangle 47"/>
            <p:cNvSpPr/>
            <p:nvPr/>
          </p:nvSpPr>
          <p:spPr>
            <a:xfrm>
              <a:off x="5543550" y="5448300"/>
              <a:ext cx="6038850" cy="609600"/>
            </a:xfrm>
            <a:prstGeom prst="roundRect">
              <a:avLst>
                <a:gd name="adj" fmla="val 6250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543550" y="5448300"/>
              <a:ext cx="57150" cy="6096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816918" y="5609749"/>
              <a:ext cx="14104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成本控制 · 影响力分层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815012" y="5822156"/>
              <a:ext cx="49866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L4-L5 高影响力用完整流水线；L1-L3 用 simple profile mode 与行为库。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52" name="Line 5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134428"/>
            <a:ext cx="5116951" cy="518160"/>
            <a:chOff x="577215" y="1134428"/>
            <a:chExt cx="5116951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134428"/>
              <a:ext cx="511695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核心模块二：ABM 推荐参数校准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5811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09600" y="1809750"/>
            <a:ext cx="10972800" cy="914400"/>
            <a:chOff x="609600" y="1809750"/>
            <a:chExt cx="10972800" cy="914400"/>
          </a:xfrm>
        </p:grpSpPr>
        <p:grpSp>
          <p:nvGrpSpPr>
            <p:cNvPr id="21" name="Group 21"/>
            <p:cNvGrpSpPr/>
            <p:nvPr/>
          </p:nvGrpSpPr>
          <p:grpSpPr>
            <a:xfrm>
              <a:off x="609600" y="1809750"/>
              <a:ext cx="2628900" cy="914400"/>
              <a:chOff x="609600" y="1809750"/>
              <a:chExt cx="2628900" cy="9144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09600" y="1809750"/>
                <a:ext cx="2628900" cy="9144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835819" y="2055019"/>
                <a:ext cx="214313" cy="214313"/>
                <a:chOff x="835819" y="2055019"/>
                <a:chExt cx="214313" cy="214313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859631" y="2055019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47625"/>
                      </a:moveTo>
                      <a:cubicBezTo>
                        <a:pt x="0" y="73928"/>
                        <a:pt x="21322" y="95250"/>
                        <a:pt x="47625" y="95250"/>
                      </a:cubicBezTo>
                      <a:cubicBezTo>
                        <a:pt x="73928" y="95250"/>
                        <a:pt x="95250" y="73928"/>
                        <a:pt x="95250" y="47625"/>
                      </a:cubicBezTo>
                      <a:cubicBezTo>
                        <a:pt x="95250" y="21322"/>
                        <a:pt x="73928" y="0"/>
                        <a:pt x="47625" y="0"/>
                      </a:cubicBezTo>
                      <a:cubicBezTo>
                        <a:pt x="21322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835819" y="2197894"/>
                  <a:ext cx="142875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71438">
                      <a:moveTo>
                        <a:pt x="0" y="71438"/>
                      </a:moveTo>
                      <a:lnTo>
                        <a:pt x="0" y="47625"/>
                      </a:lnTo>
                      <a:cubicBezTo>
                        <a:pt x="0" y="21322"/>
                        <a:pt x="21322" y="0"/>
                        <a:pt x="47625" y="0"/>
                      </a:cubicBezTo>
                      <a:lnTo>
                        <a:pt x="95250" y="0"/>
                      </a:lnTo>
                      <a:cubicBezTo>
                        <a:pt x="121553" y="0"/>
                        <a:pt x="142875" y="21322"/>
                        <a:pt x="142875" y="47625"/>
                      </a:cubicBezTo>
                      <a:lnTo>
                        <a:pt x="142875" y="71438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990600" y="2056567"/>
                  <a:ext cx="35812" cy="922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12" h="92273">
                      <a:moveTo>
                        <a:pt x="0" y="0"/>
                      </a:moveTo>
                      <a:cubicBezTo>
                        <a:pt x="21073" y="5396"/>
                        <a:pt x="35812" y="24384"/>
                        <a:pt x="35812" y="46137"/>
                      </a:cubicBezTo>
                      <a:cubicBezTo>
                        <a:pt x="35812" y="67890"/>
                        <a:pt x="21073" y="86878"/>
                        <a:pt x="0" y="92273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014413" y="2199680"/>
                  <a:ext cx="35719" cy="69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69652">
                      <a:moveTo>
                        <a:pt x="35719" y="69652"/>
                      </a:moveTo>
                      <a:lnTo>
                        <a:pt x="35719" y="45839"/>
                      </a:lnTo>
                      <a:cubicBezTo>
                        <a:pt x="35594" y="24224"/>
                        <a:pt x="20929" y="5403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184910" y="2023110"/>
                <a:ext cx="29931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8A24B"/>
                    </a:solidFill>
                    <a:latin typeface="Consolas"/>
                    <a:ea typeface="Consolas"/>
                    <a:cs typeface="Consolas"/>
                  </a:rPr>
                  <a:t>w_i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84860" y="24041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兴趣匹配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390900" y="1809750"/>
              <a:ext cx="2628900" cy="914400"/>
              <a:chOff x="3390900" y="1809750"/>
              <a:chExt cx="2628900" cy="9144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3390900" y="1809750"/>
                <a:ext cx="2628900" cy="9144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640931" y="2043112"/>
                <a:ext cx="166688" cy="226219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26219">
                    <a:moveTo>
                      <a:pt x="83344" y="106454"/>
                    </a:moveTo>
                    <a:cubicBezTo>
                      <a:pt x="111121" y="67068"/>
                      <a:pt x="85332" y="13311"/>
                      <a:pt x="71438" y="0"/>
                    </a:cubicBezTo>
                    <a:cubicBezTo>
                      <a:pt x="71438" y="40422"/>
                      <a:pt x="44827" y="63091"/>
                      <a:pt x="27777" y="79843"/>
                    </a:cubicBezTo>
                    <a:cubicBezTo>
                      <a:pt x="10751" y="96607"/>
                      <a:pt x="0" y="119062"/>
                      <a:pt x="0" y="146375"/>
                    </a:cubicBezTo>
                    <a:cubicBezTo>
                      <a:pt x="0" y="190476"/>
                      <a:pt x="37314" y="226219"/>
                      <a:pt x="83344" y="226219"/>
                    </a:cubicBezTo>
                    <a:cubicBezTo>
                      <a:pt x="129373" y="226219"/>
                      <a:pt x="166688" y="190476"/>
                      <a:pt x="166688" y="146375"/>
                    </a:cubicBezTo>
                    <a:cubicBezTo>
                      <a:pt x="166688" y="125992"/>
                      <a:pt x="152019" y="93952"/>
                      <a:pt x="138910" y="79843"/>
                    </a:cubicBezTo>
                    <a:cubicBezTo>
                      <a:pt x="114098" y="119765"/>
                      <a:pt x="100132" y="119765"/>
                      <a:pt x="83344" y="106454"/>
                    </a:cubicBezTo>
                  </a:path>
                </a:pathLst>
              </a:custGeom>
              <a:noFill/>
              <a:ln w="19050">
                <a:solidFill>
                  <a:srgbClr val="B24A38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966210" y="2023110"/>
                <a:ext cx="52614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8A24B"/>
                    </a:solidFill>
                    <a:latin typeface="Consolas"/>
                    <a:ea typeface="Consolas"/>
                    <a:cs typeface="Consolas"/>
                  </a:rPr>
                  <a:t>w_pop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566160" y="24041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内容热度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172200" y="1809750"/>
              <a:ext cx="2628900" cy="914400"/>
              <a:chOff x="6172200" y="1809750"/>
              <a:chExt cx="2628900" cy="9144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172200" y="1809750"/>
                <a:ext cx="2628900" cy="9144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6398419" y="2055019"/>
                <a:ext cx="214312" cy="214312"/>
                <a:chOff x="6398419" y="2055019"/>
                <a:chExt cx="214312" cy="214312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6398419" y="205501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107156"/>
                      </a:moveTo>
                      <a:cubicBezTo>
                        <a:pt x="0" y="166337"/>
                        <a:pt x="47975" y="214312"/>
                        <a:pt x="107156" y="214312"/>
                      </a:cubicBezTo>
                      <a:cubicBezTo>
                        <a:pt x="166337" y="214312"/>
                        <a:pt x="214312" y="166337"/>
                        <a:pt x="214312" y="107156"/>
                      </a:cubicBezTo>
                      <a:cubicBezTo>
                        <a:pt x="214312" y="47975"/>
                        <a:pt x="166337" y="0"/>
                        <a:pt x="107156" y="0"/>
                      </a:cubicBezTo>
                      <a:cubicBezTo>
                        <a:pt x="47975" y="0"/>
                        <a:pt x="0" y="47975"/>
                        <a:pt x="0" y="107156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505575" y="2102644"/>
                  <a:ext cx="35719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95250">
                      <a:moveTo>
                        <a:pt x="0" y="0"/>
                      </a:moveTo>
                      <a:lnTo>
                        <a:pt x="0" y="59531"/>
                      </a:lnTo>
                      <a:lnTo>
                        <a:pt x="35719" y="9525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6747510" y="2023110"/>
                <a:ext cx="61015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8A24B"/>
                    </a:solidFill>
                    <a:latin typeface="Consolas"/>
                    <a:ea typeface="Consolas"/>
                    <a:cs typeface="Consolas"/>
                  </a:rPr>
                  <a:t>w_time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347460" y="24041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时间衰减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8953500" y="1809750"/>
              <a:ext cx="2628900" cy="914400"/>
              <a:chOff x="8953500" y="1809750"/>
              <a:chExt cx="2628900" cy="914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8953500" y="1809750"/>
                <a:ext cx="2628900" cy="9144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9179719" y="2055019"/>
                <a:ext cx="214312" cy="214312"/>
                <a:chOff x="9179719" y="2055019"/>
                <a:chExt cx="214312" cy="214312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9179719" y="205501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23812"/>
                      </a:moveTo>
                      <a:cubicBezTo>
                        <a:pt x="0" y="10661"/>
                        <a:pt x="10661" y="0"/>
                        <a:pt x="23812" y="0"/>
                      </a:cubicBezTo>
                      <a:lnTo>
                        <a:pt x="190500" y="0"/>
                      </a:lnTo>
                      <a:cubicBezTo>
                        <a:pt x="203651" y="0"/>
                        <a:pt x="214312" y="10661"/>
                        <a:pt x="214312" y="23812"/>
                      </a:cubicBezTo>
                      <a:lnTo>
                        <a:pt x="214312" y="190500"/>
                      </a:lnTo>
                      <a:cubicBezTo>
                        <a:pt x="214312" y="203651"/>
                        <a:pt x="203651" y="214312"/>
                        <a:pt x="190500" y="214312"/>
                      </a:cubicBezTo>
                      <a:lnTo>
                        <a:pt x="23812" y="214312"/>
                      </a:lnTo>
                      <a:cubicBezTo>
                        <a:pt x="10661" y="214312"/>
                        <a:pt x="0" y="203651"/>
                        <a:pt x="0" y="190500"/>
                      </a:cubicBezTo>
                      <a:lnTo>
                        <a:pt x="0" y="23812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9239250" y="2114550"/>
                  <a:ext cx="11906" cy="11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" h="11906">
                      <a:moveTo>
                        <a:pt x="0" y="5953"/>
                      </a:moveTo>
                      <a:cubicBezTo>
                        <a:pt x="0" y="9241"/>
                        <a:pt x="2665" y="11906"/>
                        <a:pt x="5953" y="11906"/>
                      </a:cubicBezTo>
                      <a:cubicBezTo>
                        <a:pt x="9241" y="11906"/>
                        <a:pt x="11906" y="9241"/>
                        <a:pt x="11906" y="5953"/>
                      </a:cubicBezTo>
                      <a:cubicBezTo>
                        <a:pt x="11906" y="2665"/>
                        <a:pt x="9241" y="0"/>
                        <a:pt x="5953" y="0"/>
                      </a:cubicBezTo>
                      <a:cubicBezTo>
                        <a:pt x="2665" y="0"/>
                        <a:pt x="0" y="2665"/>
                        <a:pt x="0" y="5953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9322594" y="2114550"/>
                  <a:ext cx="11906" cy="11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" h="11906">
                      <a:moveTo>
                        <a:pt x="0" y="5953"/>
                      </a:moveTo>
                      <a:cubicBezTo>
                        <a:pt x="0" y="9241"/>
                        <a:pt x="2665" y="11906"/>
                        <a:pt x="5953" y="11906"/>
                      </a:cubicBezTo>
                      <a:cubicBezTo>
                        <a:pt x="9241" y="11906"/>
                        <a:pt x="11906" y="9241"/>
                        <a:pt x="11906" y="5953"/>
                      </a:cubicBezTo>
                      <a:cubicBezTo>
                        <a:pt x="11906" y="2665"/>
                        <a:pt x="9241" y="0"/>
                        <a:pt x="5953" y="0"/>
                      </a:cubicBezTo>
                      <a:cubicBezTo>
                        <a:pt x="2665" y="0"/>
                        <a:pt x="0" y="2665"/>
                        <a:pt x="0" y="5953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9322594" y="2197894"/>
                  <a:ext cx="11906" cy="11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" h="11906">
                      <a:moveTo>
                        <a:pt x="0" y="5953"/>
                      </a:moveTo>
                      <a:cubicBezTo>
                        <a:pt x="0" y="9241"/>
                        <a:pt x="2665" y="11906"/>
                        <a:pt x="5953" y="11906"/>
                      </a:cubicBezTo>
                      <a:cubicBezTo>
                        <a:pt x="9241" y="11906"/>
                        <a:pt x="11906" y="9241"/>
                        <a:pt x="11906" y="5953"/>
                      </a:cubicBezTo>
                      <a:cubicBezTo>
                        <a:pt x="11906" y="2665"/>
                        <a:pt x="9241" y="0"/>
                        <a:pt x="5953" y="0"/>
                      </a:cubicBezTo>
                      <a:cubicBezTo>
                        <a:pt x="2665" y="0"/>
                        <a:pt x="0" y="2665"/>
                        <a:pt x="0" y="5953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9239250" y="2197894"/>
                  <a:ext cx="11906" cy="11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" h="11906">
                      <a:moveTo>
                        <a:pt x="0" y="5953"/>
                      </a:moveTo>
                      <a:cubicBezTo>
                        <a:pt x="0" y="9241"/>
                        <a:pt x="2665" y="11906"/>
                        <a:pt x="5953" y="11906"/>
                      </a:cubicBezTo>
                      <a:cubicBezTo>
                        <a:pt x="9241" y="11906"/>
                        <a:pt x="11906" y="9241"/>
                        <a:pt x="11906" y="5953"/>
                      </a:cubicBezTo>
                      <a:cubicBezTo>
                        <a:pt x="11906" y="2665"/>
                        <a:pt x="9241" y="0"/>
                        <a:pt x="5953" y="0"/>
                      </a:cubicBezTo>
                      <a:cubicBezTo>
                        <a:pt x="2665" y="0"/>
                        <a:pt x="0" y="2665"/>
                        <a:pt x="0" y="5953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9528810" y="2023110"/>
                <a:ext cx="61855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8A24B"/>
                    </a:solidFill>
                    <a:latin typeface="Consolas"/>
                    <a:ea typeface="Consolas"/>
                    <a:cs typeface="Consolas"/>
                  </a:rPr>
                  <a:t>w_rand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128760" y="24041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随机探索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609600" y="2876550"/>
            <a:ext cx="10972800" cy="2664619"/>
            <a:chOff x="609600" y="2876550"/>
            <a:chExt cx="10972800" cy="2664619"/>
          </a:xfrm>
        </p:grpSpPr>
        <p:sp>
          <p:nvSpPr>
            <p:cNvPr id="45" name="Rectangle 45"/>
            <p:cNvSpPr/>
            <p:nvPr/>
          </p:nvSpPr>
          <p:spPr>
            <a:xfrm>
              <a:off x="609600" y="2876550"/>
              <a:ext cx="6667500" cy="2400300"/>
            </a:xfrm>
            <a:prstGeom prst="roundRect">
              <a:avLst>
                <a:gd name="adj" fmla="val 1587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46" name="Imag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6786" y="2971800"/>
              <a:ext cx="4893129" cy="2209800"/>
            </a:xfrm>
            <a:prstGeom prst="rect">
              <a:avLst/>
            </a:prstGeom>
          </p:spPr>
        </p:pic>
        <p:sp>
          <p:nvSpPr>
            <p:cNvPr id="47" name="TextBox 47"/>
            <p:cNvSpPr txBox="1"/>
            <p:nvPr/>
          </p:nvSpPr>
          <p:spPr>
            <a:xfrm>
              <a:off x="5291185" y="5343049"/>
              <a:ext cx="1883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3 ABM 推荐参数校准模块设计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429500" y="2876550"/>
              <a:ext cx="4152900" cy="2400300"/>
            </a:xfrm>
            <a:prstGeom prst="roundRect">
              <a:avLst>
                <a:gd name="adj" fmla="val 1587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640955" y="3073718"/>
              <a:ext cx="1858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B3A5B"/>
                  </a:solidFill>
                  <a:latin typeface="Arial"/>
                  <a:ea typeface="Arial"/>
                  <a:cs typeface="Arial"/>
                </a:rPr>
                <a:t>EMCalibrationEngine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658100" y="3409950"/>
              <a:ext cx="3695700" cy="19050"/>
            </a:xfrm>
            <a:prstGeom prst="rect">
              <a:avLst/>
            </a:prstGeom>
            <a:solidFill>
              <a:srgbClr val="D8D0C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643812" y="3612356"/>
              <a:ext cx="16412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E 步</a:t>
              </a:r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 xml:space="preserve"> 搜索内容级 p_base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43812" y="3974306"/>
              <a:ext cx="21063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M 步</a:t>
              </a:r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 xml:space="preserve"> Dirichlet 约束下联合搜索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43812" y="4221956"/>
              <a:ext cx="18062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推荐权重与 decay_lambda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643812" y="46982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推荐可见概率由四类分数</a:t>
              </a:r>
              <a:r>
                <a:rPr lang="zh-CN" sz="1125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加权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43812" y="494585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得到，拟合真实传播结果。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9600" y="5429250"/>
            <a:ext cx="10972800" cy="628650"/>
            <a:chOff x="609600" y="5429250"/>
            <a:chExt cx="10972800" cy="628650"/>
          </a:xfrm>
        </p:grpSpPr>
        <p:sp>
          <p:nvSpPr>
            <p:cNvPr id="57" name="Rectangle 57"/>
            <p:cNvSpPr/>
            <p:nvPr/>
          </p:nvSpPr>
          <p:spPr>
            <a:xfrm>
              <a:off x="609600" y="5429250"/>
              <a:ext cx="10972800" cy="628650"/>
            </a:xfrm>
            <a:prstGeom prst="roundRect">
              <a:avLst>
                <a:gd name="adj" fmla="val 6061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9600" y="5429250"/>
              <a:ext cx="57150" cy="62865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40118" y="560022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37260" y="5804535"/>
              <a:ext cx="52871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C8A24B"/>
                  </a:solidFill>
                  <a:latin typeface="Arial"/>
                  <a:ea typeface="Arial"/>
                  <a:cs typeface="Arial"/>
                </a:rPr>
                <a:t>calibration_profile.yaml</a:t>
              </a:r>
              <a:r>
                <a:rPr lang="zh-CN" sz="12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，供在线 SocialRecSys.configure 直接注入。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62" name="Line 6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134428"/>
            <a:ext cx="5420439" cy="518160"/>
            <a:chOff x="577215" y="1134428"/>
            <a:chExt cx="5420439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134428"/>
              <a:ext cx="542043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核心模块三：在线模拟与验证方案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5811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752600"/>
            <a:ext cx="10972800" cy="3579019"/>
            <a:chOff x="609600" y="1752600"/>
            <a:chExt cx="10972800" cy="3579019"/>
          </a:xfrm>
        </p:grpSpPr>
        <p:sp>
          <p:nvSpPr>
            <p:cNvPr id="13" name="Rectangle 13"/>
            <p:cNvSpPr/>
            <p:nvPr/>
          </p:nvSpPr>
          <p:spPr>
            <a:xfrm>
              <a:off x="609600" y="1752600"/>
              <a:ext cx="10972800" cy="3295650"/>
            </a:xfrm>
            <a:prstGeom prst="roundRect">
              <a:avLst>
                <a:gd name="adj" fmla="val 1156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85627" y="1847850"/>
              <a:ext cx="5220747" cy="310515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9654088" y="5133499"/>
              <a:ext cx="18644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4 在线社交网络模拟系统架构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5334000"/>
            <a:ext cx="10972800" cy="952500"/>
            <a:chOff x="609600" y="5334000"/>
            <a:chExt cx="10972800" cy="952500"/>
          </a:xfrm>
        </p:grpSpPr>
        <p:grpSp>
          <p:nvGrpSpPr>
            <p:cNvPr id="26" name="Group 26"/>
            <p:cNvGrpSpPr/>
            <p:nvPr/>
          </p:nvGrpSpPr>
          <p:grpSpPr>
            <a:xfrm>
              <a:off x="609600" y="5334000"/>
              <a:ext cx="5391150" cy="952500"/>
              <a:chOff x="609600" y="5334000"/>
              <a:chExt cx="5391150" cy="9525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09600" y="5334000"/>
                <a:ext cx="5391150" cy="952500"/>
              </a:xfrm>
              <a:prstGeom prst="roundRect">
                <a:avLst>
                  <a:gd name="adj" fmla="val 4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847725" y="5524500"/>
                <a:ext cx="171450" cy="152400"/>
                <a:chOff x="847725" y="5524500"/>
                <a:chExt cx="171450" cy="152400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847725" y="5524500"/>
                  <a:ext cx="1714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7620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47625"/>
                      </a:lnTo>
                      <a:cubicBezTo>
                        <a:pt x="171450" y="63407"/>
                        <a:pt x="158657" y="76200"/>
                        <a:pt x="142875" y="76200"/>
                      </a:cubicBezTo>
                      <a:lnTo>
                        <a:pt x="28575" y="76200"/>
                      </a:lnTo>
                      <a:cubicBezTo>
                        <a:pt x="12793" y="76200"/>
                        <a:pt x="0" y="63407"/>
                        <a:pt x="0" y="47625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847725" y="5600700"/>
                  <a:ext cx="1714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7620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47625"/>
                      </a:lnTo>
                      <a:cubicBezTo>
                        <a:pt x="171450" y="63407"/>
                        <a:pt x="158657" y="76200"/>
                        <a:pt x="142875" y="76200"/>
                      </a:cubicBezTo>
                      <a:lnTo>
                        <a:pt x="28575" y="76200"/>
                      </a:lnTo>
                      <a:cubicBezTo>
                        <a:pt x="12793" y="76200"/>
                        <a:pt x="0" y="63407"/>
                        <a:pt x="0" y="47625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885825" y="55626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885825" y="56388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1126808" y="5529739"/>
                <a:ext cx="146056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在线社交网络模拟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06768" y="5838349"/>
                <a:ext cx="298263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main.py 启动 </a:t>
                </a:r>
                <a:r>
                  <a:rPr lang="zh-CN" sz="9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Backend 与 Agent 双进程</a:t>
                </a:r>
                <a:r>
                  <a:rPr lang="zh-CN" sz="97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，Backend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06768" y="6047899"/>
                <a:ext cx="28656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负责 Feed 推荐与持久化，Agent 执行决策循环。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191250" y="5334000"/>
              <a:ext cx="5391150" cy="952500"/>
              <a:chOff x="6191250" y="5334000"/>
              <a:chExt cx="5391150" cy="9525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191250" y="5334000"/>
                <a:ext cx="5391150" cy="952500"/>
              </a:xfrm>
              <a:prstGeom prst="roundRect">
                <a:avLst>
                  <a:gd name="adj" fmla="val 4000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6191250" y="5334000"/>
                <a:ext cx="57150" cy="95250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6505575" y="5524500"/>
                <a:ext cx="142875" cy="161925"/>
                <a:chOff x="6505575" y="5524500"/>
                <a:chExt cx="142875" cy="161925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6505575" y="5524500"/>
                  <a:ext cx="1143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52400">
                      <a:moveTo>
                        <a:pt x="43958" y="152400"/>
                      </a:moveTo>
                      <a:lnTo>
                        <a:pt x="19050" y="152400"/>
                      </a:lnTo>
                      <a:cubicBezTo>
                        <a:pt x="8529" y="152400"/>
                        <a:pt x="0" y="143871"/>
                        <a:pt x="0" y="1333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95250" y="0"/>
                      </a:lnTo>
                      <a:cubicBezTo>
                        <a:pt x="105771" y="0"/>
                        <a:pt x="114300" y="8529"/>
                        <a:pt x="114300" y="19050"/>
                      </a:cubicBezTo>
                      <a:lnTo>
                        <a:pt x="114300" y="9525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6591300" y="564832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6543675" y="5562600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0" y="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6543675" y="5600700"/>
                  <a:ext cx="190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9525">
                      <a:moveTo>
                        <a:pt x="0" y="0"/>
                      </a:moveTo>
                      <a:lnTo>
                        <a:pt x="19050" y="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6765608" y="5529739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验证指标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445568" y="5838349"/>
                <a:ext cx="336618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功能完整性 · 参数一致性（DTW / Pearson）· MAE / MRE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445568" y="6047899"/>
                <a:ext cx="23650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验证重点：校准参数是否提升拟合程度。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39" name="Line 39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5777484" cy="518160"/>
            <a:chOff x="577215" y="1210628"/>
            <a:chExt cx="5777484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577748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数据流转时序：离线校准到在线仿真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905000"/>
            <a:ext cx="10972800" cy="3674269"/>
            <a:chOff x="609600" y="1905000"/>
            <a:chExt cx="10972800" cy="3674269"/>
          </a:xfrm>
        </p:grpSpPr>
        <p:sp>
          <p:nvSpPr>
            <p:cNvPr id="13" name="Rectangle 13"/>
            <p:cNvSpPr/>
            <p:nvPr/>
          </p:nvSpPr>
          <p:spPr>
            <a:xfrm>
              <a:off x="609600" y="1905000"/>
              <a:ext cx="10972800" cy="3390900"/>
            </a:xfrm>
            <a:prstGeom prst="roundRect">
              <a:avLst>
                <a:gd name="adj" fmla="val 1124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77537" y="2019300"/>
              <a:ext cx="6636926" cy="31623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7664839" y="5381149"/>
              <a:ext cx="38537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5 数据流转时序：离线校准 → 配置中枢 → 在线仿真（单向贯通）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5410200"/>
            <a:ext cx="10972800" cy="654844"/>
            <a:chOff x="609600" y="5410200"/>
            <a:chExt cx="10972800" cy="654844"/>
          </a:xfrm>
        </p:grpSpPr>
        <p:sp>
          <p:nvSpPr>
            <p:cNvPr id="17" name="Rectangle 17"/>
            <p:cNvSpPr/>
            <p:nvPr/>
          </p:nvSpPr>
          <p:spPr>
            <a:xfrm>
              <a:off x="609600" y="5410200"/>
              <a:ext cx="10972800" cy="647700"/>
            </a:xfrm>
            <a:prstGeom prst="roundRect">
              <a:avLst>
                <a:gd name="adj" fmla="val 5882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9600" y="5410200"/>
              <a:ext cx="57150" cy="6477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165" y="56016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单向贯通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6308" y="5805964"/>
              <a:ext cx="845693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 xml:space="preserve">离线一次性校准产物经 </a:t>
              </a:r>
              <a:r>
                <a:rPr lang="en-US" sz="1275" b="1" dirty="0">
                  <a:solidFill>
                    <a:srgbClr val="C8A24B"/>
                  </a:solidFill>
                  <a:latin typeface="Arial"/>
                  <a:ea typeface="Arial"/>
                  <a:cs typeface="Arial"/>
                </a:rPr>
                <a:t>calibration_profile.yaml</a:t>
              </a:r>
              <a:r>
                <a:rPr lang="zh-CN" sz="1275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 xml:space="preserve"> 单向注入在线仿真；运行结果仅归档至 runs/，不回流离线。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22" name="Line 2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4706350" cy="518160"/>
            <a:chOff x="577215" y="1210628"/>
            <a:chExt cx="4706350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系统总体架构：四层分层设计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905000"/>
            <a:ext cx="10972800" cy="3674269"/>
            <a:chOff x="609600" y="1905000"/>
            <a:chExt cx="10972800" cy="3674269"/>
          </a:xfrm>
        </p:grpSpPr>
        <p:sp>
          <p:nvSpPr>
            <p:cNvPr id="13" name="Rectangle 13"/>
            <p:cNvSpPr/>
            <p:nvPr/>
          </p:nvSpPr>
          <p:spPr>
            <a:xfrm>
              <a:off x="609600" y="1905000"/>
              <a:ext cx="10972800" cy="3390900"/>
            </a:xfrm>
            <a:prstGeom prst="roundRect">
              <a:avLst>
                <a:gd name="adj" fmla="val 1124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97225" y="2019300"/>
              <a:ext cx="5797550" cy="31623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9797105" y="5381149"/>
              <a:ext cx="17214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6 MOSS 平台系统总体架构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5410200"/>
            <a:ext cx="10972800" cy="654844"/>
            <a:chOff x="609600" y="5410200"/>
            <a:chExt cx="10972800" cy="654844"/>
          </a:xfrm>
        </p:grpSpPr>
        <p:sp>
          <p:nvSpPr>
            <p:cNvPr id="17" name="Rectangle 17"/>
            <p:cNvSpPr/>
            <p:nvPr/>
          </p:nvSpPr>
          <p:spPr>
            <a:xfrm>
              <a:off x="609600" y="5410200"/>
              <a:ext cx="10972800" cy="647700"/>
            </a:xfrm>
            <a:prstGeom prst="roundRect">
              <a:avLst>
                <a:gd name="adj" fmla="val 5882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9600" y="5410200"/>
              <a:ext cx="57150" cy="6477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165" y="56016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分层解耦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6308" y="5805964"/>
              <a:ext cx="752182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表示层 → 应用层（Backend）→ Agent 层 → 数据与配置层，离线分析产出画像与配置驱动在线运行。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22" name="Line 2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3822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05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可行性分析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4706350" cy="518160"/>
            <a:chOff x="577215" y="1210628"/>
            <a:chExt cx="4706350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理论、方法、工程基础均具备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609600" y="2019300"/>
            <a:ext cx="10972800" cy="3867150"/>
            <a:chOff x="609600" y="2019300"/>
            <a:chExt cx="10972800" cy="3867150"/>
          </a:xfrm>
        </p:grpSpPr>
        <p:grpSp>
          <p:nvGrpSpPr>
            <p:cNvPr id="22" name="Group 22"/>
            <p:cNvGrpSpPr/>
            <p:nvPr/>
          </p:nvGrpSpPr>
          <p:grpSpPr>
            <a:xfrm>
              <a:off x="609600" y="2019300"/>
              <a:ext cx="5391150" cy="1847850"/>
              <a:chOff x="609600" y="2019300"/>
              <a:chExt cx="5391150" cy="18478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09600" y="2019300"/>
                <a:ext cx="5391150" cy="1847850"/>
              </a:xfrm>
              <a:prstGeom prst="roundRect">
                <a:avLst>
                  <a:gd name="adj" fmla="val 2062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09600" y="2019300"/>
                <a:ext cx="57150" cy="184785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914400" y="2305050"/>
                <a:ext cx="228599" cy="228600"/>
                <a:chOff x="914400" y="2305050"/>
                <a:chExt cx="228599" cy="228600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914400" y="2305050"/>
                  <a:ext cx="228599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14300">
                      <a:moveTo>
                        <a:pt x="0" y="114300"/>
                      </a:moveTo>
                      <a:lnTo>
                        <a:pt x="12700" y="114300"/>
                      </a:lnTo>
                      <a:moveTo>
                        <a:pt x="114300" y="0"/>
                      </a:moveTo>
                      <a:lnTo>
                        <a:pt x="114300" y="12700"/>
                      </a:lnTo>
                      <a:moveTo>
                        <a:pt x="215899" y="114300"/>
                      </a:moveTo>
                      <a:lnTo>
                        <a:pt x="228599" y="114300"/>
                      </a:lnTo>
                      <a:moveTo>
                        <a:pt x="33020" y="33020"/>
                      </a:moveTo>
                      <a:lnTo>
                        <a:pt x="41910" y="41910"/>
                      </a:lnTo>
                      <a:moveTo>
                        <a:pt x="195580" y="33020"/>
                      </a:moveTo>
                      <a:lnTo>
                        <a:pt x="186690" y="4191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959815" y="2355850"/>
                  <a:ext cx="137769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769" h="177800">
                      <a:moveTo>
                        <a:pt x="30785" y="114300"/>
                      </a:moveTo>
                      <a:cubicBezTo>
                        <a:pt x="8919" y="97900"/>
                        <a:pt x="0" y="69349"/>
                        <a:pt x="8643" y="43419"/>
                      </a:cubicBezTo>
                      <a:cubicBezTo>
                        <a:pt x="17286" y="17490"/>
                        <a:pt x="41552" y="0"/>
                        <a:pt x="68884" y="0"/>
                      </a:cubicBezTo>
                      <a:cubicBezTo>
                        <a:pt x="96217" y="0"/>
                        <a:pt x="120482" y="17490"/>
                        <a:pt x="129126" y="43419"/>
                      </a:cubicBezTo>
                      <a:cubicBezTo>
                        <a:pt x="137769" y="69349"/>
                        <a:pt x="128850" y="97900"/>
                        <a:pt x="106984" y="114300"/>
                      </a:cubicBezTo>
                      <a:cubicBezTo>
                        <a:pt x="96928" y="124254"/>
                        <a:pt x="92212" y="138402"/>
                        <a:pt x="94284" y="152400"/>
                      </a:cubicBezTo>
                      <a:cubicBezTo>
                        <a:pt x="94284" y="166428"/>
                        <a:pt x="82912" y="177800"/>
                        <a:pt x="68884" y="177800"/>
                      </a:cubicBezTo>
                      <a:cubicBezTo>
                        <a:pt x="54856" y="177800"/>
                        <a:pt x="43485" y="166428"/>
                        <a:pt x="43485" y="152400"/>
                      </a:cubicBezTo>
                      <a:cubicBezTo>
                        <a:pt x="45557" y="138402"/>
                        <a:pt x="40841" y="124254"/>
                        <a:pt x="30785" y="11430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999490" y="2482849"/>
                  <a:ext cx="5842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420" h="9525">
                      <a:moveTo>
                        <a:pt x="0" y="0"/>
                      </a:moveTo>
                      <a:lnTo>
                        <a:pt x="58420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275398" y="2325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理论基础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61060" y="2880360"/>
                <a:ext cx="235077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HiSim、FDE-LLM、OASIS 等研究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61060" y="314706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证明混合仿真与平台化系统可行。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6191250" y="2019300"/>
              <a:ext cx="5391150" cy="1847850"/>
              <a:chOff x="6191250" y="2019300"/>
              <a:chExt cx="5391150" cy="18478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6191250" y="2019300"/>
                <a:ext cx="5391150" cy="1847850"/>
              </a:xfrm>
              <a:prstGeom prst="roundRect">
                <a:avLst>
                  <a:gd name="adj" fmla="val 2062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191250" y="2019300"/>
                <a:ext cx="57150" cy="184785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6508750" y="2317750"/>
                <a:ext cx="203199" cy="203200"/>
                <a:chOff x="6508750" y="2317750"/>
                <a:chExt cx="203199" cy="20320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508750" y="23685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534150" y="2317750"/>
                  <a:ext cx="9525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534150" y="2419350"/>
                  <a:ext cx="9525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1600">
                      <a:moveTo>
                        <a:pt x="0" y="0"/>
                      </a:moveTo>
                      <a:lnTo>
                        <a:pt x="0" y="1016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6584950" y="24447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610350" y="2317750"/>
                  <a:ext cx="95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0">
                      <a:moveTo>
                        <a:pt x="0" y="0"/>
                      </a:move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6610350" y="2495549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6661149" y="23304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6686549" y="2317750"/>
                  <a:ext cx="9525" cy="1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">
                      <a:moveTo>
                        <a:pt x="0" y="0"/>
                      </a:moveTo>
                      <a:lnTo>
                        <a:pt x="0" y="127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686549" y="2381250"/>
                  <a:ext cx="9525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9700">
                      <a:moveTo>
                        <a:pt x="0" y="0"/>
                      </a:moveTo>
                      <a:lnTo>
                        <a:pt x="0" y="1397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6857048" y="2325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方法基础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442710" y="2880360"/>
                <a:ext cx="239877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EM、Optuna、贝叶斯优化与奖励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442710" y="314706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建模研究可迁移到推荐参数估计。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09600" y="4038600"/>
              <a:ext cx="5391150" cy="1847850"/>
              <a:chOff x="609600" y="4038600"/>
              <a:chExt cx="5391150" cy="184785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609600" y="4038600"/>
                <a:ext cx="5391150" cy="1847850"/>
              </a:xfrm>
              <a:prstGeom prst="roundRect">
                <a:avLst>
                  <a:gd name="adj" fmla="val 2062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609600" y="4038600"/>
                <a:ext cx="57150" cy="184785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914400" y="4324350"/>
                <a:ext cx="228599" cy="228600"/>
                <a:chOff x="914400" y="4324350"/>
                <a:chExt cx="228599" cy="228600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939800" y="4324350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50800"/>
                      </a:moveTo>
                      <a:cubicBezTo>
                        <a:pt x="0" y="78856"/>
                        <a:pt x="22744" y="101600"/>
                        <a:pt x="50800" y="101600"/>
                      </a:cubicBezTo>
                      <a:cubicBezTo>
                        <a:pt x="78856" y="101600"/>
                        <a:pt x="101600" y="78856"/>
                        <a:pt x="101600" y="50800"/>
                      </a:cubicBezTo>
                      <a:cubicBezTo>
                        <a:pt x="101600" y="22744"/>
                        <a:pt x="78856" y="0"/>
                        <a:pt x="50800" y="0"/>
                      </a:cubicBezTo>
                      <a:cubicBezTo>
                        <a:pt x="22744" y="0"/>
                        <a:pt x="0" y="22744"/>
                        <a:pt x="0" y="50800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914400" y="4476750"/>
                  <a:ext cx="1524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76200">
                      <a:moveTo>
                        <a:pt x="0" y="76200"/>
                      </a:moveTo>
                      <a:lnTo>
                        <a:pt x="0" y="50800"/>
                      </a:lnTo>
                      <a:cubicBezTo>
                        <a:pt x="0" y="22744"/>
                        <a:pt x="22744" y="0"/>
                        <a:pt x="50800" y="0"/>
                      </a:cubicBezTo>
                      <a:lnTo>
                        <a:pt x="101600" y="0"/>
                      </a:lnTo>
                      <a:cubicBezTo>
                        <a:pt x="129656" y="0"/>
                        <a:pt x="152400" y="22744"/>
                        <a:pt x="152400" y="50800"/>
                      </a:cubicBezTo>
                      <a:lnTo>
                        <a:pt x="152400" y="7620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1079499" y="4326001"/>
                  <a:ext cx="38200" cy="98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00" h="98425">
                      <a:moveTo>
                        <a:pt x="0" y="0"/>
                      </a:moveTo>
                      <a:cubicBezTo>
                        <a:pt x="22478" y="5755"/>
                        <a:pt x="38200" y="26009"/>
                        <a:pt x="38200" y="49212"/>
                      </a:cubicBezTo>
                      <a:cubicBezTo>
                        <a:pt x="38200" y="72415"/>
                        <a:pt x="22478" y="92670"/>
                        <a:pt x="0" y="98425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1104899" y="4478655"/>
                  <a:ext cx="38100" cy="74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74295">
                      <a:moveTo>
                        <a:pt x="38100" y="74295"/>
                      </a:moveTo>
                      <a:lnTo>
                        <a:pt x="38100" y="48895"/>
                      </a:lnTo>
                      <a:cubicBezTo>
                        <a:pt x="37967" y="25839"/>
                        <a:pt x="22324" y="5764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1275398" y="4344829"/>
                <a:ext cx="158369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数据与画像基础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61060" y="4899660"/>
                <a:ext cx="21107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用户画像生成与分层建模已有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61060" y="5166360"/>
                <a:ext cx="26948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Two-stage Profiling、TWICE 支撑。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6191250" y="4038600"/>
              <a:ext cx="5391150" cy="1847850"/>
              <a:chOff x="6191250" y="4038600"/>
              <a:chExt cx="5391150" cy="18478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191250" y="4038600"/>
                <a:ext cx="5391150" cy="1847850"/>
              </a:xfrm>
              <a:prstGeom prst="roundRect">
                <a:avLst>
                  <a:gd name="adj" fmla="val 2062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6191250" y="4038600"/>
                <a:ext cx="57150" cy="1847850"/>
              </a:xfrm>
              <a:prstGeom prst="rect">
                <a:avLst/>
              </a:prstGeom>
              <a:solidFill>
                <a:srgbClr val="3C7A5A"/>
              </a:solidFill>
              <a:ln>
                <a:noFill/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6496050" y="4337050"/>
                <a:ext cx="228599" cy="203200"/>
                <a:chOff x="6496050" y="4337050"/>
                <a:chExt cx="228599" cy="203200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6496050" y="43370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6496050" y="44386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6546850" y="43878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6546850" y="448944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6857048" y="43448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工程基础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442710" y="4899660"/>
                <a:ext cx="224675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FastAPI、SQLite、向量检索与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442710" y="516636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LangChain 等工具链可支撑实现。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62" name="Line 6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1722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06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进度安排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5188360" cy="518160"/>
            <a:chOff x="577215" y="1210628"/>
            <a:chExt cx="5188360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518836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进度安排：2026 年 6 月至 12 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533400" y="2286000"/>
            <a:ext cx="11125200" cy="3200400"/>
            <a:chOff x="533400" y="2286000"/>
            <a:chExt cx="11125200" cy="3200400"/>
          </a:xfrm>
        </p:grpSpPr>
        <p:sp>
          <p:nvSpPr>
            <p:cNvPr id="13" name="Line 13"/>
            <p:cNvSpPr/>
            <p:nvPr/>
          </p:nvSpPr>
          <p:spPr>
            <a:xfrm>
              <a:off x="1333500" y="38862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38100" cap="rnd">
              <a:solidFill>
                <a:srgbClr val="D8D0C2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533400" y="2286000"/>
              <a:ext cx="1600200" cy="1733550"/>
              <a:chOff x="533400" y="2286000"/>
              <a:chExt cx="1600200" cy="173355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1200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1276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1333500" y="342900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32385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533400" y="22860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533400" y="22860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533400" y="2495550"/>
                <a:ext cx="1600200" cy="1143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86871" y="2383631"/>
                <a:ext cx="4932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6-7 月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40130" y="27822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需求分析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70121" y="30108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与总体方案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2438400" y="3752850"/>
              <a:ext cx="1600200" cy="1733550"/>
              <a:chOff x="2438400" y="3752850"/>
              <a:chExt cx="1600200" cy="173355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3105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3181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3238500" y="40195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2438400" y="43434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2438400" y="43434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2438400" y="4552950"/>
                <a:ext cx="1600200" cy="1143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2991871" y="4441031"/>
                <a:ext cx="4932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7-8 月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945130" y="48396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数据准备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875121" y="50682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与画像模块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343400" y="2286000"/>
              <a:ext cx="1600200" cy="1733550"/>
              <a:chOff x="4343400" y="2286000"/>
              <a:chExt cx="1600200" cy="1733550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5010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5086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5143500" y="342900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32385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4343400" y="22860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4343400" y="22860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4343400" y="2495550"/>
                <a:ext cx="1600200" cy="1143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896871" y="2383631"/>
                <a:ext cx="4932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8-9 月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699611" y="2782252"/>
                <a:ext cx="88777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ABM 参数校准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850130" y="30108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初步实验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248400" y="3752850"/>
              <a:ext cx="1600200" cy="1733550"/>
              <a:chOff x="6248400" y="3752850"/>
              <a:chExt cx="1600200" cy="1733550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6915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6991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46" name="Line 46"/>
              <p:cNvSpPr/>
              <p:nvPr/>
            </p:nvSpPr>
            <p:spPr>
              <a:xfrm>
                <a:off x="7048500" y="40195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6248400" y="43434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6248400" y="43434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6248400" y="4552950"/>
                <a:ext cx="1600200" cy="1143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6758553" y="4441031"/>
                <a:ext cx="57989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9-10 月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615112" y="48396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在线模拟系统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755130" y="50682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开发联调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8153400" y="2286000"/>
              <a:ext cx="1600200" cy="1733550"/>
              <a:chOff x="8153400" y="2286000"/>
              <a:chExt cx="1600200" cy="1733550"/>
            </a:xfrm>
          </p:grpSpPr>
          <p:sp>
            <p:nvSpPr>
              <p:cNvPr id="54" name="Ellipse 54"/>
              <p:cNvSpPr/>
              <p:nvPr/>
            </p:nvSpPr>
            <p:spPr>
              <a:xfrm>
                <a:off x="8820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8896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56" name="Line 56"/>
              <p:cNvSpPr/>
              <p:nvPr/>
            </p:nvSpPr>
            <p:spPr>
              <a:xfrm>
                <a:off x="8953500" y="342900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32385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8153400" y="22860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8153400" y="22860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8153400" y="2495550"/>
                <a:ext cx="1600200" cy="1143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8620235" y="2383631"/>
                <a:ext cx="66653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10-11 月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660130" y="27822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系统实验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8590121" y="30108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与结果分析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10058400" y="3733800"/>
              <a:ext cx="1600200" cy="1752600"/>
              <a:chOff x="10058400" y="3733800"/>
              <a:chExt cx="1600200" cy="1752600"/>
            </a:xfrm>
          </p:grpSpPr>
          <p:sp>
            <p:nvSpPr>
              <p:cNvPr id="64" name="Ellipse 64"/>
              <p:cNvSpPr/>
              <p:nvPr/>
            </p:nvSpPr>
            <p:spPr>
              <a:xfrm>
                <a:off x="10706100" y="3733800"/>
                <a:ext cx="304800" cy="3048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10791825" y="3819525"/>
                <a:ext cx="133350" cy="13335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66" name="Line 66"/>
              <p:cNvSpPr/>
              <p:nvPr/>
            </p:nvSpPr>
            <p:spPr>
              <a:xfrm>
                <a:off x="10858500" y="4038600"/>
                <a:ext cx="95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">
                    <a:moveTo>
                      <a:pt x="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14288">
                <a:solidFill>
                  <a:srgbClr val="C8A24B"/>
                </a:solidFill>
              </a:ln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10058400" y="43434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10058400" y="43434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10058400" y="4552950"/>
                <a:ext cx="1600200" cy="11430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10525235" y="4441031"/>
                <a:ext cx="66653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11-12 月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10565130" y="48396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系统优化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10495121" y="50682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论文与答辩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609600" y="5715000"/>
            <a:ext cx="10972800" cy="571500"/>
            <a:chOff x="609600" y="5715000"/>
            <a:chExt cx="10972800" cy="571500"/>
          </a:xfrm>
        </p:grpSpPr>
        <p:sp>
          <p:nvSpPr>
            <p:cNvPr id="75" name="Rectangle 75"/>
            <p:cNvSpPr/>
            <p:nvPr/>
          </p:nvSpPr>
          <p:spPr>
            <a:xfrm>
              <a:off x="609600" y="5715000"/>
              <a:ext cx="10972800" cy="571500"/>
            </a:xfrm>
            <a:prstGeom prst="roundRect">
              <a:avLst>
                <a:gd name="adj" fmla="val 6667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09600" y="5715000"/>
              <a:ext cx="57150" cy="5715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35355" y="5921692"/>
              <a:ext cx="66951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节奏遵循</a:t>
              </a:r>
              <a:r>
                <a:rPr lang="zh-CN" sz="13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「先闭环、再优化、再实验」</a:t>
              </a:r>
              <a:r>
                <a:rPr lang="zh-CN" sz="13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，确保论文写作有稳定系统与实验结果支撑。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79" name="Line 79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4137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 xml:space="preserve">总结 </a:t>
              </a:r>
              <a:r>
                <a:rPr lang="en-US" sz="1050" b="1" dirty="0">
                  <a:solidFill>
                    <a:srgbClr val="8C8C82"/>
                  </a:solidFill>
                  <a:latin typeface="Arial"/>
                  <a:ea typeface="Arial"/>
                  <a:cs typeface="Arial"/>
                </a:rPr>
                <a:t>SUMMARY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009900" y="1905000"/>
            <a:ext cx="5329237" cy="2062162"/>
            <a:chOff x="3009900" y="1905000"/>
            <a:chExt cx="5329237" cy="2062162"/>
          </a:xfrm>
        </p:grpSpPr>
        <p:sp>
          <p:nvSpPr>
            <p:cNvPr id="10" name="Rectangle 10"/>
            <p:cNvSpPr/>
            <p:nvPr/>
          </p:nvSpPr>
          <p:spPr>
            <a:xfrm>
              <a:off x="3048000" y="1905000"/>
              <a:ext cx="609600" cy="47625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009900" y="2419350"/>
              <a:ext cx="42767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以推荐机制校准为核心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27045" y="3250882"/>
              <a:ext cx="5312092" cy="716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zh-CN" sz="16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将真实传播数据治理、ABM 参数校准、大小模型分层仿真</a:t>
              </a:r>
              <a:r>
                <a:rPr lang="zh-CN" sz="16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与多指标验证，连接为一个</a:t>
              </a:r>
              <a:r>
                <a:rPr lang="zh-CN" sz="16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可复用的社交仿真平台闭环</a:t>
              </a:r>
              <a:r>
                <a:rPr lang="zh-CN" sz="16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034665" y="4420552"/>
            <a:ext cx="8109585" cy="1103948"/>
            <a:chOff x="3034665" y="4420552"/>
            <a:chExt cx="8109585" cy="1103948"/>
          </a:xfrm>
        </p:grpSpPr>
        <p:sp>
          <p:nvSpPr>
            <p:cNvPr id="14" name="TextBox 14"/>
            <p:cNvSpPr txBox="1"/>
            <p:nvPr/>
          </p:nvSpPr>
          <p:spPr>
            <a:xfrm>
              <a:off x="3034665" y="44205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预期贡献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3048000" y="4724400"/>
              <a:ext cx="2571750" cy="800100"/>
              <a:chOff x="3048000" y="4724400"/>
              <a:chExt cx="2571750" cy="8001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3048000" y="4724400"/>
                <a:ext cx="2571750" cy="800100"/>
              </a:xfrm>
              <a:prstGeom prst="roundRect">
                <a:avLst>
                  <a:gd name="adj" fmla="val 4762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048000" y="4724400"/>
                <a:ext cx="57150" cy="8001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3365500" y="4991100"/>
                <a:ext cx="203199" cy="228600"/>
                <a:chOff x="3365500" y="4991100"/>
                <a:chExt cx="203199" cy="228600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3365500" y="4991100"/>
                  <a:ext cx="203199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76200">
                      <a:moveTo>
                        <a:pt x="0" y="38100"/>
                      </a:moveTo>
                      <a:cubicBezTo>
                        <a:pt x="0" y="59142"/>
                        <a:pt x="45488" y="76200"/>
                        <a:pt x="101600" y="76200"/>
                      </a:cubicBezTo>
                      <a:cubicBezTo>
                        <a:pt x="157712" y="76200"/>
                        <a:pt x="203199" y="59142"/>
                        <a:pt x="203199" y="38100"/>
                      </a:cubicBezTo>
                      <a:cubicBezTo>
                        <a:pt x="203199" y="17058"/>
                        <a:pt x="157712" y="0"/>
                        <a:pt x="101600" y="0"/>
                      </a:cubicBezTo>
                      <a:cubicBezTo>
                        <a:pt x="4548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3365500" y="5029200"/>
                  <a:ext cx="203199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199" y="97242"/>
                        <a:pt x="203199" y="76200"/>
                      </a:cubicBezTo>
                      <a:lnTo>
                        <a:pt x="203199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3365500" y="5105400"/>
                  <a:ext cx="203199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199" y="97242"/>
                        <a:pt x="203199" y="76200"/>
                      </a:cubicBezTo>
                      <a:lnTo>
                        <a:pt x="203199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3714750" y="50387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现实参照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810250" y="4724400"/>
              <a:ext cx="2571750" cy="800100"/>
              <a:chOff x="5810250" y="4724400"/>
              <a:chExt cx="2571750" cy="8001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810250" y="4724400"/>
                <a:ext cx="2571750" cy="800100"/>
              </a:xfrm>
              <a:prstGeom prst="roundRect">
                <a:avLst>
                  <a:gd name="adj" fmla="val 4762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5810250" y="4724400"/>
                <a:ext cx="57150" cy="80010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6109475" y="4985525"/>
                <a:ext cx="239750" cy="239750"/>
                <a:chOff x="6109475" y="4985525"/>
                <a:chExt cx="239750" cy="23975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109475" y="4985525"/>
                  <a:ext cx="239750" cy="23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750" h="239750">
                      <a:moveTo>
                        <a:pt x="98603" y="22301"/>
                      </a:moveTo>
                      <a:cubicBezTo>
                        <a:pt x="104013" y="0"/>
                        <a:pt x="135737" y="0"/>
                        <a:pt x="141147" y="22301"/>
                      </a:cubicBezTo>
                      <a:cubicBezTo>
                        <a:pt x="142794" y="29096"/>
                        <a:pt x="147587" y="34697"/>
                        <a:pt x="154046" y="37373"/>
                      </a:cubicBezTo>
                      <a:cubicBezTo>
                        <a:pt x="160506" y="40049"/>
                        <a:pt x="167855" y="39479"/>
                        <a:pt x="173824" y="35839"/>
                      </a:cubicBezTo>
                      <a:cubicBezTo>
                        <a:pt x="193421" y="23901"/>
                        <a:pt x="215861" y="46329"/>
                        <a:pt x="203923" y="65938"/>
                      </a:cubicBezTo>
                      <a:cubicBezTo>
                        <a:pt x="200289" y="71905"/>
                        <a:pt x="199720" y="79249"/>
                        <a:pt x="202393" y="85704"/>
                      </a:cubicBezTo>
                      <a:cubicBezTo>
                        <a:pt x="205066" y="92160"/>
                        <a:pt x="210660" y="96952"/>
                        <a:pt x="217449" y="98603"/>
                      </a:cubicBezTo>
                      <a:cubicBezTo>
                        <a:pt x="239750" y="104013"/>
                        <a:pt x="239750" y="135737"/>
                        <a:pt x="217449" y="141147"/>
                      </a:cubicBezTo>
                      <a:cubicBezTo>
                        <a:pt x="210654" y="142794"/>
                        <a:pt x="205053" y="147587"/>
                        <a:pt x="202377" y="154046"/>
                      </a:cubicBezTo>
                      <a:cubicBezTo>
                        <a:pt x="199701" y="160506"/>
                        <a:pt x="200271" y="167855"/>
                        <a:pt x="203911" y="173824"/>
                      </a:cubicBezTo>
                      <a:cubicBezTo>
                        <a:pt x="215849" y="193421"/>
                        <a:pt x="193421" y="215861"/>
                        <a:pt x="173812" y="203923"/>
                      </a:cubicBezTo>
                      <a:cubicBezTo>
                        <a:pt x="167845" y="200289"/>
                        <a:pt x="160501" y="199720"/>
                        <a:pt x="154046" y="202393"/>
                      </a:cubicBezTo>
                      <a:cubicBezTo>
                        <a:pt x="147590" y="205066"/>
                        <a:pt x="142798" y="210660"/>
                        <a:pt x="141147" y="217449"/>
                      </a:cubicBezTo>
                      <a:cubicBezTo>
                        <a:pt x="135737" y="239750"/>
                        <a:pt x="104013" y="239750"/>
                        <a:pt x="98603" y="217449"/>
                      </a:cubicBezTo>
                      <a:cubicBezTo>
                        <a:pt x="96956" y="210654"/>
                        <a:pt x="92163" y="205053"/>
                        <a:pt x="85704" y="202377"/>
                      </a:cubicBezTo>
                      <a:cubicBezTo>
                        <a:pt x="79244" y="199701"/>
                        <a:pt x="71895" y="200271"/>
                        <a:pt x="65926" y="203911"/>
                      </a:cubicBezTo>
                      <a:cubicBezTo>
                        <a:pt x="46329" y="215849"/>
                        <a:pt x="23889" y="193421"/>
                        <a:pt x="35827" y="173812"/>
                      </a:cubicBezTo>
                      <a:cubicBezTo>
                        <a:pt x="39461" y="167845"/>
                        <a:pt x="40030" y="160501"/>
                        <a:pt x="37357" y="154046"/>
                      </a:cubicBezTo>
                      <a:cubicBezTo>
                        <a:pt x="34684" y="147590"/>
                        <a:pt x="29090" y="142798"/>
                        <a:pt x="22301" y="141147"/>
                      </a:cubicBezTo>
                      <a:cubicBezTo>
                        <a:pt x="0" y="135737"/>
                        <a:pt x="0" y="104013"/>
                        <a:pt x="22301" y="98603"/>
                      </a:cubicBezTo>
                      <a:cubicBezTo>
                        <a:pt x="29096" y="96956"/>
                        <a:pt x="34697" y="92163"/>
                        <a:pt x="37373" y="85704"/>
                      </a:cubicBezTo>
                      <a:cubicBezTo>
                        <a:pt x="40049" y="79244"/>
                        <a:pt x="39479" y="71895"/>
                        <a:pt x="35839" y="65926"/>
                      </a:cubicBezTo>
                      <a:cubicBezTo>
                        <a:pt x="23901" y="46329"/>
                        <a:pt x="46329" y="23889"/>
                        <a:pt x="65938" y="35827"/>
                      </a:cubicBezTo>
                      <a:cubicBezTo>
                        <a:pt x="78638" y="43548"/>
                        <a:pt x="95097" y="36716"/>
                        <a:pt x="98603" y="22301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191250" y="50673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6477000" y="503872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机制解释力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572500" y="4724400"/>
              <a:ext cx="2571750" cy="800100"/>
              <a:chOff x="8572500" y="4724400"/>
              <a:chExt cx="2571750" cy="8001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572500" y="4724400"/>
                <a:ext cx="2571750" cy="800100"/>
              </a:xfrm>
              <a:prstGeom prst="roundRect">
                <a:avLst>
                  <a:gd name="adj" fmla="val 4762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8572500" y="4724400"/>
                <a:ext cx="57150" cy="8001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8890000" y="5029200"/>
                <a:ext cx="203199" cy="152400"/>
                <a:chOff x="8890000" y="5029200"/>
                <a:chExt cx="203199" cy="15240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8890000" y="5029200"/>
                  <a:ext cx="2031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01600">
                      <a:moveTo>
                        <a:pt x="101600" y="0"/>
                      </a:moveTo>
                      <a:lnTo>
                        <a:pt x="0" y="50800"/>
                      </a:lnTo>
                      <a:lnTo>
                        <a:pt x="101600" y="101600"/>
                      </a:lnTo>
                      <a:lnTo>
                        <a:pt x="203199" y="50800"/>
                      </a:lnTo>
                      <a:lnTo>
                        <a:pt x="101600" y="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890000" y="5130800"/>
                  <a:ext cx="203199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50800">
                      <a:moveTo>
                        <a:pt x="0" y="0"/>
                      </a:moveTo>
                      <a:lnTo>
                        <a:pt x="101600" y="50800"/>
                      </a:lnTo>
                      <a:lnTo>
                        <a:pt x="203199" y="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9239250" y="503872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跨议题复用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38" name="Line 38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B3A5B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5572125" y="1714500"/>
            <a:ext cx="1047750" cy="1333500"/>
            <a:chOff x="5572125" y="1714500"/>
            <a:chExt cx="1047750" cy="13335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72125" y="1714500"/>
              <a:ext cx="1047750" cy="13335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4754880" y="3512820"/>
            <a:ext cx="2682240" cy="1521142"/>
            <a:chOff x="4754880" y="3512820"/>
            <a:chExt cx="2682240" cy="1521142"/>
          </a:xfrm>
        </p:grpSpPr>
        <p:sp>
          <p:nvSpPr>
            <p:cNvPr id="7" name="TextBox 7"/>
            <p:cNvSpPr txBox="1"/>
            <p:nvPr/>
          </p:nvSpPr>
          <p:spPr>
            <a:xfrm>
              <a:off x="5271326" y="3512820"/>
              <a:ext cx="1649349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谢谢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638800" y="4343400"/>
              <a:ext cx="914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754880" y="4698682"/>
              <a:ext cx="2682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谢谢各位老师，请批评指正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460557" y="5448300"/>
            <a:ext cx="3270885" cy="438150"/>
            <a:chOff x="4460557" y="5448300"/>
            <a:chExt cx="3270885" cy="438150"/>
          </a:xfrm>
        </p:grpSpPr>
        <p:sp>
          <p:nvSpPr>
            <p:cNvPr id="11" name="Line 11"/>
            <p:cNvSpPr/>
            <p:nvPr/>
          </p:nvSpPr>
          <p:spPr>
            <a:xfrm>
              <a:off x="4667250" y="54483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60557" y="5642610"/>
              <a:ext cx="32708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汇报人 张艺鹏 · 2026 年 6 月 · 中国传媒大学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884420" y="6456045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C8C82"/>
                </a:solidFill>
                <a:latin typeface="Arial"/>
                <a:ea typeface="Microsoft YaHei"/>
                <a:cs typeface="Arial"/>
              </a:rPr>
              <a:t>融合推荐机制校准的社交仿真平台设计与实现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2026-06-27T08:39:38Z</dcterms:created>
  <dcterms:modified xsi:type="dcterms:W3CDTF">2026-06-27T08:39:38Z</dcterms:modified>
  <cp:category/>
  <cp:contentStatus/>
</cp:coreProperties>
</file>